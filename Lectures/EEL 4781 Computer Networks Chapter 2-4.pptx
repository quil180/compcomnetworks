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  <p:sldMasterId id="2147483885" r:id="rId3"/>
  </p:sldMasterIdLst>
  <p:notesMasterIdLst>
    <p:notesMasterId r:id="rId25"/>
  </p:notesMasterIdLst>
  <p:sldIdLst>
    <p:sldId id="256" r:id="rId4"/>
    <p:sldId id="1287" r:id="rId5"/>
    <p:sldId id="1135" r:id="rId6"/>
    <p:sldId id="1136" r:id="rId7"/>
    <p:sldId id="1142" r:id="rId8"/>
    <p:sldId id="1139" r:id="rId9"/>
    <p:sldId id="1144" r:id="rId10"/>
    <p:sldId id="1290" r:id="rId11"/>
    <p:sldId id="1148" r:id="rId12"/>
    <p:sldId id="1151" r:id="rId13"/>
    <p:sldId id="1152" r:id="rId14"/>
    <p:sldId id="1153" r:id="rId15"/>
    <p:sldId id="1155" r:id="rId16"/>
    <p:sldId id="1156" r:id="rId17"/>
    <p:sldId id="1157" r:id="rId18"/>
    <p:sldId id="1293" r:id="rId19"/>
    <p:sldId id="1289" r:id="rId20"/>
    <p:sldId id="989" r:id="rId21"/>
    <p:sldId id="1292" r:id="rId22"/>
    <p:sldId id="1270" r:id="rId23"/>
    <p:sldId id="129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17687-83E8-4F36-96BF-55ECB25C3BB3}" v="19" dt="2025-02-17T22:18:12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 autoAdjust="0"/>
    <p:restoredTop sz="72973" autoAdjust="0"/>
  </p:normalViewPr>
  <p:slideViewPr>
    <p:cSldViewPr snapToGrid="0" snapToObjects="1">
      <p:cViewPr varScale="1">
        <p:scale>
          <a:sx n="117" d="100"/>
          <a:sy n="117" d="100"/>
        </p:scale>
        <p:origin x="3136" y="80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  <pc:docChgLst>
    <pc:chgData name="Xin Xin" userId="9ff0c946-7f3c-4192-98c1-6be932ce2bce" providerId="ADAL" clId="{13117687-83E8-4F36-96BF-55ECB25C3BB3}"/>
    <pc:docChg chg="undo redo custSel addSld delSld modSld sldOrd">
      <pc:chgData name="Xin Xin" userId="9ff0c946-7f3c-4192-98c1-6be932ce2bce" providerId="ADAL" clId="{13117687-83E8-4F36-96BF-55ECB25C3BB3}" dt="2025-02-17T22:18:16.957" v="292" actId="20577"/>
      <pc:docMkLst>
        <pc:docMk/>
      </pc:docMkLst>
      <pc:sldChg chg="del">
        <pc:chgData name="Xin Xin" userId="9ff0c946-7f3c-4192-98c1-6be932ce2bce" providerId="ADAL" clId="{13117687-83E8-4F36-96BF-55ECB25C3BB3}" dt="2025-02-03T13:45:41.407" v="144" actId="47"/>
        <pc:sldMkLst>
          <pc:docMk/>
          <pc:sldMk cId="2752686629" sldId="1128"/>
        </pc:sldMkLst>
      </pc:sldChg>
      <pc:sldChg chg="addSp delSp del">
        <pc:chgData name="Xin Xin" userId="9ff0c946-7f3c-4192-98c1-6be932ce2bce" providerId="ADAL" clId="{13117687-83E8-4F36-96BF-55ECB25C3BB3}" dt="2025-02-03T13:45:42.916" v="145" actId="47"/>
        <pc:sldMkLst>
          <pc:docMk/>
          <pc:sldMk cId="1052334167" sldId="1129"/>
        </pc:sldMkLst>
      </pc:sldChg>
      <pc:sldChg chg="modSp mod">
        <pc:chgData name="Xin Xin" userId="9ff0c946-7f3c-4192-98c1-6be932ce2bce" providerId="ADAL" clId="{13117687-83E8-4F36-96BF-55ECB25C3BB3}" dt="2025-02-03T13:52:46.623" v="276" actId="27636"/>
        <pc:sldMkLst>
          <pc:docMk/>
          <pc:sldMk cId="2194973191" sldId="1136"/>
        </pc:sldMkLst>
        <pc:spChg chg="mod">
          <ac:chgData name="Xin Xin" userId="9ff0c946-7f3c-4192-98c1-6be932ce2bce" providerId="ADAL" clId="{13117687-83E8-4F36-96BF-55ECB25C3BB3}" dt="2025-02-03T13:52:46.623" v="276" actId="27636"/>
          <ac:spMkLst>
            <pc:docMk/>
            <pc:sldMk cId="2194973191" sldId="1136"/>
            <ac:spMk id="12" creationId="{A0D96511-8EAA-9E47-AC3E-FE198A32EB27}"/>
          </ac:spMkLst>
        </pc:spChg>
      </pc:sldChg>
      <pc:sldChg chg="addSp delSp modSp mod">
        <pc:chgData name="Xin Xin" userId="9ff0c946-7f3c-4192-98c1-6be932ce2bce" providerId="ADAL" clId="{13117687-83E8-4F36-96BF-55ECB25C3BB3}" dt="2025-02-17T22:18:04.206" v="286" actId="478"/>
        <pc:sldMkLst>
          <pc:docMk/>
          <pc:sldMk cId="1453320618" sldId="1157"/>
        </pc:sldMkLst>
        <pc:picChg chg="add del mod">
          <ac:chgData name="Xin Xin" userId="9ff0c946-7f3c-4192-98c1-6be932ce2bce" providerId="ADAL" clId="{13117687-83E8-4F36-96BF-55ECB25C3BB3}" dt="2025-02-17T22:18:04.206" v="286" actId="478"/>
          <ac:picMkLst>
            <pc:docMk/>
            <pc:sldMk cId="1453320618" sldId="1157"/>
            <ac:picMk id="4" creationId="{EE91815A-EBB6-DC7A-3ADD-CDF3B73A7A2F}"/>
          </ac:picMkLst>
        </pc:picChg>
        <pc:picChg chg="add mod">
          <ac:chgData name="Xin Xin" userId="9ff0c946-7f3c-4192-98c1-6be932ce2bce" providerId="ADAL" clId="{13117687-83E8-4F36-96BF-55ECB25C3BB3}" dt="2025-02-17T22:17:56.275" v="280"/>
          <ac:picMkLst>
            <pc:docMk/>
            <pc:sldMk cId="1453320618" sldId="1157"/>
            <ac:picMk id="5" creationId="{5893A33A-FBE3-8E26-68A6-C82239A24EDB}"/>
          </ac:picMkLst>
        </pc:picChg>
      </pc:sldChg>
      <pc:sldChg chg="add">
        <pc:chgData name="Xin Xin" userId="9ff0c946-7f3c-4192-98c1-6be932ce2bce" providerId="ADAL" clId="{13117687-83E8-4F36-96BF-55ECB25C3BB3}" dt="2025-01-29T21:06:14.401" v="0"/>
        <pc:sldMkLst>
          <pc:docMk/>
          <pc:sldMk cId="900481427" sldId="1267"/>
        </pc:sldMkLst>
      </pc:sldChg>
      <pc:sldChg chg="add">
        <pc:chgData name="Xin Xin" userId="9ff0c946-7f3c-4192-98c1-6be932ce2bce" providerId="ADAL" clId="{13117687-83E8-4F36-96BF-55ECB25C3BB3}" dt="2025-01-29T21:06:14.401" v="0"/>
        <pc:sldMkLst>
          <pc:docMk/>
          <pc:sldMk cId="97218505" sldId="1268"/>
        </pc:sldMkLst>
      </pc:sldChg>
      <pc:sldChg chg="add">
        <pc:chgData name="Xin Xin" userId="9ff0c946-7f3c-4192-98c1-6be932ce2bce" providerId="ADAL" clId="{13117687-83E8-4F36-96BF-55ECB25C3BB3}" dt="2025-01-29T21:06:14.401" v="0"/>
        <pc:sldMkLst>
          <pc:docMk/>
          <pc:sldMk cId="373959725" sldId="1269"/>
        </pc:sldMkLst>
      </pc:sldChg>
      <pc:sldChg chg="delSp modSp add mod ord">
        <pc:chgData name="Xin Xin" userId="9ff0c946-7f3c-4192-98c1-6be932ce2bce" providerId="ADAL" clId="{13117687-83E8-4F36-96BF-55ECB25C3BB3}" dt="2025-02-03T13:49:40.832" v="226" actId="20577"/>
        <pc:sldMkLst>
          <pc:docMk/>
          <pc:sldMk cId="4025248213" sldId="1270"/>
        </pc:sldMkLst>
        <pc:spChg chg="mod">
          <ac:chgData name="Xin Xin" userId="9ff0c946-7f3c-4192-98c1-6be932ce2bce" providerId="ADAL" clId="{13117687-83E8-4F36-96BF-55ECB25C3BB3}" dt="2025-02-03T13:48:53.361" v="221" actId="20577"/>
          <ac:spMkLst>
            <pc:docMk/>
            <pc:sldMk cId="4025248213" sldId="1270"/>
            <ac:spMk id="5" creationId="{20EDC8F4-D278-350F-94B0-DEB196CA5F3A}"/>
          </ac:spMkLst>
        </pc:spChg>
        <pc:spChg chg="mod">
          <ac:chgData name="Xin Xin" userId="9ff0c946-7f3c-4192-98c1-6be932ce2bce" providerId="ADAL" clId="{13117687-83E8-4F36-96BF-55ECB25C3BB3}" dt="2025-02-03T13:49:40.832" v="226" actId="20577"/>
          <ac:spMkLst>
            <pc:docMk/>
            <pc:sldMk cId="4025248213" sldId="1270"/>
            <ac:spMk id="7" creationId="{D43A269F-BF7A-D5EB-1E05-EEA172EDC259}"/>
          </ac:spMkLst>
        </pc:spChg>
      </pc:sldChg>
      <pc:sldChg chg="modSp add del">
        <pc:chgData name="Xin Xin" userId="9ff0c946-7f3c-4192-98c1-6be932ce2bce" providerId="ADAL" clId="{13117687-83E8-4F36-96BF-55ECB25C3BB3}" dt="2025-02-03T13:43:49.831" v="107" actId="47"/>
        <pc:sldMkLst>
          <pc:docMk/>
          <pc:sldMk cId="244129649" sldId="1279"/>
        </pc:sldMkLst>
      </pc:sldChg>
      <pc:sldChg chg="addSp delSp modSp add mod">
        <pc:chgData name="Xin Xin" userId="9ff0c946-7f3c-4192-98c1-6be932ce2bce" providerId="ADAL" clId="{13117687-83E8-4F36-96BF-55ECB25C3BB3}" dt="2025-02-03T13:47:25.354" v="177" actId="20577"/>
        <pc:sldMkLst>
          <pc:docMk/>
          <pc:sldMk cId="1304522649" sldId="1291"/>
        </pc:sldMkLst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6" creationId="{2F9DD4EB-F6E5-A514-CF2F-5A26230C04EA}"/>
          </ac:spMkLst>
        </pc:spChg>
        <pc:spChg chg="mod">
          <ac:chgData name="Xin Xin" userId="9ff0c946-7f3c-4192-98c1-6be932ce2bce" providerId="ADAL" clId="{13117687-83E8-4F36-96BF-55ECB25C3BB3}" dt="2025-02-03T13:47:25.354" v="177" actId="20577"/>
          <ac:spMkLst>
            <pc:docMk/>
            <pc:sldMk cId="1304522649" sldId="1291"/>
            <ac:spMk id="7" creationId="{AB829774-6087-C001-C3A0-BC8BA18E9D13}"/>
          </ac:spMkLst>
        </pc:spChg>
        <pc:spChg chg="mod">
          <ac:chgData name="Xin Xin" userId="9ff0c946-7f3c-4192-98c1-6be932ce2bce" providerId="ADAL" clId="{13117687-83E8-4F36-96BF-55ECB25C3BB3}" dt="2025-02-03T13:45:25.901" v="138" actId="1076"/>
          <ac:spMkLst>
            <pc:docMk/>
            <pc:sldMk cId="1304522649" sldId="1291"/>
            <ac:spMk id="8" creationId="{5814C5A6-6B41-F738-3572-A8E522C40D8B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22" creationId="{F889128A-E43C-562E-FED8-BB448756E606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31" creationId="{8609770D-35B1-CB19-44A1-FE52ACA650BF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37" creationId="{C8EAA9B2-FEB1-7374-A0BC-DDCBAE2B28F1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42" creationId="{ED9F02D3-4A13-016F-BE35-4735EFBAD673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56" creationId="{FD26C111-7FE9-03AE-CA60-7A9394AADDE3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57" creationId="{AFBBA356-FE41-0691-AF2C-79917E4B0E97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61" creationId="{366E4642-4E70-DCFC-EF79-917690943148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63" creationId="{81F07468-86ED-B7F2-B158-A5ACF1998939}"/>
          </ac:spMkLst>
        </pc:spChg>
        <pc:spChg chg="mod">
          <ac:chgData name="Xin Xin" userId="9ff0c946-7f3c-4192-98c1-6be932ce2bce" providerId="ADAL" clId="{13117687-83E8-4F36-96BF-55ECB25C3BB3}" dt="2025-02-03T13:45:34.021" v="143" actId="1076"/>
          <ac:spMkLst>
            <pc:docMk/>
            <pc:sldMk cId="1304522649" sldId="1291"/>
            <ac:spMk id="67" creationId="{F61720E4-67D7-BEDA-279A-854229D6028D}"/>
          </ac:spMkLst>
        </pc:spChg>
        <pc:picChg chg="add mod">
          <ac:chgData name="Xin Xin" userId="9ff0c946-7f3c-4192-98c1-6be932ce2bce" providerId="ADAL" clId="{13117687-83E8-4F36-96BF-55ECB25C3BB3}" dt="2025-02-03T13:45:32.595" v="142" actId="1076"/>
          <ac:picMkLst>
            <pc:docMk/>
            <pc:sldMk cId="1304522649" sldId="1291"/>
            <ac:picMk id="76" creationId="{91B39B1B-CE40-1B1A-D005-993BCF6BD505}"/>
          </ac:picMkLst>
        </pc:picChg>
        <pc:picChg chg="add mod">
          <ac:chgData name="Xin Xin" userId="9ff0c946-7f3c-4192-98c1-6be932ce2bce" providerId="ADAL" clId="{13117687-83E8-4F36-96BF-55ECB25C3BB3}" dt="2025-02-03T13:45:31.315" v="141" actId="1076"/>
          <ac:picMkLst>
            <pc:docMk/>
            <pc:sldMk cId="1304522649" sldId="1291"/>
            <ac:picMk id="77" creationId="{84DD8B60-87C0-12F9-0E0F-FFA6C43652B1}"/>
          </ac:picMkLst>
        </pc:picChg>
      </pc:sldChg>
      <pc:sldChg chg="modSp add mod">
        <pc:chgData name="Xin Xin" userId="9ff0c946-7f3c-4192-98c1-6be932ce2bce" providerId="ADAL" clId="{13117687-83E8-4F36-96BF-55ECB25C3BB3}" dt="2025-02-03T13:50:28.500" v="244" actId="20577"/>
        <pc:sldMkLst>
          <pc:docMk/>
          <pc:sldMk cId="4215442534" sldId="1292"/>
        </pc:sldMkLst>
        <pc:spChg chg="mod">
          <ac:chgData name="Xin Xin" userId="9ff0c946-7f3c-4192-98c1-6be932ce2bce" providerId="ADAL" clId="{13117687-83E8-4F36-96BF-55ECB25C3BB3}" dt="2025-02-03T13:50:28.500" v="244" actId="20577"/>
          <ac:spMkLst>
            <pc:docMk/>
            <pc:sldMk cId="4215442534" sldId="1292"/>
            <ac:spMk id="5" creationId="{1700B393-3316-7079-C3FF-F2488FDDC0E0}"/>
          </ac:spMkLst>
        </pc:spChg>
        <pc:spChg chg="mod">
          <ac:chgData name="Xin Xin" userId="9ff0c946-7f3c-4192-98c1-6be932ce2bce" providerId="ADAL" clId="{13117687-83E8-4F36-96BF-55ECB25C3BB3}" dt="2025-02-03T13:49:45.048" v="231" actId="27636"/>
          <ac:spMkLst>
            <pc:docMk/>
            <pc:sldMk cId="4215442534" sldId="1292"/>
            <ac:spMk id="7" creationId="{6B8077D9-EFE6-5413-B2C0-715C5738FA80}"/>
          </ac:spMkLst>
        </pc:spChg>
      </pc:sldChg>
      <pc:sldChg chg="delSp modSp add mod">
        <pc:chgData name="Xin Xin" userId="9ff0c946-7f3c-4192-98c1-6be932ce2bce" providerId="ADAL" clId="{13117687-83E8-4F36-96BF-55ECB25C3BB3}" dt="2025-02-17T22:18:16.957" v="292" actId="20577"/>
        <pc:sldMkLst>
          <pc:docMk/>
          <pc:sldMk cId="440769303" sldId="1293"/>
        </pc:sldMkLst>
        <pc:spChg chg="del">
          <ac:chgData name="Xin Xin" userId="9ff0c946-7f3c-4192-98c1-6be932ce2bce" providerId="ADAL" clId="{13117687-83E8-4F36-96BF-55ECB25C3BB3}" dt="2025-02-17T22:18:12.148" v="288" actId="478"/>
          <ac:spMkLst>
            <pc:docMk/>
            <pc:sldMk cId="440769303" sldId="1293"/>
            <ac:spMk id="13" creationId="{3CB21DA2-C878-09B3-DF62-E7B9F479616E}"/>
          </ac:spMkLst>
        </pc:spChg>
        <pc:spChg chg="del">
          <ac:chgData name="Xin Xin" userId="9ff0c946-7f3c-4192-98c1-6be932ce2bce" providerId="ADAL" clId="{13117687-83E8-4F36-96BF-55ECB25C3BB3}" dt="2025-02-17T22:18:12.148" v="288" actId="478"/>
          <ac:spMkLst>
            <pc:docMk/>
            <pc:sldMk cId="440769303" sldId="1293"/>
            <ac:spMk id="14" creationId="{E0521D11-3466-4B2C-4477-9B2B7AEA4BF8}"/>
          </ac:spMkLst>
        </pc:spChg>
        <pc:spChg chg="mod">
          <ac:chgData name="Xin Xin" userId="9ff0c946-7f3c-4192-98c1-6be932ce2bce" providerId="ADAL" clId="{13117687-83E8-4F36-96BF-55ECB25C3BB3}" dt="2025-02-17T22:18:16.957" v="292" actId="20577"/>
          <ac:spMkLst>
            <pc:docMk/>
            <pc:sldMk cId="440769303" sldId="1293"/>
            <ac:spMk id="654" creationId="{ABF6DC9F-FBC7-316F-1665-769EBDBA42AB}"/>
          </ac:spMkLst>
        </pc:spChg>
        <pc:grpChg chg="del">
          <ac:chgData name="Xin Xin" userId="9ff0c946-7f3c-4192-98c1-6be932ce2bce" providerId="ADAL" clId="{13117687-83E8-4F36-96BF-55ECB25C3BB3}" dt="2025-02-17T22:18:12.148" v="288" actId="478"/>
          <ac:grpSpMkLst>
            <pc:docMk/>
            <pc:sldMk cId="440769303" sldId="1293"/>
            <ac:grpSpMk id="15" creationId="{3A189316-68DB-85FE-A10D-0A8D73E865EE}"/>
          </ac:grpSpMkLst>
        </pc:grpChg>
        <pc:grpChg chg="del">
          <ac:chgData name="Xin Xin" userId="9ff0c946-7f3c-4192-98c1-6be932ce2bce" providerId="ADAL" clId="{13117687-83E8-4F36-96BF-55ECB25C3BB3}" dt="2025-02-17T22:18:12.148" v="288" actId="478"/>
          <ac:grpSpMkLst>
            <pc:docMk/>
            <pc:sldMk cId="440769303" sldId="1293"/>
            <ac:grpSpMk id="18" creationId="{B5A7D235-1417-7D0D-F62B-26A32BE613C8}"/>
          </ac:grpSpMkLst>
        </pc:grpChg>
        <pc:grpChg chg="del">
          <ac:chgData name="Xin Xin" userId="9ff0c946-7f3c-4192-98c1-6be932ce2bce" providerId="ADAL" clId="{13117687-83E8-4F36-96BF-55ECB25C3BB3}" dt="2025-02-17T22:18:12.148" v="288" actId="478"/>
          <ac:grpSpMkLst>
            <pc:docMk/>
            <pc:sldMk cId="440769303" sldId="1293"/>
            <ac:grpSpMk id="21" creationId="{F6DC14B0-5763-AFCF-7726-BD5580969026}"/>
          </ac:grpSpMkLst>
        </pc:grpChg>
        <pc:grpChg chg="del">
          <ac:chgData name="Xin Xin" userId="9ff0c946-7f3c-4192-98c1-6be932ce2bce" providerId="ADAL" clId="{13117687-83E8-4F36-96BF-55ECB25C3BB3}" dt="2025-02-17T22:18:12.148" v="288" actId="478"/>
          <ac:grpSpMkLst>
            <pc:docMk/>
            <pc:sldMk cId="440769303" sldId="1293"/>
            <ac:grpSpMk id="24" creationId="{2BBDC215-729F-33B7-28A5-210720BF5735}"/>
          </ac:grpSpMkLst>
        </pc:grpChg>
        <pc:grpChg chg="del">
          <ac:chgData name="Xin Xin" userId="9ff0c946-7f3c-4192-98c1-6be932ce2bce" providerId="ADAL" clId="{13117687-83E8-4F36-96BF-55ECB25C3BB3}" dt="2025-02-17T22:18:12.148" v="288" actId="478"/>
          <ac:grpSpMkLst>
            <pc:docMk/>
            <pc:sldMk cId="440769303" sldId="1293"/>
            <ac:grpSpMk id="36" creationId="{CC4BD058-DE92-34DA-5CC7-179181C69E82}"/>
          </ac:grpSpMkLst>
        </pc:grpChg>
        <pc:grpChg chg="del">
          <ac:chgData name="Xin Xin" userId="9ff0c946-7f3c-4192-98c1-6be932ce2bce" providerId="ADAL" clId="{13117687-83E8-4F36-96BF-55ECB25C3BB3}" dt="2025-02-17T22:18:12.148" v="288" actId="478"/>
          <ac:grpSpMkLst>
            <pc:docMk/>
            <pc:sldMk cId="440769303" sldId="1293"/>
            <ac:grpSpMk id="39" creationId="{2B6499DB-1315-D521-4564-D4F1838CF2D6}"/>
          </ac:grpSpMkLst>
        </pc:grpChg>
        <pc:picChg chg="mod">
          <ac:chgData name="Xin Xin" userId="9ff0c946-7f3c-4192-98c1-6be932ce2bce" providerId="ADAL" clId="{13117687-83E8-4F36-96BF-55ECB25C3BB3}" dt="2025-02-17T22:18:13.564" v="289" actId="1076"/>
          <ac:picMkLst>
            <pc:docMk/>
            <pc:sldMk cId="440769303" sldId="1293"/>
            <ac:picMk id="4" creationId="{8E7FE257-5A2C-3227-FF48-A97A82F0A02B}"/>
          </ac:picMkLst>
        </pc:picChg>
      </pc:sldChg>
    </pc:docChg>
  </pc:docChgLst>
  <pc:docChgLst>
    <pc:chgData name="Xin Xin" userId="9ff0c946-7f3c-4192-98c1-6be932ce2bce" providerId="ADAL" clId="{CE8D47A0-0170-44B0-9C8F-524117D40C23}"/>
    <pc:docChg chg="undo custSel addSld delSld modSld">
      <pc:chgData name="Xin Xin" userId="9ff0c946-7f3c-4192-98c1-6be932ce2bce" providerId="ADAL" clId="{CE8D47A0-0170-44B0-9C8F-524117D40C23}" dt="2025-02-03T03:43:33.681" v="411" actId="47"/>
      <pc:docMkLst>
        <pc:docMk/>
      </pc:docMkLst>
      <pc:sldChg chg="modSp add">
        <pc:chgData name="Xin Xin" userId="9ff0c946-7f3c-4192-98c1-6be932ce2bce" providerId="ADAL" clId="{CE8D47A0-0170-44B0-9C8F-524117D40C23}" dt="2025-02-03T03:43:29.680" v="410"/>
        <pc:sldMkLst>
          <pc:docMk/>
          <pc:sldMk cId="2752686629" sldId="1128"/>
        </pc:sldMkLst>
      </pc:sldChg>
      <pc:sldChg chg="modSp add">
        <pc:chgData name="Xin Xin" userId="9ff0c946-7f3c-4192-98c1-6be932ce2bce" providerId="ADAL" clId="{CE8D47A0-0170-44B0-9C8F-524117D40C23}" dt="2025-02-03T03:43:29.680" v="410"/>
        <pc:sldMkLst>
          <pc:docMk/>
          <pc:sldMk cId="1052334167" sldId="1129"/>
        </pc:sldMkLst>
      </pc:sldChg>
      <pc:sldChg chg="del">
        <pc:chgData name="Xin Xin" userId="9ff0c946-7f3c-4192-98c1-6be932ce2bce" providerId="ADAL" clId="{CE8D47A0-0170-44B0-9C8F-524117D40C23}" dt="2025-02-03T03:43:33.681" v="411" actId="47"/>
        <pc:sldMkLst>
          <pc:docMk/>
          <pc:sldMk cId="900481427" sldId="1267"/>
        </pc:sldMkLst>
      </pc:sldChg>
      <pc:sldChg chg="del">
        <pc:chgData name="Xin Xin" userId="9ff0c946-7f3c-4192-98c1-6be932ce2bce" providerId="ADAL" clId="{CE8D47A0-0170-44B0-9C8F-524117D40C23}" dt="2025-02-03T03:43:33.681" v="411" actId="47"/>
        <pc:sldMkLst>
          <pc:docMk/>
          <pc:sldMk cId="97218505" sldId="1268"/>
        </pc:sldMkLst>
      </pc:sldChg>
      <pc:sldChg chg="del">
        <pc:chgData name="Xin Xin" userId="9ff0c946-7f3c-4192-98c1-6be932ce2bce" providerId="ADAL" clId="{CE8D47A0-0170-44B0-9C8F-524117D40C23}" dt="2025-02-03T03:43:33.681" v="411" actId="47"/>
        <pc:sldMkLst>
          <pc:docMk/>
          <pc:sldMk cId="373959725" sldId="1269"/>
        </pc:sldMkLst>
      </pc:sldChg>
      <pc:sldChg chg="addSp delSp modSp mod">
        <pc:chgData name="Xin Xin" userId="9ff0c946-7f3c-4192-98c1-6be932ce2bce" providerId="ADAL" clId="{CE8D47A0-0170-44B0-9C8F-524117D40C23}" dt="2025-02-03T03:42:57.427" v="409" actId="478"/>
        <pc:sldMkLst>
          <pc:docMk/>
          <pc:sldMk cId="4025248213" sldId="1270"/>
        </pc:sldMkLst>
        <pc:spChg chg="add mod">
          <ac:chgData name="Xin Xin" userId="9ff0c946-7f3c-4192-98c1-6be932ce2bce" providerId="ADAL" clId="{CE8D47A0-0170-44B0-9C8F-524117D40C23}" dt="2025-02-03T03:42:42.317" v="407" actId="27636"/>
          <ac:spMkLst>
            <pc:docMk/>
            <pc:sldMk cId="4025248213" sldId="1270"/>
            <ac:spMk id="5" creationId="{20EDC8F4-D278-350F-94B0-DEB196CA5F3A}"/>
          </ac:spMkLst>
        </pc:spChg>
        <pc:spChg chg="mod">
          <ac:chgData name="Xin Xin" userId="9ff0c946-7f3c-4192-98c1-6be932ce2bce" providerId="ADAL" clId="{CE8D47A0-0170-44B0-9C8F-524117D40C23}" dt="2025-02-03T03:35:25.755" v="202" actId="20577"/>
          <ac:spMkLst>
            <pc:docMk/>
            <pc:sldMk cId="4025248213" sldId="1270"/>
            <ac:spMk id="7" creationId="{D43A269F-BF7A-D5EB-1E05-EEA172EDC2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30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09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77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488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477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219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Whatsapp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instant message applications</a:t>
            </a:r>
            <a:br>
              <a:rPr lang="en-US" dirty="0"/>
            </a:br>
            <a:r>
              <a:rPr lang="en-US" dirty="0"/>
              <a:t>distributed hash table (DHT)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42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489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074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UDO and TCP code updates 3/23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2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216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209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857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84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D5F7-5B34-C236-BDB4-5EC5613B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81262-A895-E0E4-84A7-E52496156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787A0-D8B1-685F-8EE3-3E93FD424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9B2F4-B6AA-DD10-CC9A-45D0A6F38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569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315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579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4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59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9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2-4: Application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altLang="zh-CN" dirty="0"/>
              <a:t>Video Streaming and CDN</a:t>
            </a:r>
          </a:p>
          <a:p>
            <a:pPr lvl="1"/>
            <a:r>
              <a:rPr lang="en-US" altLang="zh-CN" dirty="0"/>
              <a:t>DASH</a:t>
            </a:r>
          </a:p>
          <a:p>
            <a:pPr lvl="1"/>
            <a:r>
              <a:rPr lang="en-US" altLang="zh-CN" dirty="0"/>
              <a:t>CDN</a:t>
            </a:r>
          </a:p>
          <a:p>
            <a:r>
              <a:rPr lang="en-US" altLang="zh-CN" dirty="0"/>
              <a:t>Socket Programming</a:t>
            </a:r>
          </a:p>
          <a:p>
            <a:pPr lvl="1"/>
            <a:r>
              <a:rPr lang="en-US" altLang="zh-CN" dirty="0"/>
              <a:t>UDP</a:t>
            </a:r>
          </a:p>
          <a:p>
            <a:pPr lvl="1"/>
            <a:r>
              <a:rPr lang="en-US" altLang="zh-CN" dirty="0"/>
              <a:t>TCP</a:t>
            </a:r>
          </a:p>
          <a:p>
            <a:r>
              <a:rPr lang="en-US" altLang="zh-CN" dirty="0"/>
              <a:t>Chapter 2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5"/>
            <a:ext cx="7550150" cy="772796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Video Streaming </a:t>
            </a:r>
            <a:r>
              <a:rPr lang="en-US" dirty="0"/>
              <a:t>and </a:t>
            </a:r>
            <a:r>
              <a:rPr lang="en-US" altLang="en-US" dirty="0">
                <a:ea typeface="ＭＳ Ｐゴシック" panose="020B0600070205080204" pitchFamily="34" charset="-128"/>
              </a:rPr>
              <a:t>CDN</a:t>
            </a: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314CB26F-FC68-EA47-A348-5C2202E9D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63" y="2044665"/>
            <a:ext cx="6336676" cy="670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Rectangle 43">
            <a:extLst>
              <a:ext uri="{FF2B5EF4-FFF2-40B4-BE49-F238E27FC236}">
                <a16:creationId xmlns:a16="http://schemas.microsoft.com/office/drawing/2014/main" id="{429AF3E8-B41E-F946-8623-A7772106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43" y="2070762"/>
            <a:ext cx="4623289" cy="3615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67891" indent="-255985" defTabSz="685800">
              <a:buClr>
                <a:srgbClr val="0000A3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stream video traffic: major consumer of Internet bandwidth</a:t>
            </a:r>
          </a:p>
          <a:p>
            <a:pPr marL="510779" lvl="1" indent="-167879" defTabSz="685800"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Netflix, YouTube, Amazon Prime: 80% of residential ISP traffic </a:t>
            </a: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(2020)</a:t>
            </a:r>
          </a:p>
          <a:p>
            <a:pPr marL="257175" indent="-257175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400" i="1" dirty="0">
                <a:solidFill>
                  <a:srgbClr val="0000A3"/>
                </a:solidFill>
                <a:latin typeface="Calibri" panose="020F0502020204030204"/>
              </a:rPr>
              <a:t>challenge: 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scale - how to reach ~1B users?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65E308-402E-4042-A40D-C589192435C8}"/>
              </a:ext>
            </a:extLst>
          </p:cNvPr>
          <p:cNvGrpSpPr/>
          <p:nvPr/>
        </p:nvGrpSpPr>
        <p:grpSpPr>
          <a:xfrm>
            <a:off x="6205076" y="2449309"/>
            <a:ext cx="2767036" cy="1968229"/>
            <a:chOff x="8502619" y="4539639"/>
            <a:chExt cx="3689381" cy="2624305"/>
          </a:xfrm>
        </p:grpSpPr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4DE1A959-4B7D-1A4F-80C4-8A52E8561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0975" y="6101881"/>
              <a:ext cx="1710592" cy="106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" name="Picture 5">
              <a:extLst>
                <a:ext uri="{FF2B5EF4-FFF2-40B4-BE49-F238E27FC236}">
                  <a16:creationId xmlns:a16="http://schemas.microsoft.com/office/drawing/2014/main" id="{8CD6D4B6-6A4F-D142-9B0C-0E622DB3E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0238" y="4539639"/>
              <a:ext cx="2671762" cy="1495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3">
              <a:extLst>
                <a:ext uri="{FF2B5EF4-FFF2-40B4-BE49-F238E27FC236}">
                  <a16:creationId xmlns:a16="http://schemas.microsoft.com/office/drawing/2014/main" id="{F2FB8318-CA96-2746-94FD-3A5ACA1FD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2619" y="4874389"/>
              <a:ext cx="1227138" cy="569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6">
              <a:extLst>
                <a:ext uri="{FF2B5EF4-FFF2-40B4-BE49-F238E27FC236}">
                  <a16:creationId xmlns:a16="http://schemas.microsoft.com/office/drawing/2014/main" id="{4FD2F200-10A9-4643-8C58-A3B6FC34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22" y="5629397"/>
              <a:ext cx="150177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Rectangle 43">
            <a:extLst>
              <a:ext uri="{FF2B5EF4-FFF2-40B4-BE49-F238E27FC236}">
                <a16:creationId xmlns:a16="http://schemas.microsoft.com/office/drawing/2014/main" id="{4D8B542F-9DF5-C749-A79E-89811A1F4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304" y="4084481"/>
            <a:ext cx="7006004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400" i="1" dirty="0">
                <a:solidFill>
                  <a:srgbClr val="0000A3"/>
                </a:solidFill>
                <a:latin typeface="Calibri" panose="020F0502020204030204"/>
              </a:rPr>
              <a:t>challenge: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heterogeneity</a:t>
            </a:r>
          </a:p>
          <a:p>
            <a:pPr marL="510779" lvl="1" indent="-167879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different users have different capabilities (e.g., wired versus mobile; bandwidth rich versus bandwidth poor)</a:t>
            </a:r>
          </a:p>
          <a:p>
            <a:pPr marL="257175" indent="-257175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400" i="1" dirty="0">
                <a:solidFill>
                  <a:srgbClr val="0000A3"/>
                </a:solidFill>
                <a:latin typeface="Calibri" panose="020F0502020204030204"/>
              </a:rPr>
              <a:t>solution: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distributed, application-level infrastructure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13D3A3-764A-46A6-C2FC-0A2C329F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57958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Killer-application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6466DF6-6AAE-01E9-9C71-3B55301E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42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Video Streaming </a:t>
            </a:r>
            <a:r>
              <a:rPr lang="en-US" dirty="0"/>
              <a:t>and </a:t>
            </a:r>
            <a:r>
              <a:rPr lang="en-US" altLang="en-US" dirty="0">
                <a:ea typeface="ＭＳ Ｐゴシック" panose="020B0600070205080204" pitchFamily="34" charset="-128"/>
              </a:rPr>
              <a:t>CDN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76D12-BD21-63D3-83BC-C5D3E48B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Multimedia: video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0D96511-8EAA-9E47-AC3E-FE198A32EB27}"/>
              </a:ext>
            </a:extLst>
          </p:cNvPr>
          <p:cNvSpPr txBox="1">
            <a:spLocks noChangeArrowheads="1"/>
          </p:cNvSpPr>
          <p:nvPr/>
        </p:nvSpPr>
        <p:spPr>
          <a:xfrm>
            <a:off x="648006" y="2078183"/>
            <a:ext cx="4282678" cy="3550150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coding: use redundancy </a:t>
            </a: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within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and </a:t>
            </a: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between</a:t>
            </a:r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images to decrease # bits used to encode image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spatial (within image)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temporal (from one image to next)</a:t>
            </a:r>
          </a:p>
          <a:p>
            <a:pPr marL="264319" lvl="1" indent="-166688" defTabSz="685800">
              <a:spcBef>
                <a:spcPts val="75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streaming: consecutive and pipelined 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at a specific time, client  playing out early part of video, while server still sending later part of video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5E706C-FCF7-AC4A-9E47-5DFF51091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704" y="2184528"/>
            <a:ext cx="1012036" cy="114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5">
            <a:extLst>
              <a:ext uri="{FF2B5EF4-FFF2-40B4-BE49-F238E27FC236}">
                <a16:creationId xmlns:a16="http://schemas.microsoft.com/office/drawing/2014/main" id="{C3AFF6B0-484E-4A4F-A21E-6EFE00895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916" y="2053335"/>
            <a:ext cx="112082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350" dirty="0">
                <a:solidFill>
                  <a:srgbClr val="CC0000"/>
                </a:solidFill>
                <a:latin typeface="Arial Narrow" panose="020B0604020202020204" pitchFamily="34" charset="0"/>
              </a:rPr>
              <a:t>………………..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63B989F6-9A2F-064B-A0D7-BF8ECA3B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897" y="1103996"/>
            <a:ext cx="210869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050" i="1" dirty="0">
                <a:solidFill>
                  <a:srgbClr val="CC0000"/>
                </a:solidFill>
                <a:cs typeface="Arial" panose="020B0604020202020204" pitchFamily="34" charset="0"/>
              </a:rPr>
              <a:t>spatial coding example: </a:t>
            </a:r>
            <a:r>
              <a:rPr lang="en-US" altLang="en-US" sz="1050" dirty="0">
                <a:solidFill>
                  <a:prstClr val="black"/>
                </a:solidFill>
                <a:cs typeface="Arial" panose="020B0604020202020204" pitchFamily="34" charset="0"/>
              </a:rPr>
              <a:t>instead of sending</a:t>
            </a:r>
            <a:r>
              <a:rPr lang="en-US" altLang="en-US" sz="1050" i="1" dirty="0">
                <a:solidFill>
                  <a:prstClr val="black"/>
                </a:solidFill>
                <a:cs typeface="Arial" panose="020B0604020202020204" pitchFamily="34" charset="0"/>
              </a:rPr>
              <a:t> N </a:t>
            </a:r>
            <a:r>
              <a:rPr lang="en-US" altLang="en-US" sz="1050" dirty="0">
                <a:solidFill>
                  <a:prstClr val="black"/>
                </a:solidFill>
                <a:cs typeface="Arial" panose="020B0604020202020204" pitchFamily="34" charset="0"/>
              </a:rPr>
              <a:t>values of same color (all purple), send only two values: color  value (</a:t>
            </a:r>
            <a:r>
              <a:rPr lang="en-US" altLang="en-US" sz="1050" i="1" dirty="0">
                <a:solidFill>
                  <a:prstClr val="black"/>
                </a:solidFill>
                <a:cs typeface="Arial" panose="020B0604020202020204" pitchFamily="34" charset="0"/>
              </a:rPr>
              <a:t>purple)  and number of repeated values (</a:t>
            </a:r>
            <a:r>
              <a:rPr lang="en-US" altLang="en-US" sz="1050" dirty="0">
                <a:solidFill>
                  <a:prstClr val="black"/>
                </a:solidFill>
                <a:cs typeface="Arial" panose="020B0604020202020204" pitchFamily="34" charset="0"/>
              </a:rPr>
              <a:t>N)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0DD140F0-90AD-754F-A1E7-CA495B44B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916" y="2124758"/>
            <a:ext cx="112082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350" dirty="0">
                <a:solidFill>
                  <a:srgbClr val="CC0000"/>
                </a:solidFill>
                <a:latin typeface="Arial Narrow" panose="020B0604020202020204" pitchFamily="34" charset="0"/>
              </a:rPr>
              <a:t>………………..</a:t>
            </a:r>
          </a:p>
        </p:txBody>
      </p: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5678A114-1893-1B47-8BF5-FA9D37D271C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434013" y="1278012"/>
            <a:ext cx="191464" cy="973946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7">
            <a:extLst>
              <a:ext uri="{FF2B5EF4-FFF2-40B4-BE49-F238E27FC236}">
                <a16:creationId xmlns:a16="http://schemas.microsoft.com/office/drawing/2014/main" id="{F235BCD2-CAC3-414C-B96D-3CE715DE6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907" y="3318391"/>
            <a:ext cx="71365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350" dirty="0">
                <a:solidFill>
                  <a:srgbClr val="CC0000"/>
                </a:solidFill>
                <a:cs typeface="Arial" panose="020B0604020202020204" pitchFamily="34" charset="0"/>
              </a:rPr>
              <a:t>frame</a:t>
            </a:r>
            <a:r>
              <a:rPr lang="en-US" altLang="en-US" sz="1350" i="1" dirty="0">
                <a:solidFill>
                  <a:srgbClr val="CC0000"/>
                </a:solidFill>
                <a:cs typeface="Arial" panose="020B0604020202020204" pitchFamily="34" charset="0"/>
              </a:rPr>
              <a:t> i</a:t>
            </a: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478FF525-6EF9-2D42-9776-101975042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4781" y="3318391"/>
            <a:ext cx="9108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350" dirty="0">
                <a:solidFill>
                  <a:srgbClr val="CC0000"/>
                </a:solidFill>
                <a:cs typeface="Arial" panose="020B0604020202020204" pitchFamily="34" charset="0"/>
              </a:rPr>
              <a:t>frame</a:t>
            </a:r>
            <a:r>
              <a:rPr lang="en-US" altLang="en-US" sz="1350" i="1" dirty="0">
                <a:solidFill>
                  <a:srgbClr val="CC0000"/>
                </a:solidFill>
                <a:cs typeface="Arial" panose="020B0604020202020204" pitchFamily="34" charset="0"/>
              </a:rPr>
              <a:t> i+1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970339-7C15-1D44-9D1C-0D1C2D58B670}"/>
              </a:ext>
            </a:extLst>
          </p:cNvPr>
          <p:cNvGrpSpPr/>
          <p:nvPr/>
        </p:nvGrpSpPr>
        <p:grpSpPr>
          <a:xfrm>
            <a:off x="6340534" y="2715099"/>
            <a:ext cx="1708244" cy="1163218"/>
            <a:chOff x="7713208" y="4450543"/>
            <a:chExt cx="2277657" cy="1550958"/>
          </a:xfrm>
        </p:grpSpPr>
        <p:sp>
          <p:nvSpPr>
            <p:cNvPr id="18" name="TextBox 26">
              <a:extLst>
                <a:ext uri="{FF2B5EF4-FFF2-40B4-BE49-F238E27FC236}">
                  <a16:creationId xmlns:a16="http://schemas.microsoft.com/office/drawing/2014/main" id="{168CFF8A-2A4E-1B4B-9CAC-8B43C91BF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3208" y="4801173"/>
              <a:ext cx="2277657" cy="1200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i="1" dirty="0">
                  <a:solidFill>
                    <a:srgbClr val="CC0000"/>
                  </a:solidFill>
                  <a:cs typeface="Arial" panose="020B0604020202020204" pitchFamily="34" charset="0"/>
                </a:rPr>
                <a:t>temporal coding example: </a:t>
              </a:r>
              <a:r>
                <a:rPr lang="en-US" altLang="en-US" sz="1050" dirty="0">
                  <a:solidFill>
                    <a:prstClr val="black"/>
                  </a:solidFill>
                  <a:cs typeface="Arial" panose="020B0604020202020204" pitchFamily="34" charset="0"/>
                </a:rPr>
                <a:t>instead of sending complete frame at i+1, send only differences from frame i</a:t>
              </a:r>
            </a:p>
          </p:txBody>
        </p:sp>
        <p:cxnSp>
          <p:nvCxnSpPr>
            <p:cNvPr id="19" name="Straight Connector 28">
              <a:extLst>
                <a:ext uri="{FF2B5EF4-FFF2-40B4-BE49-F238E27FC236}">
                  <a16:creationId xmlns:a16="http://schemas.microsoft.com/office/drawing/2014/main" id="{445534AE-2E68-BD45-8A38-E71043EB22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72656" y="4450543"/>
              <a:ext cx="1131513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51B74521-834E-524B-AAD9-D92F3C568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90" y="2181606"/>
            <a:ext cx="1012036" cy="114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95420BF-C3A0-03BD-8EC7-F89A6027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1837E1-2F16-3110-2C07-CEC4698F5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539" y="4292865"/>
            <a:ext cx="4125439" cy="220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7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Video Streaming </a:t>
            </a:r>
            <a:r>
              <a:rPr lang="en-US" dirty="0"/>
              <a:t>and </a:t>
            </a:r>
            <a:r>
              <a:rPr lang="en-US" altLang="en-US" dirty="0">
                <a:ea typeface="ＭＳ Ｐゴシック" panose="020B0600070205080204" pitchFamily="34" charset="-128"/>
              </a:rPr>
              <a:t>CDN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80D164-9AFA-0DD4-2B87-F171B131B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Challenge1: Streaming vs Various Network Delay</a:t>
            </a:r>
            <a:endParaRPr lang="en-US" dirty="0"/>
          </a:p>
        </p:txBody>
      </p:sp>
      <p:sp>
        <p:nvSpPr>
          <p:cNvPr id="195" name="Rectangle 153">
            <a:extLst>
              <a:ext uri="{FF2B5EF4-FFF2-40B4-BE49-F238E27FC236}">
                <a16:creationId xmlns:a16="http://schemas.microsoft.com/office/drawing/2014/main" id="{F0360033-494E-BF42-811C-9015EDCF8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51" y="2078183"/>
            <a:ext cx="6415050" cy="336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11931" indent="-211931" defTabSz="6858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C0000"/>
                </a:solidFill>
                <a:latin typeface="Calibri" panose="020F0502020204030204"/>
              </a:rPr>
              <a:t>continuous playout constraint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during client video playout, playout timing must match original timing </a:t>
            </a:r>
          </a:p>
          <a:p>
            <a:pPr marL="511969" lvl="1" indent="-169069" defTabSz="685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… but </a:t>
            </a: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network delays are variable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(jitter), so will need </a:t>
            </a:r>
            <a:r>
              <a:rPr lang="en-US" sz="2100" dirty="0">
                <a:solidFill>
                  <a:srgbClr val="000099"/>
                </a:solidFill>
                <a:latin typeface="Calibri" panose="020F0502020204030204"/>
              </a:rPr>
              <a:t>client-side buffer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to match continuous playout constraint</a:t>
            </a:r>
          </a:p>
          <a:p>
            <a:pPr marL="511969" lvl="1" indent="-169069" defTabSz="685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4034" name="Picture 2" descr="Image result for netflix rebuffering">
            <a:extLst>
              <a:ext uri="{FF2B5EF4-FFF2-40B4-BE49-F238E27FC236}">
                <a16:creationId xmlns:a16="http://schemas.microsoft.com/office/drawing/2014/main" id="{781B3964-3F60-B74D-87BD-9FF56B024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545" y="2150062"/>
            <a:ext cx="1593170" cy="88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209C40-FD1A-A010-2372-0D06B7653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000" y="4333551"/>
            <a:ext cx="4743000" cy="2025610"/>
          </a:xfrm>
          <a:prstGeom prst="rect">
            <a:avLst/>
          </a:prstGeom>
        </p:spPr>
      </p:pic>
      <p:sp>
        <p:nvSpPr>
          <p:cNvPr id="4" name="Rectangle 208">
            <a:extLst>
              <a:ext uri="{FF2B5EF4-FFF2-40B4-BE49-F238E27FC236}">
                <a16:creationId xmlns:a16="http://schemas.microsoft.com/office/drawing/2014/main" id="{70A037FB-DFA0-644F-A9B6-F58CE27B010E}"/>
              </a:ext>
            </a:extLst>
          </p:cNvPr>
          <p:cNvSpPr txBox="1">
            <a:spLocks noChangeArrowheads="1"/>
          </p:cNvSpPr>
          <p:nvPr/>
        </p:nvSpPr>
        <p:spPr>
          <a:xfrm>
            <a:off x="785851" y="4477144"/>
            <a:ext cx="3681977" cy="15471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/>
              </a:rPr>
              <a:t>client-side buffering and playout delay: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compensate for network-added delay, delay jitter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BF1A96-326F-A0D5-FEEE-75AE551A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2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Video Streaming </a:t>
            </a:r>
            <a:r>
              <a:rPr lang="en-US" dirty="0"/>
              <a:t>and </a:t>
            </a:r>
            <a:r>
              <a:rPr lang="en-US" altLang="en-US" dirty="0">
                <a:ea typeface="ＭＳ Ｐゴシック" panose="020B0600070205080204" pitchFamily="34" charset="-128"/>
              </a:rPr>
              <a:t>CDN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ADB12C-9520-9D81-1E15-09341A70A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Streaming multimedia: DASH</a:t>
            </a: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86288FC-1EC1-EF4E-A6E3-F04D9EE4709E}"/>
              </a:ext>
            </a:extLst>
          </p:cNvPr>
          <p:cNvSpPr txBox="1">
            <a:spLocks noChangeArrowheads="1"/>
          </p:cNvSpPr>
          <p:nvPr/>
        </p:nvSpPr>
        <p:spPr>
          <a:xfrm>
            <a:off x="616826" y="2175790"/>
            <a:ext cx="7776956" cy="378976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server: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divides video file into multiple chunks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each chunk encoded at multiple different rates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different rate encodings stored in different files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files replicated in various CDN nodes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manifest file: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provides URLs for different chunks</a:t>
            </a:r>
          </a:p>
        </p:txBody>
      </p:sp>
      <p:grpSp>
        <p:nvGrpSpPr>
          <p:cNvPr id="56" name="Group 2">
            <a:extLst>
              <a:ext uri="{FF2B5EF4-FFF2-40B4-BE49-F238E27FC236}">
                <a16:creationId xmlns:a16="http://schemas.microsoft.com/office/drawing/2014/main" id="{232E2937-932A-8140-A56C-A78B8BFCFF64}"/>
              </a:ext>
            </a:extLst>
          </p:cNvPr>
          <p:cNvGrpSpPr>
            <a:grpSpLocks/>
          </p:cNvGrpSpPr>
          <p:nvPr/>
        </p:nvGrpSpPr>
        <p:grpSpPr bwMode="auto">
          <a:xfrm>
            <a:off x="7814189" y="2853241"/>
            <a:ext cx="998720" cy="812360"/>
            <a:chOff x="1842724" y="2867233"/>
            <a:chExt cx="5649912" cy="3416300"/>
          </a:xfrm>
        </p:grpSpPr>
        <p:sp>
          <p:nvSpPr>
            <p:cNvPr id="57" name="AutoShape 99">
              <a:extLst>
                <a:ext uri="{FF2B5EF4-FFF2-40B4-BE49-F238E27FC236}">
                  <a16:creationId xmlns:a16="http://schemas.microsoft.com/office/drawing/2014/main" id="{5055D5A0-B7B0-8947-9D7F-F28A31600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724" y="2867233"/>
              <a:ext cx="5649912" cy="768350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58" name="Rectangle 87">
              <a:extLst>
                <a:ext uri="{FF2B5EF4-FFF2-40B4-BE49-F238E27FC236}">
                  <a16:creationId xmlns:a16="http://schemas.microsoft.com/office/drawing/2014/main" id="{13B28B0D-9C67-5D40-8231-3A83B9C16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51" name="Group 349">
            <a:extLst>
              <a:ext uri="{FF2B5EF4-FFF2-40B4-BE49-F238E27FC236}">
                <a16:creationId xmlns:a16="http://schemas.microsoft.com/office/drawing/2014/main" id="{431C7441-FEA9-E649-870D-E4A204A68EA2}"/>
              </a:ext>
            </a:extLst>
          </p:cNvPr>
          <p:cNvGrpSpPr>
            <a:grpSpLocks/>
          </p:cNvGrpSpPr>
          <p:nvPr/>
        </p:nvGrpSpPr>
        <p:grpSpPr bwMode="auto">
          <a:xfrm>
            <a:off x="8173397" y="3184240"/>
            <a:ext cx="320883" cy="340589"/>
            <a:chOff x="4437" y="1472"/>
            <a:chExt cx="427" cy="418"/>
          </a:xfrm>
        </p:grpSpPr>
        <p:sp>
          <p:nvSpPr>
            <p:cNvPr id="152" name="Rectangle 350">
              <a:extLst>
                <a:ext uri="{FF2B5EF4-FFF2-40B4-BE49-F238E27FC236}">
                  <a16:creationId xmlns:a16="http://schemas.microsoft.com/office/drawing/2014/main" id="{5CB65625-7D77-2D48-9EBF-E0DD7EB55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475"/>
              <a:ext cx="421" cy="361"/>
            </a:xfrm>
            <a:prstGeom prst="rect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53" name="Rectangle 351">
              <a:extLst>
                <a:ext uri="{FF2B5EF4-FFF2-40B4-BE49-F238E27FC236}">
                  <a16:creationId xmlns:a16="http://schemas.microsoft.com/office/drawing/2014/main" id="{9179FB7F-3949-174E-9E9E-A161E0EF4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54" name="Rectangle 352">
              <a:extLst>
                <a:ext uri="{FF2B5EF4-FFF2-40B4-BE49-F238E27FC236}">
                  <a16:creationId xmlns:a16="http://schemas.microsoft.com/office/drawing/2014/main" id="{7E315010-D1DB-594B-B06F-DFFAAC621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66"/>
              <a:ext cx="414" cy="2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55" name="Rectangle 353">
              <a:extLst>
                <a:ext uri="{FF2B5EF4-FFF2-40B4-BE49-F238E27FC236}">
                  <a16:creationId xmlns:a16="http://schemas.microsoft.com/office/drawing/2014/main" id="{03963D0C-B78F-CD4C-82A8-1D695049C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472"/>
              <a:ext cx="423" cy="35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endParaRPr>
            </a:p>
          </p:txBody>
        </p:sp>
      </p:grpSp>
      <p:sp>
        <p:nvSpPr>
          <p:cNvPr id="156" name="Freeform 1287">
            <a:extLst>
              <a:ext uri="{FF2B5EF4-FFF2-40B4-BE49-F238E27FC236}">
                <a16:creationId xmlns:a16="http://schemas.microsoft.com/office/drawing/2014/main" id="{77B492B9-F4A6-AA4F-886C-26D56EDFBA9C}"/>
              </a:ext>
            </a:extLst>
          </p:cNvPr>
          <p:cNvSpPr>
            <a:spLocks/>
          </p:cNvSpPr>
          <p:nvPr/>
        </p:nvSpPr>
        <p:spPr bwMode="auto">
          <a:xfrm>
            <a:off x="6530755" y="3010903"/>
            <a:ext cx="1098668" cy="630659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7" name="Straight Connector 45">
            <a:extLst>
              <a:ext uri="{FF2B5EF4-FFF2-40B4-BE49-F238E27FC236}">
                <a16:creationId xmlns:a16="http://schemas.microsoft.com/office/drawing/2014/main" id="{EF812D6A-3887-5D48-A2A7-90D0F18585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44794" y="3335510"/>
            <a:ext cx="1651593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8" name="TextBox 64">
            <a:extLst>
              <a:ext uri="{FF2B5EF4-FFF2-40B4-BE49-F238E27FC236}">
                <a16:creationId xmlns:a16="http://schemas.microsoft.com/office/drawing/2014/main" id="{47349889-E81A-C242-9729-98BDB7A6D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3569" y="3671305"/>
            <a:ext cx="58862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350" dirty="0">
                <a:solidFill>
                  <a:srgbClr val="000000"/>
                </a:solidFill>
                <a:cs typeface="Arial" panose="020B0604020202020204" pitchFamily="34" charset="0"/>
              </a:rPr>
              <a:t>client</a:t>
            </a:r>
            <a:endParaRPr lang="en-US" altLang="en-US" sz="1350" i="1" dirty="0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237" name="Freeform 236">
            <a:extLst>
              <a:ext uri="{FF2B5EF4-FFF2-40B4-BE49-F238E27FC236}">
                <a16:creationId xmlns:a16="http://schemas.microsoft.com/office/drawing/2014/main" id="{0AB0D303-D269-7F44-8600-794F5467067C}"/>
              </a:ext>
            </a:extLst>
          </p:cNvPr>
          <p:cNvSpPr/>
          <p:nvPr/>
        </p:nvSpPr>
        <p:spPr>
          <a:xfrm>
            <a:off x="7075085" y="3104886"/>
            <a:ext cx="1011432" cy="143081"/>
          </a:xfrm>
          <a:custGeom>
            <a:avLst/>
            <a:gdLst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  <a:gd name="connsiteX3" fmla="*/ 1348576 w 1348576"/>
              <a:gd name="connsiteY3" fmla="*/ 177617 h 190774"/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8576" h="190774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w="31750">
            <a:solidFill>
              <a:srgbClr val="CD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8" name="Freeform 237">
            <a:extLst>
              <a:ext uri="{FF2B5EF4-FFF2-40B4-BE49-F238E27FC236}">
                <a16:creationId xmlns:a16="http://schemas.microsoft.com/office/drawing/2014/main" id="{7CE77C4C-F0D2-6344-8886-D4BFC98A935F}"/>
              </a:ext>
            </a:extLst>
          </p:cNvPr>
          <p:cNvSpPr/>
          <p:nvPr/>
        </p:nvSpPr>
        <p:spPr>
          <a:xfrm flipV="1">
            <a:off x="7080845" y="3426405"/>
            <a:ext cx="1011432" cy="143081"/>
          </a:xfrm>
          <a:custGeom>
            <a:avLst/>
            <a:gdLst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  <a:gd name="connsiteX3" fmla="*/ 1348576 w 1348576"/>
              <a:gd name="connsiteY3" fmla="*/ 177617 h 190774"/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8576" h="190774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w="31750">
            <a:solidFill>
              <a:srgbClr val="CD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D8A0B99-F17E-9048-89FF-C5E63CBAF4A2}"/>
              </a:ext>
            </a:extLst>
          </p:cNvPr>
          <p:cNvGrpSpPr/>
          <p:nvPr/>
        </p:nvGrpSpPr>
        <p:grpSpPr>
          <a:xfrm>
            <a:off x="7677012" y="3134489"/>
            <a:ext cx="309700" cy="415498"/>
            <a:chOff x="10485997" y="1295948"/>
            <a:chExt cx="412933" cy="553997"/>
          </a:xfrm>
        </p:grpSpPr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336856DC-DFE0-7C40-ABCD-4AD555F9A214}"/>
                </a:ext>
              </a:extLst>
            </p:cNvPr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D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96EFC4C-7C92-AA47-8E56-845F6C38BF12}"/>
                </a:ext>
              </a:extLst>
            </p:cNvPr>
            <p:cNvSpPr txBox="1"/>
            <p:nvPr/>
          </p:nvSpPr>
          <p:spPr>
            <a:xfrm>
              <a:off x="10485997" y="1295948"/>
              <a:ext cx="412933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2100" dirty="0">
                  <a:solidFill>
                    <a:srgbClr val="CD0000"/>
                  </a:solidFill>
                  <a:latin typeface="Calibri"/>
                </a:rPr>
                <a:t>?</a:t>
              </a:r>
            </a:p>
          </p:txBody>
        </p:sp>
      </p:grpSp>
      <p:sp>
        <p:nvSpPr>
          <p:cNvPr id="243" name="Rectangle 3">
            <a:extLst>
              <a:ext uri="{FF2B5EF4-FFF2-40B4-BE49-F238E27FC236}">
                <a16:creationId xmlns:a16="http://schemas.microsoft.com/office/drawing/2014/main" id="{09884CFC-62B5-6946-85A6-0910ED9BC848}"/>
              </a:ext>
            </a:extLst>
          </p:cNvPr>
          <p:cNvSpPr txBox="1">
            <a:spLocks noChangeArrowheads="1"/>
          </p:cNvSpPr>
          <p:nvPr/>
        </p:nvSpPr>
        <p:spPr>
          <a:xfrm>
            <a:off x="643102" y="4127210"/>
            <a:ext cx="7776956" cy="192486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client: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periodically estimates server-to-client bandwidth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consulting manifest, requests one chunk at a time </a:t>
            </a:r>
          </a:p>
          <a:p>
            <a:pPr marL="857250" lvl="2" indent="-171450" defTabSz="685800">
              <a:spcBef>
                <a:spcPts val="375"/>
              </a:spcBef>
              <a:buClr>
                <a:srgbClr val="0000A3"/>
              </a:buClr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chooses maximum coding rate sustainable given current bandwidth</a:t>
            </a:r>
          </a:p>
          <a:p>
            <a:pPr marL="857250" lvl="2" indent="-171450" defTabSz="685800">
              <a:spcBef>
                <a:spcPts val="375"/>
              </a:spcBef>
              <a:buClr>
                <a:srgbClr val="0000A3"/>
              </a:buClr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can choose different coding rates at different points in time (depending on available bandwidth at time), and from different servers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16C6FF-6A10-6041-9BDF-81CF75A59CA8}"/>
              </a:ext>
            </a:extLst>
          </p:cNvPr>
          <p:cNvGrpSpPr/>
          <p:nvPr/>
        </p:nvGrpSpPr>
        <p:grpSpPr>
          <a:xfrm>
            <a:off x="5844826" y="2801248"/>
            <a:ext cx="707612" cy="849365"/>
            <a:chOff x="7698509" y="2176725"/>
            <a:chExt cx="943482" cy="1132486"/>
          </a:xfrm>
        </p:grpSpPr>
        <p:grpSp>
          <p:nvGrpSpPr>
            <p:cNvPr id="60" name="Group 249">
              <a:extLst>
                <a:ext uri="{FF2B5EF4-FFF2-40B4-BE49-F238E27FC236}">
                  <a16:creationId xmlns:a16="http://schemas.microsoft.com/office/drawing/2014/main" id="{48BBCEB5-A9FB-2642-93D9-9545FFA86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6" name="Freeform 250">
                <a:extLst>
                  <a:ext uri="{FF2B5EF4-FFF2-40B4-BE49-F238E27FC236}">
                    <a16:creationId xmlns:a16="http://schemas.microsoft.com/office/drawing/2014/main" id="{E5578A76-629A-7C4E-929B-B31E9800D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7" name="Rectangle 251">
                <a:extLst>
                  <a:ext uri="{FF2B5EF4-FFF2-40B4-BE49-F238E27FC236}">
                    <a16:creationId xmlns:a16="http://schemas.microsoft.com/office/drawing/2014/main" id="{1A5867E7-D752-BB44-9E06-DF75CD8E9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8" name="Freeform 252">
                <a:extLst>
                  <a:ext uri="{FF2B5EF4-FFF2-40B4-BE49-F238E27FC236}">
                    <a16:creationId xmlns:a16="http://schemas.microsoft.com/office/drawing/2014/main" id="{18A99A20-76B3-D94B-BCB7-5A84A51A3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9" name="Freeform 253">
                <a:extLst>
                  <a:ext uri="{FF2B5EF4-FFF2-40B4-BE49-F238E27FC236}">
                    <a16:creationId xmlns:a16="http://schemas.microsoft.com/office/drawing/2014/main" id="{A9BB3F94-5FEF-EF4E-97B6-7F746CE25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0" name="Rectangle 254">
                <a:extLst>
                  <a:ext uri="{FF2B5EF4-FFF2-40B4-BE49-F238E27FC236}">
                    <a16:creationId xmlns:a16="http://schemas.microsoft.com/office/drawing/2014/main" id="{24798097-207A-DE46-ABC7-D6731BD90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71" name="Group 255">
                <a:extLst>
                  <a:ext uri="{FF2B5EF4-FFF2-40B4-BE49-F238E27FC236}">
                    <a16:creationId xmlns:a16="http://schemas.microsoft.com/office/drawing/2014/main" id="{CE875205-8C0D-754E-8E36-32A41C820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9" name="AutoShape 256">
                  <a:extLst>
                    <a:ext uri="{FF2B5EF4-FFF2-40B4-BE49-F238E27FC236}">
                      <a16:creationId xmlns:a16="http://schemas.microsoft.com/office/drawing/2014/main" id="{7F68C377-96A4-A844-B707-FF5A78DCF3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50" name="AutoShape 257">
                  <a:extLst>
                    <a:ext uri="{FF2B5EF4-FFF2-40B4-BE49-F238E27FC236}">
                      <a16:creationId xmlns:a16="http://schemas.microsoft.com/office/drawing/2014/main" id="{FBBE8A7F-E64A-EE41-B2D4-AD4E2707D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2" name="Rectangle 258">
                <a:extLst>
                  <a:ext uri="{FF2B5EF4-FFF2-40B4-BE49-F238E27FC236}">
                    <a16:creationId xmlns:a16="http://schemas.microsoft.com/office/drawing/2014/main" id="{B39571E5-0FFF-0740-AC4C-800173B23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73" name="Group 259">
                <a:extLst>
                  <a:ext uri="{FF2B5EF4-FFF2-40B4-BE49-F238E27FC236}">
                    <a16:creationId xmlns:a16="http://schemas.microsoft.com/office/drawing/2014/main" id="{2FFD7F69-CFA4-8345-9CDD-4D7CBE793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7" name="AutoShape 260">
                  <a:extLst>
                    <a:ext uri="{FF2B5EF4-FFF2-40B4-BE49-F238E27FC236}">
                      <a16:creationId xmlns:a16="http://schemas.microsoft.com/office/drawing/2014/main" id="{C18E76AE-324F-1844-AB10-870723FC0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8" name="AutoShape 261">
                  <a:extLst>
                    <a:ext uri="{FF2B5EF4-FFF2-40B4-BE49-F238E27FC236}">
                      <a16:creationId xmlns:a16="http://schemas.microsoft.com/office/drawing/2014/main" id="{309A2001-6A30-874B-9EF6-99E9B7DA9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4" name="Rectangle 262">
                <a:extLst>
                  <a:ext uri="{FF2B5EF4-FFF2-40B4-BE49-F238E27FC236}">
                    <a16:creationId xmlns:a16="http://schemas.microsoft.com/office/drawing/2014/main" id="{DA8F8E62-F74D-494C-98D4-A4DCC518E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5" name="Rectangle 263">
                <a:extLst>
                  <a:ext uri="{FF2B5EF4-FFF2-40B4-BE49-F238E27FC236}">
                    <a16:creationId xmlns:a16="http://schemas.microsoft.com/office/drawing/2014/main" id="{5C72FC81-4509-194D-B382-46B04D9F2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76" name="Group 264">
                <a:extLst>
                  <a:ext uri="{FF2B5EF4-FFF2-40B4-BE49-F238E27FC236}">
                    <a16:creationId xmlns:a16="http://schemas.microsoft.com/office/drawing/2014/main" id="{C74557B3-5043-3E4E-950A-F0F9B84E6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" name="AutoShape 265">
                  <a:extLst>
                    <a:ext uri="{FF2B5EF4-FFF2-40B4-BE49-F238E27FC236}">
                      <a16:creationId xmlns:a16="http://schemas.microsoft.com/office/drawing/2014/main" id="{638031EB-99B8-7647-9188-5101A28F30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6" name="AutoShape 266">
                  <a:extLst>
                    <a:ext uri="{FF2B5EF4-FFF2-40B4-BE49-F238E27FC236}">
                      <a16:creationId xmlns:a16="http://schemas.microsoft.com/office/drawing/2014/main" id="{6C8E38B1-9F86-7548-BE82-A1907EA557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7" name="Freeform 267">
                <a:extLst>
                  <a:ext uri="{FF2B5EF4-FFF2-40B4-BE49-F238E27FC236}">
                    <a16:creationId xmlns:a16="http://schemas.microsoft.com/office/drawing/2014/main" id="{780D28F1-F039-7B47-895F-6AF623B75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78" name="Group 268">
                <a:extLst>
                  <a:ext uri="{FF2B5EF4-FFF2-40B4-BE49-F238E27FC236}">
                    <a16:creationId xmlns:a16="http://schemas.microsoft.com/office/drawing/2014/main" id="{F8BA803E-E6FA-BE47-9114-B130D8F91D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3" name="AutoShape 269">
                  <a:extLst>
                    <a:ext uri="{FF2B5EF4-FFF2-40B4-BE49-F238E27FC236}">
                      <a16:creationId xmlns:a16="http://schemas.microsoft.com/office/drawing/2014/main" id="{202CDBC5-C1C3-7647-A70B-88D7C320E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4" name="AutoShape 270">
                  <a:extLst>
                    <a:ext uri="{FF2B5EF4-FFF2-40B4-BE49-F238E27FC236}">
                      <a16:creationId xmlns:a16="http://schemas.microsoft.com/office/drawing/2014/main" id="{C81F10F8-CB38-2F43-AFB2-47C4286EF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9" name="Rectangle 271">
                <a:extLst>
                  <a:ext uri="{FF2B5EF4-FFF2-40B4-BE49-F238E27FC236}">
                    <a16:creationId xmlns:a16="http://schemas.microsoft.com/office/drawing/2014/main" id="{EDACD190-8FE2-1D43-8E66-2413877FD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1" name="Freeform 272">
                <a:extLst>
                  <a:ext uri="{FF2B5EF4-FFF2-40B4-BE49-F238E27FC236}">
                    <a16:creationId xmlns:a16="http://schemas.microsoft.com/office/drawing/2014/main" id="{1A163E29-D6C7-7149-AC1F-F9DD28AFE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4" name="Freeform 273">
                <a:extLst>
                  <a:ext uri="{FF2B5EF4-FFF2-40B4-BE49-F238E27FC236}">
                    <a16:creationId xmlns:a16="http://schemas.microsoft.com/office/drawing/2014/main" id="{9F00C2F4-495D-D44E-A0E9-93BDB71ED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5" name="Oval 274">
                <a:extLst>
                  <a:ext uri="{FF2B5EF4-FFF2-40B4-BE49-F238E27FC236}">
                    <a16:creationId xmlns:a16="http://schemas.microsoft.com/office/drawing/2014/main" id="{63E29C64-9071-864D-A246-CEF64DEC6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6" name="Freeform 275">
                <a:extLst>
                  <a:ext uri="{FF2B5EF4-FFF2-40B4-BE49-F238E27FC236}">
                    <a16:creationId xmlns:a16="http://schemas.microsoft.com/office/drawing/2014/main" id="{AE0F6E86-0B66-474A-9DCD-C4FF6FA7C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7" name="AutoShape 276">
                <a:extLst>
                  <a:ext uri="{FF2B5EF4-FFF2-40B4-BE49-F238E27FC236}">
                    <a16:creationId xmlns:a16="http://schemas.microsoft.com/office/drawing/2014/main" id="{8148CE10-81F6-BD49-A93D-108A1FC71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8" name="AutoShape 277">
                <a:extLst>
                  <a:ext uri="{FF2B5EF4-FFF2-40B4-BE49-F238E27FC236}">
                    <a16:creationId xmlns:a16="http://schemas.microsoft.com/office/drawing/2014/main" id="{144C2386-07EE-4248-9378-FB93C0BC2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9" name="Oval 278">
                <a:extLst>
                  <a:ext uri="{FF2B5EF4-FFF2-40B4-BE49-F238E27FC236}">
                    <a16:creationId xmlns:a16="http://schemas.microsoft.com/office/drawing/2014/main" id="{C1C2D615-BCC4-9E46-B273-E1A3E55E8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0" name="Oval 279">
                <a:extLst>
                  <a:ext uri="{FF2B5EF4-FFF2-40B4-BE49-F238E27FC236}">
                    <a16:creationId xmlns:a16="http://schemas.microsoft.com/office/drawing/2014/main" id="{4A43430F-8E17-BA4B-813F-6DF5E3A63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1" name="Oval 280">
                <a:extLst>
                  <a:ext uri="{FF2B5EF4-FFF2-40B4-BE49-F238E27FC236}">
                    <a16:creationId xmlns:a16="http://schemas.microsoft.com/office/drawing/2014/main" id="{12175F4A-4FB0-4A4F-9F1C-7C8E926B9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2" name="Rectangle 281">
                <a:extLst>
                  <a:ext uri="{FF2B5EF4-FFF2-40B4-BE49-F238E27FC236}">
                    <a16:creationId xmlns:a16="http://schemas.microsoft.com/office/drawing/2014/main" id="{B0AA16F8-71B6-5C4F-B10F-9DC3BFE49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D7A477-6AB3-2C42-9267-D8E16A70DFDF}"/>
                </a:ext>
              </a:extLst>
            </p:cNvPr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id="249" name="Picture 248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179D818A-2B1C-B844-BCFA-131C83CB1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" name="Picture 2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CEE00619-23BD-AF41-9096-830564C963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50" name="Picture 249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903AF558-8324-7947-B3E2-642401604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B37DE4-F93F-BF4D-858B-032ED6AC2D05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350" dirty="0">
                    <a:solidFill>
                      <a:prstClr val="black"/>
                    </a:solidFill>
                    <a:latin typeface="Calibri"/>
                  </a:rPr>
                  <a:t>...</a:t>
                </a:r>
              </a:p>
            </p:txBody>
          </p:sp>
        </p:grpSp>
      </p:grpSp>
      <p:grpSp>
        <p:nvGrpSpPr>
          <p:cNvPr id="252" name="Group 249">
            <a:extLst>
              <a:ext uri="{FF2B5EF4-FFF2-40B4-BE49-F238E27FC236}">
                <a16:creationId xmlns:a16="http://schemas.microsoft.com/office/drawing/2014/main" id="{A89F02D6-6C82-594A-B7A0-3D3408E14DAC}"/>
              </a:ext>
            </a:extLst>
          </p:cNvPr>
          <p:cNvGrpSpPr>
            <a:grpSpLocks/>
          </p:cNvGrpSpPr>
          <p:nvPr/>
        </p:nvGrpSpPr>
        <p:grpSpPr bwMode="auto">
          <a:xfrm>
            <a:off x="6843916" y="2734426"/>
            <a:ext cx="202148" cy="403329"/>
            <a:chOff x="4140" y="429"/>
            <a:chExt cx="1425" cy="2396"/>
          </a:xfrm>
        </p:grpSpPr>
        <p:sp>
          <p:nvSpPr>
            <p:cNvPr id="258" name="Freeform 250">
              <a:extLst>
                <a:ext uri="{FF2B5EF4-FFF2-40B4-BE49-F238E27FC236}">
                  <a16:creationId xmlns:a16="http://schemas.microsoft.com/office/drawing/2014/main" id="{2A5F5A5F-CA74-2C48-B238-96383BA10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9" name="Rectangle 251">
              <a:extLst>
                <a:ext uri="{FF2B5EF4-FFF2-40B4-BE49-F238E27FC236}">
                  <a16:creationId xmlns:a16="http://schemas.microsoft.com/office/drawing/2014/main" id="{ED9D43A5-B7CD-7742-8BDE-5588C54AC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0" name="Freeform 252">
              <a:extLst>
                <a:ext uri="{FF2B5EF4-FFF2-40B4-BE49-F238E27FC236}">
                  <a16:creationId xmlns:a16="http://schemas.microsoft.com/office/drawing/2014/main" id="{3AD39C54-8D14-1845-BC9A-1AA88847D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1" name="Freeform 253">
              <a:extLst>
                <a:ext uri="{FF2B5EF4-FFF2-40B4-BE49-F238E27FC236}">
                  <a16:creationId xmlns:a16="http://schemas.microsoft.com/office/drawing/2014/main" id="{3BEC0265-5D1F-AD4E-B4C9-262D929E5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2" name="Rectangle 254">
              <a:extLst>
                <a:ext uri="{FF2B5EF4-FFF2-40B4-BE49-F238E27FC236}">
                  <a16:creationId xmlns:a16="http://schemas.microsoft.com/office/drawing/2014/main" id="{88BB4285-A16A-E64E-B350-17798B065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63" name="Group 255">
              <a:extLst>
                <a:ext uri="{FF2B5EF4-FFF2-40B4-BE49-F238E27FC236}">
                  <a16:creationId xmlns:a16="http://schemas.microsoft.com/office/drawing/2014/main" id="{D8E0ECAD-4EDB-5B49-88FA-A014D370E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8" name="AutoShape 256">
                <a:extLst>
                  <a:ext uri="{FF2B5EF4-FFF2-40B4-BE49-F238E27FC236}">
                    <a16:creationId xmlns:a16="http://schemas.microsoft.com/office/drawing/2014/main" id="{C7661007-6272-D14B-93D3-1A8E8B378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9" name="AutoShape 257">
                <a:extLst>
                  <a:ext uri="{FF2B5EF4-FFF2-40B4-BE49-F238E27FC236}">
                    <a16:creationId xmlns:a16="http://schemas.microsoft.com/office/drawing/2014/main" id="{129D44D1-24EB-7647-852C-E356E34B2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64" name="Rectangle 258">
              <a:extLst>
                <a:ext uri="{FF2B5EF4-FFF2-40B4-BE49-F238E27FC236}">
                  <a16:creationId xmlns:a16="http://schemas.microsoft.com/office/drawing/2014/main" id="{18ABC360-93DD-C248-B4EC-9E7C1F65E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65" name="Group 259">
              <a:extLst>
                <a:ext uri="{FF2B5EF4-FFF2-40B4-BE49-F238E27FC236}">
                  <a16:creationId xmlns:a16="http://schemas.microsoft.com/office/drawing/2014/main" id="{AA09D66D-0A9E-1742-9C64-DDD26D042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6" name="AutoShape 260">
                <a:extLst>
                  <a:ext uri="{FF2B5EF4-FFF2-40B4-BE49-F238E27FC236}">
                    <a16:creationId xmlns:a16="http://schemas.microsoft.com/office/drawing/2014/main" id="{DD323D01-7023-4043-8747-420E70DE2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7" name="AutoShape 261">
                <a:extLst>
                  <a:ext uri="{FF2B5EF4-FFF2-40B4-BE49-F238E27FC236}">
                    <a16:creationId xmlns:a16="http://schemas.microsoft.com/office/drawing/2014/main" id="{969AE534-7E50-BC47-893B-5554C3548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66" name="Rectangle 262">
              <a:extLst>
                <a:ext uri="{FF2B5EF4-FFF2-40B4-BE49-F238E27FC236}">
                  <a16:creationId xmlns:a16="http://schemas.microsoft.com/office/drawing/2014/main" id="{D171AE86-5E08-4E45-81FD-D1D77951B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Rectangle 263">
              <a:extLst>
                <a:ext uri="{FF2B5EF4-FFF2-40B4-BE49-F238E27FC236}">
                  <a16:creationId xmlns:a16="http://schemas.microsoft.com/office/drawing/2014/main" id="{E23D40B4-371D-E348-AD2E-AC8C7848B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68" name="Group 264">
              <a:extLst>
                <a:ext uri="{FF2B5EF4-FFF2-40B4-BE49-F238E27FC236}">
                  <a16:creationId xmlns:a16="http://schemas.microsoft.com/office/drawing/2014/main" id="{F616AF06-4DCF-E74C-A765-FA42B5D51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4" name="AutoShape 265">
                <a:extLst>
                  <a:ext uri="{FF2B5EF4-FFF2-40B4-BE49-F238E27FC236}">
                    <a16:creationId xmlns:a16="http://schemas.microsoft.com/office/drawing/2014/main" id="{E730B0EA-031A-2A4C-B21D-F22BDB28D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5" name="AutoShape 266">
                <a:extLst>
                  <a:ext uri="{FF2B5EF4-FFF2-40B4-BE49-F238E27FC236}">
                    <a16:creationId xmlns:a16="http://schemas.microsoft.com/office/drawing/2014/main" id="{8D577AF1-C05E-4047-B207-BF9AA3581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69" name="Freeform 267">
              <a:extLst>
                <a:ext uri="{FF2B5EF4-FFF2-40B4-BE49-F238E27FC236}">
                  <a16:creationId xmlns:a16="http://schemas.microsoft.com/office/drawing/2014/main" id="{B13399E7-EC56-2B45-BD82-759FDD567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70" name="Group 268">
              <a:extLst>
                <a:ext uri="{FF2B5EF4-FFF2-40B4-BE49-F238E27FC236}">
                  <a16:creationId xmlns:a16="http://schemas.microsoft.com/office/drawing/2014/main" id="{B1E96D1F-996D-EC43-ACC2-DB0E7005C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2" name="AutoShape 269">
                <a:extLst>
                  <a:ext uri="{FF2B5EF4-FFF2-40B4-BE49-F238E27FC236}">
                    <a16:creationId xmlns:a16="http://schemas.microsoft.com/office/drawing/2014/main" id="{2E28CDE4-0437-274C-80BB-8FA5534E1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3" name="AutoShape 270">
                <a:extLst>
                  <a:ext uri="{FF2B5EF4-FFF2-40B4-BE49-F238E27FC236}">
                    <a16:creationId xmlns:a16="http://schemas.microsoft.com/office/drawing/2014/main" id="{DEC3B476-0F10-D246-B2B3-D0797C095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71" name="Rectangle 271">
              <a:extLst>
                <a:ext uri="{FF2B5EF4-FFF2-40B4-BE49-F238E27FC236}">
                  <a16:creationId xmlns:a16="http://schemas.microsoft.com/office/drawing/2014/main" id="{E4BE5CAD-E1F3-8040-B728-06430DD8D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2" name="Freeform 272">
              <a:extLst>
                <a:ext uri="{FF2B5EF4-FFF2-40B4-BE49-F238E27FC236}">
                  <a16:creationId xmlns:a16="http://schemas.microsoft.com/office/drawing/2014/main" id="{0D612219-E0A6-5E48-BE37-0AB8683A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3" name="Freeform 273">
              <a:extLst>
                <a:ext uri="{FF2B5EF4-FFF2-40B4-BE49-F238E27FC236}">
                  <a16:creationId xmlns:a16="http://schemas.microsoft.com/office/drawing/2014/main" id="{FB565EED-81C8-6448-A1A8-C18F5CEC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4" name="Oval 274">
              <a:extLst>
                <a:ext uri="{FF2B5EF4-FFF2-40B4-BE49-F238E27FC236}">
                  <a16:creationId xmlns:a16="http://schemas.microsoft.com/office/drawing/2014/main" id="{70396F71-C766-E949-8058-DD4F4DC47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5" name="Freeform 275">
              <a:extLst>
                <a:ext uri="{FF2B5EF4-FFF2-40B4-BE49-F238E27FC236}">
                  <a16:creationId xmlns:a16="http://schemas.microsoft.com/office/drawing/2014/main" id="{C62D9E0C-906D-F441-BB9B-3F014BFC9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6" name="AutoShape 276">
              <a:extLst>
                <a:ext uri="{FF2B5EF4-FFF2-40B4-BE49-F238E27FC236}">
                  <a16:creationId xmlns:a16="http://schemas.microsoft.com/office/drawing/2014/main" id="{3003A08D-701B-5240-AA13-660F42DD6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7" name="AutoShape 277">
              <a:extLst>
                <a:ext uri="{FF2B5EF4-FFF2-40B4-BE49-F238E27FC236}">
                  <a16:creationId xmlns:a16="http://schemas.microsoft.com/office/drawing/2014/main" id="{BE2E45A7-0AFF-F044-9954-10BBB789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Oval 278">
              <a:extLst>
                <a:ext uri="{FF2B5EF4-FFF2-40B4-BE49-F238E27FC236}">
                  <a16:creationId xmlns:a16="http://schemas.microsoft.com/office/drawing/2014/main" id="{C02FA687-8F28-5D4A-9B7F-3F939AE6C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279">
              <a:extLst>
                <a:ext uri="{FF2B5EF4-FFF2-40B4-BE49-F238E27FC236}">
                  <a16:creationId xmlns:a16="http://schemas.microsoft.com/office/drawing/2014/main" id="{D020FD97-2535-C040-8622-7DCE5ED7E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0" name="Oval 280">
              <a:extLst>
                <a:ext uri="{FF2B5EF4-FFF2-40B4-BE49-F238E27FC236}">
                  <a16:creationId xmlns:a16="http://schemas.microsoft.com/office/drawing/2014/main" id="{3E62DEBE-6713-D746-8ED5-0A3E029F2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1" name="Rectangle 281">
              <a:extLst>
                <a:ext uri="{FF2B5EF4-FFF2-40B4-BE49-F238E27FC236}">
                  <a16:creationId xmlns:a16="http://schemas.microsoft.com/office/drawing/2014/main" id="{00BF8073-EC7B-494A-9B2D-44BA5C8A6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727D384-4865-F649-8022-A70BDEA61991}"/>
              </a:ext>
            </a:extLst>
          </p:cNvPr>
          <p:cNvGrpSpPr/>
          <p:nvPr/>
        </p:nvGrpSpPr>
        <p:grpSpPr>
          <a:xfrm>
            <a:off x="7058891" y="2548523"/>
            <a:ext cx="707612" cy="453197"/>
            <a:chOff x="7698509" y="2176725"/>
            <a:chExt cx="943482" cy="604263"/>
          </a:xfrm>
        </p:grpSpPr>
        <p:pic>
          <p:nvPicPr>
            <p:cNvPr id="254" name="Picture 253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B5579205-01C8-6A49-9DED-99860B02C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</p:spPr>
        </p:pic>
        <p:pic>
          <p:nvPicPr>
            <p:cNvPr id="255" name="Picture 254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184B3F69-F926-6546-9D6A-BA038A1C1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</p:spPr>
        </p:pic>
        <p:pic>
          <p:nvPicPr>
            <p:cNvPr id="256" name="Picture 255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7352044F-0D1B-AF42-8027-0DAEC34F5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</p:spPr>
        </p:pic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61D0B0CD-74A4-9D4E-8126-17D0B51AC7D2}"/>
                </a:ext>
              </a:extLst>
            </p:cNvPr>
            <p:cNvSpPr txBox="1"/>
            <p:nvPr/>
          </p:nvSpPr>
          <p:spPr>
            <a:xfrm>
              <a:off x="8026399" y="2202874"/>
              <a:ext cx="419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...</a:t>
              </a:r>
            </a:p>
          </p:txBody>
        </p:sp>
      </p:grpSp>
      <p:grpSp>
        <p:nvGrpSpPr>
          <p:cNvPr id="291" name="Group 249">
            <a:extLst>
              <a:ext uri="{FF2B5EF4-FFF2-40B4-BE49-F238E27FC236}">
                <a16:creationId xmlns:a16="http://schemas.microsoft.com/office/drawing/2014/main" id="{6A418EC6-3D97-7D4C-9E28-E68BC18837FC}"/>
              </a:ext>
            </a:extLst>
          </p:cNvPr>
          <p:cNvGrpSpPr>
            <a:grpSpLocks/>
          </p:cNvGrpSpPr>
          <p:nvPr/>
        </p:nvGrpSpPr>
        <p:grpSpPr bwMode="auto">
          <a:xfrm>
            <a:off x="6839975" y="3428108"/>
            <a:ext cx="202148" cy="403329"/>
            <a:chOff x="4140" y="429"/>
            <a:chExt cx="1425" cy="2396"/>
          </a:xfrm>
        </p:grpSpPr>
        <p:sp>
          <p:nvSpPr>
            <p:cNvPr id="297" name="Freeform 250">
              <a:extLst>
                <a:ext uri="{FF2B5EF4-FFF2-40B4-BE49-F238E27FC236}">
                  <a16:creationId xmlns:a16="http://schemas.microsoft.com/office/drawing/2014/main" id="{F63A0FFC-0FE6-BC49-8194-47CB0B3FD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8" name="Rectangle 251">
              <a:extLst>
                <a:ext uri="{FF2B5EF4-FFF2-40B4-BE49-F238E27FC236}">
                  <a16:creationId xmlns:a16="http://schemas.microsoft.com/office/drawing/2014/main" id="{7DA0250F-F115-0E4B-9CB5-A1EF70E21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99" name="Freeform 252">
              <a:extLst>
                <a:ext uri="{FF2B5EF4-FFF2-40B4-BE49-F238E27FC236}">
                  <a16:creationId xmlns:a16="http://schemas.microsoft.com/office/drawing/2014/main" id="{FD6484A9-C98E-B842-9F6E-08318527E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0" name="Freeform 253">
              <a:extLst>
                <a:ext uri="{FF2B5EF4-FFF2-40B4-BE49-F238E27FC236}">
                  <a16:creationId xmlns:a16="http://schemas.microsoft.com/office/drawing/2014/main" id="{703D94AE-F6AA-1543-B0D5-284FD9693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1" name="Rectangle 254">
              <a:extLst>
                <a:ext uri="{FF2B5EF4-FFF2-40B4-BE49-F238E27FC236}">
                  <a16:creationId xmlns:a16="http://schemas.microsoft.com/office/drawing/2014/main" id="{FEEEF9BC-9945-6B4C-9083-14805BAD7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02" name="Group 255">
              <a:extLst>
                <a:ext uri="{FF2B5EF4-FFF2-40B4-BE49-F238E27FC236}">
                  <a16:creationId xmlns:a16="http://schemas.microsoft.com/office/drawing/2014/main" id="{F872981C-9B9B-3945-9698-6A3160CED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7" name="AutoShape 256">
                <a:extLst>
                  <a:ext uri="{FF2B5EF4-FFF2-40B4-BE49-F238E27FC236}">
                    <a16:creationId xmlns:a16="http://schemas.microsoft.com/office/drawing/2014/main" id="{2147D4C4-549C-5A43-AEF0-47C8EFF7D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8" name="AutoShape 257">
                <a:extLst>
                  <a:ext uri="{FF2B5EF4-FFF2-40B4-BE49-F238E27FC236}">
                    <a16:creationId xmlns:a16="http://schemas.microsoft.com/office/drawing/2014/main" id="{6AA842ED-99E3-E244-A47A-F9514132E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03" name="Rectangle 258">
              <a:extLst>
                <a:ext uri="{FF2B5EF4-FFF2-40B4-BE49-F238E27FC236}">
                  <a16:creationId xmlns:a16="http://schemas.microsoft.com/office/drawing/2014/main" id="{089D1323-315F-F34E-8132-DC1553E6A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04" name="Group 259">
              <a:extLst>
                <a:ext uri="{FF2B5EF4-FFF2-40B4-BE49-F238E27FC236}">
                  <a16:creationId xmlns:a16="http://schemas.microsoft.com/office/drawing/2014/main" id="{C214FA3C-81BB-ED4E-94DD-B767F38B6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5" name="AutoShape 260">
                <a:extLst>
                  <a:ext uri="{FF2B5EF4-FFF2-40B4-BE49-F238E27FC236}">
                    <a16:creationId xmlns:a16="http://schemas.microsoft.com/office/drawing/2014/main" id="{24D63B96-8C60-274F-8A56-BAA459AD3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6" name="AutoShape 261">
                <a:extLst>
                  <a:ext uri="{FF2B5EF4-FFF2-40B4-BE49-F238E27FC236}">
                    <a16:creationId xmlns:a16="http://schemas.microsoft.com/office/drawing/2014/main" id="{50A2F9B6-0AE1-274D-AA8D-FA1344AC9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54BDAA7A-F6F6-074D-AD4A-8180E6AC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6" name="Rectangle 263">
              <a:extLst>
                <a:ext uri="{FF2B5EF4-FFF2-40B4-BE49-F238E27FC236}">
                  <a16:creationId xmlns:a16="http://schemas.microsoft.com/office/drawing/2014/main" id="{9FE36278-3B14-3146-83F1-E76D9D53D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07" name="Group 264">
              <a:extLst>
                <a:ext uri="{FF2B5EF4-FFF2-40B4-BE49-F238E27FC236}">
                  <a16:creationId xmlns:a16="http://schemas.microsoft.com/office/drawing/2014/main" id="{80AA2E3D-D242-6B47-A732-F91B52025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3" name="AutoShape 265">
                <a:extLst>
                  <a:ext uri="{FF2B5EF4-FFF2-40B4-BE49-F238E27FC236}">
                    <a16:creationId xmlns:a16="http://schemas.microsoft.com/office/drawing/2014/main" id="{6B250827-5DD6-174E-B415-396207D00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4" name="AutoShape 266">
                <a:extLst>
                  <a:ext uri="{FF2B5EF4-FFF2-40B4-BE49-F238E27FC236}">
                    <a16:creationId xmlns:a16="http://schemas.microsoft.com/office/drawing/2014/main" id="{0687E200-350B-9A45-BC7F-BE04DD282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08" name="Freeform 267">
              <a:extLst>
                <a:ext uri="{FF2B5EF4-FFF2-40B4-BE49-F238E27FC236}">
                  <a16:creationId xmlns:a16="http://schemas.microsoft.com/office/drawing/2014/main" id="{6065017D-9794-734F-B95F-7854A6F84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09" name="Group 268">
              <a:extLst>
                <a:ext uri="{FF2B5EF4-FFF2-40B4-BE49-F238E27FC236}">
                  <a16:creationId xmlns:a16="http://schemas.microsoft.com/office/drawing/2014/main" id="{777D84AE-1E36-4547-B8B5-382F58FEA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1" name="AutoShape 269">
                <a:extLst>
                  <a:ext uri="{FF2B5EF4-FFF2-40B4-BE49-F238E27FC236}">
                    <a16:creationId xmlns:a16="http://schemas.microsoft.com/office/drawing/2014/main" id="{6C698A22-9BA6-8043-9813-C826D172B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2" name="AutoShape 270">
                <a:extLst>
                  <a:ext uri="{FF2B5EF4-FFF2-40B4-BE49-F238E27FC236}">
                    <a16:creationId xmlns:a16="http://schemas.microsoft.com/office/drawing/2014/main" id="{CA7D825D-577D-864C-8214-B8EE709F7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314924AF-49B2-8F4B-B07A-EEAD02E6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1" name="Freeform 272">
              <a:extLst>
                <a:ext uri="{FF2B5EF4-FFF2-40B4-BE49-F238E27FC236}">
                  <a16:creationId xmlns:a16="http://schemas.microsoft.com/office/drawing/2014/main" id="{0B27D67E-5CDE-564F-B64E-41E4911C6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2" name="Freeform 273">
              <a:extLst>
                <a:ext uri="{FF2B5EF4-FFF2-40B4-BE49-F238E27FC236}">
                  <a16:creationId xmlns:a16="http://schemas.microsoft.com/office/drawing/2014/main" id="{7D9F21DE-9FD0-E845-BE83-AA01CC1C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3" name="Oval 274">
              <a:extLst>
                <a:ext uri="{FF2B5EF4-FFF2-40B4-BE49-F238E27FC236}">
                  <a16:creationId xmlns:a16="http://schemas.microsoft.com/office/drawing/2014/main" id="{29DB98CD-1446-1447-907D-0721013CE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4" name="Freeform 275">
              <a:extLst>
                <a:ext uri="{FF2B5EF4-FFF2-40B4-BE49-F238E27FC236}">
                  <a16:creationId xmlns:a16="http://schemas.microsoft.com/office/drawing/2014/main" id="{CCE0B802-0ED9-1144-9B41-567C96D9E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5" name="AutoShape 276">
              <a:extLst>
                <a:ext uri="{FF2B5EF4-FFF2-40B4-BE49-F238E27FC236}">
                  <a16:creationId xmlns:a16="http://schemas.microsoft.com/office/drawing/2014/main" id="{0A63D484-0467-EF48-A0D1-307BD44B8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6" name="AutoShape 277">
              <a:extLst>
                <a:ext uri="{FF2B5EF4-FFF2-40B4-BE49-F238E27FC236}">
                  <a16:creationId xmlns:a16="http://schemas.microsoft.com/office/drawing/2014/main" id="{9F1755F7-6A75-8A4F-B6E2-BF73697B1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7" name="Oval 278">
              <a:extLst>
                <a:ext uri="{FF2B5EF4-FFF2-40B4-BE49-F238E27FC236}">
                  <a16:creationId xmlns:a16="http://schemas.microsoft.com/office/drawing/2014/main" id="{D6F2BCA4-EAA9-C04A-AB0D-174E8DA65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8" name="Oval 279">
              <a:extLst>
                <a:ext uri="{FF2B5EF4-FFF2-40B4-BE49-F238E27FC236}">
                  <a16:creationId xmlns:a16="http://schemas.microsoft.com/office/drawing/2014/main" id="{4D2A8DA3-EE5E-2F48-88C3-2B1DB6DB6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9" name="Oval 280">
              <a:extLst>
                <a:ext uri="{FF2B5EF4-FFF2-40B4-BE49-F238E27FC236}">
                  <a16:creationId xmlns:a16="http://schemas.microsoft.com/office/drawing/2014/main" id="{39A0A350-9C80-984E-9991-E741164E0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20" name="Rectangle 281">
              <a:extLst>
                <a:ext uri="{FF2B5EF4-FFF2-40B4-BE49-F238E27FC236}">
                  <a16:creationId xmlns:a16="http://schemas.microsoft.com/office/drawing/2014/main" id="{4347596D-A5CE-B946-A234-DF07FB80E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31A38548-A84D-B643-BEB5-A359B949B8B9}"/>
              </a:ext>
            </a:extLst>
          </p:cNvPr>
          <p:cNvGrpSpPr/>
          <p:nvPr/>
        </p:nvGrpSpPr>
        <p:grpSpPr>
          <a:xfrm>
            <a:off x="7007653" y="3561456"/>
            <a:ext cx="707612" cy="453197"/>
            <a:chOff x="7698509" y="2176725"/>
            <a:chExt cx="943482" cy="604263"/>
          </a:xfrm>
        </p:grpSpPr>
        <p:pic>
          <p:nvPicPr>
            <p:cNvPr id="293" name="Picture 292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9C558C14-3545-3A4C-A74E-710DED2EC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</p:spPr>
        </p:pic>
        <p:pic>
          <p:nvPicPr>
            <p:cNvPr id="294" name="Picture 293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B11AB87A-BA5E-F541-93E8-003DAF4DC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</p:spPr>
        </p:pic>
        <p:pic>
          <p:nvPicPr>
            <p:cNvPr id="295" name="Picture 294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009FDD7D-5EA5-DC49-BDCF-5450AB531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</p:spPr>
        </p:pic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41EDF864-68A8-2447-868F-ADB0A7AE7A7C}"/>
                </a:ext>
              </a:extLst>
            </p:cNvPr>
            <p:cNvSpPr txBox="1"/>
            <p:nvPr/>
          </p:nvSpPr>
          <p:spPr>
            <a:xfrm>
              <a:off x="8026399" y="2202874"/>
              <a:ext cx="419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...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29CC926-11E0-4A40-89D2-22A6EDAA3C57}"/>
              </a:ext>
            </a:extLst>
          </p:cNvPr>
          <p:cNvSpPr txBox="1"/>
          <p:nvPr/>
        </p:nvSpPr>
        <p:spPr>
          <a:xfrm>
            <a:off x="6042134" y="1569459"/>
            <a:ext cx="250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D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ynamic, </a:t>
            </a: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A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daptive </a:t>
            </a: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S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treaming over </a:t>
            </a:r>
            <a:r>
              <a:rPr lang="en-US" altLang="en-US" sz="21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H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TTP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5E9B7DF-4981-AC8D-2B69-F564A35C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83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Video Streaming </a:t>
            </a:r>
            <a:r>
              <a:rPr lang="en-US" dirty="0"/>
              <a:t>and </a:t>
            </a:r>
            <a:r>
              <a:rPr lang="en-US" altLang="en-US" dirty="0">
                <a:ea typeface="ＭＳ Ｐゴシック" panose="020B0600070205080204" pitchFamily="34" charset="-128"/>
              </a:rPr>
              <a:t>CDN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79B99C-8EB1-7713-0296-EEF8B1B24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8249132" cy="579580"/>
          </a:xfrm>
        </p:spPr>
        <p:txBody>
          <a:bodyPr>
            <a:normAutofit/>
          </a:bodyPr>
          <a:lstStyle/>
          <a:p>
            <a:r>
              <a:rPr lang="en-US" dirty="0"/>
              <a:t>Challenge2: Stream to Numerous Simultaneous Users</a:t>
            </a:r>
          </a:p>
          <a:p>
            <a:endParaRPr lang="en-US" dirty="0"/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A251E4DB-D295-254B-882D-9EE91FD48D8F}"/>
              </a:ext>
            </a:extLst>
          </p:cNvPr>
          <p:cNvSpPr txBox="1">
            <a:spLocks noChangeArrowheads="1"/>
          </p:cNvSpPr>
          <p:nvPr/>
        </p:nvSpPr>
        <p:spPr>
          <a:xfrm>
            <a:off x="759772" y="2114776"/>
            <a:ext cx="7886699" cy="378976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how to stream content (selected from millions of videos) to hundreds of thousands of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simultaneous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 users?</a:t>
            </a: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44D9F7-CD89-AB45-B6F9-16C59524F86C}"/>
              </a:ext>
            </a:extLst>
          </p:cNvPr>
          <p:cNvSpPr txBox="1">
            <a:spLocks noChangeArrowheads="1"/>
          </p:cNvSpPr>
          <p:nvPr/>
        </p:nvSpPr>
        <p:spPr>
          <a:xfrm>
            <a:off x="574935" y="2970518"/>
            <a:ext cx="5274480" cy="85678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option 1: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single, large “mega-server”</a:t>
            </a: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7B8273-3CDB-5A4C-BCB0-5458A1560072}"/>
              </a:ext>
            </a:extLst>
          </p:cNvPr>
          <p:cNvSpPr txBox="1">
            <a:spLocks noChangeArrowheads="1"/>
          </p:cNvSpPr>
          <p:nvPr/>
        </p:nvSpPr>
        <p:spPr>
          <a:xfrm>
            <a:off x="2048925" y="3307662"/>
            <a:ext cx="6042122" cy="51611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….quite simply: this solution </a:t>
            </a:r>
            <a:r>
              <a:rPr lang="en-US" altLang="en-US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doesn</a:t>
            </a:r>
            <a:r>
              <a:rPr lang="fr-FR" altLang="en-US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’</a:t>
            </a:r>
            <a:r>
              <a:rPr lang="en-US" altLang="ja-JP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t scale</a:t>
            </a:r>
          </a:p>
          <a:p>
            <a:pPr marL="510779" lvl="1" indent="-167879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4" name="Picture 2" descr="Limelight Networks">
            <a:extLst>
              <a:ext uri="{FF2B5EF4-FFF2-40B4-BE49-F238E27FC236}">
                <a16:creationId xmlns:a16="http://schemas.microsoft.com/office/drawing/2014/main" id="{4BBBEDA7-034E-E13C-33DB-F53AFCCE5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263" y="5849984"/>
            <a:ext cx="237172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C35D11E0-9FBF-CDD3-690A-FF729AEC45AF}"/>
              </a:ext>
            </a:extLst>
          </p:cNvPr>
          <p:cNvSpPr txBox="1">
            <a:spLocks noChangeArrowheads="1"/>
          </p:cNvSpPr>
          <p:nvPr/>
        </p:nvSpPr>
        <p:spPr>
          <a:xfrm>
            <a:off x="443803" y="4139044"/>
            <a:ext cx="7520792" cy="17246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i="1" dirty="0">
                <a:ea typeface="ＭＳ Ｐゴシック" panose="020B0600070205080204" pitchFamily="34" charset="-128"/>
              </a:rPr>
              <a:t>store/serve multiple copies of videos at multiple geographically distributed sites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enter deep: 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push CDN servers deep into many access networks </a:t>
            </a:r>
          </a:p>
          <a:p>
            <a:pPr marL="857250" lvl="2" indent="-171450" defTabSz="685800">
              <a:spcBef>
                <a:spcPts val="0"/>
              </a:spcBef>
              <a:defRPr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close to users</a:t>
            </a:r>
          </a:p>
          <a:p>
            <a:pPr marL="857250" lvl="2" indent="-171450" defTabSz="685800">
              <a:spcBef>
                <a:spcPts val="0"/>
              </a:spcBef>
              <a:defRPr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Akamai: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240,000 servers deployed in &gt; 120 countries (2015)</a:t>
            </a:r>
            <a:endParaRPr lang="en-US" altLang="en-US" sz="18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9" name="Picture 4" descr="Image result for akamai logo">
            <a:extLst>
              <a:ext uri="{FF2B5EF4-FFF2-40B4-BE49-F238E27FC236}">
                <a16:creationId xmlns:a16="http://schemas.microsoft.com/office/drawing/2014/main" id="{FA2E9313-59D7-52DE-1D93-880427509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287" y="5032906"/>
            <a:ext cx="1414616" cy="57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2495DA3-5445-39F9-40B2-B77F0C8026FA}"/>
              </a:ext>
            </a:extLst>
          </p:cNvPr>
          <p:cNvSpPr txBox="1">
            <a:spLocks noChangeArrowheads="1"/>
          </p:cNvSpPr>
          <p:nvPr/>
        </p:nvSpPr>
        <p:spPr>
          <a:xfrm>
            <a:off x="573162" y="3282262"/>
            <a:ext cx="7886699" cy="11767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4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option 2: </a:t>
            </a:r>
            <a:r>
              <a:rPr lang="en-US" altLang="en-US" sz="2400" b="1" i="1" dirty="0">
                <a:ea typeface="ＭＳ Ｐゴシック" panose="020B0600070205080204" pitchFamily="34" charset="-128"/>
              </a:rPr>
              <a:t>Content distribution networks</a:t>
            </a:r>
            <a:r>
              <a:rPr lang="en-US" altLang="en-US" sz="2400" b="1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(CDN)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758E7AF-E915-C07B-3D2D-2F9C0AC74F49}"/>
              </a:ext>
            </a:extLst>
          </p:cNvPr>
          <p:cNvSpPr txBox="1">
            <a:spLocks noChangeArrowheads="1"/>
          </p:cNvSpPr>
          <p:nvPr/>
        </p:nvSpPr>
        <p:spPr>
          <a:xfrm>
            <a:off x="450235" y="5592547"/>
            <a:ext cx="6033027" cy="100288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bring home: 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smaller number (10’s) of larger clusters in POPs near access nets</a:t>
            </a:r>
          </a:p>
          <a:p>
            <a:pPr marL="857250" lvl="2" indent="-171450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rPr>
              <a:t>used by Limelight</a:t>
            </a:r>
            <a:endParaRPr lang="en-US" altLang="en-US" sz="1800" i="1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10779" lvl="1" indent="-167879" defTabSz="685800">
              <a:spcBef>
                <a:spcPts val="375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2314975-0EF9-7C65-A055-05813BA3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16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altLang="zh-CN" dirty="0"/>
              <a:t>Video Streaming and CDN</a:t>
            </a:r>
          </a:p>
          <a:p>
            <a:pPr lvl="1"/>
            <a:r>
              <a:rPr lang="en-US" altLang="zh-CN" dirty="0"/>
              <a:t>DASH</a:t>
            </a:r>
          </a:p>
          <a:p>
            <a:pPr lvl="1"/>
            <a:r>
              <a:rPr lang="en-US" altLang="zh-CN" dirty="0"/>
              <a:t>CDN</a:t>
            </a:r>
          </a:p>
          <a:p>
            <a:r>
              <a:rPr lang="en-US" altLang="zh-CN" dirty="0"/>
              <a:t>Socket Programming</a:t>
            </a:r>
          </a:p>
          <a:p>
            <a:pPr lvl="1"/>
            <a:r>
              <a:rPr lang="en-US" altLang="zh-CN" dirty="0"/>
              <a:t>UDP</a:t>
            </a:r>
          </a:p>
          <a:p>
            <a:pPr lvl="1"/>
            <a:r>
              <a:rPr lang="en-US" altLang="zh-CN" dirty="0"/>
              <a:t>TCP</a:t>
            </a:r>
          </a:p>
          <a:p>
            <a:r>
              <a:rPr lang="en-US" altLang="zh-CN" dirty="0"/>
              <a:t>Chapter 2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1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513A-A779-91F5-D6EB-DEF75B2BD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8185150" cy="1015449"/>
          </a:xfrm>
        </p:spPr>
        <p:txBody>
          <a:bodyPr>
            <a:normAutofit/>
          </a:bodyPr>
          <a:lstStyle/>
          <a:p>
            <a:r>
              <a:rPr lang="en-US" dirty="0"/>
              <a:t>socket: door between application process and end-end-transport protocol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E5684-5763-ECEC-0D16-A700EF920D03}"/>
              </a:ext>
            </a:extLst>
          </p:cNvPr>
          <p:cNvSpPr txBox="1">
            <a:spLocks noChangeArrowheads="1"/>
          </p:cNvSpPr>
          <p:nvPr/>
        </p:nvSpPr>
        <p:spPr>
          <a:xfrm>
            <a:off x="551640" y="4240147"/>
            <a:ext cx="4332876" cy="2183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>
              <a:buSzPct val="65000"/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473869" lvl="1" indent="-342900">
              <a:buSzPct val="100000"/>
              <a:buFont typeface="Wingdings" pitchFamily="2" charset="2"/>
              <a:buChar char="§"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unreliable datagram </a:t>
            </a:r>
          </a:p>
          <a:p>
            <a:pPr marL="473869" lvl="1" indent="-342900">
              <a:buSzPct val="100000"/>
              <a:buFont typeface="Wingdings" pitchFamily="2" charset="2"/>
              <a:buChar char="§"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dirty="0">
                <a:ea typeface="ＭＳ Ｐゴシック" panose="020B0600070205080204" pitchFamily="34" charset="-128"/>
              </a:rPr>
              <a:t> reliable, byte stream-oriented</a:t>
            </a:r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7231054-C841-5C04-67DE-738D2DDB8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097423"/>
            <a:ext cx="4332876" cy="2077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Application Example: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reads a line of characters (data) from its keyboard and sends data to server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receives the data and converts characters to uppercase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sends modified data to client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receives modified data and displays line on its screen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98012A-1795-BC2B-7E51-35FBEC2B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84" y="2505955"/>
            <a:ext cx="5033632" cy="145684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8CDCC37-F3E8-29D2-9AC5-786BC678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17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4">
            <a:extLst>
              <a:ext uri="{FF2B5EF4-FFF2-40B4-BE49-F238E27FC236}">
                <a16:creationId xmlns:a16="http://schemas.microsoft.com/office/drawing/2014/main" id="{7F44DCB0-3AAB-534C-89CD-DB913DF09229}"/>
              </a:ext>
            </a:extLst>
          </p:cNvPr>
          <p:cNvGrpSpPr>
            <a:grpSpLocks/>
          </p:cNvGrpSpPr>
          <p:nvPr/>
        </p:nvGrpSpPr>
        <p:grpSpPr bwMode="auto">
          <a:xfrm>
            <a:off x="5256173" y="4767277"/>
            <a:ext cx="1703784" cy="1663304"/>
            <a:chOff x="3485" y="2494"/>
            <a:chExt cx="1431" cy="1397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702C97B7-DA60-0149-85AB-47F1FE0F7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55"/>
              <a:ext cx="1431" cy="936"/>
              <a:chOff x="3485" y="2955"/>
              <a:chExt cx="1431" cy="936"/>
            </a:xfrm>
          </p:grpSpPr>
          <p:sp>
            <p:nvSpPr>
              <p:cNvPr id="40" name="Text Box 6">
                <a:extLst>
                  <a:ext uri="{FF2B5EF4-FFF2-40B4-BE49-F238E27FC236}">
                    <a16:creationId xmlns:a16="http://schemas.microsoft.com/office/drawing/2014/main" id="{ACD138B3-6FD3-074F-B4D6-833745FCB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64"/>
                <a:ext cx="939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</a:rPr>
                  <a:t>close</a:t>
                </a:r>
              </a:p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CC0000"/>
                    </a:solidFill>
                  </a:rPr>
                  <a:t>clientSocke</a:t>
                </a:r>
                <a:r>
                  <a:rPr lang="en-US" altLang="en-US" sz="1350" kern="0" dirty="0">
                    <a:solidFill>
                      <a:srgbClr val="FF0000"/>
                    </a:solidFill>
                  </a:rPr>
                  <a:t>t</a:t>
                </a:r>
                <a:endParaRPr lang="en-US" altLang="en-US" sz="1350" kern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4F1734AF-E8AC-FE4D-A9A8-4AF1B202B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333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:a16="http://schemas.microsoft.com/office/drawing/2014/main" id="{81054262-2955-D24D-A204-BF36CA6FD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55"/>
                <a:ext cx="1431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</a:rPr>
                  <a:t>read datagram from</a:t>
                </a:r>
              </a:p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CC0000"/>
                    </a:solidFill>
                  </a:rPr>
                  <a:t>clientSocket</a:t>
                </a:r>
                <a:endParaRPr lang="en-US" altLang="en-US" sz="1350" kern="0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FC178652-3FBA-1743-A65B-D82CC0E6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9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5" name="Text Box 14">
            <a:extLst>
              <a:ext uri="{FF2B5EF4-FFF2-40B4-BE49-F238E27FC236}">
                <a16:creationId xmlns:a16="http://schemas.microsoft.com/office/drawing/2014/main" id="{9FDD06E3-D412-AA43-B8B8-10BB6577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736" y="275976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67099-9B1F-AF4B-AADB-081B7A2FC10D}"/>
              </a:ext>
            </a:extLst>
          </p:cNvPr>
          <p:cNvGrpSpPr/>
          <p:nvPr/>
        </p:nvGrpSpPr>
        <p:grpSpPr>
          <a:xfrm>
            <a:off x="5158541" y="3238513"/>
            <a:ext cx="3195105" cy="1563893"/>
            <a:chOff x="6878054" y="2101685"/>
            <a:chExt cx="4260140" cy="2085192"/>
          </a:xfrm>
        </p:grpSpPr>
        <p:grpSp>
          <p:nvGrpSpPr>
            <p:cNvPr id="44" name="Group 11">
              <a:extLst>
                <a:ext uri="{FF2B5EF4-FFF2-40B4-BE49-F238E27FC236}">
                  <a16:creationId xmlns:a16="http://schemas.microsoft.com/office/drawing/2014/main" id="{798733F7-216A-784C-9688-7517E2C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0754" y="2101685"/>
              <a:ext cx="3721101" cy="1001713"/>
              <a:chOff x="3241" y="1741"/>
              <a:chExt cx="2344" cy="631"/>
            </a:xfrm>
          </p:grpSpPr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4BB2271A-4FFC-8048-A612-7E12F9F50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41"/>
                <a:ext cx="1060" cy="4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350" kern="0" dirty="0">
                    <a:solidFill>
                      <a:srgbClr val="000000"/>
                    </a:solidFill>
                  </a:rPr>
                  <a:t>create socket:</a:t>
                </a:r>
              </a:p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277D84D0-CE11-2846-B401-8AB4D0BF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36"/>
                <a:ext cx="2344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lnSpc>
                    <a:spcPts val="15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r>
                  <a:rPr lang="en-US" altLang="en-US" sz="1350" kern="0" dirty="0">
                    <a:solidFill>
                      <a:srgbClr val="CC0000"/>
                    </a:solidFill>
                  </a:rPr>
                  <a:t>clientSocket =</a:t>
                </a:r>
              </a:p>
              <a:p>
                <a:pPr defTabSz="685800" eaLnBrk="0" fontAlgn="base" hangingPunct="0">
                  <a:lnSpc>
                    <a:spcPts val="15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r>
                  <a:rPr lang="en-US" altLang="en-US" sz="1350" kern="0" dirty="0">
                    <a:solidFill>
                      <a:srgbClr val="CC0000"/>
                    </a:solidFill>
                  </a:rPr>
                  <a:t>socket(AF_INET,SOCK_DGRAM)</a:t>
                </a:r>
                <a:endParaRPr lang="en-US" altLang="en-US" sz="1350" kern="0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97D964F3-BC0D-9344-837B-2B0BF990E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054" y="3232768"/>
              <a:ext cx="4260140" cy="95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</a:rPr>
                <a:t>Create datagram with serverIP address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</a:rPr>
                <a:t>And port=x; send datagram via</a:t>
              </a:r>
              <a:br>
                <a:rPr lang="en-US" altLang="en-US" sz="1350" kern="0" dirty="0">
                  <a:solidFill>
                    <a:srgbClr val="CC0000"/>
                  </a:solidFill>
                </a:rPr>
              </a:br>
              <a:r>
                <a:rPr lang="en-US" altLang="en-US" sz="1350" kern="0" dirty="0">
                  <a:solidFill>
                    <a:srgbClr val="CC0000"/>
                  </a:solidFill>
                </a:rPr>
                <a:t>clientSocket</a:t>
              </a:r>
              <a:endParaRPr lang="en-US" altLang="en-US" sz="1350" kern="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7EC03F56-353B-7E42-A0A2-334C1287E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967" y="3052597"/>
              <a:ext cx="0" cy="3238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8" name="Line 17">
            <a:extLst>
              <a:ext uri="{FF2B5EF4-FFF2-40B4-BE49-F238E27FC236}">
                <a16:creationId xmlns:a16="http://schemas.microsoft.com/office/drawing/2014/main" id="{40634A1C-2FFB-FC4C-80CE-D90FD1922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3793" y="4401754"/>
            <a:ext cx="1807370" cy="3000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C819A4BA-113E-964D-96AD-ED683094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066" y="3402202"/>
            <a:ext cx="189186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create socket, port= x:</a:t>
            </a:r>
            <a:endParaRPr lang="en-US" altLang="en-US" sz="135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E75AC30B-2B60-9B49-9BC6-1121B155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8591" y="3624530"/>
            <a:ext cx="2791149" cy="518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serverSocket =</a:t>
            </a:r>
          </a:p>
          <a:p>
            <a:pPr defTabSz="685800" eaLnBrk="0" fontAlgn="base" hangingPunct="0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socket(AF_INET,SOCK_DGRAM)</a:t>
            </a:r>
            <a:endParaRPr lang="en-US" altLang="en-US" sz="1350" kern="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105B53F6-4E11-9B4F-83AD-A12D7B45002E}"/>
              </a:ext>
            </a:extLst>
          </p:cNvPr>
          <p:cNvGrpSpPr>
            <a:grpSpLocks/>
          </p:cNvGrpSpPr>
          <p:nvPr/>
        </p:nvGrpSpPr>
        <p:grpSpPr bwMode="auto">
          <a:xfrm>
            <a:off x="1758116" y="4132673"/>
            <a:ext cx="1703784" cy="845344"/>
            <a:chOff x="589" y="1982"/>
            <a:chExt cx="1431" cy="710"/>
          </a:xfrm>
        </p:grpSpPr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2DB889B3-B55C-E94B-B323-72AECF179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9FE4B9D3-FE8A-7E4C-8E08-01C28E8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265"/>
              <a:ext cx="1431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</a:rPr>
                <a:t>read datagram from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CC0000"/>
                  </a:solidFill>
                </a:rPr>
                <a:t>serverSocke</a:t>
              </a:r>
              <a:r>
                <a:rPr lang="en-US" altLang="en-US" sz="1350" kern="0" dirty="0">
                  <a:solidFill>
                    <a:srgbClr val="FF0000"/>
                  </a:solidFill>
                </a:rPr>
                <a:t>t</a:t>
              </a:r>
              <a:endParaRPr lang="en-US" altLang="en-US" sz="135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6729A767-0894-134A-B58D-6CE959F3ABBB}"/>
              </a:ext>
            </a:extLst>
          </p:cNvPr>
          <p:cNvGrpSpPr>
            <a:grpSpLocks/>
          </p:cNvGrpSpPr>
          <p:nvPr/>
        </p:nvGrpSpPr>
        <p:grpSpPr bwMode="auto">
          <a:xfrm>
            <a:off x="1955759" y="4966109"/>
            <a:ext cx="3151584" cy="1284684"/>
            <a:chOff x="755" y="2696"/>
            <a:chExt cx="2647" cy="1079"/>
          </a:xfrm>
        </p:grpSpPr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45FE834E-F5E7-9341-B57D-B054DC6E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2825"/>
              <a:ext cx="1092" cy="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</a:rPr>
                <a:t>write reply to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CC0000"/>
                  </a:solidFill>
                </a:rPr>
                <a:t>serverSocket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</a:rPr>
                <a:t>specifying </a:t>
              </a:r>
              <a:br>
                <a:rPr lang="en-US" altLang="en-US" sz="1350" kern="0" dirty="0">
                  <a:solidFill>
                    <a:srgbClr val="000000"/>
                  </a:solidFill>
                </a:rPr>
              </a:br>
              <a:r>
                <a:rPr lang="en-US" altLang="en-US" sz="1350" kern="0" dirty="0">
                  <a:solidFill>
                    <a:srgbClr val="000000"/>
                  </a:solidFill>
                </a:rPr>
                <a:t>client address,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</a:rPr>
                <a:t>port number</a:t>
              </a:r>
              <a:endParaRPr lang="en-US" altLang="en-US" sz="135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77A2D0F4-2C33-7B48-B528-6DAF87636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696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7CA0ACB-6768-D649-A01B-D103D4E2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811" y="2749464"/>
            <a:ext cx="2515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</a:rPr>
              <a:t>server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altLang="en-US" sz="1350" dirty="0">
                <a:solidFill>
                  <a:srgbClr val="000000"/>
                </a:solidFill>
                <a:latin typeface="Calibri" panose="020F0502020204030204"/>
              </a:rPr>
              <a:t>(running on serverIP)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576" y="2713003"/>
            <a:ext cx="871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150762" y="2711745"/>
            <a:ext cx="316706" cy="51435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35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5881249" y="2672082"/>
            <a:ext cx="557213" cy="557213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EE14ABED-0DEC-622D-B5DD-DF8CD2B740F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328" y="429712"/>
            <a:ext cx="7789343" cy="185622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24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24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350044" indent="-219075">
              <a:spcBef>
                <a:spcPts val="3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350044" indent="-219075">
              <a:spcBef>
                <a:spcPts val="3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350044" indent="-219075">
              <a:spcBef>
                <a:spcPts val="3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2F514E5-320C-4EC5-9245-D12A9F41F48A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25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client</a:t>
            </a:r>
            <a:endParaRPr lang="en-US" altLang="en-US" sz="405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36333E5-2CE2-9346-82C1-DACAC29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034" y="2286985"/>
            <a:ext cx="4434227" cy="3223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from socket import *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serverName = 'hostname'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serverPort = 12000</a:t>
            </a:r>
          </a:p>
          <a:p>
            <a:pPr defTabSz="685800">
              <a:lnSpc>
                <a:spcPts val="18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 = socket(AF_INET, </a:t>
            </a:r>
          </a:p>
          <a:p>
            <a:pPr defTabSz="685800">
              <a:lnSpc>
                <a:spcPts val="18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                              SOCK_DGRAM)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message = input('Input lowercase sentence:')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clientSocket.sendto</a:t>
            </a:r>
            <a:r>
              <a:rPr lang="en-US" altLang="en-US" sz="1350" dirty="0">
                <a:solidFill>
                  <a:prstClr val="black"/>
                </a:solidFill>
              </a:rPr>
              <a:t>(message.encode(),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350" dirty="0">
                <a:solidFill>
                  <a:prstClr val="black"/>
                </a:solidFill>
              </a:rPr>
              <a:t>                                      (serverName, serverPort))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modifiedMessage, serverAddress = 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                              clientSocket.recvfrom(2048)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print(modifiedMessage.decode())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clientSocket.close()</a:t>
            </a: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558" y="1925035"/>
            <a:ext cx="20441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</a:rPr>
              <a:t>Python UDPClient</a:t>
            </a:r>
          </a:p>
        </p:txBody>
      </p:sp>
      <p:grpSp>
        <p:nvGrpSpPr>
          <p:cNvPr id="102" name="Group 46">
            <a:extLst>
              <a:ext uri="{FF2B5EF4-FFF2-40B4-BE49-F238E27FC236}">
                <a16:creationId xmlns:a16="http://schemas.microsoft.com/office/drawing/2014/main" id="{F406A622-9128-8442-A93C-56AFB56A7A29}"/>
              </a:ext>
            </a:extLst>
          </p:cNvPr>
          <p:cNvGrpSpPr>
            <a:grpSpLocks/>
          </p:cNvGrpSpPr>
          <p:nvPr/>
        </p:nvGrpSpPr>
        <p:grpSpPr bwMode="auto">
          <a:xfrm>
            <a:off x="1842496" y="2330000"/>
            <a:ext cx="2267801" cy="246221"/>
            <a:chOff x="-242132" y="1766968"/>
            <a:chExt cx="3023579" cy="329136"/>
          </a:xfrm>
        </p:grpSpPr>
        <p:sp>
          <p:nvSpPr>
            <p:cNvPr id="103" name="TextBox 3">
              <a:extLst>
                <a:ext uri="{FF2B5EF4-FFF2-40B4-BE49-F238E27FC236}">
                  <a16:creationId xmlns:a16="http://schemas.microsoft.com/office/drawing/2014/main" id="{12DA0434-01DE-E046-B7D5-1EDBB8B2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2132" y="1766968"/>
              <a:ext cx="3023579" cy="329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ts val="1200"/>
                </a:lnSpc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include Python’s socket library</a:t>
              </a:r>
            </a:p>
          </p:txBody>
        </p:sp>
        <p:cxnSp>
          <p:nvCxnSpPr>
            <p:cNvPr id="104" name="Straight Connector 10">
              <a:extLst>
                <a:ext uri="{FF2B5EF4-FFF2-40B4-BE49-F238E27FC236}">
                  <a16:creationId xmlns:a16="http://schemas.microsoft.com/office/drawing/2014/main" id="{3C3F6D39-A2A8-4349-A503-867255F17A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371" y="1930400"/>
              <a:ext cx="37032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0A55EB29-DB79-7645-BE78-7EACF4B9A12B}"/>
              </a:ext>
            </a:extLst>
          </p:cNvPr>
          <p:cNvGrpSpPr>
            <a:grpSpLocks/>
          </p:cNvGrpSpPr>
          <p:nvPr/>
        </p:nvGrpSpPr>
        <p:grpSpPr bwMode="auto">
          <a:xfrm>
            <a:off x="2508680" y="3105099"/>
            <a:ext cx="2207760" cy="253916"/>
            <a:chOff x="1211823" y="2904386"/>
            <a:chExt cx="2271818" cy="338131"/>
          </a:xfrm>
        </p:grpSpPr>
        <p:sp>
          <p:nvSpPr>
            <p:cNvPr id="106" name="TextBox 31">
              <a:extLst>
                <a:ext uri="{FF2B5EF4-FFF2-40B4-BE49-F238E27FC236}">
                  <a16:creationId xmlns:a16="http://schemas.microsoft.com/office/drawing/2014/main" id="{75D75C6C-85BB-3C40-92D3-8502CEAB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23" y="2904386"/>
              <a:ext cx="2271818" cy="338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create UDP socket</a:t>
              </a:r>
            </a:p>
          </p:txBody>
        </p:sp>
        <p:cxnSp>
          <p:nvCxnSpPr>
            <p:cNvPr id="107" name="Straight Connector 32">
              <a:extLst>
                <a:ext uri="{FF2B5EF4-FFF2-40B4-BE49-F238E27FC236}">
                  <a16:creationId xmlns:a16="http://schemas.microsoft.com/office/drawing/2014/main" id="{DCDED167-6BDC-964B-B56B-76A2BB3720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8965" y="3080272"/>
              <a:ext cx="28870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48">
            <a:extLst>
              <a:ext uri="{FF2B5EF4-FFF2-40B4-BE49-F238E27FC236}">
                <a16:creationId xmlns:a16="http://schemas.microsoft.com/office/drawing/2014/main" id="{25E66BBE-B082-AC48-AE42-0CA9F6FF4A7B}"/>
              </a:ext>
            </a:extLst>
          </p:cNvPr>
          <p:cNvGrpSpPr>
            <a:grpSpLocks/>
          </p:cNvGrpSpPr>
          <p:nvPr/>
        </p:nvGrpSpPr>
        <p:grpSpPr bwMode="auto">
          <a:xfrm>
            <a:off x="2241602" y="3605325"/>
            <a:ext cx="2207760" cy="246221"/>
            <a:chOff x="320502" y="3822598"/>
            <a:chExt cx="2944213" cy="328182"/>
          </a:xfrm>
        </p:grpSpPr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CD0C6081-C6B7-2641-80D1-E2DED8E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02" y="3822598"/>
              <a:ext cx="2944213" cy="328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ts val="1200"/>
                </a:lnSpc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get user keyboard input </a:t>
              </a:r>
            </a:p>
          </p:txBody>
        </p:sp>
        <p:cxnSp>
          <p:nvCxnSpPr>
            <p:cNvPr id="110" name="Straight Connector 35">
              <a:extLst>
                <a:ext uri="{FF2B5EF4-FFF2-40B4-BE49-F238E27FC236}">
                  <a16:creationId xmlns:a16="http://schemas.microsoft.com/office/drawing/2014/main" id="{A49CAC45-33DD-284A-9C51-3E8086DB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0360" y="3968752"/>
              <a:ext cx="38106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" name="Group 49">
            <a:extLst>
              <a:ext uri="{FF2B5EF4-FFF2-40B4-BE49-F238E27FC236}">
                <a16:creationId xmlns:a16="http://schemas.microsoft.com/office/drawing/2014/main" id="{48C468B7-1DC1-CB4A-8733-4EA18F6E3330}"/>
              </a:ext>
            </a:extLst>
          </p:cNvPr>
          <p:cNvGrpSpPr>
            <a:grpSpLocks/>
          </p:cNvGrpSpPr>
          <p:nvPr/>
        </p:nvGrpSpPr>
        <p:grpSpPr bwMode="auto">
          <a:xfrm>
            <a:off x="442445" y="3865406"/>
            <a:ext cx="3583929" cy="253916"/>
            <a:chOff x="-2057015" y="4094341"/>
            <a:chExt cx="4779099" cy="337709"/>
          </a:xfrm>
        </p:grpSpPr>
        <p:sp>
          <p:nvSpPr>
            <p:cNvPr id="112" name="TextBox 36">
              <a:extLst>
                <a:ext uri="{FF2B5EF4-FFF2-40B4-BE49-F238E27FC236}">
                  <a16:creationId xmlns:a16="http://schemas.microsoft.com/office/drawing/2014/main" id="{829D5E68-A72B-B34D-8934-6A5802454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57015" y="4094341"/>
              <a:ext cx="4723288" cy="337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attach server name, port to message; send into socket</a:t>
              </a:r>
            </a:p>
          </p:txBody>
        </p:sp>
        <p:cxnSp>
          <p:nvCxnSpPr>
            <p:cNvPr id="113" name="Straight Connector 39">
              <a:extLst>
                <a:ext uri="{FF2B5EF4-FFF2-40B4-BE49-F238E27FC236}">
                  <a16:creationId xmlns:a16="http://schemas.microsoft.com/office/drawing/2014/main" id="{B03E6B6D-23CC-9947-A802-0FCAD6FE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0668" y="4261938"/>
              <a:ext cx="361416" cy="55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55">
            <a:extLst>
              <a:ext uri="{FF2B5EF4-FFF2-40B4-BE49-F238E27FC236}">
                <a16:creationId xmlns:a16="http://schemas.microsoft.com/office/drawing/2014/main" id="{D3297448-7869-B14A-9507-C168A822334C}"/>
              </a:ext>
            </a:extLst>
          </p:cNvPr>
          <p:cNvGrpSpPr>
            <a:grpSpLocks/>
          </p:cNvGrpSpPr>
          <p:nvPr/>
        </p:nvGrpSpPr>
        <p:grpSpPr bwMode="auto">
          <a:xfrm>
            <a:off x="1234438" y="4915978"/>
            <a:ext cx="2840717" cy="253916"/>
            <a:chOff x="-1061954" y="5487008"/>
            <a:chExt cx="3788048" cy="338131"/>
          </a:xfrm>
        </p:grpSpPr>
        <p:sp>
          <p:nvSpPr>
            <p:cNvPr id="115" name="TextBox 61">
              <a:extLst>
                <a:ext uri="{FF2B5EF4-FFF2-40B4-BE49-F238E27FC236}">
                  <a16:creationId xmlns:a16="http://schemas.microsoft.com/office/drawing/2014/main" id="{F3DDBD5F-F332-4149-B743-63C7CFA3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1954" y="5487008"/>
              <a:ext cx="3684840" cy="338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print out received string and close socket</a:t>
              </a:r>
            </a:p>
          </p:txBody>
        </p:sp>
        <p:cxnSp>
          <p:nvCxnSpPr>
            <p:cNvPr id="116" name="Straight Connector 62">
              <a:extLst>
                <a:ext uri="{FF2B5EF4-FFF2-40B4-BE49-F238E27FC236}">
                  <a16:creationId xmlns:a16="http://schemas.microsoft.com/office/drawing/2014/main" id="{0E7498AA-C1D3-274D-B0D2-D6ED3F088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661" y="5657831"/>
              <a:ext cx="41643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" name="Group 54">
            <a:extLst>
              <a:ext uri="{FF2B5EF4-FFF2-40B4-BE49-F238E27FC236}">
                <a16:creationId xmlns:a16="http://schemas.microsoft.com/office/drawing/2014/main" id="{7E74A29F-5607-FC4D-9A4A-9324DFA726A6}"/>
              </a:ext>
            </a:extLst>
          </p:cNvPr>
          <p:cNvGrpSpPr>
            <a:grpSpLocks/>
          </p:cNvGrpSpPr>
          <p:nvPr/>
        </p:nvGrpSpPr>
        <p:grpSpPr bwMode="auto">
          <a:xfrm>
            <a:off x="1603150" y="4286114"/>
            <a:ext cx="3068321" cy="353103"/>
            <a:chOff x="-493741" y="4530536"/>
            <a:chExt cx="4090757" cy="471120"/>
          </a:xfrm>
        </p:grpSpPr>
        <p:sp>
          <p:nvSpPr>
            <p:cNvPr id="118" name="TextBox 56">
              <a:extLst>
                <a:ext uri="{FF2B5EF4-FFF2-40B4-BE49-F238E27FC236}">
                  <a16:creationId xmlns:a16="http://schemas.microsoft.com/office/drawing/2014/main" id="{4535E505-0C85-C345-9726-A22F7821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93741" y="4662874"/>
              <a:ext cx="4090757" cy="338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read reply data (bytes) from socket</a:t>
              </a:r>
            </a:p>
          </p:txBody>
        </p:sp>
        <p:cxnSp>
          <p:nvCxnSpPr>
            <p:cNvPr id="119" name="Straight Connector 59">
              <a:extLst>
                <a:ext uri="{FF2B5EF4-FFF2-40B4-BE49-F238E27FC236}">
                  <a16:creationId xmlns:a16="http://schemas.microsoft.com/office/drawing/2014/main" id="{DD1F2FDB-E293-DF42-9B53-AA2F24A60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53">
              <a:extLst>
                <a:ext uri="{FF2B5EF4-FFF2-40B4-BE49-F238E27FC236}">
                  <a16:creationId xmlns:a16="http://schemas.microsoft.com/office/drawing/2014/main" id="{97123429-EC80-5746-ADCF-168DB6F1F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246288" cy="431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FD7A18-B476-5F1F-2958-1B1557AEE421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656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server</a:t>
            </a:r>
            <a:endParaRPr lang="en-US" altLang="en-US" sz="405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558" y="1925035"/>
            <a:ext cx="21339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</a:rPr>
              <a:t>Python UDPServer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69C030C5-F3D0-9E44-ABCB-6457753A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558" y="2329460"/>
            <a:ext cx="4642618" cy="2613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from socket import *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serverPort = 12000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serverSocket = socket(AF_INET, SOCK_DGRAM)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serverSocket.bind((</a:t>
            </a:r>
            <a:r>
              <a:rPr lang="fr-FR" altLang="en-US" sz="1500" dirty="0">
                <a:solidFill>
                  <a:prstClr val="black"/>
                </a:solidFill>
              </a:rPr>
              <a:t>''</a:t>
            </a:r>
            <a:r>
              <a:rPr lang="en-US" altLang="en-US" sz="1500" dirty="0">
                <a:solidFill>
                  <a:prstClr val="black"/>
                </a:solidFill>
              </a:rPr>
              <a:t>, serverPort))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print('</a:t>
            </a:r>
            <a:r>
              <a:rPr lang="en-US" altLang="ja-JP" sz="1500" i="1" dirty="0">
                <a:solidFill>
                  <a:prstClr val="black"/>
                </a:solidFill>
              </a:rPr>
              <a:t>The server is ready to receive</a:t>
            </a:r>
            <a:r>
              <a:rPr lang="en-US" altLang="ja-JP" sz="1500" dirty="0">
                <a:solidFill>
                  <a:prstClr val="black"/>
                </a:solidFill>
              </a:rPr>
              <a:t>')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while True:</a:t>
            </a:r>
          </a:p>
          <a:p>
            <a:pPr defTabSz="685800">
              <a:lnSpc>
                <a:spcPts val="1800"/>
              </a:lnSpc>
              <a:defRPr/>
            </a:pPr>
            <a:r>
              <a:rPr lang="en-US" altLang="en-US" sz="1350" dirty="0">
                <a:solidFill>
                  <a:prstClr val="black"/>
                </a:solidFill>
              </a:rPr>
              <a:t>    message, clientAddress = serverSocket.recvfrom(2048)</a:t>
            </a:r>
          </a:p>
          <a:p>
            <a:pPr defTabSz="685800">
              <a:lnSpc>
                <a:spcPts val="1800"/>
              </a:lnSpc>
              <a:defRPr/>
            </a:pPr>
            <a:r>
              <a:rPr lang="en-US" altLang="en-US" sz="1350" dirty="0">
                <a:solidFill>
                  <a:prstClr val="black"/>
                </a:solidFill>
              </a:rPr>
              <a:t>    modifiedMessage = message.decode().upper()</a:t>
            </a:r>
          </a:p>
          <a:p>
            <a:pPr defTabSz="685800">
              <a:lnSpc>
                <a:spcPts val="1800"/>
              </a:lnSpc>
              <a:defRPr/>
            </a:pPr>
            <a:r>
              <a:rPr lang="en-US" altLang="en-US" sz="1350" dirty="0">
                <a:solidFill>
                  <a:prstClr val="black"/>
                </a:solidFill>
              </a:rPr>
              <a:t>    serverSocket.sendto(modifiedMessage.encode(),</a:t>
            </a:r>
          </a:p>
          <a:p>
            <a:pPr defTabSz="685800">
              <a:lnSpc>
                <a:spcPts val="1800"/>
              </a:lnSpc>
              <a:defRPr/>
            </a:pPr>
            <a:r>
              <a:rPr lang="en-US" altLang="en-US" sz="1350" dirty="0">
                <a:solidFill>
                  <a:prstClr val="black"/>
                </a:solidFill>
              </a:rPr>
              <a:t>                                      clientAddress)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E6794E5D-F097-A04E-9B91-603D87E112BE}"/>
              </a:ext>
            </a:extLst>
          </p:cNvPr>
          <p:cNvGrpSpPr>
            <a:grpSpLocks/>
          </p:cNvGrpSpPr>
          <p:nvPr/>
        </p:nvGrpSpPr>
        <p:grpSpPr bwMode="auto">
          <a:xfrm>
            <a:off x="2514688" y="2915907"/>
            <a:ext cx="1919065" cy="253916"/>
            <a:chOff x="732830" y="2581901"/>
            <a:chExt cx="2559082" cy="338337"/>
          </a:xfrm>
        </p:grpSpPr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529ABA9E-2387-AB44-B717-09C05F742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30" y="2581901"/>
              <a:ext cx="2559082" cy="338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create UDP socket</a:t>
              </a:r>
            </a:p>
          </p:txBody>
        </p:sp>
        <p:cxnSp>
          <p:nvCxnSpPr>
            <p:cNvPr id="28" name="Straight Connector 32">
              <a:extLst>
                <a:ext uri="{FF2B5EF4-FFF2-40B4-BE49-F238E27FC236}">
                  <a16:creationId xmlns:a16="http://schemas.microsoft.com/office/drawing/2014/main" id="{103D9E9D-7411-A240-B0CE-7B858CF05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4178" y="2749550"/>
              <a:ext cx="358094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F985C9C4-F94B-CC47-9BE8-1892C6168FD0}"/>
              </a:ext>
            </a:extLst>
          </p:cNvPr>
          <p:cNvGrpSpPr>
            <a:grpSpLocks/>
          </p:cNvGrpSpPr>
          <p:nvPr/>
        </p:nvGrpSpPr>
        <p:grpSpPr bwMode="auto">
          <a:xfrm>
            <a:off x="1330416" y="3188944"/>
            <a:ext cx="2704339" cy="253916"/>
            <a:chOff x="-896820" y="3018353"/>
            <a:chExt cx="3607385" cy="338131"/>
          </a:xfrm>
        </p:grpSpPr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8032DBCE-C286-BB46-BD1F-9805EEA31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6820" y="3018353"/>
              <a:ext cx="3607385" cy="338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bind socket to local port number 12000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47DB91-CB9C-004F-8F0B-B960A536F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75948" y="3171825"/>
              <a:ext cx="334255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D747856B-2F4C-494D-8DDA-72B42F0090C3}"/>
              </a:ext>
            </a:extLst>
          </p:cNvPr>
          <p:cNvGrpSpPr>
            <a:grpSpLocks/>
          </p:cNvGrpSpPr>
          <p:nvPr/>
        </p:nvGrpSpPr>
        <p:grpSpPr bwMode="auto">
          <a:xfrm>
            <a:off x="2913068" y="3726641"/>
            <a:ext cx="1116042" cy="246221"/>
            <a:chOff x="1222134" y="3803733"/>
            <a:chExt cx="1488522" cy="329149"/>
          </a:xfrm>
        </p:grpSpPr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B9333DFF-5997-FD45-82AB-CE3AE473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134" y="3803733"/>
              <a:ext cx="1194763" cy="329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ts val="1200"/>
                </a:lnSpc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loop forever</a:t>
              </a:r>
            </a:p>
          </p:txBody>
        </p: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C5C98F9A-B437-0647-8271-AFD3AB07B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7604" y="3964781"/>
              <a:ext cx="343052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D0BDCF5E-DA2B-5844-BD1C-AC1F96949F3B}"/>
              </a:ext>
            </a:extLst>
          </p:cNvPr>
          <p:cNvGrpSpPr>
            <a:grpSpLocks/>
          </p:cNvGrpSpPr>
          <p:nvPr/>
        </p:nvGrpSpPr>
        <p:grpSpPr bwMode="auto">
          <a:xfrm>
            <a:off x="978067" y="3967584"/>
            <a:ext cx="3051008" cy="400110"/>
            <a:chOff x="-1394433" y="3835897"/>
            <a:chExt cx="4067973" cy="533362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56E8BB3-6722-944E-9388-9EAA07C52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94433" y="3835897"/>
              <a:ext cx="3841634" cy="533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ts val="1200"/>
                </a:lnSpc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Read from UDP socket into message, getting client’s address (client IP and port)</a:t>
              </a:r>
            </a:p>
          </p:txBody>
        </p: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BAFF573C-9254-4D42-BF1F-B58175A5C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0643" y="3987004"/>
              <a:ext cx="342897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49C1836C-5DBA-F94B-B925-ABC592A1A1AD}"/>
              </a:ext>
            </a:extLst>
          </p:cNvPr>
          <p:cNvGrpSpPr>
            <a:grpSpLocks/>
          </p:cNvGrpSpPr>
          <p:nvPr/>
        </p:nvGrpSpPr>
        <p:grpSpPr bwMode="auto">
          <a:xfrm>
            <a:off x="1214488" y="4445200"/>
            <a:ext cx="2881253" cy="253916"/>
            <a:chOff x="-1179917" y="4521468"/>
            <a:chExt cx="3842964" cy="338131"/>
          </a:xfrm>
        </p:grpSpPr>
        <p:sp>
          <p:nvSpPr>
            <p:cNvPr id="39" name="TextBox 61">
              <a:extLst>
                <a:ext uri="{FF2B5EF4-FFF2-40B4-BE49-F238E27FC236}">
                  <a16:creationId xmlns:a16="http://schemas.microsoft.com/office/drawing/2014/main" id="{19797EBA-27BC-C641-806F-7436C22CF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79917" y="4521468"/>
              <a:ext cx="3842964" cy="338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050" dirty="0">
                  <a:solidFill>
                    <a:srgbClr val="000099"/>
                  </a:solidFill>
                </a:rPr>
                <a:t>send upper case string back to this client</a:t>
              </a:r>
            </a:p>
          </p:txBody>
        </p:sp>
        <p:cxnSp>
          <p:nvCxnSpPr>
            <p:cNvPr id="40" name="Straight Connector 62">
              <a:extLst>
                <a:ext uri="{FF2B5EF4-FFF2-40B4-BE49-F238E27FC236}">
                  <a16:creationId xmlns:a16="http://schemas.microsoft.com/office/drawing/2014/main" id="{D86F62BC-7674-424E-BFC8-DE9ED1B60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7617" y="4675165"/>
              <a:ext cx="35651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DE2C1A2-82D2-3761-259D-46883D1F1232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576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238" y="2633415"/>
            <a:ext cx="23787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</a:rPr>
              <a:t>server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altLang="en-US" sz="1350" dirty="0">
                <a:solidFill>
                  <a:srgbClr val="000000"/>
                </a:solidFill>
                <a:latin typeface="Calibri" panose="020F0502020204030204"/>
              </a:rPr>
              <a:t>(running on hostid)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576" y="2629844"/>
            <a:ext cx="871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460802" y="2603500"/>
            <a:ext cx="316706" cy="51435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35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5881249" y="2588923"/>
            <a:ext cx="557213" cy="557213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00" name="Group 3">
            <a:extLst>
              <a:ext uri="{FF2B5EF4-FFF2-40B4-BE49-F238E27FC236}">
                <a16:creationId xmlns:a16="http://schemas.microsoft.com/office/drawing/2014/main" id="{17F245AD-D1C8-1047-B190-F3B9F38A51DA}"/>
              </a:ext>
            </a:extLst>
          </p:cNvPr>
          <p:cNvGrpSpPr>
            <a:grpSpLocks/>
          </p:cNvGrpSpPr>
          <p:nvPr/>
        </p:nvGrpSpPr>
        <p:grpSpPr bwMode="auto">
          <a:xfrm>
            <a:off x="2820975" y="4104717"/>
            <a:ext cx="1496615" cy="722710"/>
            <a:chOff x="827" y="2016"/>
            <a:chExt cx="1257" cy="607"/>
          </a:xfrm>
        </p:grpSpPr>
        <p:sp>
          <p:nvSpPr>
            <p:cNvPr id="101" name="Text Box 4">
              <a:extLst>
                <a:ext uri="{FF2B5EF4-FFF2-40B4-BE49-F238E27FC236}">
                  <a16:creationId xmlns:a16="http://schemas.microsoft.com/office/drawing/2014/main" id="{96ECA07F-984C-9640-8279-02E0C42A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16"/>
              <a:ext cx="1114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wait for incoming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connection request</a:t>
              </a:r>
              <a:endPara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3EED45EC-0C3C-CD4F-8B77-F31CC4D8B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74"/>
              <a:ext cx="125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CC0000"/>
                  </a:solidFill>
                </a:rPr>
                <a:t>connectionSocket =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CC0000"/>
                  </a:solidFill>
                </a:rPr>
                <a:t>serverSocket.accept()</a:t>
              </a:r>
              <a:endParaRPr lang="en-US" altLang="en-US" sz="1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" name="Group 6">
            <a:extLst>
              <a:ext uri="{FF2B5EF4-FFF2-40B4-BE49-F238E27FC236}">
                <a16:creationId xmlns:a16="http://schemas.microsoft.com/office/drawing/2014/main" id="{942F4A59-7245-424D-B343-8B3AE10F149D}"/>
              </a:ext>
            </a:extLst>
          </p:cNvPr>
          <p:cNvGrpSpPr>
            <a:grpSpLocks/>
          </p:cNvGrpSpPr>
          <p:nvPr/>
        </p:nvGrpSpPr>
        <p:grpSpPr bwMode="auto">
          <a:xfrm>
            <a:off x="2806688" y="3177217"/>
            <a:ext cx="1768078" cy="998934"/>
            <a:chOff x="821" y="1237"/>
            <a:chExt cx="1485" cy="839"/>
          </a:xfrm>
        </p:grpSpPr>
        <p:grpSp>
          <p:nvGrpSpPr>
            <p:cNvPr id="104" name="Group 7">
              <a:extLst>
                <a:ext uri="{FF2B5EF4-FFF2-40B4-BE49-F238E27FC236}">
                  <a16:creationId xmlns:a16="http://schemas.microsoft.com/office/drawing/2014/main" id="{26B7DDA9-00F9-674D-BF38-CB98156F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37"/>
              <a:ext cx="1485" cy="604"/>
              <a:chOff x="329" y="1261"/>
              <a:chExt cx="1485" cy="604"/>
            </a:xfrm>
          </p:grpSpPr>
          <p:sp>
            <p:nvSpPr>
              <p:cNvPr id="106" name="Text Box 8">
                <a:extLst>
                  <a:ext uri="{FF2B5EF4-FFF2-40B4-BE49-F238E27FC236}">
                    <a16:creationId xmlns:a16="http://schemas.microsoft.com/office/drawing/2014/main" id="{EB10976F-C234-F04E-BDCB-D23AD8142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61"/>
                <a:ext cx="1213" cy="4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000000"/>
                    </a:solidFill>
                  </a:rPr>
                  <a:t>create socket,</a:t>
                </a:r>
              </a:p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000000"/>
                    </a:solidFill>
                  </a:rPr>
                  <a:t>port=</a:t>
                </a:r>
                <a:r>
                  <a:rPr lang="en-US" altLang="en-US" sz="1050" b="1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x</a:t>
                </a:r>
                <a:r>
                  <a:rPr lang="en-US" altLang="en-US" sz="1050" dirty="0">
                    <a:solidFill>
                      <a:srgbClr val="000000"/>
                    </a:solidFill>
                  </a:rPr>
                  <a:t>, for incoming request:</a:t>
                </a:r>
                <a:endParaRPr lang="en-US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Text Box 9">
                <a:extLst>
                  <a:ext uri="{FF2B5EF4-FFF2-40B4-BE49-F238E27FC236}">
                    <a16:creationId xmlns:a16="http://schemas.microsoft.com/office/drawing/2014/main" id="{FE1C48C3-1411-C842-B695-AE75246E0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52"/>
                <a:ext cx="14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r>
                  <a:rPr lang="en-US" altLang="en-US" sz="1050" dirty="0">
                    <a:solidFill>
                      <a:srgbClr val="CC0000"/>
                    </a:solidFill>
                  </a:rPr>
                  <a:t>serverSocket = socket()</a:t>
                </a:r>
                <a:endParaRPr lang="en-US" altLang="en-US" sz="1800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EFE8B30D-7531-1F4B-8F1D-2889E291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08" name="Group 11">
            <a:extLst>
              <a:ext uri="{FF2B5EF4-FFF2-40B4-BE49-F238E27FC236}">
                <a16:creationId xmlns:a16="http://schemas.microsoft.com/office/drawing/2014/main" id="{ACBB7887-7AB9-1344-A0D2-33A736B32882}"/>
              </a:ext>
            </a:extLst>
          </p:cNvPr>
          <p:cNvGrpSpPr>
            <a:grpSpLocks/>
          </p:cNvGrpSpPr>
          <p:nvPr/>
        </p:nvGrpSpPr>
        <p:grpSpPr bwMode="auto">
          <a:xfrm>
            <a:off x="5654662" y="4110669"/>
            <a:ext cx="1791890" cy="570309"/>
            <a:chOff x="3333" y="1193"/>
            <a:chExt cx="1505" cy="479"/>
          </a:xfrm>
        </p:grpSpPr>
        <p:sp>
          <p:nvSpPr>
            <p:cNvPr id="109" name="Text Box 12">
              <a:extLst>
                <a:ext uri="{FF2B5EF4-FFF2-40B4-BE49-F238E27FC236}">
                  <a16:creationId xmlns:a16="http://schemas.microsoft.com/office/drawing/2014/main" id="{7C40D8E2-34BB-B14D-99EA-EC4D8E46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193"/>
              <a:ext cx="150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create socket,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connect to </a:t>
              </a:r>
              <a:r>
                <a:rPr lang="en-US" altLang="en-US" sz="105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hostid</a:t>
              </a:r>
              <a:r>
                <a:rPr lang="en-US" altLang="en-US" sz="1050" dirty="0">
                  <a:solidFill>
                    <a:srgbClr val="000000"/>
                  </a:solidFill>
                </a:rPr>
                <a:t>, port=</a:t>
              </a:r>
              <a:r>
                <a:rPr lang="en-US" altLang="en-US" sz="105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x</a:t>
              </a:r>
              <a:endPara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" name="Text Box 13">
              <a:extLst>
                <a:ext uri="{FF2B5EF4-FFF2-40B4-BE49-F238E27FC236}">
                  <a16:creationId xmlns:a16="http://schemas.microsoft.com/office/drawing/2014/main" id="{7AB5735E-62F0-3342-99B5-3AA075145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59"/>
              <a:ext cx="14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CC0000"/>
                  </a:solidFill>
                </a:rPr>
                <a:t>clientSocket = socket()</a:t>
              </a:r>
              <a:endParaRPr lang="en-US" altLang="en-US" sz="1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" name="Group 24">
            <a:extLst>
              <a:ext uri="{FF2B5EF4-FFF2-40B4-BE49-F238E27FC236}">
                <a16:creationId xmlns:a16="http://schemas.microsoft.com/office/drawing/2014/main" id="{EE4290C4-C540-4C43-B98B-8DA5381EA7C7}"/>
              </a:ext>
            </a:extLst>
          </p:cNvPr>
          <p:cNvGrpSpPr>
            <a:grpSpLocks/>
          </p:cNvGrpSpPr>
          <p:nvPr/>
        </p:nvGrpSpPr>
        <p:grpSpPr bwMode="auto">
          <a:xfrm>
            <a:off x="4036603" y="4711933"/>
            <a:ext cx="3096815" cy="1028700"/>
            <a:chOff x="1848" y="2526"/>
            <a:chExt cx="2601" cy="864"/>
          </a:xfrm>
        </p:grpSpPr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F96A14E1-46BB-E441-BD29-639D3BF8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13" name="Group 26">
              <a:extLst>
                <a:ext uri="{FF2B5EF4-FFF2-40B4-BE49-F238E27FC236}">
                  <a16:creationId xmlns:a16="http://schemas.microsoft.com/office/drawing/2014/main" id="{5ED3F8AA-60DC-A346-9E5F-E29F6BA4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601" cy="516"/>
              <a:chOff x="1848" y="2526"/>
              <a:chExt cx="2601" cy="516"/>
            </a:xfrm>
          </p:grpSpPr>
          <p:sp>
            <p:nvSpPr>
              <p:cNvPr id="114" name="Text Box 27">
                <a:extLst>
                  <a:ext uri="{FF2B5EF4-FFF2-40B4-BE49-F238E27FC236}">
                    <a16:creationId xmlns:a16="http://schemas.microsoft.com/office/drawing/2014/main" id="{8F25CD2B-A067-E44F-BD6A-549F5C3DB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64"/>
                <a:ext cx="111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000000"/>
                    </a:solidFill>
                  </a:rPr>
                  <a:t>send request using</a:t>
                </a:r>
              </a:p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CC0000"/>
                    </a:solidFill>
                  </a:rPr>
                  <a:t>clientSocket</a:t>
                </a:r>
                <a:endParaRPr lang="en-US" altLang="en-US" sz="1800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" name="Line 28">
                <a:extLst>
                  <a:ext uri="{FF2B5EF4-FFF2-40B4-BE49-F238E27FC236}">
                    <a16:creationId xmlns:a16="http://schemas.microsoft.com/office/drawing/2014/main" id="{AD461D4B-E47B-A345-9632-F935FCFBB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" name="Line 29">
                <a:extLst>
                  <a:ext uri="{FF2B5EF4-FFF2-40B4-BE49-F238E27FC236}">
                    <a16:creationId xmlns:a16="http://schemas.microsoft.com/office/drawing/2014/main" id="{A6330BBE-6EEE-7E44-A9AE-95D14BB59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7" name="Group 30">
            <a:extLst>
              <a:ext uri="{FF2B5EF4-FFF2-40B4-BE49-F238E27FC236}">
                <a16:creationId xmlns:a16="http://schemas.microsoft.com/office/drawing/2014/main" id="{C2C60A7C-9F85-CC40-A5F2-4EA4B69999A4}"/>
              </a:ext>
            </a:extLst>
          </p:cNvPr>
          <p:cNvGrpSpPr>
            <a:grpSpLocks/>
          </p:cNvGrpSpPr>
          <p:nvPr/>
        </p:nvGrpSpPr>
        <p:grpSpPr bwMode="auto">
          <a:xfrm>
            <a:off x="2813832" y="4783370"/>
            <a:ext cx="3073003" cy="1129902"/>
            <a:chOff x="821" y="2586"/>
            <a:chExt cx="2581" cy="949"/>
          </a:xfrm>
        </p:grpSpPr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9B1FDBB8-2D0E-0148-926C-35E78571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78"/>
              <a:ext cx="105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read request from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CC0000"/>
                  </a:solidFill>
                </a:rPr>
                <a:t>connectionSocke</a:t>
              </a:r>
              <a:r>
                <a:rPr lang="en-US" altLang="en-US" sz="1050" dirty="0">
                  <a:solidFill>
                    <a:srgbClr val="FF0000"/>
                  </a:solidFill>
                </a:rPr>
                <a:t>t</a:t>
              </a:r>
              <a:endPara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E067E97F-BD76-CA4D-8001-FDBBB19C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86"/>
              <a:ext cx="105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write reply to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CC0000"/>
                  </a:solidFill>
                </a:rPr>
                <a:t>connectionSocket</a:t>
              </a:r>
              <a:endParaRPr lang="en-US" altLang="en-US" sz="1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B80CAF82-B68A-6743-9CBF-29BD44503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21022D29-A2BF-2F42-AB7D-DD5736B2C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82228A3E-396F-244B-822E-ACF1690A6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DD1A5005-D6A8-DF4C-876E-C0F3D852EBA6}"/>
              </a:ext>
            </a:extLst>
          </p:cNvPr>
          <p:cNvGrpSpPr>
            <a:grpSpLocks/>
          </p:cNvGrpSpPr>
          <p:nvPr/>
        </p:nvGrpSpPr>
        <p:grpSpPr bwMode="auto">
          <a:xfrm>
            <a:off x="4028269" y="4170198"/>
            <a:ext cx="1650206" cy="466725"/>
            <a:chOff x="3043" y="1178"/>
            <a:chExt cx="1386" cy="392"/>
          </a:xfrm>
        </p:grpSpPr>
        <p:sp>
          <p:nvSpPr>
            <p:cNvPr id="124" name="Line 37">
              <a:extLst>
                <a:ext uri="{FF2B5EF4-FFF2-40B4-BE49-F238E27FC236}">
                  <a16:creationId xmlns:a16="http://schemas.microsoft.com/office/drawing/2014/main" id="{81B4F580-1F65-E540-9F46-45075CD5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5" name="Text Box 38">
              <a:extLst>
                <a:ext uri="{FF2B5EF4-FFF2-40B4-BE49-F238E27FC236}">
                  <a16:creationId xmlns:a16="http://schemas.microsoft.com/office/drawing/2014/main" id="{30516E51-0850-1846-9E67-14E9AE0C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178"/>
              <a:ext cx="1254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srgbClr val="CC0000"/>
                  </a:solidFill>
                </a:rPr>
                <a:t>TCP </a:t>
              </a:r>
            </a:p>
            <a:p>
              <a:pPr algn="ctr" defTabSz="68580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srgbClr val="CC0000"/>
                  </a:solidFill>
                </a:rPr>
                <a:t>connection setup</a:t>
              </a:r>
              <a:endParaRPr lang="en-US" altLang="en-US" sz="1800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126" name="Group 53">
            <a:extLst>
              <a:ext uri="{FF2B5EF4-FFF2-40B4-BE49-F238E27FC236}">
                <a16:creationId xmlns:a16="http://schemas.microsoft.com/office/drawing/2014/main" id="{76CBC147-BDC3-9B41-973C-967836913ABE}"/>
              </a:ext>
            </a:extLst>
          </p:cNvPr>
          <p:cNvGrpSpPr>
            <a:grpSpLocks/>
          </p:cNvGrpSpPr>
          <p:nvPr/>
        </p:nvGrpSpPr>
        <p:grpSpPr bwMode="auto">
          <a:xfrm>
            <a:off x="2776922" y="5075075"/>
            <a:ext cx="4140994" cy="1446610"/>
            <a:chOff x="832" y="2739"/>
            <a:chExt cx="3478" cy="1215"/>
          </a:xfrm>
        </p:grpSpPr>
        <p:sp>
          <p:nvSpPr>
            <p:cNvPr id="127" name="Text Box 15">
              <a:extLst>
                <a:ext uri="{FF2B5EF4-FFF2-40B4-BE49-F238E27FC236}">
                  <a16:creationId xmlns:a16="http://schemas.microsoft.com/office/drawing/2014/main" id="{BD49C61F-B268-184F-AF89-17A24E52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03"/>
              <a:ext cx="105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000000"/>
                  </a:solidFill>
                </a:rPr>
                <a:t>close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050" dirty="0">
                  <a:solidFill>
                    <a:srgbClr val="CC0000"/>
                  </a:solidFill>
                </a:rPr>
                <a:t>connectionSocket</a:t>
              </a:r>
              <a:endParaRPr lang="en-US" altLang="en-US" sz="1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8" name="Line 16">
              <a:extLst>
                <a:ext uri="{FF2B5EF4-FFF2-40B4-BE49-F238E27FC236}">
                  <a16:creationId xmlns:a16="http://schemas.microsoft.com/office/drawing/2014/main" id="{2835A62D-1D4C-F44E-B258-9FD622CDE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196F5095-8EB1-E544-AC83-27077BF9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39"/>
              <a:ext cx="492" cy="252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30" name="Group 18">
              <a:extLst>
                <a:ext uri="{FF2B5EF4-FFF2-40B4-BE49-F238E27FC236}">
                  <a16:creationId xmlns:a16="http://schemas.microsoft.com/office/drawing/2014/main" id="{F4224D9F-D1DB-8E48-A119-9B3F4C3D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39"/>
              <a:ext cx="917" cy="715"/>
              <a:chOff x="3365" y="3366"/>
              <a:chExt cx="917" cy="715"/>
            </a:xfrm>
          </p:grpSpPr>
          <p:sp>
            <p:nvSpPr>
              <p:cNvPr id="131" name="Text Box 19">
                <a:extLst>
                  <a:ext uri="{FF2B5EF4-FFF2-40B4-BE49-F238E27FC236}">
                    <a16:creationId xmlns:a16="http://schemas.microsoft.com/office/drawing/2014/main" id="{F57939D5-24DF-6642-BEE7-6FF967E1D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66"/>
                <a:ext cx="917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000000"/>
                    </a:solidFill>
                  </a:rPr>
                  <a:t>read reply from</a:t>
                </a:r>
              </a:p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CC0000"/>
                    </a:solidFill>
                  </a:rPr>
                  <a:t>clientSocket</a:t>
                </a:r>
                <a:endParaRPr lang="en-US" altLang="en-US" sz="1800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Text Box 20">
                <a:extLst>
                  <a:ext uri="{FF2B5EF4-FFF2-40B4-BE49-F238E27FC236}">
                    <a16:creationId xmlns:a16="http://schemas.microsoft.com/office/drawing/2014/main" id="{B8D472E2-53BD-364D-B6B9-D8A6525ED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32"/>
                <a:ext cx="766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000000"/>
                    </a:solidFill>
                  </a:rPr>
                  <a:t>close</a:t>
                </a:r>
              </a:p>
              <a:p>
                <a:pPr defTabSz="685800">
                  <a:spcBef>
                    <a:spcPct val="0"/>
                  </a:spcBef>
                  <a:defRPr/>
                </a:pPr>
                <a:r>
                  <a:rPr lang="en-US" altLang="en-US" sz="1050" dirty="0">
                    <a:solidFill>
                      <a:srgbClr val="CC0000"/>
                    </a:solidFill>
                  </a:rPr>
                  <a:t>clientSocket</a:t>
                </a:r>
                <a:endParaRPr lang="en-US" altLang="en-US" sz="1800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Line 21">
                <a:extLst>
                  <a:ext uri="{FF2B5EF4-FFF2-40B4-BE49-F238E27FC236}">
                    <a16:creationId xmlns:a16="http://schemas.microsoft.com/office/drawing/2014/main" id="{92CB88C5-2A25-EE44-A282-4291659B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97538DF-ED90-8BBE-3FF4-8CCC1D82FC5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328" y="429711"/>
            <a:ext cx="7789343" cy="2744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 </a:t>
            </a:r>
            <a:r>
              <a:rPr lang="en-US" altLang="en-US" sz="24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sz="24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350044" indent="-219075">
              <a:spcBef>
                <a:spcPts val="3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handshaking before sending data</a:t>
            </a:r>
          </a:p>
          <a:p>
            <a:pPr marL="350044" indent="-219075">
              <a:spcBef>
                <a:spcPts val="3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when client creates socket: client TCP establishes connection to server TCP</a:t>
            </a:r>
          </a:p>
          <a:p>
            <a:pPr marL="350044" indent="-219075">
              <a:spcBef>
                <a:spcPts val="3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when contacted by client, server TCP creates new socket for server process to communicate with that particular client</a:t>
            </a: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D6D34BB-74D1-B17C-E014-7EBC8E9BD62A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015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client</a:t>
            </a:r>
            <a:endParaRPr lang="en-US" altLang="en-US" sz="405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32242A8E-B3CB-194E-B2B0-D62D05F9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4999" y="2373387"/>
            <a:ext cx="4454553" cy="2761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from socket import *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serverName = '</a:t>
            </a:r>
            <a:r>
              <a:rPr lang="en-US" altLang="ja-JP" sz="1500" dirty="0">
                <a:solidFill>
                  <a:prstClr val="black"/>
                </a:solidFill>
              </a:rPr>
              <a:t>servername'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serverPort = 12000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 = socket(AF_INET, SOCK_STREAM)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clientSocket.connect((serverName,serverPort))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sentence = input('Input lowercase sentence:')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clientSocket.send(sentence.encode())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modifiedSentence = clientSocket.recv(1024)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print ('From Server:', modifiedSentence.decode())</a:t>
            </a:r>
          </a:p>
          <a:p>
            <a:pPr defTabSz="685800">
              <a:lnSpc>
                <a:spcPts val="2100"/>
              </a:lnSpc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clientSocket.close()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B8056E7-3F65-9A48-BB93-0E9B6178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524" y="2011437"/>
            <a:ext cx="2018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</a:rPr>
              <a:t>Python TCPClient</a:t>
            </a:r>
          </a:p>
        </p:txBody>
      </p: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0AF080-AE8D-BA48-B682-89E723677E64}"/>
              </a:ext>
            </a:extLst>
          </p:cNvPr>
          <p:cNvGrpSpPr>
            <a:grpSpLocks/>
          </p:cNvGrpSpPr>
          <p:nvPr/>
        </p:nvGrpSpPr>
        <p:grpSpPr bwMode="auto">
          <a:xfrm>
            <a:off x="1242482" y="3231829"/>
            <a:ext cx="2610920" cy="461665"/>
            <a:chOff x="-792500" y="2796587"/>
            <a:chExt cx="3481672" cy="614784"/>
          </a:xfrm>
        </p:grpSpPr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8564B35A-2400-144A-A554-A0822DEA8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2500" y="2796587"/>
              <a:ext cx="2888177" cy="614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create TCP socket for server, remote port 12000</a:t>
              </a:r>
            </a:p>
          </p:txBody>
        </p:sp>
        <p:cxnSp>
          <p:nvCxnSpPr>
            <p:cNvPr id="29" name="Straight Connector 32">
              <a:extLst>
                <a:ext uri="{FF2B5EF4-FFF2-40B4-BE49-F238E27FC236}">
                  <a16:creationId xmlns:a16="http://schemas.microsoft.com/office/drawing/2014/main" id="{729CE148-4BC3-9844-81FA-3A670DB40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4C8C54F-60CE-974F-8DEC-48BF9D4D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406" y="3102693"/>
            <a:ext cx="1600199" cy="442138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endParaRPr lang="en-US" altLang="en-US" sz="1800" dirty="0">
              <a:solidFill>
                <a:prstClr val="black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31" name="Group 47">
            <a:extLst>
              <a:ext uri="{FF2B5EF4-FFF2-40B4-BE49-F238E27FC236}">
                <a16:creationId xmlns:a16="http://schemas.microsoft.com/office/drawing/2014/main" id="{E21D3C68-B8EF-A444-80F9-31E682114E08}"/>
              </a:ext>
            </a:extLst>
          </p:cNvPr>
          <p:cNvGrpSpPr>
            <a:grpSpLocks/>
          </p:cNvGrpSpPr>
          <p:nvPr/>
        </p:nvGrpSpPr>
        <p:grpSpPr bwMode="auto">
          <a:xfrm>
            <a:off x="728200" y="4319461"/>
            <a:ext cx="3137108" cy="276999"/>
            <a:chOff x="-1495096" y="3006031"/>
            <a:chExt cx="4184250" cy="36841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54A49-A84C-F34C-9198-710668B5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5096" y="3006031"/>
              <a:ext cx="3779615" cy="368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No need to attach server name, port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3589B-C5F2-A648-B005-02E951C7E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3E825DD-B60C-01D7-BC44-6EE589B2AD0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576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6116"/>
            <a:ext cx="7886700" cy="67096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server</a:t>
            </a:r>
            <a:endParaRPr lang="en-US" altLang="en-US" sz="405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950741E-8292-7E41-84C1-46A070CA3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8045" y="2299088"/>
            <a:ext cx="4759636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from socket import *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serverPort = 12000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serverSocket = socket(AF_INET,SOCK_STREAM)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serverSocket.bind(('',serverPort))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serverSocket.listen(1)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print('The server is ready to receive')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while True: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connectionSocket, addr = serverSocket.accept()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sentence = connectionSocket.recv(1024).decode()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capitalizedSentence = sentence.upper()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connectionSocket.send(capitalizedSentence.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                                                       encode())</a:t>
            </a:r>
          </a:p>
          <a:p>
            <a:pPr defTabSz="685800">
              <a:defRPr/>
            </a:pPr>
            <a:r>
              <a:rPr lang="en-US" altLang="en-US" sz="1500" dirty="0">
                <a:solidFill>
                  <a:prstClr val="black"/>
                </a:solidFill>
              </a:rPr>
              <a:t>     connectionSocket.close()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1EF17F-3D4A-0B47-8BA1-C2C10358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8045" y="1937138"/>
            <a:ext cx="21082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800" i="1" dirty="0">
                <a:solidFill>
                  <a:srgbClr val="CC0000"/>
                </a:solidFill>
              </a:rPr>
              <a:t>Python TCPServer</a:t>
            </a: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E11A28B-1D9C-5D4D-9B45-8F8462E7E906}"/>
              </a:ext>
            </a:extLst>
          </p:cNvPr>
          <p:cNvGrpSpPr>
            <a:grpSpLocks/>
          </p:cNvGrpSpPr>
          <p:nvPr/>
        </p:nvGrpSpPr>
        <p:grpSpPr bwMode="auto">
          <a:xfrm>
            <a:off x="1293264" y="2774789"/>
            <a:ext cx="2530714" cy="276999"/>
            <a:chOff x="-749058" y="2414108"/>
            <a:chExt cx="3374330" cy="369008"/>
          </a:xfrm>
        </p:grpSpPr>
        <p:sp>
          <p:nvSpPr>
            <p:cNvPr id="16" name="TextBox 31">
              <a:extLst>
                <a:ext uri="{FF2B5EF4-FFF2-40B4-BE49-F238E27FC236}">
                  <a16:creationId xmlns:a16="http://schemas.microsoft.com/office/drawing/2014/main" id="{BE7B84C0-FF81-284C-B893-87D2A5F77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9058" y="2414108"/>
              <a:ext cx="3062331" cy="369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create TCP welcoming socket</a:t>
              </a:r>
            </a:p>
          </p:txBody>
        </p:sp>
        <p:cxnSp>
          <p:nvCxnSpPr>
            <p:cNvPr id="17" name="Straight Connector 32">
              <a:extLst>
                <a:ext uri="{FF2B5EF4-FFF2-40B4-BE49-F238E27FC236}">
                  <a16:creationId xmlns:a16="http://schemas.microsoft.com/office/drawing/2014/main" id="{9AC227D5-ACE3-9D45-9809-D827F0E36A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6730" y="2597150"/>
              <a:ext cx="4885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AAA7E9C-BFC7-834D-AA16-2DA4A476CDA2}"/>
              </a:ext>
            </a:extLst>
          </p:cNvPr>
          <p:cNvGrpSpPr>
            <a:grpSpLocks/>
          </p:cNvGrpSpPr>
          <p:nvPr/>
        </p:nvGrpSpPr>
        <p:grpSpPr bwMode="auto">
          <a:xfrm>
            <a:off x="1560475" y="3154543"/>
            <a:ext cx="2277653" cy="461665"/>
            <a:chOff x="-1667664" y="2908339"/>
            <a:chExt cx="4371910" cy="614784"/>
          </a:xfrm>
        </p:grpSpPr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DDD9E670-279E-624F-9241-0F4EB31CF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67664" y="2908339"/>
              <a:ext cx="4139198" cy="61478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server begins listening for  incoming TCP requests</a:t>
              </a:r>
            </a:p>
          </p:txBody>
        </p:sp>
        <p:cxnSp>
          <p:nvCxnSpPr>
            <p:cNvPr id="20" name="Straight Connector 30">
              <a:extLst>
                <a:ext uri="{FF2B5EF4-FFF2-40B4-BE49-F238E27FC236}">
                  <a16:creationId xmlns:a16="http://schemas.microsoft.com/office/drawing/2014/main" id="{24B55155-A531-764D-80EA-161809A283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7825" y="3217286"/>
              <a:ext cx="73642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4E398AB3-CA85-1246-9B45-0A62FCD962C1}"/>
              </a:ext>
            </a:extLst>
          </p:cNvPr>
          <p:cNvGrpSpPr>
            <a:grpSpLocks/>
          </p:cNvGrpSpPr>
          <p:nvPr/>
        </p:nvGrpSpPr>
        <p:grpSpPr bwMode="auto">
          <a:xfrm>
            <a:off x="2496375" y="3725356"/>
            <a:ext cx="1393968" cy="246221"/>
            <a:chOff x="905004" y="3819988"/>
            <a:chExt cx="1859872" cy="329149"/>
          </a:xfrm>
        </p:grpSpPr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94C20932-E37A-A347-85B8-6A71FAB66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004" y="3819988"/>
              <a:ext cx="1859872" cy="329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ts val="1200"/>
                </a:lnSpc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loop forever</a:t>
              </a:r>
            </a:p>
          </p:txBody>
        </p:sp>
        <p:cxnSp>
          <p:nvCxnSpPr>
            <p:cNvPr id="23" name="Straight Connector 35">
              <a:extLst>
                <a:ext uri="{FF2B5EF4-FFF2-40B4-BE49-F238E27FC236}">
                  <a16:creationId xmlns:a16="http://schemas.microsoft.com/office/drawing/2014/main" id="{FAC42719-5F1D-0749-8621-F7DF2A166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64" y="3964782"/>
              <a:ext cx="52319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17">
            <a:extLst>
              <a:ext uri="{FF2B5EF4-FFF2-40B4-BE49-F238E27FC236}">
                <a16:creationId xmlns:a16="http://schemas.microsoft.com/office/drawing/2014/main" id="{F3B50B89-48C8-7E48-8FDE-4D6D8A826B11}"/>
              </a:ext>
            </a:extLst>
          </p:cNvPr>
          <p:cNvGrpSpPr>
            <a:grpSpLocks/>
          </p:cNvGrpSpPr>
          <p:nvPr/>
        </p:nvGrpSpPr>
        <p:grpSpPr bwMode="auto">
          <a:xfrm>
            <a:off x="679539" y="3963001"/>
            <a:ext cx="3204817" cy="400110"/>
            <a:chOff x="-812680" y="4044670"/>
            <a:chExt cx="3634217" cy="533628"/>
          </a:xfrm>
        </p:grpSpPr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F6449F-1FAC-0144-AA7B-94004903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2680" y="4044670"/>
              <a:ext cx="3634217" cy="533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lnSpc>
                  <a:spcPts val="1200"/>
                </a:lnSpc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server waits on accept() for incoming requests, new socket created on return</a:t>
              </a:r>
            </a:p>
          </p:txBody>
        </p:sp>
        <p:cxnSp>
          <p:nvCxnSpPr>
            <p:cNvPr id="35" name="Straight Connector 39">
              <a:extLst>
                <a:ext uri="{FF2B5EF4-FFF2-40B4-BE49-F238E27FC236}">
                  <a16:creationId xmlns:a16="http://schemas.microsoft.com/office/drawing/2014/main" id="{1E61EC2C-2AF0-BD40-B849-E841D4D3D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7575" y="4188416"/>
              <a:ext cx="435213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2B25A781-3C5A-4345-B1BA-DEACB59F98D7}"/>
              </a:ext>
            </a:extLst>
          </p:cNvPr>
          <p:cNvGrpSpPr>
            <a:grpSpLocks/>
          </p:cNvGrpSpPr>
          <p:nvPr/>
        </p:nvGrpSpPr>
        <p:grpSpPr bwMode="auto">
          <a:xfrm>
            <a:off x="1463252" y="4435809"/>
            <a:ext cx="2365798" cy="461665"/>
            <a:chOff x="-463314" y="4140337"/>
            <a:chExt cx="3153124" cy="615880"/>
          </a:xfrm>
        </p:grpSpPr>
        <p:sp>
          <p:nvSpPr>
            <p:cNvPr id="37" name="TextBox 61">
              <a:extLst>
                <a:ext uri="{FF2B5EF4-FFF2-40B4-BE49-F238E27FC236}">
                  <a16:creationId xmlns:a16="http://schemas.microsoft.com/office/drawing/2014/main" id="{A4995AED-D7BB-0A43-8C79-4CAECC669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3314" y="4140337"/>
              <a:ext cx="2746043" cy="615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read bytes from socket (but not address as in UDP)</a:t>
              </a:r>
            </a:p>
          </p:txBody>
        </p:sp>
        <p:cxnSp>
          <p:nvCxnSpPr>
            <p:cNvPr id="38" name="Straight Connector 62">
              <a:extLst>
                <a:ext uri="{FF2B5EF4-FFF2-40B4-BE49-F238E27FC236}">
                  <a16:creationId xmlns:a16="http://schemas.microsoft.com/office/drawing/2014/main" id="{39CA9B6C-408E-C74F-BCDD-01EC8665E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94710" y="4288764"/>
              <a:ext cx="49510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2EF79CA3-2450-FB47-A075-DE884877B7F1}"/>
              </a:ext>
            </a:extLst>
          </p:cNvPr>
          <p:cNvGrpSpPr>
            <a:grpSpLocks/>
          </p:cNvGrpSpPr>
          <p:nvPr/>
        </p:nvGrpSpPr>
        <p:grpSpPr bwMode="auto">
          <a:xfrm>
            <a:off x="769707" y="5284173"/>
            <a:ext cx="3059343" cy="461665"/>
            <a:chOff x="-1411416" y="4686923"/>
            <a:chExt cx="4079374" cy="615950"/>
          </a:xfrm>
        </p:grpSpPr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4729B12D-4BE5-7649-A39B-A68529411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1416" y="4686923"/>
              <a:ext cx="3902071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srgbClr val="000099"/>
                  </a:solidFill>
                </a:rPr>
                <a:t>close connection to this client (but </a:t>
              </a:r>
              <a:r>
                <a:rPr lang="en-US" altLang="en-US" sz="1200" i="1" dirty="0">
                  <a:solidFill>
                    <a:srgbClr val="000099"/>
                  </a:solidFill>
                </a:rPr>
                <a:t>not</a:t>
              </a:r>
              <a:r>
                <a:rPr lang="en-US" altLang="en-US" sz="1200" dirty="0">
                  <a:solidFill>
                    <a:srgbClr val="000099"/>
                  </a:solidFill>
                </a:rPr>
                <a:t> welcoming socket)</a:t>
              </a:r>
            </a:p>
          </p:txBody>
        </p:sp>
        <p:cxnSp>
          <p:nvCxnSpPr>
            <p:cNvPr id="41" name="Straight Connector 33">
              <a:extLst>
                <a:ext uri="{FF2B5EF4-FFF2-40B4-BE49-F238E27FC236}">
                  <a16:creationId xmlns:a16="http://schemas.microsoft.com/office/drawing/2014/main" id="{445EB81E-B12F-454D-80B8-5484BE29F5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72628" y="4843734"/>
              <a:ext cx="49533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F096485-1215-F097-26AB-A8F3A2EF4B6B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320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82656-0795-4F67-D2E0-6AE9EE59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ABF6DC9F-FBC7-316F-1665-769EBDBA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6116"/>
            <a:ext cx="7886700" cy="67096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Hw2</a:t>
            </a:r>
            <a:endParaRPr lang="en-US" altLang="en-US" sz="405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BC85DF8-D6D0-3FE7-448D-749EA40D78B1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E7FE257-5A2C-3227-FF48-A97A82F0A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09" y="2757403"/>
            <a:ext cx="6617040" cy="16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69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>
            <a:extLst>
              <a:ext uri="{FF2B5EF4-FFF2-40B4-BE49-F238E27FC236}">
                <a16:creationId xmlns:a16="http://schemas.microsoft.com/office/drawing/2014/main" id="{130235C8-CBF2-BC40-8C2F-CC9AFE9799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15412"/>
            <a:ext cx="4323472" cy="2879569"/>
          </a:xfrm>
        </p:spPr>
        <p:txBody>
          <a:bodyPr>
            <a:normAutofit/>
          </a:bodyPr>
          <a:lstStyle/>
          <a:p>
            <a:pPr marL="215504" indent="-215504" defTabSz="685800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application architectures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client-server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P2P</a:t>
            </a:r>
          </a:p>
          <a:p>
            <a:pPr marL="215504" indent="-215504" defTabSz="685800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application service requirements:</a:t>
            </a:r>
          </a:p>
          <a:p>
            <a:pPr marL="511969" lvl="1" indent="-171450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reliability, bandwidth, delay</a:t>
            </a:r>
          </a:p>
          <a:p>
            <a:pPr marL="215504" indent="-215504" defTabSz="685800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Internet transport service model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connection-oriented, reliable: TCP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unreliable, datagrams: UDP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28601A5-E42C-D440-B994-5748EBF18265}"/>
              </a:ext>
            </a:extLst>
          </p:cNvPr>
          <p:cNvSpPr txBox="1">
            <a:spLocks noChangeArrowheads="1"/>
          </p:cNvSpPr>
          <p:nvPr/>
        </p:nvSpPr>
        <p:spPr>
          <a:xfrm>
            <a:off x="528637" y="1202805"/>
            <a:ext cx="7656718" cy="5072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our study of network application layer is now complete!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64F252F4-9047-6D40-8B28-18D2E553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2504" y="1826988"/>
            <a:ext cx="3233233" cy="26449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15504" indent="-215504" defTabSz="685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specific protocols: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HTTP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SMTP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DNS</a:t>
            </a:r>
          </a:p>
          <a:p>
            <a:pPr marL="510779" lvl="1" indent="-167879" defTabSz="685800">
              <a:buClr>
                <a:srgbClr val="000099"/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BitTorrent (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P2P)</a:t>
            </a:r>
            <a:endParaRPr lang="en-US" dirty="0">
              <a:solidFill>
                <a:srgbClr val="000000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  <a:p>
            <a:pPr marL="215504" indent="-215504" defTabSz="685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video streaming, CDNs</a:t>
            </a:r>
          </a:p>
          <a:p>
            <a:pPr marL="215504" indent="-215504" defTabSz="685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socket programming: </a:t>
            </a:r>
          </a:p>
          <a:p>
            <a:pPr defTabSz="685800">
              <a:buClr>
                <a:srgbClr val="000099"/>
              </a:buClr>
              <a:buSzPct val="100000"/>
              <a:defRPr/>
            </a:pP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   TCP, UDP sockets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8F4AF8-06A2-A33E-2B4F-A604A021A965}"/>
              </a:ext>
            </a:extLst>
          </p:cNvPr>
          <p:cNvSpPr txBox="1">
            <a:spLocks/>
          </p:cNvSpPr>
          <p:nvPr/>
        </p:nvSpPr>
        <p:spPr>
          <a:xfrm>
            <a:off x="628650" y="136525"/>
            <a:ext cx="7250430" cy="772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Chapter 2: Summary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4EABB0-DB94-10AE-E663-16FEAE1AD92C}"/>
              </a:ext>
            </a:extLst>
          </p:cNvPr>
          <p:cNvGrpSpPr/>
          <p:nvPr/>
        </p:nvGrpSpPr>
        <p:grpSpPr>
          <a:xfrm>
            <a:off x="924130" y="4841889"/>
            <a:ext cx="7562850" cy="1854186"/>
            <a:chOff x="924130" y="4867289"/>
            <a:chExt cx="7562850" cy="1854186"/>
          </a:xfrm>
          <a:solidFill>
            <a:schemeClr val="bg1">
              <a:lumMod val="95000"/>
            </a:schemeClr>
          </a:solidFill>
        </p:grpSpPr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4B861AE1-F365-3E37-9648-770A43C10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130" y="4867289"/>
              <a:ext cx="7562850" cy="1854186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27013" indent="-227013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681038" indent="-223838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170260" indent="-170260" defTabSz="685800">
                <a:buClr>
                  <a:srgbClr val="3333CC"/>
                </a:buClr>
                <a:defRPr/>
              </a:pPr>
              <a:r>
                <a:rPr lang="en-US" altLang="en-US" sz="2100" dirty="0">
                  <a:solidFill>
                    <a:srgbClr val="CC0000"/>
                  </a:solidFill>
                  <a:latin typeface="Calibri" panose="020F0502020204030204"/>
                </a:rPr>
                <a:t>important themes:</a:t>
              </a:r>
              <a:r>
                <a:rPr lang="en-US" altLang="en-US" sz="1800" dirty="0">
                  <a:solidFill>
                    <a:srgbClr val="FF3300"/>
                  </a:solidFill>
                  <a:latin typeface="Calibri" panose="020F0502020204030204"/>
                </a:rPr>
                <a:t> </a:t>
              </a:r>
            </a:p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centralized vs. decentralized </a:t>
              </a:r>
            </a:p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stateless vs. stateful</a:t>
              </a:r>
            </a:p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Scalability</a:t>
              </a:r>
            </a:p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caching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ECF9A56-0CED-C9A0-DF95-2EEB69BB6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3" y="5152985"/>
              <a:ext cx="4069667" cy="1568490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27013" indent="-227013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681038" indent="-223838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reliable vs. unreliable message transfer </a:t>
              </a:r>
            </a:p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ja-JP" sz="2100" dirty="0">
                  <a:solidFill>
                    <a:srgbClr val="000000"/>
                  </a:solidFill>
                  <a:latin typeface="Calibri" panose="020F0502020204030204"/>
                </a:rPr>
                <a:t>“complexity at network edge”</a:t>
              </a:r>
            </a:p>
            <a:p>
              <a:pPr marL="261938" indent="-164306" defTabSz="685800"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…… 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4294C-3DC9-FD83-C987-5B93DFD56C3B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594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6A6E4-354F-4D4F-2C31-C8C1F03E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A9D85-FB84-F6A2-ABBA-BBA3E6E8D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B8077D9-EFE6-5413-B2C0-715C5738F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07" y="1724027"/>
            <a:ext cx="449852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HTTP (</a:t>
            </a:r>
            <a:r>
              <a:rPr lang="en-US" altLang="zh-CN" dirty="0" err="1"/>
              <a:t>HyperText</a:t>
            </a:r>
            <a:r>
              <a:rPr lang="en-US" altLang="zh-CN" dirty="0"/>
              <a:t> Transfer Protocol)</a:t>
            </a:r>
          </a:p>
          <a:p>
            <a:pPr lvl="1"/>
            <a:r>
              <a:rPr lang="en-US" dirty="0"/>
              <a:t>Application:</a:t>
            </a:r>
          </a:p>
          <a:p>
            <a:pPr lvl="1"/>
            <a:r>
              <a:rPr lang="en-US" dirty="0"/>
              <a:t>Paradigm:</a:t>
            </a:r>
          </a:p>
          <a:p>
            <a:pPr lvl="1"/>
            <a:r>
              <a:rPr lang="en-US" dirty="0"/>
              <a:t>Service: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Request: GET, HEAD, POST, PUT (pull or push?)</a:t>
            </a:r>
          </a:p>
          <a:p>
            <a:pPr lvl="2"/>
            <a:r>
              <a:rPr lang="en-US" dirty="0"/>
              <a:t>Response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Non-persistent vs Persistent: how many RTTs</a:t>
            </a:r>
          </a:p>
          <a:p>
            <a:pPr lvl="2"/>
            <a:r>
              <a:rPr lang="en-US" dirty="0"/>
              <a:t>Stateless vs Stateful: cookies</a:t>
            </a:r>
          </a:p>
          <a:p>
            <a:pPr lvl="2"/>
            <a:r>
              <a:rPr lang="en-US" dirty="0"/>
              <a:t>Web Cache: </a:t>
            </a:r>
            <a:r>
              <a:rPr lang="en-US" b="1" dirty="0"/>
              <a:t>a case study</a:t>
            </a:r>
          </a:p>
          <a:p>
            <a:r>
              <a:rPr lang="en-US" altLang="zh-CN" dirty="0"/>
              <a:t>SMTP (Simple Mail Transfer Protocol)</a:t>
            </a:r>
          </a:p>
          <a:p>
            <a:pPr lvl="1"/>
            <a:r>
              <a:rPr lang="en-US" dirty="0"/>
              <a:t>Application:</a:t>
            </a:r>
          </a:p>
          <a:p>
            <a:pPr lvl="1"/>
            <a:r>
              <a:rPr lang="en-US" dirty="0"/>
              <a:t>Paradigm:</a:t>
            </a:r>
          </a:p>
          <a:p>
            <a:pPr lvl="1"/>
            <a:r>
              <a:rPr lang="en-US" dirty="0"/>
              <a:t>Service: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Extra handshake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pull or push?</a:t>
            </a:r>
          </a:p>
          <a:p>
            <a:pPr lvl="2"/>
            <a:r>
              <a:rPr lang="en-US" dirty="0"/>
              <a:t>To pull a message: IMAP, POP3, HTTP </a:t>
            </a:r>
          </a:p>
          <a:p>
            <a:pPr lvl="2"/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7D05AC73-FA9E-FA2F-CCB1-61D5F226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5BA1EA2-47C3-8C6A-823C-1ACA1A4110E4}"/>
              </a:ext>
            </a:extLst>
          </p:cNvPr>
          <p:cNvSpPr txBox="1">
            <a:spLocks/>
          </p:cNvSpPr>
          <p:nvPr/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700B393-3316-7079-C3FF-F2488FDDC0E0}"/>
              </a:ext>
            </a:extLst>
          </p:cNvPr>
          <p:cNvSpPr txBox="1">
            <a:spLocks/>
          </p:cNvSpPr>
          <p:nvPr/>
        </p:nvSpPr>
        <p:spPr>
          <a:xfrm>
            <a:off x="4423682" y="1719097"/>
            <a:ext cx="44985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64319" indent="-166688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494" indent="-173831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DNS (Domain Name System Protocol)</a:t>
            </a:r>
          </a:p>
          <a:p>
            <a:pPr lvl="1"/>
            <a:r>
              <a:rPr lang="en-US" dirty="0"/>
              <a:t>Application: DNS</a:t>
            </a:r>
          </a:p>
          <a:p>
            <a:pPr lvl="2"/>
            <a:r>
              <a:rPr lang="en-US" dirty="0"/>
              <a:t>Why DNS?</a:t>
            </a:r>
          </a:p>
          <a:p>
            <a:pPr lvl="2"/>
            <a:r>
              <a:rPr lang="en-US" dirty="0"/>
              <a:t>Translate what?</a:t>
            </a:r>
          </a:p>
          <a:p>
            <a:pPr lvl="2"/>
            <a:r>
              <a:rPr lang="en-US" dirty="0"/>
              <a:t>Hierarchical Structure</a:t>
            </a:r>
          </a:p>
          <a:p>
            <a:pPr lvl="1"/>
            <a:r>
              <a:rPr lang="en-US" dirty="0"/>
              <a:t>Paradigm:</a:t>
            </a:r>
          </a:p>
          <a:p>
            <a:pPr lvl="1"/>
            <a:r>
              <a:rPr lang="en-US" dirty="0"/>
              <a:t>Service: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(optional)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Local DNS: challenge</a:t>
            </a:r>
          </a:p>
          <a:p>
            <a:pPr lvl="2"/>
            <a:r>
              <a:rPr lang="en-US" dirty="0"/>
              <a:t>Recursive vs Iterative</a:t>
            </a:r>
          </a:p>
          <a:p>
            <a:r>
              <a:rPr lang="en-US" altLang="zh-CN" dirty="0"/>
              <a:t>BitTorrent (BitTorrent Protocol)</a:t>
            </a:r>
          </a:p>
          <a:p>
            <a:pPr lvl="1"/>
            <a:r>
              <a:rPr lang="en-US" dirty="0"/>
              <a:t>Application: </a:t>
            </a:r>
            <a:r>
              <a:rPr lang="en-US" altLang="en-US" dirty="0">
                <a:ea typeface="ＭＳ Ｐゴシック" panose="020B0600070205080204" pitchFamily="34" charset="-128"/>
              </a:rPr>
              <a:t>BitTorrent (</a:t>
            </a:r>
            <a:r>
              <a:rPr lang="en-US" dirty="0"/>
              <a:t>file distribution)</a:t>
            </a:r>
          </a:p>
          <a:p>
            <a:pPr lvl="2"/>
            <a:r>
              <a:rPr lang="en-US" dirty="0"/>
              <a:t>Tracker vs Peers</a:t>
            </a:r>
          </a:p>
          <a:p>
            <a:pPr lvl="1"/>
            <a:r>
              <a:rPr lang="en-US" dirty="0"/>
              <a:t>Paradigm:</a:t>
            </a:r>
          </a:p>
          <a:p>
            <a:pPr lvl="1"/>
            <a:r>
              <a:rPr lang="en-US" dirty="0"/>
              <a:t>Service: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(optional)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Reciprocate: higher upload rate, better trading partners, get file faster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442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E3BA-07A1-CDD3-513E-C925634B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374AA-9537-201D-ECB8-126BC098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43A269F-BF7A-D5EB-1E05-EEA172EDC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07" y="1724027"/>
            <a:ext cx="449852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HTTP (</a:t>
            </a:r>
            <a:r>
              <a:rPr lang="en-US" altLang="zh-CN" dirty="0" err="1"/>
              <a:t>HyperText</a:t>
            </a:r>
            <a:r>
              <a:rPr lang="en-US" altLang="zh-CN" dirty="0"/>
              <a:t> Transfer Protocol)</a:t>
            </a:r>
          </a:p>
          <a:p>
            <a:pPr lvl="1"/>
            <a:r>
              <a:rPr lang="en-US" dirty="0"/>
              <a:t>Application: Web</a:t>
            </a:r>
          </a:p>
          <a:p>
            <a:pPr lvl="1"/>
            <a:r>
              <a:rPr lang="en-US" dirty="0"/>
              <a:t>Paradigm: S-C</a:t>
            </a:r>
          </a:p>
          <a:p>
            <a:pPr lvl="1"/>
            <a:r>
              <a:rPr lang="en-US" dirty="0"/>
              <a:t>Service: TCP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Request: GET, HEAD, POST, PUT (pull or push?)</a:t>
            </a:r>
          </a:p>
          <a:p>
            <a:pPr lvl="2"/>
            <a:r>
              <a:rPr lang="en-US" dirty="0"/>
              <a:t>Response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Non-persistent vs Persistent: how many RTTs</a:t>
            </a:r>
          </a:p>
          <a:p>
            <a:pPr lvl="2"/>
            <a:r>
              <a:rPr lang="en-US" dirty="0"/>
              <a:t>Stateless vs Stateful: cookies</a:t>
            </a:r>
          </a:p>
          <a:p>
            <a:pPr lvl="2"/>
            <a:r>
              <a:rPr lang="en-US" dirty="0"/>
              <a:t>Web Cache: </a:t>
            </a:r>
            <a:r>
              <a:rPr lang="en-US" b="1" dirty="0"/>
              <a:t>a case study</a:t>
            </a:r>
          </a:p>
          <a:p>
            <a:r>
              <a:rPr lang="en-US" altLang="zh-CN" dirty="0"/>
              <a:t>SMTP (Simple Mail Transfer Protocol)</a:t>
            </a:r>
          </a:p>
          <a:p>
            <a:pPr lvl="1"/>
            <a:r>
              <a:rPr lang="en-US" dirty="0"/>
              <a:t>Application: Email</a:t>
            </a:r>
          </a:p>
          <a:p>
            <a:pPr lvl="1"/>
            <a:r>
              <a:rPr lang="en-US" dirty="0"/>
              <a:t>Paradigm: S-C</a:t>
            </a:r>
          </a:p>
          <a:p>
            <a:pPr lvl="1"/>
            <a:r>
              <a:rPr lang="en-US" dirty="0"/>
              <a:t>Service: TCP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Extra handshake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push</a:t>
            </a:r>
          </a:p>
          <a:p>
            <a:pPr lvl="2"/>
            <a:r>
              <a:rPr lang="en-US" dirty="0"/>
              <a:t>To pull a message: IMAP, POP3, HTTP </a:t>
            </a:r>
          </a:p>
          <a:p>
            <a:pPr lvl="2"/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4377839C-422C-5108-8DDC-B1069A31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627EDC-5647-1615-70DB-247C76F79453}"/>
              </a:ext>
            </a:extLst>
          </p:cNvPr>
          <p:cNvSpPr txBox="1">
            <a:spLocks/>
          </p:cNvSpPr>
          <p:nvPr/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0EDC8F4-D278-350F-94B0-DEB196CA5F3A}"/>
              </a:ext>
            </a:extLst>
          </p:cNvPr>
          <p:cNvSpPr txBox="1">
            <a:spLocks/>
          </p:cNvSpPr>
          <p:nvPr/>
        </p:nvSpPr>
        <p:spPr>
          <a:xfrm>
            <a:off x="4423682" y="1719097"/>
            <a:ext cx="44985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64319" indent="-166688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494" indent="-173831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DNS (Domain Name System Protocol)</a:t>
            </a:r>
          </a:p>
          <a:p>
            <a:pPr lvl="1"/>
            <a:r>
              <a:rPr lang="en-US" dirty="0"/>
              <a:t>Application: DNS</a:t>
            </a:r>
          </a:p>
          <a:p>
            <a:pPr lvl="2"/>
            <a:r>
              <a:rPr lang="en-US" dirty="0"/>
              <a:t>Why DNS? </a:t>
            </a:r>
            <a:r>
              <a:rPr lang="en-US" dirty="0" err="1"/>
              <a:t>url</a:t>
            </a:r>
            <a:r>
              <a:rPr lang="en-US" dirty="0"/>
              <a:t> -&gt; </a:t>
            </a:r>
            <a:r>
              <a:rPr lang="en-US" dirty="0" err="1"/>
              <a:t>ip</a:t>
            </a:r>
            <a:r>
              <a:rPr lang="en-US" dirty="0"/>
              <a:t> translation</a:t>
            </a:r>
          </a:p>
          <a:p>
            <a:pPr lvl="2"/>
            <a:r>
              <a:rPr lang="en-US" dirty="0"/>
              <a:t>Translate what? hostname</a:t>
            </a:r>
          </a:p>
          <a:p>
            <a:pPr lvl="2"/>
            <a:r>
              <a:rPr lang="en-US" dirty="0"/>
              <a:t>Hierarchical Structure</a:t>
            </a:r>
          </a:p>
          <a:p>
            <a:pPr lvl="1"/>
            <a:r>
              <a:rPr lang="en-US" dirty="0"/>
              <a:t>Paradigm: S-C</a:t>
            </a:r>
          </a:p>
          <a:p>
            <a:pPr lvl="1"/>
            <a:r>
              <a:rPr lang="en-US" dirty="0"/>
              <a:t>Service: UDP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(optional)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Local DNS: challenge</a:t>
            </a:r>
          </a:p>
          <a:p>
            <a:pPr lvl="2"/>
            <a:r>
              <a:rPr lang="en-US" dirty="0"/>
              <a:t>Recursive vs Iterative</a:t>
            </a:r>
          </a:p>
          <a:p>
            <a:r>
              <a:rPr lang="en-US" altLang="zh-CN" dirty="0"/>
              <a:t>BitTorrent (BitTorrent Protocol)</a:t>
            </a:r>
          </a:p>
          <a:p>
            <a:pPr lvl="1"/>
            <a:r>
              <a:rPr lang="en-US" dirty="0"/>
              <a:t>Application: </a:t>
            </a:r>
            <a:r>
              <a:rPr lang="en-US" altLang="en-US" dirty="0">
                <a:ea typeface="ＭＳ Ｐゴシック" panose="020B0600070205080204" pitchFamily="34" charset="-128"/>
              </a:rPr>
              <a:t>BitTorrent (</a:t>
            </a:r>
            <a:r>
              <a:rPr lang="en-US" dirty="0"/>
              <a:t>file distribution)</a:t>
            </a:r>
          </a:p>
          <a:p>
            <a:pPr lvl="2"/>
            <a:r>
              <a:rPr lang="en-US" dirty="0"/>
              <a:t>Tracker vs Peers</a:t>
            </a:r>
          </a:p>
          <a:p>
            <a:pPr lvl="1"/>
            <a:r>
              <a:rPr lang="en-US" dirty="0"/>
              <a:t>Paradigm: P2P. In fact, hybrid!</a:t>
            </a:r>
          </a:p>
          <a:p>
            <a:pPr lvl="1"/>
            <a:r>
              <a:rPr lang="en-US" dirty="0"/>
              <a:t>Service: TCP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dirty="0"/>
              <a:t>(optional)</a:t>
            </a:r>
          </a:p>
          <a:p>
            <a:pPr lvl="1"/>
            <a:r>
              <a:rPr lang="en-US" dirty="0"/>
              <a:t>Features:</a:t>
            </a:r>
          </a:p>
          <a:p>
            <a:pPr lvl="2"/>
            <a:r>
              <a:rPr lang="en-US" dirty="0"/>
              <a:t>Reciprocate: higher upload rate, better trading partners, get file faster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248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D255-1D57-9A96-E94C-56A964A4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06A92-1769-3522-D30B-C0E377A1C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B829774-6087-C001-C3A0-BC8BA18E9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33" y="1724027"/>
            <a:ext cx="3968295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P2P features</a:t>
            </a:r>
          </a:p>
          <a:p>
            <a:pPr lvl="1"/>
            <a:r>
              <a:rPr lang="en-US" altLang="zh-CN" dirty="0"/>
              <a:t>Not always-on</a:t>
            </a:r>
          </a:p>
          <a:p>
            <a:pPr lvl="1"/>
            <a:r>
              <a:rPr lang="en-US" altLang="zh-CN" dirty="0"/>
              <a:t>Directly communicate</a:t>
            </a:r>
          </a:p>
          <a:p>
            <a:pPr lvl="1"/>
            <a:r>
              <a:rPr lang="en-US" dirty="0"/>
              <a:t>Self scalability</a:t>
            </a:r>
          </a:p>
          <a:p>
            <a:pPr lvl="1"/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ntermittent behavior</a:t>
            </a:r>
          </a:p>
          <a:p>
            <a:pPr lvl="1"/>
            <a:endParaRPr lang="en-US" dirty="0"/>
          </a:p>
          <a:p>
            <a:r>
              <a:rPr lang="en-US" altLang="zh-CN" dirty="0"/>
              <a:t>Client-server vs P2P</a:t>
            </a:r>
            <a:endParaRPr lang="en-US" dirty="0"/>
          </a:p>
          <a:p>
            <a:pPr lvl="1"/>
            <a:r>
              <a:rPr lang="en-US" dirty="0"/>
              <a:t>Case studies</a:t>
            </a:r>
          </a:p>
          <a:p>
            <a:pPr lvl="2"/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14C5A6-6B41-F738-3572-A8E522C40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A5D4323-710F-CF03-06B3-94FDC609A947}"/>
              </a:ext>
            </a:extLst>
          </p:cNvPr>
          <p:cNvSpPr txBox="1">
            <a:spLocks/>
          </p:cNvSpPr>
          <p:nvPr/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696C69-13BC-24CB-F4D4-48235D46F521}"/>
              </a:ext>
            </a:extLst>
          </p:cNvPr>
          <p:cNvGrpSpPr/>
          <p:nvPr/>
        </p:nvGrpSpPr>
        <p:grpSpPr>
          <a:xfrm>
            <a:off x="5257611" y="1270586"/>
            <a:ext cx="3388519" cy="1527572"/>
            <a:chOff x="4471988" y="1284288"/>
            <a:chExt cx="4518025" cy="2036762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2F9DD4EB-F6E5-A514-CF2F-5A26230C0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5217D095-76BA-9727-ED08-40957029A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1A061B11-FDFD-F3A0-72E8-AED43547A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42575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s</a:t>
              </a:r>
            </a:p>
          </p:txBody>
        </p:sp>
        <p:sp>
          <p:nvSpPr>
            <p:cNvPr id="12" name="Line 39">
              <a:extLst>
                <a:ext uri="{FF2B5EF4-FFF2-40B4-BE49-F238E27FC236}">
                  <a16:creationId xmlns:a16="http://schemas.microsoft.com/office/drawing/2014/main" id="{0B3A09D0-9A7C-E5B2-B633-9C481EE35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Line 40">
              <a:extLst>
                <a:ext uri="{FF2B5EF4-FFF2-40B4-BE49-F238E27FC236}">
                  <a16:creationId xmlns:a16="http://schemas.microsoft.com/office/drawing/2014/main" id="{C4AF0C6E-926F-EADC-0B10-52BB86C91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Text Box 44">
              <a:extLst>
                <a:ext uri="{FF2B5EF4-FFF2-40B4-BE49-F238E27FC236}">
                  <a16:creationId xmlns:a16="http://schemas.microsoft.com/office/drawing/2014/main" id="{F79406EE-2C5E-32B7-78ED-CDE73381F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2672" y="2460625"/>
              <a:ext cx="111663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r>
                <a:rPr lang="en-US" altLang="en-US" sz="1500" dirty="0">
                  <a:solidFill>
                    <a:prstClr val="white"/>
                  </a:solidFill>
                  <a:latin typeface="Calibri" panose="020F0502020204030204"/>
                </a:rPr>
                <a:t>network</a:t>
              </a:r>
              <a:endParaRPr lang="en-US" alt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" name="AutoShape 327">
              <a:extLst>
                <a:ext uri="{FF2B5EF4-FFF2-40B4-BE49-F238E27FC236}">
                  <a16:creationId xmlns:a16="http://schemas.microsoft.com/office/drawing/2014/main" id="{4E5E5384-F7C8-ADC4-FB61-877407094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endParaRPr lang="en-US" altLang="en-US" sz="675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8769990D-057B-DE43-5DC2-7EBFFCA03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81244001-CF4C-4CAE-7D84-70802BA9A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208AD450-4E0E-434F-3CF6-8301C928F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F1C1E659-F0AF-5017-42B1-E6FC757CAE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Line 138">
              <a:extLst>
                <a:ext uri="{FF2B5EF4-FFF2-40B4-BE49-F238E27FC236}">
                  <a16:creationId xmlns:a16="http://schemas.microsoft.com/office/drawing/2014/main" id="{AA2ED1B0-7DEA-DBDE-E67B-CFF355303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Line 139">
              <a:extLst>
                <a:ext uri="{FF2B5EF4-FFF2-40B4-BE49-F238E27FC236}">
                  <a16:creationId xmlns:a16="http://schemas.microsoft.com/office/drawing/2014/main" id="{6BB637AD-AF4E-994F-75E7-CA9FDCCDB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Text Box 41">
              <a:extLst>
                <a:ext uri="{FF2B5EF4-FFF2-40B4-BE49-F238E27FC236}">
                  <a16:creationId xmlns:a16="http://schemas.microsoft.com/office/drawing/2014/main" id="{F889128A-E43C-562E-FED8-BB448756E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4" y="2146300"/>
              <a:ext cx="45085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</a:p>
          </p:txBody>
        </p:sp>
        <p:sp>
          <p:nvSpPr>
            <p:cNvPr id="23" name="Text Box 41">
              <a:extLst>
                <a:ext uri="{FF2B5EF4-FFF2-40B4-BE49-F238E27FC236}">
                  <a16:creationId xmlns:a16="http://schemas.microsoft.com/office/drawing/2014/main" id="{58014268-DC10-1DED-28A1-492441AAC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</a:p>
          </p:txBody>
        </p:sp>
        <p:sp>
          <p:nvSpPr>
            <p:cNvPr id="24" name="Text Box 47">
              <a:extLst>
                <a:ext uri="{FF2B5EF4-FFF2-40B4-BE49-F238E27FC236}">
                  <a16:creationId xmlns:a16="http://schemas.microsoft.com/office/drawing/2014/main" id="{1BD99E27-6A1C-CB08-470D-8EACB2D65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r>
                <a:rPr lang="en-US" altLang="en-US" sz="1200" i="1" dirty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lang="en-US" altLang="en-US" sz="1200" i="1" baseline="-25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5" name="Group 143">
              <a:extLst>
                <a:ext uri="{FF2B5EF4-FFF2-40B4-BE49-F238E27FC236}">
                  <a16:creationId xmlns:a16="http://schemas.microsoft.com/office/drawing/2014/main" id="{9EDF2742-5E28-BB3C-0BCF-9030342BB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38" name="Freeform 144">
                <a:extLst>
                  <a:ext uri="{FF2B5EF4-FFF2-40B4-BE49-F238E27FC236}">
                    <a16:creationId xmlns:a16="http://schemas.microsoft.com/office/drawing/2014/main" id="{FABDA0E4-26C4-00CC-2F40-623158357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9" name="Rectangle 145">
                <a:extLst>
                  <a:ext uri="{FF2B5EF4-FFF2-40B4-BE49-F238E27FC236}">
                    <a16:creationId xmlns:a16="http://schemas.microsoft.com/office/drawing/2014/main" id="{B0C5CE29-33B7-1542-9DBC-100E851C7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" name="Freeform 146">
                <a:extLst>
                  <a:ext uri="{FF2B5EF4-FFF2-40B4-BE49-F238E27FC236}">
                    <a16:creationId xmlns:a16="http://schemas.microsoft.com/office/drawing/2014/main" id="{450DDEF8-6664-7E1A-1887-9B419A080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1" name="Freeform 147">
                <a:extLst>
                  <a:ext uri="{FF2B5EF4-FFF2-40B4-BE49-F238E27FC236}">
                    <a16:creationId xmlns:a16="http://schemas.microsoft.com/office/drawing/2014/main" id="{0B8F2137-79C8-4CE4-1F72-05F618697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2" name="Rectangle 148">
                <a:extLst>
                  <a:ext uri="{FF2B5EF4-FFF2-40B4-BE49-F238E27FC236}">
                    <a16:creationId xmlns:a16="http://schemas.microsoft.com/office/drawing/2014/main" id="{ED9F02D3-4A13-016F-BE35-4735EFBAD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3" name="Group 149">
                <a:extLst>
                  <a:ext uri="{FF2B5EF4-FFF2-40B4-BE49-F238E27FC236}">
                    <a16:creationId xmlns:a16="http://schemas.microsoft.com/office/drawing/2014/main" id="{52DB65D5-4F5D-CFF2-882B-1B335AB638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8" name="AutoShape 150">
                  <a:extLst>
                    <a:ext uri="{FF2B5EF4-FFF2-40B4-BE49-F238E27FC236}">
                      <a16:creationId xmlns:a16="http://schemas.microsoft.com/office/drawing/2014/main" id="{5265650E-9277-4BEA-8012-52383D037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9" name="AutoShape 151">
                  <a:extLst>
                    <a:ext uri="{FF2B5EF4-FFF2-40B4-BE49-F238E27FC236}">
                      <a16:creationId xmlns:a16="http://schemas.microsoft.com/office/drawing/2014/main" id="{F8AC4968-614A-FCB7-E52C-F1DA187CEB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44" name="Rectangle 152">
                <a:extLst>
                  <a:ext uri="{FF2B5EF4-FFF2-40B4-BE49-F238E27FC236}">
                    <a16:creationId xmlns:a16="http://schemas.microsoft.com/office/drawing/2014/main" id="{9936C5FB-B225-5C92-A58D-F019DDDAB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5" name="Group 153">
                <a:extLst>
                  <a:ext uri="{FF2B5EF4-FFF2-40B4-BE49-F238E27FC236}">
                    <a16:creationId xmlns:a16="http://schemas.microsoft.com/office/drawing/2014/main" id="{3E480F25-3DFC-E847-E4B0-856EB54097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6" name="AutoShape 154">
                  <a:extLst>
                    <a:ext uri="{FF2B5EF4-FFF2-40B4-BE49-F238E27FC236}">
                      <a16:creationId xmlns:a16="http://schemas.microsoft.com/office/drawing/2014/main" id="{14C0D6BD-21C5-FCA7-2817-89E57C1474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7" name="AutoShape 155">
                  <a:extLst>
                    <a:ext uri="{FF2B5EF4-FFF2-40B4-BE49-F238E27FC236}">
                      <a16:creationId xmlns:a16="http://schemas.microsoft.com/office/drawing/2014/main" id="{F61720E4-67D7-BEDA-279A-854229D602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46" name="Rectangle 156">
                <a:extLst>
                  <a:ext uri="{FF2B5EF4-FFF2-40B4-BE49-F238E27FC236}">
                    <a16:creationId xmlns:a16="http://schemas.microsoft.com/office/drawing/2014/main" id="{7F173617-0E2A-89EA-5DC0-4F0150378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7" name="Rectangle 157">
                <a:extLst>
                  <a:ext uri="{FF2B5EF4-FFF2-40B4-BE49-F238E27FC236}">
                    <a16:creationId xmlns:a16="http://schemas.microsoft.com/office/drawing/2014/main" id="{20742D60-31F3-E669-5A75-B6BAE78C9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8" name="Group 158">
                <a:extLst>
                  <a:ext uri="{FF2B5EF4-FFF2-40B4-BE49-F238E27FC236}">
                    <a16:creationId xmlns:a16="http://schemas.microsoft.com/office/drawing/2014/main" id="{5B7BD2A6-2906-8271-DF14-5E3A79FEF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4" name="AutoShape 159">
                  <a:extLst>
                    <a:ext uri="{FF2B5EF4-FFF2-40B4-BE49-F238E27FC236}">
                      <a16:creationId xmlns:a16="http://schemas.microsoft.com/office/drawing/2014/main" id="{88B96D24-36C1-D641-170B-788E28BEA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5" name="AutoShape 160">
                  <a:extLst>
                    <a:ext uri="{FF2B5EF4-FFF2-40B4-BE49-F238E27FC236}">
                      <a16:creationId xmlns:a16="http://schemas.microsoft.com/office/drawing/2014/main" id="{33328B6D-63EA-BAB3-A7B3-3323C4EA0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49" name="Freeform 161">
                <a:extLst>
                  <a:ext uri="{FF2B5EF4-FFF2-40B4-BE49-F238E27FC236}">
                    <a16:creationId xmlns:a16="http://schemas.microsoft.com/office/drawing/2014/main" id="{0C79BD72-28AC-BCC5-65F3-9BD37E3A6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50" name="Group 162">
                <a:extLst>
                  <a:ext uri="{FF2B5EF4-FFF2-40B4-BE49-F238E27FC236}">
                    <a16:creationId xmlns:a16="http://schemas.microsoft.com/office/drawing/2014/main" id="{0F7A293B-F1A2-F141-D5B1-17B789EC1C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2" name="AutoShape 163">
                  <a:extLst>
                    <a:ext uri="{FF2B5EF4-FFF2-40B4-BE49-F238E27FC236}">
                      <a16:creationId xmlns:a16="http://schemas.microsoft.com/office/drawing/2014/main" id="{9460D08A-A908-C7B6-2EE8-639C9A396F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" name="AutoShape 164">
                  <a:extLst>
                    <a:ext uri="{FF2B5EF4-FFF2-40B4-BE49-F238E27FC236}">
                      <a16:creationId xmlns:a16="http://schemas.microsoft.com/office/drawing/2014/main" id="{81F07468-86ED-B7F2-B158-A5ACF1998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51" name="Rectangle 165">
                <a:extLst>
                  <a:ext uri="{FF2B5EF4-FFF2-40B4-BE49-F238E27FC236}">
                    <a16:creationId xmlns:a16="http://schemas.microsoft.com/office/drawing/2014/main" id="{3F17E756-5834-502B-210A-4A2C77CB6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2" name="Freeform 166">
                <a:extLst>
                  <a:ext uri="{FF2B5EF4-FFF2-40B4-BE49-F238E27FC236}">
                    <a16:creationId xmlns:a16="http://schemas.microsoft.com/office/drawing/2014/main" id="{AFA9FD2C-613C-7E8B-4B22-D03FAF6EF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3" name="Freeform 167">
                <a:extLst>
                  <a:ext uri="{FF2B5EF4-FFF2-40B4-BE49-F238E27FC236}">
                    <a16:creationId xmlns:a16="http://schemas.microsoft.com/office/drawing/2014/main" id="{85156C5A-E255-9EA0-9FAA-9393919BD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4" name="Oval 168">
                <a:extLst>
                  <a:ext uri="{FF2B5EF4-FFF2-40B4-BE49-F238E27FC236}">
                    <a16:creationId xmlns:a16="http://schemas.microsoft.com/office/drawing/2014/main" id="{F800EBDB-5B60-4F79-BD3B-8448EEE5F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Freeform 169">
                <a:extLst>
                  <a:ext uri="{FF2B5EF4-FFF2-40B4-BE49-F238E27FC236}">
                    <a16:creationId xmlns:a16="http://schemas.microsoft.com/office/drawing/2014/main" id="{4FD95FE1-E11E-5AD7-1199-8CF85C3FE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" name="AutoShape 170">
                <a:extLst>
                  <a:ext uri="{FF2B5EF4-FFF2-40B4-BE49-F238E27FC236}">
                    <a16:creationId xmlns:a16="http://schemas.microsoft.com/office/drawing/2014/main" id="{FD26C111-7FE9-03AE-CA60-7A9394AAD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" name="AutoShape 171">
                <a:extLst>
                  <a:ext uri="{FF2B5EF4-FFF2-40B4-BE49-F238E27FC236}">
                    <a16:creationId xmlns:a16="http://schemas.microsoft.com/office/drawing/2014/main" id="{AFBBA356-FE41-0691-AF2C-79917E4B0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Oval 172">
                <a:extLst>
                  <a:ext uri="{FF2B5EF4-FFF2-40B4-BE49-F238E27FC236}">
                    <a16:creationId xmlns:a16="http://schemas.microsoft.com/office/drawing/2014/main" id="{0673E444-92A0-6122-B18A-07DEE8D3E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Oval 173">
                <a:extLst>
                  <a:ext uri="{FF2B5EF4-FFF2-40B4-BE49-F238E27FC236}">
                    <a16:creationId xmlns:a16="http://schemas.microsoft.com/office/drawing/2014/main" id="{B23190D1-9CB2-897F-CC7A-0EFBEF704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</a:pPr>
                <a:endParaRPr lang="en-US" altLang="en-US" sz="1500" dirty="0">
                  <a:solidFill>
                    <a:srgbClr val="FF0000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60" name="Oval 174">
                <a:extLst>
                  <a:ext uri="{FF2B5EF4-FFF2-40B4-BE49-F238E27FC236}">
                    <a16:creationId xmlns:a16="http://schemas.microsoft.com/office/drawing/2014/main" id="{1B6C90F4-92F9-0B85-BFC4-F0E40ACE8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" name="Rectangle 175">
                <a:extLst>
                  <a:ext uri="{FF2B5EF4-FFF2-40B4-BE49-F238E27FC236}">
                    <a16:creationId xmlns:a16="http://schemas.microsoft.com/office/drawing/2014/main" id="{366E4642-4E70-DCFC-EF79-917690943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6" name="Group 176">
              <a:extLst>
                <a:ext uri="{FF2B5EF4-FFF2-40B4-BE49-F238E27FC236}">
                  <a16:creationId xmlns:a16="http://schemas.microsoft.com/office/drawing/2014/main" id="{A1ECF9F9-68FD-F2E3-38CE-E842C22B40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36" name="Picture 177" descr="desktop_computer_stylized_medium">
                <a:extLst>
                  <a:ext uri="{FF2B5EF4-FFF2-40B4-BE49-F238E27FC236}">
                    <a16:creationId xmlns:a16="http://schemas.microsoft.com/office/drawing/2014/main" id="{DB8B09FD-A553-415B-D1CA-D90DF42DFF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Freeform 178">
                <a:extLst>
                  <a:ext uri="{FF2B5EF4-FFF2-40B4-BE49-F238E27FC236}">
                    <a16:creationId xmlns:a16="http://schemas.microsoft.com/office/drawing/2014/main" id="{C8EAA9B2-FEB1-7374-A0BC-DDCBAE2B28F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7" name="Group 179">
              <a:extLst>
                <a:ext uri="{FF2B5EF4-FFF2-40B4-BE49-F238E27FC236}">
                  <a16:creationId xmlns:a16="http://schemas.microsoft.com/office/drawing/2014/main" id="{D486AE89-D2FC-D566-47DD-9F638D589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34" name="Picture 180" descr="desktop_computer_stylized_medium">
                <a:extLst>
                  <a:ext uri="{FF2B5EF4-FFF2-40B4-BE49-F238E27FC236}">
                    <a16:creationId xmlns:a16="http://schemas.microsoft.com/office/drawing/2014/main" id="{F76FD352-CA13-31D6-1332-44E9DF08CA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Freeform 181">
                <a:extLst>
                  <a:ext uri="{FF2B5EF4-FFF2-40B4-BE49-F238E27FC236}">
                    <a16:creationId xmlns:a16="http://schemas.microsoft.com/office/drawing/2014/main" id="{4082D9B7-B0C6-F6D8-E458-CC1AB85A8B9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39936C8D-258F-0F1F-DADF-C4BAE1DF2A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32" name="Picture 183" descr="desktop_computer_stylized_medium">
                <a:extLst>
                  <a:ext uri="{FF2B5EF4-FFF2-40B4-BE49-F238E27FC236}">
                    <a16:creationId xmlns:a16="http://schemas.microsoft.com/office/drawing/2014/main" id="{032A17F0-0E76-048E-5C40-C2ACCF6AC4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" name="Freeform 184">
                <a:extLst>
                  <a:ext uri="{FF2B5EF4-FFF2-40B4-BE49-F238E27FC236}">
                    <a16:creationId xmlns:a16="http://schemas.microsoft.com/office/drawing/2014/main" id="{D4022C23-18E8-A78A-20E6-0656F38D2A8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9" name="Group 185">
              <a:extLst>
                <a:ext uri="{FF2B5EF4-FFF2-40B4-BE49-F238E27FC236}">
                  <a16:creationId xmlns:a16="http://schemas.microsoft.com/office/drawing/2014/main" id="{8DBBCB15-0753-530F-E571-512F5A7A9E9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30" name="Picture 186" descr="desktop_computer_stylized_medium">
                <a:extLst>
                  <a:ext uri="{FF2B5EF4-FFF2-40B4-BE49-F238E27FC236}">
                    <a16:creationId xmlns:a16="http://schemas.microsoft.com/office/drawing/2014/main" id="{92A7E53D-52C7-67A4-D215-4A3D73C634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Freeform 187">
                <a:extLst>
                  <a:ext uri="{FF2B5EF4-FFF2-40B4-BE49-F238E27FC236}">
                    <a16:creationId xmlns:a16="http://schemas.microsoft.com/office/drawing/2014/main" id="{8609770D-35B1-CB19-44A1-FE52ACA650B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91B39B1B-CE40-1B1A-D005-993BCF6B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465" y="3248259"/>
            <a:ext cx="3350216" cy="83665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4DD8B60-87C0-12F9-0E0F-FFA6C4365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065" y="4528531"/>
            <a:ext cx="4252695" cy="86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2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28586</TotalTime>
  <Words>1886</Words>
  <Application>Microsoft Office PowerPoint</Application>
  <PresentationFormat>On-screen Show (4:3)</PresentationFormat>
  <Paragraphs>431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ＭＳ Ｐゴシック</vt:lpstr>
      <vt:lpstr>Arial</vt:lpstr>
      <vt:lpstr>Arial Narrow</vt:lpstr>
      <vt:lpstr>Calibri</vt:lpstr>
      <vt:lpstr>Calibri Light</vt:lpstr>
      <vt:lpstr>Comic Sans MS</vt:lpstr>
      <vt:lpstr>Courier New</vt:lpstr>
      <vt:lpstr>Gill Sans MT</vt:lpstr>
      <vt:lpstr>Times New Roman</vt:lpstr>
      <vt:lpstr>Wingdings</vt:lpstr>
      <vt:lpstr>Office Theme</vt:lpstr>
      <vt:lpstr>2_Office Theme</vt:lpstr>
      <vt:lpstr>1_Office Theme</vt:lpstr>
      <vt:lpstr>EEL 4781 Computer Communication Networks Chapter 2-4: Application Layer</vt:lpstr>
      <vt:lpstr>Agenda </vt:lpstr>
      <vt:lpstr>Video Streaming and CDN</vt:lpstr>
      <vt:lpstr>Video Streaming and CDN</vt:lpstr>
      <vt:lpstr>Video Streaming and CDN</vt:lpstr>
      <vt:lpstr>Video Streaming and CDN</vt:lpstr>
      <vt:lpstr>Video Streaming and CDN</vt:lpstr>
      <vt:lpstr>Agenda </vt:lpstr>
      <vt:lpstr>Socket programming </vt:lpstr>
      <vt:lpstr>PowerPoint Presentation</vt:lpstr>
      <vt:lpstr>Example app: UDP client</vt:lpstr>
      <vt:lpstr>Example app: UDP server</vt:lpstr>
      <vt:lpstr>PowerPoint Presentation</vt:lpstr>
      <vt:lpstr>Example app: TCP client</vt:lpstr>
      <vt:lpstr>Example app: TCP server</vt:lpstr>
      <vt:lpstr>Hw2</vt:lpstr>
      <vt:lpstr>PowerPoint Presentation</vt:lpstr>
      <vt:lpstr>PowerPoint Presentation</vt:lpstr>
      <vt:lpstr>Recap</vt:lpstr>
      <vt:lpstr>Recap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590</cp:revision>
  <dcterms:created xsi:type="dcterms:W3CDTF">2017-06-28T02:53:02Z</dcterms:created>
  <dcterms:modified xsi:type="dcterms:W3CDTF">2025-02-17T22:18:19Z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