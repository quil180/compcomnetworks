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851" r:id="rId1"/>
    <p:sldMasterId id="2147483868" r:id="rId2"/>
  </p:sldMasterIdLst>
  <p:notesMasterIdLst>
    <p:notesMasterId r:id="rId30"/>
  </p:notesMasterIdLst>
  <p:sldIdLst>
    <p:sldId id="256" r:id="rId3"/>
    <p:sldId id="1290" r:id="rId4"/>
    <p:sldId id="1096" r:id="rId5"/>
    <p:sldId id="1203" r:id="rId6"/>
    <p:sldId id="1098" r:id="rId7"/>
    <p:sldId id="1099" r:id="rId8"/>
    <p:sldId id="1100" r:id="rId9"/>
    <p:sldId id="1101" r:id="rId10"/>
    <p:sldId id="1104" r:id="rId11"/>
    <p:sldId id="1108" r:id="rId12"/>
    <p:sldId id="1106" r:id="rId13"/>
    <p:sldId id="1107" r:id="rId14"/>
    <p:sldId id="1110" r:id="rId15"/>
    <p:sldId id="1293" r:id="rId16"/>
    <p:sldId id="1198" r:id="rId17"/>
    <p:sldId id="1124" r:id="rId18"/>
    <p:sldId id="1125" r:id="rId19"/>
    <p:sldId id="1113" r:id="rId20"/>
    <p:sldId id="1199" r:id="rId21"/>
    <p:sldId id="1114" r:id="rId22"/>
    <p:sldId id="1115" r:id="rId23"/>
    <p:sldId id="1116" r:id="rId24"/>
    <p:sldId id="1200" r:id="rId25"/>
    <p:sldId id="1201" r:id="rId26"/>
    <p:sldId id="1117" r:id="rId27"/>
    <p:sldId id="1119" r:id="rId28"/>
    <p:sldId id="989"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26" userDrawn="1">
          <p15:clr>
            <a:srgbClr val="A4A3A4"/>
          </p15:clr>
        </p15:guide>
        <p15:guide id="3" orient="horz" pos="4128" userDrawn="1">
          <p15:clr>
            <a:srgbClr val="A4A3A4"/>
          </p15:clr>
        </p15:guide>
        <p15:guide id="4" orient="horz" pos="2856" userDrawn="1">
          <p15:clr>
            <a:srgbClr val="A4A3A4"/>
          </p15:clr>
        </p15:guide>
        <p15:guide id="5" pos="1152" userDrawn="1">
          <p15:clr>
            <a:srgbClr val="A4A3A4"/>
          </p15:clr>
        </p15:guide>
        <p15:guide id="6" pos="3780" userDrawn="1">
          <p15:clr>
            <a:srgbClr val="A4A3A4"/>
          </p15:clr>
        </p15:guide>
        <p15:guide id="7" pos="17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887128"/>
    <a:srgbClr val="BA9B37"/>
    <a:srgbClr val="FFC904"/>
    <a:srgbClr val="C95B00"/>
    <a:srgbClr val="FF7C00"/>
    <a:srgbClr val="7F7F7F"/>
    <a:srgbClr val="4472C4"/>
    <a:srgbClr val="027D02"/>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C9E7E4-2198-44F9-8279-4349F7E6B02B}" v="9" dt="2026-02-16T14:49:36.7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6" autoAdjust="0"/>
    <p:restoredTop sz="68625" autoAdjust="0"/>
  </p:normalViewPr>
  <p:slideViewPr>
    <p:cSldViewPr snapToGrid="0" snapToObjects="1">
      <p:cViewPr varScale="1">
        <p:scale>
          <a:sx n="73" d="100"/>
          <a:sy n="73" d="100"/>
        </p:scale>
        <p:origin x="2754" y="66"/>
      </p:cViewPr>
      <p:guideLst>
        <p:guide orient="horz" pos="1440"/>
        <p:guide pos="2826"/>
        <p:guide orient="horz" pos="4128"/>
        <p:guide orient="horz" pos="2856"/>
        <p:guide pos="1152"/>
        <p:guide pos="3780"/>
        <p:guide pos="174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Xin" userId="9ff0c946-7f3c-4192-98c1-6be932ce2bce" providerId="ADAL" clId="{756FBF97-58FD-4C5C-9E1D-839527CA400C}"/>
    <pc:docChg chg="undo custSel delSld modSld">
      <pc:chgData name="Xin Xin" userId="9ff0c946-7f3c-4192-98c1-6be932ce2bce" providerId="ADAL" clId="{756FBF97-58FD-4C5C-9E1D-839527CA400C}" dt="2026-02-16T15:12:57.138" v="58" actId="2696"/>
      <pc:docMkLst>
        <pc:docMk/>
      </pc:docMkLst>
      <pc:sldChg chg="modSp del mod">
        <pc:chgData name="Xin Xin" userId="9ff0c946-7f3c-4192-98c1-6be932ce2bce" providerId="ADAL" clId="{756FBF97-58FD-4C5C-9E1D-839527CA400C}" dt="2026-02-16T15:12:57.138" v="58" actId="2696"/>
        <pc:sldMkLst>
          <pc:docMk/>
          <pc:sldMk cId="900481427" sldId="1267"/>
        </pc:sldMkLst>
        <pc:spChg chg="mod">
          <ac:chgData name="Xin Xin" userId="9ff0c946-7f3c-4192-98c1-6be932ce2bce" providerId="ADAL" clId="{756FBF97-58FD-4C5C-9E1D-839527CA400C}" dt="2026-02-16T14:48:56.762" v="46" actId="108"/>
          <ac:spMkLst>
            <pc:docMk/>
            <pc:sldMk cId="900481427" sldId="1267"/>
            <ac:spMk id="2" creationId="{FD851970-46F5-C25B-7D23-915C30FF197A}"/>
          </ac:spMkLst>
        </pc:spChg>
      </pc:sldChg>
      <pc:sldChg chg="del">
        <pc:chgData name="Xin Xin" userId="9ff0c946-7f3c-4192-98c1-6be932ce2bce" providerId="ADAL" clId="{756FBF97-58FD-4C5C-9E1D-839527CA400C}" dt="2026-02-16T15:12:57.138" v="58" actId="2696"/>
        <pc:sldMkLst>
          <pc:docMk/>
          <pc:sldMk cId="97218505" sldId="1268"/>
        </pc:sldMkLst>
      </pc:sldChg>
      <pc:sldChg chg="del">
        <pc:chgData name="Xin Xin" userId="9ff0c946-7f3c-4192-98c1-6be932ce2bce" providerId="ADAL" clId="{756FBF97-58FD-4C5C-9E1D-839527CA400C}" dt="2026-02-16T15:12:57.138" v="58" actId="2696"/>
        <pc:sldMkLst>
          <pc:docMk/>
          <pc:sldMk cId="373959725" sldId="1269"/>
        </pc:sldMkLst>
      </pc:sldChg>
      <pc:sldChg chg="del">
        <pc:chgData name="Xin Xin" userId="9ff0c946-7f3c-4192-98c1-6be932ce2bce" providerId="ADAL" clId="{756FBF97-58FD-4C5C-9E1D-839527CA400C}" dt="2026-02-16T15:12:57.138" v="58" actId="2696"/>
        <pc:sldMkLst>
          <pc:docMk/>
          <pc:sldMk cId="738796930" sldId="1294"/>
        </pc:sldMkLst>
      </pc:sldChg>
      <pc:sldChg chg="modSp del mod">
        <pc:chgData name="Xin Xin" userId="9ff0c946-7f3c-4192-98c1-6be932ce2bce" providerId="ADAL" clId="{756FBF97-58FD-4C5C-9E1D-839527CA400C}" dt="2026-02-16T15:12:57.138" v="58" actId="2696"/>
        <pc:sldMkLst>
          <pc:docMk/>
          <pc:sldMk cId="3049886784" sldId="1295"/>
        </pc:sldMkLst>
        <pc:spChg chg="mod">
          <ac:chgData name="Xin Xin" userId="9ff0c946-7f3c-4192-98c1-6be932ce2bce" providerId="ADAL" clId="{756FBF97-58FD-4C5C-9E1D-839527CA400C}" dt="2026-02-16T14:49:36.741" v="57"/>
          <ac:spMkLst>
            <pc:docMk/>
            <pc:sldMk cId="3049886784" sldId="1295"/>
            <ac:spMk id="2" creationId="{5A31A593-5B49-CAF1-09EE-49EC34FD912F}"/>
          </ac:spMkLst>
        </pc:spChg>
      </pc:sldChg>
      <pc:sldChg chg="modSp del mod">
        <pc:chgData name="Xin Xin" userId="9ff0c946-7f3c-4192-98c1-6be932ce2bce" providerId="ADAL" clId="{756FBF97-58FD-4C5C-9E1D-839527CA400C}" dt="2026-02-16T15:12:57.138" v="58" actId="2696"/>
        <pc:sldMkLst>
          <pc:docMk/>
          <pc:sldMk cId="2977975465" sldId="1296"/>
        </pc:sldMkLst>
        <pc:spChg chg="mod">
          <ac:chgData name="Xin Xin" userId="9ff0c946-7f3c-4192-98c1-6be932ce2bce" providerId="ADAL" clId="{756FBF97-58FD-4C5C-9E1D-839527CA400C}" dt="2026-02-16T14:47:20.780" v="35"/>
          <ac:spMkLst>
            <pc:docMk/>
            <pc:sldMk cId="2977975465" sldId="1296"/>
            <ac:spMk id="2" creationId="{633721A9-3E3F-F0BC-5B89-80C20B4061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21601-8810-E544-9D11-46F00C4F0696}" type="datetimeFigureOut">
              <a:rPr lang="en-US" smtClean="0"/>
              <a:t>2/20/2026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B5A7F-9579-BB49-881B-29290E49739F}" type="slidenum">
              <a:rPr lang="en-US" smtClean="0"/>
              <a:t>‹#›</a:t>
            </a:fld>
            <a:endParaRPr lang="en-US"/>
          </a:p>
        </p:txBody>
      </p:sp>
    </p:spTree>
    <p:extLst>
      <p:ext uri="{BB962C8B-B14F-4D97-AF65-F5344CB8AC3E}">
        <p14:creationId xmlns:p14="http://schemas.microsoft.com/office/powerpoint/2010/main" val="109798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F7B5A7F-9579-BB49-881B-29290E49739F}" type="slidenum">
              <a:rPr lang="en-US" smtClean="0"/>
              <a:t>1</a:t>
            </a:fld>
            <a:endParaRPr lang="en-US"/>
          </a:p>
        </p:txBody>
      </p:sp>
    </p:spTree>
    <p:extLst>
      <p:ext uri="{BB962C8B-B14F-4D97-AF65-F5344CB8AC3E}">
        <p14:creationId xmlns:p14="http://schemas.microsoft.com/office/powerpoint/2010/main" val="610059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2</a:t>
            </a:fld>
            <a:endParaRPr lang="en-US"/>
          </a:p>
        </p:txBody>
      </p:sp>
    </p:spTree>
    <p:extLst>
      <p:ext uri="{BB962C8B-B14F-4D97-AF65-F5344CB8AC3E}">
        <p14:creationId xmlns:p14="http://schemas.microsoft.com/office/powerpoint/2010/main" val="572294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A-to-B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last A-to-B 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3626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SampleRTT is taken.</a:t>
            </a:r>
          </a:p>
          <a:p>
            <a:r>
              <a:rPr lang="en-US" dirty="0"/>
              <a:t>The process is knows as an exponentially weighted moving average, shown by the equation here.</a:t>
            </a:r>
          </a:p>
          <a:p>
            <a:r>
              <a:rPr lang="en-US" dirty="0"/>
              <a:t>&lt;say it&gt;</a:t>
            </a:r>
          </a:p>
          <a:p>
            <a:r>
              <a:rPr lang="en-US" dirty="0"/>
              <a:t>Where alpha reflects the influence of the most recent measurements on the estimated RTT; a typical value of alpha used in implementations is .125</a:t>
            </a:r>
          </a:p>
          <a:p>
            <a:endParaRPr lang="en-US" dirty="0"/>
          </a:p>
          <a:p>
            <a:r>
              <a:rPr lang="en-US" dirty="0"/>
              <a:t>The graph at the bottom show measured RTTs between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435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Acknowledging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transmitted and the ACK is lost, and the TCP timeout mechanism results in another copy of being transmitted and then re-ACKed a the sender</a:t>
            </a:r>
          </a:p>
          <a:p>
            <a:endParaRPr lang="en-US" dirty="0"/>
          </a:p>
          <a:p>
            <a:r>
              <a:rPr lang="en-US" dirty="0"/>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14</a:t>
            </a:fld>
            <a:endParaRPr lang="en-US"/>
          </a:p>
        </p:txBody>
      </p:sp>
    </p:spTree>
    <p:extLst>
      <p:ext uri="{BB962C8B-B14F-4D97-AF65-F5344CB8AC3E}">
        <p14:creationId xmlns:p14="http://schemas.microsoft.com/office/powerpoint/2010/main" val="930590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8057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328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0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56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341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other TCP topic we’ll want to consider here is that of “connection  management”</a:t>
            </a:r>
          </a:p>
          <a:p>
            <a:endParaRPr lang="en-US" dirty="0"/>
          </a:p>
          <a:p>
            <a:pPr marL="0" indent="0">
              <a:buFont typeface="Arial" panose="020B0604020202020204" pitchFamily="34" charset="0"/>
              <a:buNone/>
            </a:pPr>
            <a:r>
              <a:rPr lang="en-US" dirty="0"/>
              <a:t>The TCP sender and receiver have a number of pieces of shared state that they must establish before actually communicating</a:t>
            </a:r>
          </a:p>
          <a:p>
            <a:pPr marL="171450" indent="-171450">
              <a:buFont typeface="Arial" panose="020B0604020202020204" pitchFamily="34" charset="0"/>
              <a:buChar char="•"/>
            </a:pPr>
            <a:r>
              <a:rPr lang="en-US" dirty="0"/>
              <a:t>FIRST they must both agree that they WANT to communicate with each other</a:t>
            </a:r>
          </a:p>
          <a:p>
            <a:pPr marL="171450" indent="-171450">
              <a:buFont typeface="Arial" panose="020B0604020202020204" pitchFamily="34" charset="0"/>
              <a:buChar char="•"/>
            </a:pPr>
            <a:r>
              <a:rPr lang="en-US" dirty="0"/>
              <a:t>Secondly there are connection parameters – the initial sequence number and the initial receiver-advertised bufferspace that they’ll want to agree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done via a so-called handshake protocol – the client reaching our to the server, and the server answering back.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And before diving into the TCP handshake protocol, let’s first consider the problem of handshaking, of establishing shared state.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6570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Here’s an example of a two way handshake.  Alice reaches out to Bob and say’s “let’s talk” and Bob says OK, and they start their conversation</a:t>
            </a:r>
          </a:p>
          <a:p>
            <a:endParaRPr lang="en-US" dirty="0"/>
          </a:p>
          <a:p>
            <a:r>
              <a:rPr lang="en-US" dirty="0"/>
              <a:t>For a network protocol, the equivalent protocol would be a client sending a “request connection” message saying ”let’s talk, the initial sequence number is x”</a:t>
            </a:r>
          </a:p>
          <a:p>
            <a:r>
              <a:rPr lang="en-US" dirty="0"/>
              <a:t>And the server would respond with a message ”I accept your connect x”</a:t>
            </a:r>
          </a:p>
          <a:p>
            <a:endParaRPr lang="en-US" dirty="0"/>
          </a:p>
          <a:p>
            <a:r>
              <a:rPr lang="en-US" dirty="0"/>
              <a:t>And the question we want to ask ourselves is &lt;talk through&gt;</a:t>
            </a:r>
          </a:p>
          <a:p>
            <a:endParaRPr lang="en-US" dirty="0"/>
          </a:p>
          <a:p>
            <a:r>
              <a:rPr lang="en-US" dirty="0"/>
              <a:t>Will this work?  Let’s look at a few scenarios…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4249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601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8906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70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three way handshake, that operates as follows</a:t>
            </a:r>
          </a:p>
          <a:p>
            <a:r>
              <a:rPr lang="en-US" dirty="0"/>
              <a:t> </a:t>
            </a:r>
          </a:p>
          <a:p>
            <a:r>
              <a:rPr lang="en-US" dirty="0"/>
              <a:t>Let’s say the client and server both create a TCP socket as we learned about in Chapter 2 and enter the LISTEN state</a:t>
            </a:r>
          </a:p>
          <a:p>
            <a:endParaRPr lang="en-US" dirty="0"/>
          </a:p>
          <a:p>
            <a:r>
              <a:rPr lang="en-US" dirty="0"/>
              <a:t>The client then connects to the server sending a SYN message with a sequence number x (SYN Message is an TCP Segment with SYN but set in the header – you might want to go back and review the TCP segment format!)</a:t>
            </a:r>
          </a:p>
          <a:p>
            <a:endParaRPr lang="en-US" dirty="0"/>
          </a:p>
          <a:p>
            <a:r>
              <a:rPr lang="en-US" dirty="0"/>
              <a:t>The server is waiting for a connection, and receives the SYN message enters the SYN received state (NOT the established state and sends a SYN ACK message back.</a:t>
            </a:r>
          </a:p>
          <a:p>
            <a:endParaRPr lang="en-US" dirty="0"/>
          </a:p>
          <a:p>
            <a:r>
              <a:rPr lang="en-US" dirty="0"/>
              <a:t>Finally the client sends an ACK message to the server, and when the server receiver this enters the Established state.  This is when the application process would see the return from the wait on the  socket accept() call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564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185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525932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36525"/>
            <a:ext cx="7250430" cy="772796"/>
          </a:xfrm>
        </p:spPr>
        <p:txBody>
          <a:bodyPr>
            <a:normAutofit/>
          </a:bodyPr>
          <a:lstStyle>
            <a:lvl1pPr>
              <a:defRPr sz="4000" b="1">
                <a:latin typeface="+mj-lt"/>
              </a:defRPr>
            </a:lvl1pPr>
          </a:lstStyle>
          <a:p>
            <a:r>
              <a:rPr lang="en-US" dirty="0"/>
              <a:t>Click to edit Master title style</a:t>
            </a:r>
          </a:p>
        </p:txBody>
      </p:sp>
      <p:sp>
        <p:nvSpPr>
          <p:cNvPr id="3" name="Content Placeholder 2"/>
          <p:cNvSpPr>
            <a:spLocks noGrp="1"/>
          </p:cNvSpPr>
          <p:nvPr>
            <p:ph idx="1"/>
          </p:nvPr>
        </p:nvSpPr>
        <p:spPr>
          <a:xfrm>
            <a:off x="628650" y="1498603"/>
            <a:ext cx="7886700" cy="579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BC41B36-6335-F546-90B9-E2121371E10D}" type="slidenum">
              <a:rPr lang="en-US" smtClean="0"/>
              <a:pPr/>
              <a:t>‹#›</a:t>
            </a:fld>
            <a:endParaRPr lang="en-US" dirty="0"/>
          </a:p>
        </p:txBody>
      </p:sp>
      <p:cxnSp>
        <p:nvCxnSpPr>
          <p:cNvPr id="7" name="Straight Connector 6">
            <a:extLst>
              <a:ext uri="{FF2B5EF4-FFF2-40B4-BE49-F238E27FC236}">
                <a16:creationId xmlns:a16="http://schemas.microsoft.com/office/drawing/2014/main" id="{3961E220-D336-D8EA-6239-8C05D2C08EBC}"/>
              </a:ext>
            </a:extLst>
          </p:cNvPr>
          <p:cNvCxnSpPr/>
          <p:nvPr userDrawn="1"/>
        </p:nvCxnSpPr>
        <p:spPr>
          <a:xfrm>
            <a:off x="9525" y="955002"/>
            <a:ext cx="9121140" cy="0"/>
          </a:xfrm>
          <a:prstGeom prst="line">
            <a:avLst/>
          </a:prstGeom>
          <a:ln w="38100">
            <a:solidFill>
              <a:srgbClr val="C95B00"/>
            </a:solidFill>
          </a:ln>
        </p:spPr>
        <p:style>
          <a:lnRef idx="1">
            <a:schemeClr val="accent1"/>
          </a:lnRef>
          <a:fillRef idx="0">
            <a:schemeClr val="accent1"/>
          </a:fillRef>
          <a:effectRef idx="0">
            <a:schemeClr val="accent1"/>
          </a:effectRef>
          <a:fontRef idx="minor">
            <a:schemeClr val="tx1"/>
          </a:fontRef>
        </p:style>
      </p:cxnSp>
      <p:pic>
        <p:nvPicPr>
          <p:cNvPr id="2050" name="Picture 2" descr="Home - UCF College of Engineering and Computer Science">
            <a:extLst>
              <a:ext uri="{FF2B5EF4-FFF2-40B4-BE49-F238E27FC236}">
                <a16:creationId xmlns:a16="http://schemas.microsoft.com/office/drawing/2014/main" id="{9F1B4091-87B5-7363-19C4-89F41293F64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84252" b="28112"/>
          <a:stretch/>
        </p:blipFill>
        <p:spPr bwMode="auto">
          <a:xfrm>
            <a:off x="8238773" y="84380"/>
            <a:ext cx="707107" cy="772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04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28017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693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7/14/2017</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35985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7/14/2017</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57597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7/14/2017</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50762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621757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1389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000077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7813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2107238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628650" y="1724027"/>
            <a:ext cx="78867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3802626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125490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038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7/14/2017</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41B36-6335-F546-90B9-E2121371E10D}" type="slidenum">
              <a:rPr lang="en-US" smtClean="0"/>
              <a:t>‹#›</a:t>
            </a:fld>
            <a:endParaRPr lang="en-US"/>
          </a:p>
        </p:txBody>
      </p:sp>
    </p:spTree>
    <p:extLst>
      <p:ext uri="{BB962C8B-B14F-4D97-AF65-F5344CB8AC3E}">
        <p14:creationId xmlns:p14="http://schemas.microsoft.com/office/powerpoint/2010/main" val="3304735552"/>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628650" y="451821"/>
            <a:ext cx="78867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Introduction: 1-</a:t>
            </a:r>
            <a:fld id="{C4204591-24BD-A542-B9D5-F8D8A88D2FEE}" type="slidenum">
              <a:rPr lang="en-US" smtClean="0"/>
              <a:pPr/>
              <a:t>‹#›</a:t>
            </a:fld>
            <a:endParaRPr lang="en-US"/>
          </a:p>
        </p:txBody>
      </p:sp>
    </p:spTree>
    <p:extLst>
      <p:ext uri="{BB962C8B-B14F-4D97-AF65-F5344CB8AC3E}">
        <p14:creationId xmlns:p14="http://schemas.microsoft.com/office/powerpoint/2010/main" val="3788768604"/>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Lst>
  <p:hf hdr="0" ftr="0" dt="0"/>
  <p:txStyles>
    <p:titleStyle>
      <a:lvl1pPr algn="l" defTabSz="685800" rtl="0" eaLnBrk="1" latinLnBrk="0" hangingPunct="1">
        <a:lnSpc>
          <a:spcPct val="90000"/>
        </a:lnSpc>
        <a:spcBef>
          <a:spcPct val="0"/>
        </a:spcBef>
        <a:buNone/>
        <a:defRPr sz="3000" b="1" kern="1200">
          <a:solidFill>
            <a:srgbClr val="0000A3"/>
          </a:solidFill>
          <a:latin typeface="+mn-lt"/>
          <a:ea typeface="+mj-ea"/>
          <a:cs typeface="+mj-cs"/>
        </a:defRPr>
      </a:lvl1pPr>
    </p:titleStyle>
    <p:bodyStyle>
      <a:lvl1pPr marL="264319" indent="-166688" algn="l" defTabSz="685800" rtl="0" eaLnBrk="1" latinLnBrk="0" hangingPunct="1">
        <a:lnSpc>
          <a:spcPct val="90000"/>
        </a:lnSpc>
        <a:spcBef>
          <a:spcPts val="750"/>
        </a:spcBef>
        <a:buClr>
          <a:srgbClr val="0000A3"/>
        </a:buClr>
        <a:buFont typeface="Wingdings" pitchFamily="2" charset="2"/>
        <a:buChar char="§"/>
        <a:tabLst/>
        <a:defRPr sz="2100" kern="1200">
          <a:solidFill>
            <a:schemeClr val="tx1"/>
          </a:solidFill>
          <a:latin typeface="+mn-lt"/>
          <a:ea typeface="+mn-ea"/>
          <a:cs typeface="+mn-cs"/>
        </a:defRPr>
      </a:lvl1pPr>
      <a:lvl2pPr marL="521494" indent="-173831" algn="l" defTabSz="685800" rtl="0" eaLnBrk="1" latinLnBrk="0" hangingPunct="1">
        <a:lnSpc>
          <a:spcPct val="90000"/>
        </a:lnSpc>
        <a:spcBef>
          <a:spcPts val="375"/>
        </a:spcBef>
        <a:buClr>
          <a:srgbClr val="0000A8"/>
        </a:buClr>
        <a:buFont typeface="Arial" panose="020B0604020202020204" pitchFamily="34" charset="0"/>
        <a:buChar char="•"/>
        <a:tabLst/>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cse.wustl.edu/~jain/" TargetMode="External"/><Relationship Id="rId2" Type="http://schemas.openxmlformats.org/officeDocument/2006/relationships/hyperlink" Target="https://www.ece.ucf.edu/~yuksem/teaching/EEL-4781-Fall-2020.html"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F67056-1534-47E2-83BE-08A2B9441FDC}"/>
              </a:ext>
            </a:extLst>
          </p:cNvPr>
          <p:cNvSpPr/>
          <p:nvPr/>
        </p:nvSpPr>
        <p:spPr>
          <a:xfrm>
            <a:off x="0" y="1951615"/>
            <a:ext cx="9144000" cy="1750979"/>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2336103"/>
            <a:ext cx="9144000" cy="1014108"/>
          </a:xfrm>
        </p:spPr>
        <p:txBody>
          <a:bodyPr>
            <a:noAutofit/>
          </a:bodyPr>
          <a:lstStyle/>
          <a:p>
            <a:r>
              <a:rPr lang="en-US" altLang="zh-CN" sz="3600" dirty="0">
                <a:solidFill>
                  <a:schemeClr val="bg1"/>
                </a:solidFill>
                <a:latin typeface="+mn-lt"/>
              </a:rPr>
              <a:t>EEL 4781 Computer Communication Networks</a:t>
            </a:r>
            <a:br>
              <a:rPr lang="en-US" altLang="zh-CN" sz="4800" dirty="0">
                <a:solidFill>
                  <a:schemeClr val="bg1"/>
                </a:solidFill>
                <a:latin typeface="+mn-lt"/>
              </a:rPr>
            </a:br>
            <a:r>
              <a:rPr lang="en-US" altLang="zh-CN" sz="3200">
                <a:solidFill>
                  <a:schemeClr val="bg1"/>
                </a:solidFill>
                <a:latin typeface="+mn-lt"/>
              </a:rPr>
              <a:t>Chapter 3-3: </a:t>
            </a:r>
            <a:r>
              <a:rPr lang="en-US" altLang="zh-CN" sz="3200" dirty="0">
                <a:solidFill>
                  <a:schemeClr val="bg1"/>
                </a:solidFill>
                <a:latin typeface="+mn-lt"/>
              </a:rPr>
              <a:t>Transport Layer</a:t>
            </a:r>
            <a:endParaRPr lang="en-US" sz="4800" dirty="0">
              <a:solidFill>
                <a:schemeClr val="bg1"/>
              </a:solidFill>
              <a:latin typeface="+mn-lt"/>
            </a:endParaRPr>
          </a:p>
        </p:txBody>
      </p:sp>
      <p:sp>
        <p:nvSpPr>
          <p:cNvPr id="3" name="Subtitle 2"/>
          <p:cNvSpPr>
            <a:spLocks noGrp="1"/>
          </p:cNvSpPr>
          <p:nvPr>
            <p:ph type="subTitle" idx="1"/>
          </p:nvPr>
        </p:nvSpPr>
        <p:spPr>
          <a:xfrm>
            <a:off x="1287026" y="4647913"/>
            <a:ext cx="6858000" cy="581315"/>
          </a:xfrm>
        </p:spPr>
        <p:txBody>
          <a:bodyPr wrap="none">
            <a:noAutofit/>
          </a:bodyPr>
          <a:lstStyle/>
          <a:p>
            <a:r>
              <a:rPr lang="en-US" sz="2400" b="1" dirty="0"/>
              <a:t>Xin </a:t>
            </a:r>
            <a:r>
              <a:rPr lang="en-US" sz="2400" b="1" dirty="0" err="1"/>
              <a:t>Xin</a:t>
            </a:r>
            <a:endParaRPr lang="en-US" sz="2400" b="1" dirty="0"/>
          </a:p>
          <a:p>
            <a:r>
              <a:rPr lang="en-US" b="1" dirty="0"/>
              <a:t>Department of Electrical and </a:t>
            </a:r>
            <a:r>
              <a:rPr lang="en-US" altLang="zh-CN" b="1" dirty="0"/>
              <a:t>Computer Engineering</a:t>
            </a:r>
          </a:p>
          <a:p>
            <a:r>
              <a:rPr lang="en-US" sz="2400" b="1" dirty="0"/>
              <a:t>University of Central F</a:t>
            </a:r>
            <a:r>
              <a:rPr lang="en-US" b="1" dirty="0"/>
              <a:t>lorida</a:t>
            </a:r>
            <a:endParaRPr lang="en-US" sz="2400" b="1" dirty="0"/>
          </a:p>
        </p:txBody>
      </p:sp>
      <p:sp>
        <p:nvSpPr>
          <p:cNvPr id="10" name="Rectangle 9">
            <a:extLst>
              <a:ext uri="{FF2B5EF4-FFF2-40B4-BE49-F238E27FC236}">
                <a16:creationId xmlns:a16="http://schemas.microsoft.com/office/drawing/2014/main" id="{AC9DF276-5B0A-4972-9653-037F6D8B3C68}"/>
              </a:ext>
            </a:extLst>
          </p:cNvPr>
          <p:cNvSpPr/>
          <p:nvPr/>
        </p:nvSpPr>
        <p:spPr>
          <a:xfrm>
            <a:off x="1" y="3790141"/>
            <a:ext cx="6774656" cy="116732"/>
          </a:xfrm>
          <a:prstGeom prst="rect">
            <a:avLst/>
          </a:prstGeom>
          <a:gradFill flip="none" rotWithShape="1">
            <a:gsLst>
              <a:gs pos="69000">
                <a:srgbClr val="887128"/>
              </a:gs>
              <a:gs pos="47000">
                <a:srgbClr val="FFC904">
                  <a:alpha val="40784"/>
                </a:srgbClr>
              </a:gs>
              <a:gs pos="21000">
                <a:srgbClr val="887128"/>
              </a:gs>
              <a:gs pos="0">
                <a:srgbClr val="887128"/>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F1411FC-0199-4C18-B757-D96B9FBEC12C}"/>
              </a:ext>
            </a:extLst>
          </p:cNvPr>
          <p:cNvSpPr/>
          <p:nvPr/>
        </p:nvSpPr>
        <p:spPr>
          <a:xfrm>
            <a:off x="6880860" y="3790142"/>
            <a:ext cx="2263140" cy="116732"/>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26" name="Picture 2" descr="Home - UCF College of Engineering and Computer Science">
            <a:extLst>
              <a:ext uri="{FF2B5EF4-FFF2-40B4-BE49-F238E27FC236}">
                <a16:creationId xmlns:a16="http://schemas.microsoft.com/office/drawing/2014/main" id="{8E0F3A9D-0085-8B62-1898-2721C3D1D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844" y="337185"/>
            <a:ext cx="2794835" cy="669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73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E6AC-FD5F-025B-33E7-8799CF2032A8}"/>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4E1719AE-B1B9-90B4-C7A9-C40C5C5D0FA8}"/>
              </a:ext>
            </a:extLst>
          </p:cNvPr>
          <p:cNvSpPr>
            <a:spLocks noGrp="1"/>
          </p:cNvSpPr>
          <p:nvPr>
            <p:ph idx="1"/>
          </p:nvPr>
        </p:nvSpPr>
        <p:spPr>
          <a:xfrm>
            <a:off x="628650" y="1498603"/>
            <a:ext cx="7886700" cy="4857748"/>
          </a:xfrm>
        </p:spPr>
        <p:txBody>
          <a:bodyPr>
            <a:normAutofit/>
          </a:bodyPr>
          <a:lstStyle/>
          <a:p>
            <a:r>
              <a:rPr lang="en-US" dirty="0"/>
              <a:t>Connection-oriented transport: TCP</a:t>
            </a:r>
          </a:p>
          <a:p>
            <a:pPr lvl="1"/>
            <a:r>
              <a:rPr lang="en-US" dirty="0"/>
              <a:t>segment structure</a:t>
            </a:r>
          </a:p>
          <a:p>
            <a:pPr lvl="1"/>
            <a:r>
              <a:rPr lang="en-US" dirty="0"/>
              <a:t>reliable data transfer</a:t>
            </a:r>
          </a:p>
          <a:p>
            <a:pPr lvl="1"/>
            <a:r>
              <a:rPr lang="en-US" dirty="0"/>
              <a:t>flow control</a:t>
            </a:r>
          </a:p>
          <a:p>
            <a:pPr lvl="1"/>
            <a:r>
              <a:rPr lang="en-US" dirty="0"/>
              <a:t>connection management</a:t>
            </a:r>
          </a:p>
        </p:txBody>
      </p:sp>
      <p:sp>
        <p:nvSpPr>
          <p:cNvPr id="4" name="Slide Number Placeholder 3">
            <a:extLst>
              <a:ext uri="{FF2B5EF4-FFF2-40B4-BE49-F238E27FC236}">
                <a16:creationId xmlns:a16="http://schemas.microsoft.com/office/drawing/2014/main" id="{A2C09955-B883-EB1B-CA00-1FE33C432D96}"/>
              </a:ext>
            </a:extLst>
          </p:cNvPr>
          <p:cNvSpPr>
            <a:spLocks noGrp="1"/>
          </p:cNvSpPr>
          <p:nvPr>
            <p:ph type="sldNum" sz="quarter" idx="12"/>
          </p:nvPr>
        </p:nvSpPr>
        <p:spPr/>
        <p:txBody>
          <a:bodyPr/>
          <a:lstStyle/>
          <a:p>
            <a:fld id="{0BC41B36-6335-F546-90B9-E2121371E10D}" type="slidenum">
              <a:rPr lang="en-US" smtClean="0"/>
              <a:pPr/>
              <a:t>2</a:t>
            </a:fld>
            <a:endParaRPr lang="en-US" dirty="0"/>
          </a:p>
        </p:txBody>
      </p:sp>
    </p:spTree>
    <p:extLst>
      <p:ext uri="{BB962C8B-B14F-4D97-AF65-F5344CB8AC3E}">
        <p14:creationId xmlns:p14="http://schemas.microsoft.com/office/powerpoint/2010/main" val="375063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sz="4000" dirty="0"/>
              <a:t>TCP: overview</a:t>
            </a: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a:t>
            </a:fld>
            <a:endParaRPr lang="en-US"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4462398" y="1849210"/>
            <a:ext cx="4509715" cy="415154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3616" indent="-220266" defTabSz="685800">
              <a:spcBef>
                <a:spcPts val="750"/>
              </a:spcBef>
              <a:defRPr/>
            </a:pPr>
            <a:r>
              <a:rPr lang="en-US" altLang="en-US" sz="2400" dirty="0">
                <a:solidFill>
                  <a:srgbClr val="C00000"/>
                </a:solidFill>
                <a:latin typeface="Calibri"/>
                <a:ea typeface="ＭＳ Ｐゴシック" panose="020B0600070205080204" pitchFamily="34" charset="-128"/>
              </a:rPr>
              <a:t>cumulative ACKs</a:t>
            </a:r>
          </a:p>
          <a:p>
            <a:pPr marL="353616" indent="-220266" defTabSz="685800">
              <a:spcBef>
                <a:spcPts val="750"/>
              </a:spcBef>
              <a:defRPr/>
            </a:pPr>
            <a:r>
              <a:rPr lang="en-US" altLang="en-US" sz="2400" dirty="0">
                <a:solidFill>
                  <a:srgbClr val="C00000"/>
                </a:solidFill>
                <a:latin typeface="Calibri"/>
                <a:ea typeface="ＭＳ Ｐゴシック" panose="020B0600070205080204" pitchFamily="34" charset="-128"/>
              </a:rPr>
              <a:t>pipelining:</a:t>
            </a:r>
          </a:p>
          <a:p>
            <a:pPr marL="689372" lvl="2" indent="-220266" defTabSz="685800">
              <a:spcBef>
                <a:spcPts val="375"/>
              </a:spcBef>
              <a:defRPr/>
            </a:pPr>
            <a:r>
              <a:rPr lang="en-US" altLang="en-US" sz="2100" dirty="0">
                <a:solidFill>
                  <a:prstClr val="black"/>
                </a:solidFill>
                <a:latin typeface="Calibri"/>
                <a:ea typeface="ＭＳ Ｐゴシック" panose="020B0600070205080204" pitchFamily="34" charset="-128"/>
              </a:rPr>
              <a:t>TCP congestion and flow control set window size</a:t>
            </a:r>
            <a:endParaRPr lang="en-US" altLang="en-US" sz="2100" i="1" dirty="0">
              <a:solidFill>
                <a:prstClr val="black"/>
              </a:solidFill>
              <a:latin typeface="Calibri"/>
              <a:ea typeface="ＭＳ Ｐゴシック" panose="020B0600070205080204" pitchFamily="34" charset="-128"/>
            </a:endParaRPr>
          </a:p>
          <a:p>
            <a:pPr marL="353616" indent="-255985" defTabSz="685800">
              <a:spcBef>
                <a:spcPts val="750"/>
              </a:spcBef>
              <a:buFont typeface="Wingdings" charset="2"/>
              <a:buChar char="§"/>
              <a:defRPr/>
            </a:pPr>
            <a:r>
              <a:rPr lang="en-US" sz="2400" dirty="0">
                <a:solidFill>
                  <a:srgbClr val="C00000"/>
                </a:solidFill>
                <a:latin typeface="Calibri" panose="020F0502020204030204"/>
              </a:rPr>
              <a:t>connection-oriented: </a:t>
            </a:r>
          </a:p>
          <a:p>
            <a:pPr marL="521494" lvl="1" indent="-173831" defTabSz="685800">
              <a:spcBef>
                <a:spcPts val="375"/>
              </a:spcBef>
              <a:buFont typeface="Arial"/>
              <a:buChar char="•"/>
              <a:defRPr/>
            </a:pPr>
            <a:r>
              <a:rPr lang="en-US" sz="2100" dirty="0">
                <a:solidFill>
                  <a:prstClr val="black"/>
                </a:solidFill>
                <a:latin typeface="Calibri" panose="020F0502020204030204"/>
              </a:rPr>
              <a:t>handshaking (exchange of control messages) initializes sender, receiver state before data exchange</a:t>
            </a:r>
          </a:p>
          <a:p>
            <a:pPr marL="353616" indent="-255985" defTabSz="685800">
              <a:spcBef>
                <a:spcPts val="750"/>
              </a:spcBef>
              <a:buFont typeface="Wingdings" charset="2"/>
              <a:buChar char="§"/>
              <a:defRPr/>
            </a:pPr>
            <a:r>
              <a:rPr lang="en-US" sz="2400" dirty="0">
                <a:solidFill>
                  <a:srgbClr val="C00000"/>
                </a:solidFill>
                <a:latin typeface="Calibri" panose="020F0502020204030204"/>
              </a:rPr>
              <a:t>flow controlled:</a:t>
            </a:r>
          </a:p>
          <a:p>
            <a:pPr marL="521494" lvl="1" indent="-173831" defTabSz="685800">
              <a:spcBef>
                <a:spcPts val="300"/>
              </a:spcBef>
              <a:buFont typeface="Arial"/>
              <a:buChar char="•"/>
              <a:defRPr/>
            </a:pPr>
            <a:r>
              <a:rPr lang="en-US" sz="2100" dirty="0">
                <a:solidFill>
                  <a:prstClr val="black"/>
                </a:solidFill>
                <a:latin typeface="Calibri" panose="020F0502020204030204"/>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515971" y="1849210"/>
            <a:ext cx="4037240"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3616" indent="-220266" defTabSz="685800">
              <a:spcBef>
                <a:spcPts val="750"/>
              </a:spcBef>
              <a:defRPr/>
            </a:pPr>
            <a:r>
              <a:rPr lang="en-US" altLang="en-US" sz="2400" dirty="0">
                <a:solidFill>
                  <a:srgbClr val="C00000"/>
                </a:solidFill>
                <a:latin typeface="Calibri" panose="020F0502020204030204"/>
                <a:ea typeface="ＭＳ Ｐゴシック" panose="020B0600070205080204" pitchFamily="34" charset="-128"/>
              </a:rPr>
              <a:t>point-to-point</a:t>
            </a:r>
            <a:r>
              <a:rPr lang="en-US" altLang="en-US" sz="2400" dirty="0">
                <a:solidFill>
                  <a:srgbClr val="CC0000"/>
                </a:solidFill>
                <a:latin typeface="Calibri" panose="020F0502020204030204"/>
                <a:ea typeface="ＭＳ Ｐゴシック" panose="020B0600070205080204" pitchFamily="34" charset="-128"/>
              </a:rPr>
              <a:t>:</a:t>
            </a:r>
          </a:p>
          <a:p>
            <a:pPr marL="689372" lvl="2" indent="-220266"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one sender, one receiver</a:t>
            </a:r>
            <a:r>
              <a:rPr lang="en-US" altLang="en-US" sz="2100" dirty="0">
                <a:solidFill>
                  <a:srgbClr val="FF0000"/>
                </a:solidFill>
                <a:latin typeface="Calibri" panose="020F0502020204030204"/>
                <a:ea typeface="ＭＳ Ｐゴシック" panose="020B0600070205080204" pitchFamily="34" charset="-128"/>
              </a:rPr>
              <a:t> </a:t>
            </a:r>
          </a:p>
          <a:p>
            <a:pPr marL="353616" indent="-220266" defTabSz="685800">
              <a:spcBef>
                <a:spcPts val="750"/>
              </a:spcBef>
              <a:defRPr/>
            </a:pPr>
            <a:r>
              <a:rPr lang="en-US" altLang="en-US" sz="2400" dirty="0">
                <a:solidFill>
                  <a:srgbClr val="C00000"/>
                </a:solidFill>
                <a:latin typeface="Calibri" panose="020F0502020204030204"/>
                <a:ea typeface="ＭＳ Ｐゴシック" panose="020B0600070205080204" pitchFamily="34" charset="-128"/>
              </a:rPr>
              <a:t>reliable, in-order </a:t>
            </a:r>
            <a:r>
              <a:rPr lang="en-US" altLang="en-US" sz="2400" i="1" dirty="0">
                <a:solidFill>
                  <a:srgbClr val="C00000"/>
                </a:solidFill>
                <a:latin typeface="Calibri" panose="020F0502020204030204"/>
                <a:ea typeface="ＭＳ Ｐゴシック" panose="020B0600070205080204" pitchFamily="34" charset="-128"/>
              </a:rPr>
              <a:t>byte steam:</a:t>
            </a:r>
          </a:p>
          <a:p>
            <a:pPr marL="689372" lvl="2" indent="-220266"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no “</a:t>
            </a:r>
            <a:r>
              <a:rPr lang="en-US" altLang="ja-JP" sz="2100" dirty="0">
                <a:solidFill>
                  <a:prstClr val="black"/>
                </a:solidFill>
                <a:latin typeface="Calibri" panose="020F0502020204030204"/>
                <a:ea typeface="ＭＳ Ｐゴシック" panose="020B0600070205080204" pitchFamily="34" charset="-128"/>
              </a:rPr>
              <a:t>message boundaries"</a:t>
            </a:r>
          </a:p>
          <a:p>
            <a:pPr marL="353616" indent="-255985" defTabSz="685800">
              <a:spcBef>
                <a:spcPts val="750"/>
              </a:spcBef>
              <a:buFont typeface="Wingdings" charset="2"/>
              <a:buChar char="§"/>
              <a:defRPr/>
            </a:pPr>
            <a:r>
              <a:rPr lang="en-US" sz="2400" dirty="0">
                <a:solidFill>
                  <a:srgbClr val="C00000"/>
                </a:solidFill>
                <a:latin typeface="Calibri"/>
              </a:rPr>
              <a:t>full duplex data:</a:t>
            </a:r>
          </a:p>
          <a:p>
            <a:pPr marL="521494" lvl="1" indent="-173831" defTabSz="685800">
              <a:spcBef>
                <a:spcPts val="300"/>
              </a:spcBef>
              <a:buFont typeface="Arial"/>
              <a:buChar char="•"/>
              <a:defRPr/>
            </a:pPr>
            <a:r>
              <a:rPr lang="en-US" sz="2100" dirty="0">
                <a:solidFill>
                  <a:prstClr val="black"/>
                </a:solidFill>
                <a:latin typeface="Calibri"/>
              </a:rPr>
              <a:t>bi-directional data flow in same connection</a:t>
            </a:r>
          </a:p>
          <a:p>
            <a:pPr marL="521494" lvl="1" indent="-173831" defTabSz="685800">
              <a:spcBef>
                <a:spcPts val="300"/>
              </a:spcBef>
              <a:buFont typeface="Arial"/>
              <a:buChar char="•"/>
              <a:defRPr/>
            </a:pPr>
            <a:r>
              <a:rPr lang="en-US" sz="2100" dirty="0">
                <a:solidFill>
                  <a:prstClr val="black"/>
                </a:solidFill>
                <a:latin typeface="Calibri"/>
              </a:rPr>
              <a:t>MSS: maximum segment size</a:t>
            </a: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segment structure</a:t>
            </a:r>
            <a:endParaRPr lang="en-US" sz="3600" dirty="0"/>
          </a:p>
        </p:txBody>
      </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a:t>
            </a:fld>
            <a:endParaRPr lang="en-US"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3324055" y="2027297"/>
            <a:ext cx="2963465" cy="3618309"/>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3259762" y="2114212"/>
            <a:ext cx="2963465" cy="360402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kern="0" dirty="0">
              <a:solidFill>
                <a:srgbClr val="000000"/>
              </a:solidFill>
              <a:latin typeface="Arial" charset="0"/>
              <a:ea typeface="ＭＳ Ｐゴシック" charset="0"/>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3341384" y="2103229"/>
            <a:ext cx="2647068" cy="327006"/>
            <a:chOff x="4455177" y="1661303"/>
            <a:chExt cx="3529424" cy="436008"/>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55177" y="1661303"/>
              <a:ext cx="1744495"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source port #</a:t>
              </a:r>
              <a:endParaRPr lang="en-US" sz="1800" dirty="0">
                <a:solidFill>
                  <a:srgbClr val="000000"/>
                </a:solidFill>
                <a:latin typeface="Arial" charset="0"/>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26509" y="1666424"/>
              <a:ext cx="1458092"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dest port #</a:t>
              </a:r>
              <a:endParaRPr lang="en-US" sz="1350" dirty="0">
                <a:solidFill>
                  <a:srgbClr val="000000"/>
                </a:solidFill>
                <a:latin typeface="Arial" charset="0"/>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3262143" y="2395200"/>
            <a:ext cx="2959894" cy="3572"/>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3257380" y="2679759"/>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3243092" y="1716544"/>
            <a:ext cx="2951559" cy="300082"/>
            <a:chOff x="4324123" y="1145724"/>
            <a:chExt cx="3935412" cy="400108"/>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797924" y="1145724"/>
              <a:ext cx="925896" cy="4001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srgbClr val="000000"/>
                  </a:solidFill>
                  <a:latin typeface="Arial" charset="0"/>
                </a:rPr>
                <a:t>32 bits</a:t>
              </a:r>
              <a:endParaRPr lang="en-US" sz="1800" dirty="0">
                <a:solidFill>
                  <a:srgbClr val="000000"/>
                </a:solidFill>
                <a:latin typeface="Arial" charset="0"/>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3264524" y="2965509"/>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3260951" y="3261974"/>
            <a:ext cx="2963466"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3257380" y="3554868"/>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3257380" y="3976349"/>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4727802" y="2967891"/>
            <a:ext cx="3572" cy="583406"/>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4251551" y="2967890"/>
            <a:ext cx="0" cy="294084"/>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4136061" y="2964318"/>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4016999" y="2971462"/>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3454240" y="2974464"/>
            <a:ext cx="409087" cy="3288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5000"/>
              </a:lnSpc>
              <a:spcBef>
                <a:spcPct val="0"/>
              </a:spcBef>
              <a:spcAft>
                <a:spcPct val="0"/>
              </a:spcAft>
              <a:defRPr/>
            </a:pPr>
            <a:r>
              <a:rPr lang="en-US" sz="900" dirty="0">
                <a:solidFill>
                  <a:srgbClr val="000000"/>
                </a:solidFill>
                <a:latin typeface="Calibri"/>
              </a:rPr>
              <a:t>not</a:t>
            </a:r>
          </a:p>
          <a:p>
            <a:pPr algn="ctr" defTabSz="685800" eaLnBrk="0" fontAlgn="base" hangingPunct="0">
              <a:lnSpc>
                <a:spcPct val="85000"/>
              </a:lnSpc>
              <a:spcBef>
                <a:spcPct val="0"/>
              </a:spcBef>
              <a:spcAft>
                <a:spcPct val="0"/>
              </a:spcAft>
              <a:defRPr/>
            </a:pPr>
            <a:r>
              <a:rPr lang="en-US" sz="900" dirty="0">
                <a:solidFill>
                  <a:srgbClr val="000000"/>
                </a:solidFill>
                <a:latin typeface="Calibri"/>
              </a:rPr>
              <a:t>used</a:t>
            </a:r>
            <a:endParaRPr lang="en-US" sz="1200" dirty="0">
              <a:solidFill>
                <a:srgbClr val="000000"/>
              </a:solidFill>
              <a:latin typeface="Calibri"/>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3535325" y="2964318"/>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4775003" y="2970272"/>
            <a:ext cx="3968437" cy="571696"/>
            <a:chOff x="6366672" y="2817362"/>
            <a:chExt cx="5291249" cy="762260"/>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366672" y="2817362"/>
              <a:ext cx="1823576"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srgbClr val="000000"/>
                  </a:solidFill>
                  <a:latin typeface="Arial" charset="0"/>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325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800" dirty="0">
                  <a:solidFill>
                    <a:srgbClr val="000000"/>
                  </a:solidFill>
                  <a:latin typeface="Calibri" panose="020F0502020204030204"/>
                </a:rPr>
                <a:t>flow control: </a:t>
              </a:r>
              <a:r>
                <a:rPr lang="en-US" sz="1500" dirty="0">
                  <a:solidFill>
                    <a:srgbClr val="000000"/>
                  </a:solidFill>
                  <a:latin typeface="Calibri" panose="020F0502020204030204"/>
                </a:rPr>
                <a:t># bytes receiver willing to accept</a:t>
              </a:r>
              <a:endParaRPr lang="en-US" sz="1800" dirty="0">
                <a:solidFill>
                  <a:srgbClr val="000000"/>
                </a:solidFill>
                <a:latin typeface="Calibri" panose="020F0502020204030204"/>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3734820" y="2113077"/>
            <a:ext cx="5280325" cy="840230"/>
            <a:chOff x="4979760" y="1674436"/>
            <a:chExt cx="7040433" cy="1120308"/>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sequence number</a:t>
              </a:r>
              <a:endParaRPr lang="en-US" sz="1800" dirty="0">
                <a:solidFill>
                  <a:srgbClr val="000000"/>
                </a:solidFill>
                <a:latin typeface="Arial" charset="0"/>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1203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800" b="1" dirty="0">
                  <a:solidFill>
                    <a:srgbClr val="000000"/>
                  </a:solidFill>
                  <a:latin typeface="Calibri" panose="020F0502020204030204"/>
                </a:rPr>
                <a:t>segment seq  #: </a:t>
              </a:r>
              <a:r>
                <a:rPr lang="en-US" sz="1500" b="1" dirty="0">
                  <a:solidFill>
                    <a:srgbClr val="000000"/>
                  </a:solidFill>
                  <a:latin typeface="Calibri" panose="020F0502020204030204"/>
                </a:rPr>
                <a:t>counting bytes of data</a:t>
              </a:r>
              <a:r>
                <a:rPr lang="en-US" sz="1800" b="1" dirty="0">
                  <a:solidFill>
                    <a:srgbClr val="000000"/>
                  </a:solidFill>
                  <a:latin typeface="Calibri" panose="020F0502020204030204"/>
                </a:rPr>
                <a:t> </a:t>
              </a:r>
              <a:r>
                <a:rPr lang="en-US" sz="1500" b="1" dirty="0">
                  <a:solidFill>
                    <a:srgbClr val="000000"/>
                  </a:solidFill>
                  <a:latin typeface="Calibri" panose="020F0502020204030204"/>
                </a:rPr>
                <a:t>into bytestream</a:t>
              </a:r>
              <a:r>
                <a:rPr lang="en-US" sz="1800" b="1" dirty="0">
                  <a:solidFill>
                    <a:srgbClr val="000000"/>
                  </a:solidFill>
                  <a:latin typeface="Calibri" panose="020F0502020204030204"/>
                </a:rPr>
                <a:t> </a:t>
              </a:r>
              <a:r>
                <a:rPr lang="en-US" sz="1500" b="1" dirty="0">
                  <a:solidFill>
                    <a:srgbClr val="000000"/>
                  </a:solidFill>
                  <a:latin typeface="Calibri" panose="020F0502020204030204"/>
                </a:rPr>
                <a:t>(not segments!)</a:t>
              </a:r>
              <a:endParaRPr lang="en-US" sz="1800" b="1" dirty="0">
                <a:solidFill>
                  <a:srgbClr val="000000"/>
                </a:solidFill>
                <a:latin typeface="Calibri" panose="020F0502020204030204"/>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4016996" y="4318061"/>
            <a:ext cx="4360261" cy="858179"/>
            <a:chOff x="5355994" y="4614412"/>
            <a:chExt cx="5813682" cy="1144238"/>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55994" y="4614412"/>
              <a:ext cx="2090744" cy="104644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application</a:t>
              </a:r>
            </a:p>
            <a:p>
              <a:pPr algn="ctr" defTabSz="685800" eaLnBrk="0" fontAlgn="base" hangingPunct="0">
                <a:spcBef>
                  <a:spcPct val="0"/>
                </a:spcBef>
                <a:spcAft>
                  <a:spcPct val="0"/>
                </a:spcAft>
                <a:defRPr/>
              </a:pPr>
              <a:r>
                <a:rPr lang="en-US" sz="1500" dirty="0">
                  <a:solidFill>
                    <a:srgbClr val="000000"/>
                  </a:solidFill>
                  <a:latin typeface="Arial" charset="0"/>
                </a:rPr>
                <a:t>data </a:t>
              </a:r>
            </a:p>
            <a:p>
              <a:pPr algn="ctr" defTabSz="685800" eaLnBrk="0" fontAlgn="base" hangingPunct="0">
                <a:spcBef>
                  <a:spcPct val="0"/>
                </a:spcBef>
                <a:spcAft>
                  <a:spcPct val="0"/>
                </a:spcAft>
                <a:defRPr/>
              </a:pPr>
              <a:r>
                <a:rPr lang="en-US" sz="1500" dirty="0">
                  <a:solidFill>
                    <a:srgbClr val="000000"/>
                  </a:solidFill>
                  <a:latin typeface="Arial" charset="0"/>
                </a:rPr>
                <a:t>(variable length)</a:t>
              </a:r>
              <a:endParaRPr lang="en-US" sz="1800" dirty="0">
                <a:solidFill>
                  <a:srgbClr val="000000"/>
                </a:solidFill>
                <a:latin typeface="Arial" charset="0"/>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3"/>
              <a:ext cx="2189391" cy="1120307"/>
            </a:xfrm>
            <a:prstGeom prst="rect">
              <a:avLst/>
            </a:prstGeom>
            <a:noFill/>
          </p:spPr>
          <p:txBody>
            <a:bodyPr wrap="square" rtlCol="0">
              <a:spAutoFit/>
            </a:bodyPr>
            <a:lstStyle/>
            <a:p>
              <a:pPr defTabSz="685800">
                <a:lnSpc>
                  <a:spcPct val="90000"/>
                </a:lnSpc>
                <a:defRPr/>
              </a:pPr>
              <a:r>
                <a:rPr lang="en-US" dirty="0">
                  <a:solidFill>
                    <a:prstClr val="black"/>
                  </a:solidFill>
                  <a:latin typeface="Calibri" panose="020F0502020204030204"/>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172795" y="2321808"/>
            <a:ext cx="5828845" cy="954044"/>
            <a:chOff x="230393" y="1952743"/>
            <a:chExt cx="7771793" cy="1272058"/>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15985" y="2855469"/>
              <a:ext cx="365913"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A</a:t>
              </a:r>
              <a:endParaRPr lang="en-US" sz="1800" dirty="0">
                <a:solidFill>
                  <a:srgbClr val="000000"/>
                </a:solidFill>
                <a:latin typeface="Calibri"/>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09" y="2430012"/>
                <a:ext cx="3409951"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325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b="1" dirty="0">
                    <a:solidFill>
                      <a:srgbClr val="000000"/>
                    </a:solidFill>
                    <a:latin typeface="Calibri" panose="020F0502020204030204"/>
                  </a:rPr>
                  <a:t>ACK: </a:t>
                </a:r>
                <a:r>
                  <a:rPr lang="en-US" sz="1500" b="1" dirty="0">
                    <a:solidFill>
                      <a:srgbClr val="000000"/>
                    </a:solidFill>
                    <a:latin typeface="Calibri" panose="020F0502020204030204"/>
                  </a:rPr>
                  <a:t>seq # of next expected byte; A bit: this is an ACK</a:t>
                </a:r>
                <a:endParaRPr lang="en-US" sz="825" b="1" dirty="0">
                  <a:solidFill>
                    <a:srgbClr val="000000"/>
                  </a:solidFill>
                  <a:latin typeface="Calibri" panose="020F0502020204030204"/>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421564" y="3602103"/>
            <a:ext cx="4503369" cy="841318"/>
            <a:chOff x="1895418" y="3659802"/>
            <a:chExt cx="6004492" cy="1121757"/>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59" y="3659802"/>
              <a:ext cx="3069551"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rial" charset="0"/>
                </a:rPr>
                <a:t>options (variable length)</a:t>
              </a:r>
              <a:endParaRPr lang="en-US" sz="1800" dirty="0">
                <a:solidFill>
                  <a:srgbClr val="000000"/>
                </a:solidFill>
                <a:latin typeface="Arial" charset="0"/>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7"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500" dirty="0">
                  <a:solidFill>
                    <a:srgbClr val="000000"/>
                  </a:solidFill>
                  <a:latin typeface="Calibri" panose="020F0502020204030204"/>
                </a:rPr>
                <a:t>TCP</a:t>
              </a:r>
              <a:r>
                <a:rPr lang="en-US" sz="1800" dirty="0">
                  <a:solidFill>
                    <a:srgbClr val="000000"/>
                  </a:solidFill>
                  <a:latin typeface="Calibri" panose="020F0502020204030204"/>
                </a:rPr>
                <a:t> options</a:t>
              </a:r>
              <a:endParaRPr lang="en-US" sz="1500" dirty="0">
                <a:solidFill>
                  <a:srgbClr val="000000"/>
                </a:solidFill>
                <a:latin typeface="Calibri" panose="020F0502020204030204"/>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5" y="3875246"/>
              <a:ext cx="1246015" cy="67855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238557" y="2971596"/>
            <a:ext cx="3365827" cy="341632"/>
            <a:chOff x="318075" y="2819126"/>
            <a:chExt cx="4487769" cy="455509"/>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47572" y="2826981"/>
              <a:ext cx="558272" cy="43841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5000"/>
                </a:lnSpc>
                <a:spcBef>
                  <a:spcPct val="0"/>
                </a:spcBef>
                <a:spcAft>
                  <a:spcPct val="0"/>
                </a:spcAft>
                <a:defRPr/>
              </a:pPr>
              <a:r>
                <a:rPr lang="en-US" sz="900" dirty="0">
                  <a:solidFill>
                    <a:srgbClr val="000000"/>
                  </a:solidFill>
                  <a:latin typeface="Calibri"/>
                </a:rPr>
                <a:t>head</a:t>
              </a:r>
            </a:p>
            <a:p>
              <a:pPr algn="ctr" defTabSz="685800" eaLnBrk="0" fontAlgn="base" hangingPunct="0">
                <a:lnSpc>
                  <a:spcPct val="85000"/>
                </a:lnSpc>
                <a:spcBef>
                  <a:spcPct val="0"/>
                </a:spcBef>
                <a:spcAft>
                  <a:spcPct val="0"/>
                </a:spcAft>
                <a:defRPr/>
              </a:pPr>
              <a:r>
                <a:rPr lang="en-US" sz="900" dirty="0">
                  <a:solidFill>
                    <a:srgbClr val="000000"/>
                  </a:solidFill>
                  <a:latin typeface="Calibri"/>
                </a:rPr>
                <a:t>len</a:t>
              </a:r>
              <a:endParaRPr lang="en-US" sz="1200" dirty="0">
                <a:solidFill>
                  <a:srgbClr val="000000"/>
                </a:solidFill>
                <a:latin typeface="Calibri"/>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Calibri" panose="020F0502020204030204"/>
                </a:rPr>
                <a:t>length </a:t>
              </a:r>
              <a:r>
                <a:rPr lang="en-US" sz="1500" dirty="0">
                  <a:solidFill>
                    <a:srgbClr val="000000"/>
                  </a:solidFill>
                  <a:latin typeface="Calibri" panose="020F0502020204030204"/>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18659" y="3237838"/>
            <a:ext cx="4550857" cy="341632"/>
            <a:chOff x="-24878" y="3174115"/>
            <a:chExt cx="6067809" cy="455509"/>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57963" y="3203124"/>
              <a:ext cx="1284968"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srgbClr val="000000"/>
                  </a:solidFill>
                  <a:latin typeface="Arial" charset="0"/>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4"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500" dirty="0">
                  <a:solidFill>
                    <a:srgbClr val="000000"/>
                  </a:solidFill>
                  <a:latin typeface="Calibri" panose="020F0502020204030204"/>
                </a:rPr>
                <a:t>Internet</a:t>
              </a:r>
              <a:r>
                <a:rPr lang="en-US" sz="1800" dirty="0">
                  <a:solidFill>
                    <a:srgbClr val="000000"/>
                  </a:solidFill>
                  <a:latin typeface="Calibri" panose="020F0502020204030204"/>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6" y="3401870"/>
              <a:ext cx="1187347" cy="13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4717086" y="2116781"/>
            <a:ext cx="1321" cy="273888"/>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4613033" y="2960747"/>
            <a:ext cx="0" cy="294084"/>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4494693" y="2964318"/>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4372781" y="2964318"/>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29408" y="3005212"/>
            <a:ext cx="4665732" cy="2018496"/>
            <a:chOff x="172543" y="2863949"/>
            <a:chExt cx="6220977" cy="2691328"/>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325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Calibri" panose="020F0502020204030204"/>
                </a:rPr>
                <a:t>RST, SYN, FIN: </a:t>
              </a:r>
              <a:r>
                <a:rPr lang="en-US" sz="1500" dirty="0">
                  <a:solidFill>
                    <a:srgbClr val="000000"/>
                  </a:solidFill>
                  <a:latin typeface="Calibri" panose="020F0502020204030204"/>
                </a:rPr>
                <a:t>connection management</a:t>
              </a:r>
              <a:endParaRPr lang="en-US" sz="1800" dirty="0">
                <a:solidFill>
                  <a:srgbClr val="000000"/>
                </a:solidFill>
                <a:latin typeface="Calibri" panose="020F0502020204030204"/>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45055" y="2863949"/>
              <a:ext cx="648465" cy="369958"/>
              <a:chOff x="5745055" y="2863949"/>
              <a:chExt cx="648465" cy="369958"/>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53255" y="2864576"/>
                <a:ext cx="340265"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F</a:t>
                </a:r>
                <a:endParaRPr lang="en-US" sz="1800" dirty="0">
                  <a:solidFill>
                    <a:srgbClr val="000000"/>
                  </a:solidFill>
                  <a:latin typeface="Calibri"/>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08673" y="2863949"/>
                <a:ext cx="340266"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S</a:t>
                </a:r>
                <a:endParaRPr lang="en-US" sz="1800" dirty="0">
                  <a:solidFill>
                    <a:srgbClr val="000000"/>
                  </a:solidFill>
                  <a:latin typeface="Calibri"/>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45055" y="2863950"/>
                <a:ext cx="357363"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R</a:t>
                </a:r>
                <a:endParaRPr lang="en-US" sz="1800" dirty="0">
                  <a:solidFill>
                    <a:srgbClr val="000000"/>
                  </a:solidFill>
                  <a:latin typeface="Calibri"/>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3934274" y="3002217"/>
            <a:ext cx="2284895" cy="564601"/>
            <a:chOff x="5245696" y="2859957"/>
            <a:chExt cx="3046525" cy="752801"/>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391701" y="3212649"/>
              <a:ext cx="1900520"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prstClr val="white">
                      <a:lumMod val="75000"/>
                    </a:prstClr>
                  </a:solidFill>
                  <a:latin typeface="Arial" charset="0"/>
                </a:rPr>
                <a:t>Urg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45696" y="2859957"/>
              <a:ext cx="690459" cy="376473"/>
              <a:chOff x="5496217" y="3067992"/>
              <a:chExt cx="690459" cy="376473"/>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33588" y="3067992"/>
                <a:ext cx="353088"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prstClr val="white">
                        <a:lumMod val="65000"/>
                      </a:prstClr>
                    </a:solidFill>
                    <a:latin typeface="Calibri"/>
                  </a:rPr>
                  <a:t>P</a:t>
                </a:r>
                <a:endParaRPr lang="en-US" sz="1800" dirty="0">
                  <a:solidFill>
                    <a:prstClr val="white">
                      <a:lumMod val="65000"/>
                    </a:prstClr>
                  </a:solidFill>
                  <a:latin typeface="Calibri"/>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496217" y="3075133"/>
                <a:ext cx="378736"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prstClr val="white">
                        <a:lumMod val="65000"/>
                      </a:prstClr>
                    </a:solidFill>
                    <a:latin typeface="Calibri"/>
                  </a:rPr>
                  <a:t>U</a:t>
                </a:r>
                <a:endParaRPr lang="en-US" sz="1800" dirty="0">
                  <a:solidFill>
                    <a:prstClr val="white">
                      <a:lumMod val="65000"/>
                    </a:prstClr>
                  </a:solidFill>
                  <a:latin typeface="Calibri"/>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3778729" y="2973111"/>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3899020" y="2966387"/>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a:ea typeface="ＭＳ Ｐゴシック" charset="0"/>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37161" y="3005212"/>
            <a:ext cx="3945109" cy="1065639"/>
            <a:chOff x="182880" y="2863950"/>
            <a:chExt cx="5260146" cy="1420851"/>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33324" y="2863950"/>
              <a:ext cx="509702" cy="369332"/>
              <a:chOff x="4933324" y="2863950"/>
              <a:chExt cx="509702" cy="369332"/>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33324" y="2863950"/>
                <a:ext cx="355227"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C</a:t>
                </a:r>
                <a:endParaRPr lang="en-US" sz="1800" dirty="0">
                  <a:solidFill>
                    <a:srgbClr val="000000"/>
                  </a:solidFill>
                  <a:latin typeface="Calibri"/>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096348" y="2863950"/>
                <a:ext cx="346678"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Calibri"/>
                  </a:rPr>
                  <a:t>E</a:t>
                </a:r>
                <a:endParaRPr lang="en-US" sz="1800" dirty="0">
                  <a:solidFill>
                    <a:srgbClr val="000000"/>
                  </a:solidFill>
                  <a:latin typeface="Calibri"/>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Calibri" panose="020F0502020204030204"/>
                </a:rPr>
                <a:t>C, E: </a:t>
              </a:r>
              <a:r>
                <a:rPr lang="en-US" sz="1500" dirty="0">
                  <a:solidFill>
                    <a:srgbClr val="000000"/>
                  </a:solidFill>
                  <a:latin typeface="Calibri" panose="020F0502020204030204"/>
                </a:rPr>
                <a:t>congestion notification</a:t>
              </a:r>
              <a:endParaRPr lang="en-US" sz="1800" dirty="0">
                <a:solidFill>
                  <a:srgbClr val="000000"/>
                </a:solidFill>
                <a:latin typeface="Calibri" panose="020F0502020204030204"/>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sequence numbers, ACKs</a:t>
            </a:r>
            <a:endParaRPr lang="en-US" sz="3600" dirty="0"/>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5</a:t>
            </a:fld>
            <a:endParaRPr lang="en-US"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536379" y="1874034"/>
            <a:ext cx="3822502" cy="9834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defTabSz="685800">
              <a:buNone/>
              <a:defRPr/>
            </a:pPr>
            <a:r>
              <a:rPr lang="en-US" altLang="en-US" sz="2100" i="1" kern="0" dirty="0">
                <a:solidFill>
                  <a:srgbClr val="CC0000"/>
                </a:solidFill>
                <a:latin typeface="Calibri" panose="020F0502020204030204"/>
                <a:ea typeface="ＭＳ Ｐゴシック" panose="020B0600070205080204" pitchFamily="34" charset="-128"/>
              </a:rPr>
              <a:t>Sequence numbers:</a:t>
            </a:r>
          </a:p>
          <a:p>
            <a:pPr marL="476250" lvl="1" indent="-208360" defTabSz="685800">
              <a:defRPr/>
            </a:pPr>
            <a:r>
              <a:rPr lang="en-US" altLang="en-US" sz="2100" kern="0" dirty="0">
                <a:solidFill>
                  <a:prstClr val="black"/>
                </a:solidFill>
                <a:latin typeface="Calibri" panose="020F0502020204030204"/>
                <a:ea typeface="ＭＳ Ｐゴシック" panose="020B0600070205080204" pitchFamily="34" charset="-128"/>
              </a:rPr>
              <a:t>byte stream “</a:t>
            </a:r>
            <a:r>
              <a:rPr lang="en-US" altLang="ja-JP" sz="2100" kern="0" dirty="0">
                <a:solidFill>
                  <a:prstClr val="black"/>
                </a:solidFill>
                <a:latin typeface="Calibri" panose="020F0502020204030204"/>
                <a:ea typeface="ＭＳ Ｐゴシック" panose="020B0600070205080204" pitchFamily="34" charset="-128"/>
              </a:rPr>
              <a:t>number” of first byte in segment’s data</a:t>
            </a:r>
            <a:endParaRPr lang="en-US" altLang="ja-JP" sz="1800" kern="0" dirty="0">
              <a:solidFill>
                <a:prstClr val="black"/>
              </a:solidFill>
              <a:latin typeface="Calibri" panose="020F0502020204030204"/>
              <a:ea typeface="ＭＳ Ｐゴシック" panose="020B0600070205080204" pitchFamily="34" charset="-128"/>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5810263" y="3849212"/>
            <a:ext cx="2369349" cy="1930004"/>
            <a:chOff x="3497" y="2404"/>
            <a:chExt cx="1990" cy="162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34"/>
              <a:chOff x="1974" y="2984"/>
              <a:chExt cx="1252" cy="73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1979" y="2984"/>
                <a:ext cx="625"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25" y="2987"/>
                <a:ext cx="536"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3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000000"/>
                    </a:solidFill>
                    <a:latin typeface="Arial" charset="0"/>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3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FFFFFF"/>
                    </a:solidFill>
                    <a:latin typeface="Arial" charset="0"/>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32" y="3544"/>
                <a:ext cx="517"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687" y="3390"/>
                <a:ext cx="365" cy="1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000000"/>
                    </a:solidFill>
                    <a:latin typeface="Arial" charset="0"/>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30" y="3544"/>
                <a:ext cx="539"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497" y="3092"/>
              <a:ext cx="1990"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6513911" y="5374417"/>
            <a:ext cx="269081" cy="253604"/>
            <a:chOff x="5144" y="3677"/>
            <a:chExt cx="226" cy="213"/>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50000"/>
                </a:spcBef>
                <a:spcAft>
                  <a:spcPct val="0"/>
                </a:spcAft>
                <a:defRPr/>
              </a:pPr>
              <a:r>
                <a:rPr lang="en-US" sz="1050" dirty="0">
                  <a:solidFill>
                    <a:srgbClr val="FFFFFF"/>
                  </a:solidFill>
                  <a:latin typeface="Arial Narrow" charset="0"/>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5126833" y="3199970"/>
            <a:ext cx="48815" cy="466725"/>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5199461" y="3201161"/>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5273279" y="3199970"/>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5345908" y="3199970"/>
            <a:ext cx="48815"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5417346" y="3199970"/>
            <a:ext cx="48815"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5489973" y="3199970"/>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5559029" y="3199970"/>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5630467" y="3199970"/>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5701904" y="3199970"/>
            <a:ext cx="48816"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5781677" y="3199970"/>
            <a:ext cx="48815" cy="466725"/>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5855496" y="3201161"/>
            <a:ext cx="48815"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5928123" y="3199970"/>
            <a:ext cx="48816"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6000752" y="3199970"/>
            <a:ext cx="48815"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6073379" y="3199970"/>
            <a:ext cx="48816"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6144817" y="3199970"/>
            <a:ext cx="48816"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6213873" y="3199970"/>
            <a:ext cx="48816"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6285311" y="3199970"/>
            <a:ext cx="48816"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6357940" y="3199970"/>
            <a:ext cx="48815"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6424615" y="3199970"/>
            <a:ext cx="48815"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6496052" y="3199970"/>
            <a:ext cx="48815" cy="466725"/>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6566298" y="3198779"/>
            <a:ext cx="48816"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6635354" y="3198779"/>
            <a:ext cx="48816"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6707983" y="3198779"/>
            <a:ext cx="48815"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6779421" y="3198779"/>
            <a:ext cx="48815"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6846096" y="3198779"/>
            <a:ext cx="48815"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6917533" y="3198779"/>
            <a:ext cx="48815" cy="466725"/>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6990161"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7062790" y="3201161"/>
            <a:ext cx="48815"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7135417"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7209236"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7280673"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7352111"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7421167" y="3199970"/>
            <a:ext cx="48816"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7493796" y="3199970"/>
            <a:ext cx="48815" cy="466725"/>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7565233" y="3199970"/>
            <a:ext cx="48815" cy="466725"/>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5094686" y="3753611"/>
            <a:ext cx="2556272" cy="666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5158980" y="3117817"/>
            <a:ext cx="2556272" cy="666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5175649" y="3839336"/>
            <a:ext cx="651272"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5876926" y="3840526"/>
            <a:ext cx="651272"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6997304" y="3839336"/>
            <a:ext cx="601266"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6569871" y="3840526"/>
            <a:ext cx="39647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5244704" y="3857195"/>
            <a:ext cx="0" cy="17502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6166248" y="3853623"/>
            <a:ext cx="0" cy="17502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6780611" y="3853623"/>
            <a:ext cx="0" cy="17502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7273529" y="3853623"/>
            <a:ext cx="0" cy="17502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5151836" y="4025073"/>
            <a:ext cx="567784" cy="383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dirty="0">
                <a:solidFill>
                  <a:srgbClr val="000000"/>
                </a:solidFill>
              </a:rPr>
              <a:t>sent </a:t>
            </a:r>
          </a:p>
          <a:p>
            <a:pPr defTabSz="685800" eaLnBrk="0" fontAlgn="base" hangingPunct="0">
              <a:lnSpc>
                <a:spcPct val="90000"/>
              </a:lnSpc>
              <a:spcBef>
                <a:spcPct val="0"/>
              </a:spcBef>
              <a:spcAft>
                <a:spcPct val="0"/>
              </a:spcAft>
              <a:defRPr/>
            </a:pPr>
            <a:r>
              <a:rPr lang="en-US" sz="1050" kern="0" dirty="0">
                <a:solidFill>
                  <a:srgbClr val="000000"/>
                </a:solidFill>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5887641" y="4029836"/>
            <a:ext cx="854866" cy="5334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lnSpc>
                <a:spcPct val="90000"/>
              </a:lnSpc>
              <a:spcBef>
                <a:spcPct val="0"/>
              </a:spcBef>
              <a:spcAft>
                <a:spcPct val="0"/>
              </a:spcAft>
              <a:defRPr/>
            </a:pPr>
            <a:r>
              <a:rPr lang="en-US" altLang="en-US" sz="1050" kern="0" dirty="0">
                <a:solidFill>
                  <a:srgbClr val="000000"/>
                </a:solidFill>
              </a:rPr>
              <a:t>sent, not-yet ACKed</a:t>
            </a:r>
          </a:p>
          <a:p>
            <a:pPr defTabSz="685800" eaLnBrk="0" fontAlgn="base" hangingPunct="0">
              <a:lnSpc>
                <a:spcPct val="90000"/>
              </a:lnSpc>
              <a:spcBef>
                <a:spcPts val="225"/>
              </a:spcBef>
              <a:spcAft>
                <a:spcPct val="0"/>
              </a:spcAft>
              <a:defRPr/>
            </a:pPr>
            <a:r>
              <a:rPr lang="en-US" altLang="en-US" sz="900" kern="0" dirty="0">
                <a:solidFill>
                  <a:srgbClr val="000000"/>
                </a:solidFill>
              </a:rPr>
              <a:t>(“</a:t>
            </a:r>
            <a:r>
              <a:rPr lang="en-US" altLang="ja-JP" sz="900" kern="0" dirty="0">
                <a:solidFill>
                  <a:srgbClr val="000000"/>
                </a:solidFill>
              </a:rPr>
              <a:t>in-flight”)</a:t>
            </a:r>
            <a:endParaRPr lang="en-US" altLang="en-US" sz="900" kern="0" dirty="0">
              <a:solidFill>
                <a:srgbClr val="000000"/>
              </a:solidFill>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6622258" y="4026263"/>
            <a:ext cx="800100" cy="5286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dirty="0">
                <a:solidFill>
                  <a:srgbClr val="000000"/>
                </a:solidFill>
              </a:rPr>
              <a:t>usable</a:t>
            </a:r>
          </a:p>
          <a:p>
            <a:pPr defTabSz="685800" eaLnBrk="0" fontAlgn="base" hangingPunct="0">
              <a:lnSpc>
                <a:spcPct val="90000"/>
              </a:lnSpc>
              <a:spcBef>
                <a:spcPct val="0"/>
              </a:spcBef>
              <a:spcAft>
                <a:spcPct val="0"/>
              </a:spcAft>
              <a:defRPr/>
            </a:pPr>
            <a:r>
              <a:rPr lang="en-US" sz="1050" kern="0" dirty="0">
                <a:solidFill>
                  <a:srgbClr val="000000"/>
                </a:solidFill>
              </a:rPr>
              <a:t>but not </a:t>
            </a:r>
          </a:p>
          <a:p>
            <a:pPr defTabSz="685800" eaLnBrk="0" fontAlgn="base" hangingPunct="0">
              <a:lnSpc>
                <a:spcPct val="90000"/>
              </a:lnSpc>
              <a:spcBef>
                <a:spcPct val="0"/>
              </a:spcBef>
              <a:spcAft>
                <a:spcPct val="0"/>
              </a:spcAft>
              <a:defRPr/>
            </a:pPr>
            <a:r>
              <a:rPr lang="en-US" sz="1050" kern="0" dirty="0">
                <a:solidFill>
                  <a:srgbClr val="000000"/>
                </a:solidFill>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7190185" y="4029835"/>
            <a:ext cx="614363" cy="383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dirty="0">
                <a:solidFill>
                  <a:srgbClr val="000000"/>
                </a:solidFill>
              </a:rPr>
              <a:t>not </a:t>
            </a:r>
          </a:p>
          <a:p>
            <a:pPr defTabSz="685800" eaLnBrk="0" fontAlgn="base" hangingPunct="0">
              <a:lnSpc>
                <a:spcPct val="90000"/>
              </a:lnSpc>
              <a:spcBef>
                <a:spcPct val="0"/>
              </a:spcBef>
              <a:spcAft>
                <a:spcPct val="0"/>
              </a:spcAft>
              <a:defRPr/>
            </a:pPr>
            <a:r>
              <a:rPr lang="en-US" sz="1050" kern="0" dirty="0">
                <a:solidFill>
                  <a:srgbClr val="000000"/>
                </a:solidFill>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5922630" y="2851117"/>
            <a:ext cx="898003" cy="383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rPr>
              <a:t>window size</a:t>
            </a:r>
          </a:p>
          <a:p>
            <a:pPr algn="ctr" defTabSz="685800" eaLnBrk="0" fontAlgn="base" hangingPunct="0">
              <a:lnSpc>
                <a:spcPct val="90000"/>
              </a:lnSpc>
              <a:spcBef>
                <a:spcPct val="0"/>
              </a:spcBef>
              <a:spcAft>
                <a:spcPct val="0"/>
              </a:spcAft>
              <a:defRPr/>
            </a:pPr>
            <a:r>
              <a:rPr lang="en-US" sz="1050" i="1" kern="0" dirty="0">
                <a:solidFill>
                  <a:srgbClr val="000000"/>
                </a:solidFill>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6522246" y="3018995"/>
            <a:ext cx="445294" cy="102394"/>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5853114" y="3038045"/>
            <a:ext cx="445294" cy="102394"/>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5455448" y="3615498"/>
            <a:ext cx="2100255"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lvl="1" algn="ctr" defTabSz="685800" eaLnBrk="0" fontAlgn="base" hangingPunct="0">
              <a:spcBef>
                <a:spcPct val="0"/>
              </a:spcBef>
              <a:spcAft>
                <a:spcPct val="0"/>
              </a:spcAft>
              <a:defRPr/>
            </a:pPr>
            <a:r>
              <a:rPr lang="en-US" sz="1050" i="1" kern="0" dirty="0">
                <a:solidFill>
                  <a:srgbClr val="000000"/>
                </a:solidFill>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4704163" y="1712879"/>
            <a:ext cx="2289572" cy="1475184"/>
            <a:chOff x="2569" y="665"/>
            <a:chExt cx="1923"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95" cy="734"/>
              <a:chOff x="1976" y="2984"/>
              <a:chExt cx="1295" cy="73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1979" y="2984"/>
                <a:ext cx="625"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25" y="2987"/>
                <a:ext cx="536"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3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FFFFFF"/>
                    </a:solidFill>
                    <a:latin typeface="Arial" charset="0"/>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95" cy="1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000000"/>
                    </a:solidFill>
                    <a:latin typeface="Arial" charset="0"/>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32" y="3544"/>
                <a:ext cx="517"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687" y="3390"/>
                <a:ext cx="365" cy="1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900" kern="0" dirty="0">
                    <a:solidFill>
                      <a:srgbClr val="000000"/>
                    </a:solidFill>
                    <a:latin typeface="Arial" charset="0"/>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30" y="3544"/>
                <a:ext cx="539" cy="17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750" kern="0" dirty="0">
                    <a:solidFill>
                      <a:srgbClr val="000000"/>
                    </a:solidFill>
                    <a:latin typeface="Arial" charset="0"/>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569" y="665"/>
              <a:ext cx="1923"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555429" y="2959884"/>
            <a:ext cx="3822502" cy="1326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defTabSz="685800">
              <a:buNone/>
              <a:defRPr/>
            </a:pPr>
            <a:r>
              <a:rPr lang="en-US" altLang="en-US" sz="2100" i="1" kern="0" dirty="0">
                <a:solidFill>
                  <a:srgbClr val="CC0000"/>
                </a:solidFill>
                <a:latin typeface="Calibri" panose="020F0502020204030204"/>
                <a:ea typeface="ＭＳ Ｐゴシック" panose="020B0600070205080204" pitchFamily="34" charset="-128"/>
              </a:rPr>
              <a:t>Acknowledgements</a:t>
            </a:r>
            <a:r>
              <a:rPr lang="en-US" altLang="en-US" sz="2100" u="sng" kern="0" dirty="0">
                <a:solidFill>
                  <a:srgbClr val="CC0000"/>
                </a:solidFill>
                <a:latin typeface="Calibri" panose="020F0502020204030204"/>
                <a:ea typeface="ＭＳ Ｐゴシック" panose="020B0600070205080204" pitchFamily="34" charset="-128"/>
              </a:rPr>
              <a:t>:</a:t>
            </a:r>
            <a:endParaRPr lang="en-US" altLang="en-US" sz="2100" kern="0" dirty="0">
              <a:solidFill>
                <a:srgbClr val="CC0000"/>
              </a:solidFill>
              <a:latin typeface="Calibri" panose="020F0502020204030204"/>
              <a:ea typeface="ＭＳ Ｐゴシック" panose="020B0600070205080204" pitchFamily="34" charset="-128"/>
            </a:endParaRPr>
          </a:p>
          <a:p>
            <a:pPr marL="476250" lvl="1" indent="-214313" defTabSz="685800">
              <a:defRPr/>
            </a:pPr>
            <a:r>
              <a:rPr lang="en-US" altLang="en-US" sz="2100" kern="0" dirty="0">
                <a:solidFill>
                  <a:prstClr val="black"/>
                </a:solidFill>
                <a:latin typeface="Calibri" panose="020F0502020204030204"/>
                <a:ea typeface="ＭＳ Ｐゴシック" panose="020B0600070205080204" pitchFamily="34" charset="-128"/>
              </a:rPr>
              <a:t>seq # of next byte expected from other side</a:t>
            </a:r>
          </a:p>
          <a:p>
            <a:pPr marL="476250" lvl="1" indent="-214313" defTabSz="685800">
              <a:defRPr/>
            </a:pPr>
            <a:r>
              <a:rPr lang="en-US" altLang="en-US" sz="2100" kern="0" dirty="0">
                <a:solidFill>
                  <a:prstClr val="black"/>
                </a:solidFill>
                <a:latin typeface="Calibri" panose="020F0502020204030204"/>
                <a:ea typeface="ＭＳ Ｐゴシック" panose="020B0600070205080204" pitchFamily="34" charset="-128"/>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488754" y="4332680"/>
            <a:ext cx="3889178" cy="1297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defTabSz="685800">
              <a:spcBef>
                <a:spcPts val="1425"/>
              </a:spcBef>
              <a:buNone/>
              <a:defRPr/>
            </a:pPr>
            <a:r>
              <a:rPr lang="en-US" altLang="en-US" sz="2100" i="1" u="sng" kern="0" dirty="0">
                <a:solidFill>
                  <a:srgbClr val="CC0000"/>
                </a:solidFill>
                <a:latin typeface="Calibri" panose="020F0502020204030204"/>
                <a:ea typeface="ＭＳ Ｐゴシック" panose="020B0600070205080204" pitchFamily="34" charset="-128"/>
              </a:rPr>
              <a:t>Q</a:t>
            </a:r>
            <a:r>
              <a:rPr lang="en-US" altLang="en-US" sz="2100" kern="0" dirty="0">
                <a:solidFill>
                  <a:srgbClr val="CC0000"/>
                </a:solidFill>
                <a:latin typeface="Calibri" panose="020F0502020204030204"/>
                <a:ea typeface="ＭＳ Ｐゴシック" panose="020B0600070205080204" pitchFamily="34" charset="-128"/>
              </a:rPr>
              <a:t>:</a:t>
            </a:r>
            <a:r>
              <a:rPr lang="en-US" altLang="en-US" sz="2100" kern="0" dirty="0">
                <a:solidFill>
                  <a:prstClr val="black"/>
                </a:solidFill>
                <a:latin typeface="Calibri" panose="020F0502020204030204"/>
                <a:ea typeface="ＭＳ Ｐゴシック" panose="020B0600070205080204" pitchFamily="34" charset="-128"/>
              </a:rPr>
              <a:t> how receiver handles out-of-order segments</a:t>
            </a:r>
          </a:p>
          <a:p>
            <a:pPr marL="476250" lvl="1" indent="-214313" defTabSz="685800">
              <a:defRPr/>
            </a:pPr>
            <a:r>
              <a:rPr lang="en-US" altLang="en-US" sz="2100" i="1" u="sng" kern="0" dirty="0">
                <a:solidFill>
                  <a:srgbClr val="C00000"/>
                </a:solidFill>
                <a:latin typeface="Calibri" panose="020F0502020204030204"/>
                <a:ea typeface="ＭＳ Ｐゴシック" panose="020B0600070205080204" pitchFamily="34" charset="-128"/>
              </a:rPr>
              <a:t>A: </a:t>
            </a:r>
            <a:r>
              <a:rPr lang="en-US" altLang="en-US" sz="2100" b="1" kern="0" dirty="0">
                <a:solidFill>
                  <a:prstClr val="black"/>
                </a:solidFill>
                <a:latin typeface="Calibri" panose="020F0502020204030204"/>
                <a:ea typeface="ＭＳ Ｐゴシック" panose="020B0600070205080204" pitchFamily="34" charset="-128"/>
              </a:rPr>
              <a:t>Many would do so</a:t>
            </a:r>
            <a:r>
              <a:rPr lang="en-US" altLang="en-US" sz="2100" kern="0" dirty="0">
                <a:solidFill>
                  <a:prstClr val="black"/>
                </a:solidFill>
                <a:latin typeface="Calibri" panose="020F0502020204030204"/>
                <a:ea typeface="ＭＳ Ｐゴシック" panose="020B0600070205080204" pitchFamily="34" charset="-128"/>
              </a:rPr>
              <a:t>, but TCP spec doesn</a:t>
            </a:r>
            <a:r>
              <a:rPr lang="en-US" altLang="ja-JP" sz="2100" kern="0" dirty="0">
                <a:solidFill>
                  <a:prstClr val="black"/>
                </a:solidFill>
                <a:latin typeface="Calibri" panose="020F0502020204030204"/>
                <a:ea typeface="ＭＳ Ｐゴシック" panose="020B0600070205080204" pitchFamily="34" charset="-128"/>
              </a:rPr>
              <a:t>’t say, - up to implementor</a:t>
            </a:r>
            <a:endParaRPr lang="en-US" altLang="en-US" sz="2100" kern="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sequence numbers, ACKs</a:t>
            </a:r>
            <a:endParaRPr lang="en-US" sz="3600" dirty="0"/>
          </a:p>
        </p:txBody>
      </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6</a:t>
            </a:fld>
            <a:endParaRPr lang="en-US"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245838" y="3866051"/>
            <a:ext cx="1889389" cy="5909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lnSpc>
                <a:spcPct val="90000"/>
              </a:lnSpc>
              <a:spcBef>
                <a:spcPct val="0"/>
              </a:spcBef>
              <a:spcAft>
                <a:spcPct val="0"/>
              </a:spcAft>
              <a:defRPr/>
            </a:pPr>
            <a:r>
              <a:rPr lang="en-US" altLang="en-US" sz="1800" kern="0" dirty="0">
                <a:solidFill>
                  <a:srgbClr val="000000"/>
                </a:solidFill>
                <a:latin typeface="Calibri" panose="020F0502020204030204"/>
              </a:rPr>
              <a:t>host ACKs receipt of echoed </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900" kern="0" dirty="0">
              <a:solidFill>
                <a:srgbClr val="000000"/>
              </a:solidFill>
              <a:latin typeface="Calibri" panose="020F0502020204030204"/>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5422108" y="3108649"/>
            <a:ext cx="2390409" cy="646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800" kern="0" dirty="0">
                <a:solidFill>
                  <a:srgbClr val="000000"/>
                </a:solidFill>
                <a:latin typeface="Calibri" panose="020F0502020204030204"/>
              </a:rPr>
              <a:t>host ACKs receipt of</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 echoes </a:t>
            </a:r>
            <a:r>
              <a:rPr lang="en-US" altLang="en-US" sz="1800" kern="0" dirty="0">
                <a:solidFill>
                  <a:srgbClr val="000000"/>
                </a:solidFill>
                <a:latin typeface="Calibri" panose="020F0502020204030204"/>
              </a:rPr>
              <a:t>back </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1800" kern="0" dirty="0">
              <a:solidFill>
                <a:srgbClr val="000000"/>
              </a:solidFill>
              <a:latin typeface="Calibri" panose="020F0502020204030204"/>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2944670" y="5090609"/>
            <a:ext cx="2603598" cy="4154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2100" kern="0" dirty="0">
                <a:solidFill>
                  <a:srgbClr val="000099"/>
                </a:solidFill>
                <a:latin typeface="Calibri" panose="020F0502020204030204"/>
              </a:rPr>
              <a:t>simple telnet scenario</a:t>
            </a:r>
            <a:endParaRPr lang="en-US" sz="900" kern="0" dirty="0">
              <a:solidFill>
                <a:srgbClr val="000099"/>
              </a:solidFill>
              <a:latin typeface="Calibri" panose="020F0502020204030204"/>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5323570" y="1976978"/>
            <a:ext cx="795411"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000000"/>
                </a:solidFill>
                <a:latin typeface="Calibri" panose="020F0502020204030204"/>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2379809" y="1951752"/>
            <a:ext cx="803426"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000000"/>
                </a:solidFill>
                <a:latin typeface="Calibri" panose="020F0502020204030204"/>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124250" y="2763016"/>
            <a:ext cx="4208239" cy="585294"/>
            <a:chOff x="1499000" y="2541021"/>
            <a:chExt cx="5610984"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8"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lnSpc>
                  <a:spcPct val="90000"/>
                </a:lnSpc>
                <a:spcBef>
                  <a:spcPct val="0"/>
                </a:spcBef>
                <a:spcAft>
                  <a:spcPct val="0"/>
                </a:spcAft>
                <a:defRPr/>
              </a:pPr>
              <a:r>
                <a:rPr lang="en-US" altLang="en-US" sz="1800" kern="0" dirty="0">
                  <a:solidFill>
                    <a:srgbClr val="000000"/>
                  </a:solidFill>
                  <a:latin typeface="Calibri" panose="020F0502020204030204"/>
                </a:rPr>
                <a:t>User types</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900" kern="0" dirty="0">
                <a:solidFill>
                  <a:srgbClr val="000000"/>
                </a:solidFill>
                <a:latin typeface="Calibri" panose="020F0502020204030204"/>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30562" y="2854620"/>
              <a:ext cx="2879422"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latin typeface="Calibri" panose="020F0502020204030204"/>
                </a:rPr>
                <a:t>Seq=42, ACK=79, data = </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C</a:t>
              </a:r>
              <a:r>
                <a:rPr lang="ja-JP" altLang="en-US" sz="1350" kern="0">
                  <a:solidFill>
                    <a:srgbClr val="000000"/>
                  </a:solidFill>
                  <a:latin typeface="Calibri" panose="020F0502020204030204"/>
                </a:rPr>
                <a:t>’</a:t>
              </a:r>
              <a:endParaRPr lang="en-US" altLang="en-US" sz="1350" kern="0" dirty="0">
                <a:solidFill>
                  <a:srgbClr val="000000"/>
                </a:solidFill>
                <a:latin typeface="Calibri" panose="020F0502020204030204"/>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3176020" y="3499520"/>
            <a:ext cx="2154564" cy="600075"/>
            <a:chOff x="4234692" y="3523026"/>
            <a:chExt cx="2872752"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34692" y="3736718"/>
              <a:ext cx="2872752"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dirty="0">
                  <a:solidFill>
                    <a:srgbClr val="000000"/>
                  </a:solidFill>
                  <a:latin typeface="Calibri" panose="020F0502020204030204"/>
                </a:rPr>
                <a:t>Seq=79, ACK=43, data = </a:t>
              </a:r>
              <a:r>
                <a:rPr lang="ja-JP" altLang="en-US" sz="1350">
                  <a:solidFill>
                    <a:srgbClr val="000000"/>
                  </a:solidFill>
                  <a:latin typeface="Calibri" panose="020F0502020204030204"/>
                </a:rPr>
                <a:t>‘</a:t>
              </a:r>
              <a:r>
                <a:rPr lang="en-US" altLang="ja-JP" sz="1350" dirty="0">
                  <a:solidFill>
                    <a:srgbClr val="000000"/>
                  </a:solidFill>
                  <a:latin typeface="Calibri" panose="020F0502020204030204"/>
                </a:rPr>
                <a:t>C</a:t>
              </a:r>
              <a:r>
                <a:rPr lang="ja-JP" altLang="en-US" sz="1350">
                  <a:solidFill>
                    <a:srgbClr val="000000"/>
                  </a:solidFill>
                  <a:latin typeface="Calibri" panose="020F0502020204030204"/>
                </a:rPr>
                <a:t>’</a:t>
              </a:r>
              <a:endParaRPr lang="en-US" altLang="en-US" sz="825" dirty="0">
                <a:solidFill>
                  <a:srgbClr val="000000"/>
                </a:solidFill>
                <a:latin typeface="Calibri" panose="020F0502020204030204"/>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3254962" y="4246041"/>
            <a:ext cx="1943100" cy="379810"/>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74845"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dirty="0">
                  <a:solidFill>
                    <a:srgbClr val="000000"/>
                  </a:solidFill>
                  <a:latin typeface="Calibri" panose="020F0502020204030204"/>
                </a:rPr>
                <a:t>Seq=43, ACK=80</a:t>
              </a:r>
              <a:endParaRPr lang="en-US" sz="825" dirty="0">
                <a:solidFill>
                  <a:srgbClr val="000000"/>
                </a:solidFill>
                <a:latin typeface="Calibri" panose="020F0502020204030204"/>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3249009" y="2738710"/>
            <a:ext cx="0" cy="194071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kern="0" dirty="0">
              <a:solidFill>
                <a:srgbClr val="000000"/>
              </a:solidFill>
              <a:latin typeface="Calibri" panose="020F0502020204030204"/>
              <a:ea typeface="ＭＳ Ｐゴシック" charset="0"/>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5245687" y="2778001"/>
            <a:ext cx="0" cy="194071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2868009" y="2123157"/>
            <a:ext cx="566738" cy="586978"/>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kern="0" dirty="0">
                <a:solidFill>
                  <a:srgbClr val="000000"/>
                </a:solidFill>
                <a:latin typeface="Calibri" panose="020F0502020204030204"/>
                <a:ea typeface="ＭＳ Ｐゴシック" panose="020B0600070205080204" pitchFamily="34" charset="-128"/>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5014706" y="2152923"/>
            <a:ext cx="591741" cy="646510"/>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kern="0" dirty="0">
                <a:solidFill>
                  <a:srgbClr val="000000"/>
                </a:solidFill>
                <a:latin typeface="Calibri" panose="020F0502020204030204"/>
                <a:ea typeface="ＭＳ Ｐゴシック" panose="020B0600070205080204" pitchFamily="34" charset="-128"/>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3519237" y="2968792"/>
            <a:ext cx="1041364" cy="10287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3513222" y="3660608"/>
            <a:ext cx="1486532" cy="980574"/>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round trip time, timeout</a:t>
            </a:r>
            <a:endParaRPr lang="en-US" sz="3600" dirty="0"/>
          </a:p>
        </p:txBody>
      </p:sp>
      <p:sp>
        <p:nvSpPr>
          <p:cNvPr id="5" name="Slide Number Placeholder 2">
            <a:extLst>
              <a:ext uri="{FF2B5EF4-FFF2-40B4-BE49-F238E27FC236}">
                <a16:creationId xmlns:a16="http://schemas.microsoft.com/office/drawing/2014/main" id="{969C69A2-4389-474B-8FF4-E0D66DDE428E}"/>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7</a:t>
            </a:fld>
            <a:endParaRPr lang="en-US" dirty="0"/>
          </a:p>
        </p:txBody>
      </p:sp>
      <p:sp>
        <p:nvSpPr>
          <p:cNvPr id="29" name="Rectangle 1027">
            <a:extLst>
              <a:ext uri="{FF2B5EF4-FFF2-40B4-BE49-F238E27FC236}">
                <a16:creationId xmlns:a16="http://schemas.microsoft.com/office/drawing/2014/main" id="{E2121436-377D-9943-817E-B014539AAB14}"/>
              </a:ext>
            </a:extLst>
          </p:cNvPr>
          <p:cNvSpPr txBox="1">
            <a:spLocks noChangeArrowheads="1"/>
          </p:cNvSpPr>
          <p:nvPr/>
        </p:nvSpPr>
        <p:spPr>
          <a:xfrm>
            <a:off x="505342" y="1902102"/>
            <a:ext cx="3910083"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400" i="1" u="sng" dirty="0">
                <a:solidFill>
                  <a:srgbClr val="C00000"/>
                </a:solidFill>
                <a:latin typeface="Calibri" panose="020F0502020204030204"/>
              </a:rPr>
              <a:t>Q:</a:t>
            </a:r>
            <a:r>
              <a:rPr lang="en-US" sz="2400" i="1" dirty="0">
                <a:solidFill>
                  <a:srgbClr val="C00000"/>
                </a:solidFill>
                <a:latin typeface="Calibri" panose="020F0502020204030204"/>
              </a:rPr>
              <a:t> </a:t>
            </a:r>
            <a:r>
              <a:rPr lang="en-US" sz="2400" dirty="0">
                <a:solidFill>
                  <a:prstClr val="black"/>
                </a:solidFill>
                <a:latin typeface="Calibri" panose="020F0502020204030204"/>
              </a:rPr>
              <a:t>how to set TCP timeout value?</a:t>
            </a:r>
          </a:p>
          <a:p>
            <a:pPr marL="264319" indent="-166688" defTabSz="685800">
              <a:spcBef>
                <a:spcPts val="750"/>
              </a:spcBef>
              <a:buFont typeface="Wingdings" charset="2"/>
              <a:buChar char="§"/>
              <a:defRPr/>
            </a:pPr>
            <a:r>
              <a:rPr lang="en-US" sz="2100" dirty="0">
                <a:solidFill>
                  <a:prstClr val="black"/>
                </a:solidFill>
                <a:latin typeface="Calibri" panose="020F0502020204030204"/>
              </a:rPr>
              <a:t>longer than RTT, but RTT varies!</a:t>
            </a:r>
          </a:p>
          <a:p>
            <a:pPr marL="264319" indent="-166688" defTabSz="685800">
              <a:spcBef>
                <a:spcPts val="750"/>
              </a:spcBef>
              <a:buFont typeface="Wingdings" charset="2"/>
              <a:buChar char="§"/>
              <a:defRPr/>
            </a:pPr>
            <a:r>
              <a:rPr lang="en-US" sz="2100" i="1" dirty="0">
                <a:solidFill>
                  <a:srgbClr val="C00000"/>
                </a:solidFill>
                <a:latin typeface="Calibri" panose="020F0502020204030204"/>
              </a:rPr>
              <a:t>too short:</a:t>
            </a:r>
            <a:r>
              <a:rPr lang="en-US" sz="2100" dirty="0">
                <a:solidFill>
                  <a:srgbClr val="C00000"/>
                </a:solidFill>
                <a:latin typeface="Calibri" panose="020F0502020204030204"/>
              </a:rPr>
              <a:t> </a:t>
            </a:r>
            <a:r>
              <a:rPr lang="en-US" sz="2100" dirty="0">
                <a:solidFill>
                  <a:prstClr val="black"/>
                </a:solidFill>
                <a:latin typeface="Calibri" panose="020F0502020204030204"/>
              </a:rPr>
              <a:t>premature timeout, unnecessary retransmissions</a:t>
            </a:r>
          </a:p>
          <a:p>
            <a:pPr marL="264319" indent="-166688" defTabSz="685800">
              <a:spcBef>
                <a:spcPts val="750"/>
              </a:spcBef>
              <a:buFont typeface="Wingdings" charset="2"/>
              <a:buChar char="§"/>
              <a:defRPr/>
            </a:pPr>
            <a:r>
              <a:rPr lang="en-US" sz="2100" i="1" dirty="0">
                <a:solidFill>
                  <a:srgbClr val="C00000"/>
                </a:solidFill>
                <a:latin typeface="Calibri" panose="020F0502020204030204"/>
              </a:rPr>
              <a:t>too long:</a:t>
            </a:r>
            <a:r>
              <a:rPr lang="en-US" sz="2100" dirty="0">
                <a:solidFill>
                  <a:srgbClr val="C00000"/>
                </a:solidFill>
                <a:latin typeface="Calibri" panose="020F0502020204030204"/>
              </a:rPr>
              <a:t> </a:t>
            </a:r>
            <a:r>
              <a:rPr lang="en-US" sz="2100" dirty="0">
                <a:solidFill>
                  <a:prstClr val="black"/>
                </a:solidFill>
                <a:latin typeface="Calibri" panose="020F0502020204030204"/>
              </a:rPr>
              <a:t>slow reaction to segment loss</a:t>
            </a:r>
          </a:p>
        </p:txBody>
      </p:sp>
      <p:sp>
        <p:nvSpPr>
          <p:cNvPr id="30" name="Rectangle 1028">
            <a:extLst>
              <a:ext uri="{FF2B5EF4-FFF2-40B4-BE49-F238E27FC236}">
                <a16:creationId xmlns:a16="http://schemas.microsoft.com/office/drawing/2014/main" id="{EBDCCB72-DE33-3D44-BBEA-E4C6F08C3D8E}"/>
              </a:ext>
            </a:extLst>
          </p:cNvPr>
          <p:cNvSpPr txBox="1">
            <a:spLocks noChangeArrowheads="1"/>
          </p:cNvSpPr>
          <p:nvPr/>
        </p:nvSpPr>
        <p:spPr>
          <a:xfrm>
            <a:off x="4694129" y="1902102"/>
            <a:ext cx="4174435"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altLang="en-US" sz="2400" i="1" u="sng" dirty="0">
                <a:solidFill>
                  <a:srgbClr val="C00000"/>
                </a:solidFill>
                <a:latin typeface="Calibri" panose="020F0502020204030204"/>
                <a:ea typeface="ＭＳ Ｐゴシック" panose="020B0600070205080204" pitchFamily="34" charset="-128"/>
              </a:rPr>
              <a:t>Q</a:t>
            </a:r>
            <a:r>
              <a:rPr lang="en-US" altLang="en-US" sz="2400" u="sng" dirty="0">
                <a:solidFill>
                  <a:srgbClr val="C00000"/>
                </a:solidFill>
                <a:latin typeface="Calibri" panose="020F0502020204030204"/>
                <a:ea typeface="ＭＳ Ｐゴシック" panose="020B0600070205080204" pitchFamily="34" charset="-128"/>
              </a:rPr>
              <a:t>:</a:t>
            </a:r>
            <a:r>
              <a:rPr lang="en-US" altLang="en-US" sz="2400" dirty="0">
                <a:solidFill>
                  <a:srgbClr val="C00000"/>
                </a:solidFill>
                <a:latin typeface="Calibri" panose="020F0502020204030204"/>
                <a:ea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rPr>
              <a:t>how to estimate RTT?</a:t>
            </a:r>
          </a:p>
          <a:p>
            <a:pPr marL="264319" indent="-166688" defTabSz="685800">
              <a:spcBef>
                <a:spcPts val="450"/>
              </a:spcBef>
              <a:defRPr/>
            </a:pPr>
            <a:r>
              <a:rPr lang="en-US" altLang="en-US" sz="2100" dirty="0">
                <a:solidFill>
                  <a:srgbClr val="000099"/>
                </a:solidFill>
                <a:latin typeface="Courier New" panose="02070309020205020404" pitchFamily="49" charset="0"/>
                <a:ea typeface="ＭＳ Ｐゴシック" panose="020B0600070205080204" pitchFamily="34" charset="-128"/>
                <a:cs typeface="Courier New" panose="02070309020205020404" pitchFamily="49" charset="0"/>
              </a:rPr>
              <a:t>SampleRTT:</a:t>
            </a:r>
            <a:r>
              <a:rPr lang="en-US" altLang="en-US" sz="2100" dirty="0">
                <a:solidFill>
                  <a:prstClr val="black"/>
                </a:solidFill>
                <a:latin typeface="Calibri" panose="020F0502020204030204"/>
                <a:ea typeface="ＭＳ Ｐゴシック" panose="020B0600070205080204" pitchFamily="34" charset="-128"/>
              </a:rPr>
              <a:t>measured time from segment transmission until ACK receipt</a:t>
            </a:r>
          </a:p>
          <a:p>
            <a:pPr marL="521494" lvl="1" indent="-173831" defTabSz="685800">
              <a:spcBef>
                <a:spcPts val="450"/>
              </a:spcBef>
              <a:defRPr/>
            </a:pPr>
            <a:r>
              <a:rPr lang="en-US" altLang="en-US" sz="1800" dirty="0">
                <a:solidFill>
                  <a:prstClr val="black"/>
                </a:solidFill>
                <a:latin typeface="Calibri" panose="020F0502020204030204"/>
                <a:ea typeface="ＭＳ Ｐゴシック" panose="020B0600070205080204" pitchFamily="34" charset="-128"/>
              </a:rPr>
              <a:t>ignore retransmissions</a:t>
            </a:r>
          </a:p>
          <a:p>
            <a:pPr marL="264319" indent="-166688" defTabSz="685800">
              <a:spcBef>
                <a:spcPts val="450"/>
              </a:spcBef>
              <a:defRPr/>
            </a:pPr>
            <a:r>
              <a:rPr lang="en-US" altLang="en-US" sz="2100" dirty="0">
                <a:solidFill>
                  <a:srgbClr val="0000A3"/>
                </a:solidFill>
                <a:latin typeface="Courier New" panose="02070309020205020404" pitchFamily="49" charset="0"/>
                <a:ea typeface="ＭＳ Ｐゴシック" panose="020B0600070205080204" pitchFamily="34" charset="-128"/>
                <a:cs typeface="Courier New" panose="02070309020205020404" pitchFamily="49" charset="0"/>
              </a:rPr>
              <a:t>SampleRTT</a:t>
            </a:r>
            <a:r>
              <a:rPr lang="en-US" altLang="en-US" sz="2100" dirty="0">
                <a:solidFill>
                  <a:srgbClr val="0000A8"/>
                </a:solidFill>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100" dirty="0">
                <a:solidFill>
                  <a:prstClr val="black"/>
                </a:solidFill>
                <a:latin typeface="Calibri" panose="020F0502020204030204"/>
                <a:ea typeface="ＭＳ Ｐゴシック" panose="020B0600070205080204" pitchFamily="34" charset="-128"/>
              </a:rPr>
              <a:t>will vary, want estimated RTT “</a:t>
            </a:r>
            <a:r>
              <a:rPr lang="en-US" altLang="ja-JP" sz="2100" dirty="0">
                <a:solidFill>
                  <a:prstClr val="black"/>
                </a:solidFill>
                <a:latin typeface="Calibri" panose="020F0502020204030204"/>
                <a:ea typeface="ＭＳ Ｐゴシック" panose="020B0600070205080204" pitchFamily="34" charset="-128"/>
              </a:rPr>
              <a:t>smoother</a:t>
            </a:r>
            <a:r>
              <a:rPr lang="en-US" altLang="ja-JP" sz="1800" dirty="0">
                <a:solidFill>
                  <a:prstClr val="black"/>
                </a:solidFill>
                <a:latin typeface="Calibri" panose="020F0502020204030204"/>
                <a:ea typeface="ＭＳ Ｐゴシック" panose="020B0600070205080204" pitchFamily="34" charset="-128"/>
              </a:rPr>
              <a:t>”</a:t>
            </a:r>
            <a:endParaRPr lang="en-US" altLang="ja-JP" sz="2100" dirty="0">
              <a:solidFill>
                <a:prstClr val="black"/>
              </a:solidFill>
              <a:latin typeface="Calibri" panose="020F0502020204030204"/>
              <a:ea typeface="ＭＳ Ｐゴシック" panose="020B0600070205080204" pitchFamily="34" charset="-128"/>
            </a:endParaRPr>
          </a:p>
          <a:p>
            <a:pPr marL="521494" lvl="1" indent="-173831" defTabSz="685800">
              <a:spcBef>
                <a:spcPts val="450"/>
              </a:spcBef>
              <a:defRPr/>
            </a:pPr>
            <a:r>
              <a:rPr lang="en-US" altLang="en-US" sz="1800" dirty="0">
                <a:solidFill>
                  <a:prstClr val="black"/>
                </a:solidFill>
                <a:latin typeface="Calibri" panose="020F0502020204030204"/>
                <a:ea typeface="ＭＳ Ｐゴシック" panose="020B0600070205080204" pitchFamily="34" charset="-128"/>
              </a:rPr>
              <a:t>average several </a:t>
            </a:r>
            <a:r>
              <a:rPr lang="en-US" altLang="en-US" sz="1800" i="1" dirty="0">
                <a:solidFill>
                  <a:prstClr val="black"/>
                </a:solidFill>
                <a:latin typeface="Calibri" panose="020F0502020204030204"/>
                <a:ea typeface="ＭＳ Ｐゴシック" panose="020B0600070205080204" pitchFamily="34" charset="-128"/>
              </a:rPr>
              <a:t>recent</a:t>
            </a:r>
            <a:r>
              <a:rPr lang="en-US" altLang="en-US" sz="1800" dirty="0">
                <a:solidFill>
                  <a:prstClr val="black"/>
                </a:solidFill>
                <a:latin typeface="Calibri" panose="020F0502020204030204"/>
                <a:ea typeface="ＭＳ Ｐゴシック" panose="020B0600070205080204" pitchFamily="34" charset="-128"/>
              </a:rPr>
              <a:t> measurements, not just current </a:t>
            </a:r>
            <a:r>
              <a:rPr lang="en-US" altLang="en-US" sz="1800" dirty="0">
                <a:solidFill>
                  <a:srgbClr val="0000A3"/>
                </a:solidFill>
                <a:latin typeface="Courier New" panose="02070309020205020404" pitchFamily="49" charset="0"/>
                <a:ea typeface="ＭＳ Ｐゴシック" panose="020B0600070205080204" pitchFamily="34" charset="-128"/>
                <a:cs typeface="Courier New" panose="02070309020205020404" pitchFamily="49" charset="0"/>
              </a:rPr>
              <a:t>SampleRTT</a:t>
            </a:r>
          </a:p>
        </p:txBody>
      </p:sp>
    </p:spTree>
    <p:extLst>
      <p:ext uri="{BB962C8B-B14F-4D97-AF65-F5344CB8AC3E}">
        <p14:creationId xmlns:p14="http://schemas.microsoft.com/office/powerpoint/2010/main" val="4149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3F844AE2-7CBB-B241-ABD8-7F7D48828D4B}"/>
              </a:ext>
            </a:extLst>
          </p:cNvPr>
          <p:cNvSpPr/>
          <p:nvPr/>
        </p:nvSpPr>
        <p:spPr>
          <a:xfrm>
            <a:off x="657225" y="1803408"/>
            <a:ext cx="6731152" cy="3462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round trip time, timeout</a:t>
            </a:r>
            <a:endParaRPr lang="en-US" sz="3600" dirty="0"/>
          </a:p>
        </p:txBody>
      </p:sp>
      <p:sp>
        <p:nvSpPr>
          <p:cNvPr id="20" name="Slide Number Placeholder 2">
            <a:extLst>
              <a:ext uri="{FF2B5EF4-FFF2-40B4-BE49-F238E27FC236}">
                <a16:creationId xmlns:a16="http://schemas.microsoft.com/office/drawing/2014/main" id="{80D2031C-D174-0C4C-B2D2-3D6ED6240314}"/>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8</a:t>
            </a:fld>
            <a:endParaRPr lang="en-US" dirty="0"/>
          </a:p>
        </p:txBody>
      </p:sp>
      <p:sp>
        <p:nvSpPr>
          <p:cNvPr id="28" name="Text Box 3">
            <a:extLst>
              <a:ext uri="{FF2B5EF4-FFF2-40B4-BE49-F238E27FC236}">
                <a16:creationId xmlns:a16="http://schemas.microsoft.com/office/drawing/2014/main" id="{6466E19A-B1DF-1A42-B002-F49CA04A4C03}"/>
              </a:ext>
            </a:extLst>
          </p:cNvPr>
          <p:cNvSpPr txBox="1">
            <a:spLocks noChangeArrowheads="1"/>
          </p:cNvSpPr>
          <p:nvPr/>
        </p:nvSpPr>
        <p:spPr bwMode="auto">
          <a:xfrm>
            <a:off x="642959" y="1792363"/>
            <a:ext cx="6817892"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b="1" dirty="0">
                <a:solidFill>
                  <a:srgbClr val="000000"/>
                </a:solidFill>
                <a:latin typeface="Courier New" charset="0"/>
              </a:rPr>
              <a:t>EstimatedRTT = (1- </a:t>
            </a:r>
            <a:r>
              <a:rPr lang="en-US" sz="1800" b="1" dirty="0">
                <a:solidFill>
                  <a:srgbClr val="000000"/>
                </a:solidFill>
                <a:latin typeface="Courier New" charset="0"/>
                <a:sym typeface="Symbol" charset="0"/>
              </a:rPr>
              <a:t></a:t>
            </a:r>
            <a:r>
              <a:rPr lang="en-US" sz="1800" b="1" dirty="0">
                <a:solidFill>
                  <a:srgbClr val="000000"/>
                </a:solidFill>
                <a:latin typeface="Courier New" charset="0"/>
              </a:rPr>
              <a:t>)*EstimatedRTT + </a:t>
            </a:r>
            <a:r>
              <a:rPr lang="en-US" sz="1800" b="1" dirty="0">
                <a:solidFill>
                  <a:srgbClr val="000000"/>
                </a:solidFill>
                <a:latin typeface="Courier New" charset="0"/>
                <a:sym typeface="Symbol" charset="0"/>
              </a:rPr>
              <a:t></a:t>
            </a:r>
            <a:r>
              <a:rPr lang="en-US" sz="1800" b="1" dirty="0">
                <a:solidFill>
                  <a:srgbClr val="000000"/>
                </a:solidFill>
                <a:latin typeface="Courier New" charset="0"/>
              </a:rPr>
              <a:t>*SampleRTT</a:t>
            </a:r>
          </a:p>
        </p:txBody>
      </p:sp>
      <p:sp>
        <p:nvSpPr>
          <p:cNvPr id="31" name="Rectangle 4">
            <a:extLst>
              <a:ext uri="{FF2B5EF4-FFF2-40B4-BE49-F238E27FC236}">
                <a16:creationId xmlns:a16="http://schemas.microsoft.com/office/drawing/2014/main" id="{4A4474B4-4EC5-0C4B-8B43-3433BA1CD706}"/>
              </a:ext>
            </a:extLst>
          </p:cNvPr>
          <p:cNvSpPr>
            <a:spLocks noChangeArrowheads="1"/>
          </p:cNvSpPr>
          <p:nvPr/>
        </p:nvSpPr>
        <p:spPr bwMode="auto">
          <a:xfrm>
            <a:off x="713701" y="2250247"/>
            <a:ext cx="5300663" cy="1068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19075" indent="-219075" defTabSz="685800" eaLnBrk="0" fontAlgn="base" hangingPunct="0">
              <a:lnSpc>
                <a:spcPct val="85000"/>
              </a:lnSpc>
              <a:spcBef>
                <a:spcPct val="20000"/>
              </a:spcBef>
              <a:spcAft>
                <a:spcPct val="0"/>
              </a:spcAft>
              <a:buClr>
                <a:srgbClr val="000099"/>
              </a:buClr>
              <a:buSzPct val="100000"/>
              <a:buFont typeface="Wingdings" charset="2"/>
              <a:buChar char="§"/>
              <a:defRPr/>
            </a:pPr>
            <a:r>
              <a:rPr lang="en-US" u="sng" dirty="0">
                <a:solidFill>
                  <a:srgbClr val="000000"/>
                </a:solidFill>
                <a:latin typeface="Calibri" panose="020F0502020204030204"/>
                <a:ea typeface="ＭＳ Ｐゴシック" charset="0"/>
              </a:rPr>
              <a:t>e</a:t>
            </a:r>
            <a:r>
              <a:rPr lang="en-US" dirty="0">
                <a:solidFill>
                  <a:srgbClr val="000000"/>
                </a:solidFill>
                <a:latin typeface="Calibri" panose="020F0502020204030204"/>
                <a:ea typeface="ＭＳ Ｐゴシック" charset="0"/>
              </a:rPr>
              <a:t>xponential </a:t>
            </a:r>
            <a:r>
              <a:rPr lang="en-US" u="sng" dirty="0">
                <a:solidFill>
                  <a:srgbClr val="000000"/>
                </a:solidFill>
                <a:latin typeface="Calibri" panose="020F0502020204030204"/>
                <a:ea typeface="ＭＳ Ｐゴシック" charset="0"/>
              </a:rPr>
              <a:t>w</a:t>
            </a:r>
            <a:r>
              <a:rPr lang="en-US" dirty="0">
                <a:solidFill>
                  <a:srgbClr val="000000"/>
                </a:solidFill>
                <a:latin typeface="Calibri" panose="020F0502020204030204"/>
                <a:ea typeface="ＭＳ Ｐゴシック" charset="0"/>
              </a:rPr>
              <a:t>eighted </a:t>
            </a:r>
            <a:r>
              <a:rPr lang="en-US" u="sng" dirty="0">
                <a:solidFill>
                  <a:srgbClr val="000000"/>
                </a:solidFill>
                <a:latin typeface="Calibri" panose="020F0502020204030204"/>
                <a:ea typeface="ＭＳ Ｐゴシック" charset="0"/>
              </a:rPr>
              <a:t>m</a:t>
            </a:r>
            <a:r>
              <a:rPr lang="en-US" dirty="0">
                <a:solidFill>
                  <a:srgbClr val="000000"/>
                </a:solidFill>
                <a:latin typeface="Calibri" panose="020F0502020204030204"/>
                <a:ea typeface="ＭＳ Ｐゴシック" charset="0"/>
              </a:rPr>
              <a:t>oving </a:t>
            </a:r>
            <a:r>
              <a:rPr lang="en-US" u="sng" dirty="0">
                <a:solidFill>
                  <a:srgbClr val="000000"/>
                </a:solidFill>
                <a:latin typeface="Calibri" panose="020F0502020204030204"/>
                <a:ea typeface="ＭＳ Ｐゴシック" charset="0"/>
              </a:rPr>
              <a:t>a</a:t>
            </a:r>
            <a:r>
              <a:rPr lang="en-US" dirty="0">
                <a:solidFill>
                  <a:srgbClr val="000000"/>
                </a:solidFill>
                <a:latin typeface="Calibri" panose="020F0502020204030204"/>
                <a:ea typeface="ＭＳ Ｐゴシック" charset="0"/>
              </a:rPr>
              <a:t>verage (EWMA)</a:t>
            </a:r>
          </a:p>
          <a:p>
            <a:pPr marL="219075" indent="-219075" defTabSz="685800" eaLnBrk="0" fontAlgn="base" hangingPunct="0">
              <a:lnSpc>
                <a:spcPct val="85000"/>
              </a:lnSpc>
              <a:spcBef>
                <a:spcPct val="20000"/>
              </a:spcBef>
              <a:spcAft>
                <a:spcPct val="0"/>
              </a:spcAft>
              <a:buClr>
                <a:srgbClr val="000099"/>
              </a:buClr>
              <a:buSzPct val="100000"/>
              <a:buFont typeface="Wingdings" charset="2"/>
              <a:buChar char="§"/>
              <a:defRPr/>
            </a:pPr>
            <a:r>
              <a:rPr lang="en-US" dirty="0">
                <a:solidFill>
                  <a:srgbClr val="000000"/>
                </a:solidFill>
                <a:latin typeface="Calibri" panose="020F0502020204030204"/>
                <a:ea typeface="ＭＳ Ｐゴシック" charset="0"/>
              </a:rPr>
              <a:t>influence of past sample decreases exponentially fast</a:t>
            </a:r>
          </a:p>
          <a:p>
            <a:pPr marL="219075" indent="-219075" defTabSz="685800" eaLnBrk="0" fontAlgn="base" hangingPunct="0">
              <a:lnSpc>
                <a:spcPct val="85000"/>
              </a:lnSpc>
              <a:spcBef>
                <a:spcPct val="20000"/>
              </a:spcBef>
              <a:spcAft>
                <a:spcPct val="0"/>
              </a:spcAft>
              <a:buClr>
                <a:srgbClr val="000099"/>
              </a:buClr>
              <a:buSzPct val="100000"/>
              <a:buFont typeface="Wingdings" charset="2"/>
              <a:buChar char="§"/>
              <a:defRPr/>
            </a:pPr>
            <a:r>
              <a:rPr lang="en-US" dirty="0">
                <a:solidFill>
                  <a:srgbClr val="000000"/>
                </a:solidFill>
                <a:latin typeface="Calibri" panose="020F0502020204030204"/>
                <a:ea typeface="ＭＳ Ｐゴシック" charset="0"/>
              </a:rPr>
              <a:t>typical value: </a:t>
            </a:r>
            <a:r>
              <a:rPr lang="en-US" dirty="0">
                <a:solidFill>
                  <a:srgbClr val="000000"/>
                </a:solidFill>
                <a:latin typeface="Calibri" panose="020F0502020204030204"/>
                <a:ea typeface="ＭＳ Ｐゴシック" charset="0"/>
                <a:sym typeface="Symbol" charset="0"/>
              </a:rPr>
              <a:t> </a:t>
            </a:r>
            <a:r>
              <a:rPr lang="en-US" b="1" dirty="0">
                <a:solidFill>
                  <a:srgbClr val="000000"/>
                </a:solidFill>
                <a:latin typeface="Calibri" panose="020F0502020204030204"/>
                <a:ea typeface="ＭＳ Ｐゴシック" charset="0"/>
                <a:sym typeface="Symbol" charset="0"/>
              </a:rPr>
              <a:t>=</a:t>
            </a:r>
            <a:r>
              <a:rPr lang="en-US" dirty="0">
                <a:solidFill>
                  <a:srgbClr val="000000"/>
                </a:solidFill>
                <a:latin typeface="Calibri" panose="020F0502020204030204"/>
                <a:ea typeface="ＭＳ Ｐゴシック" charset="0"/>
              </a:rPr>
              <a:t> 0.125</a:t>
            </a:r>
          </a:p>
        </p:txBody>
      </p:sp>
      <p:grpSp>
        <p:nvGrpSpPr>
          <p:cNvPr id="5" name="Group 4">
            <a:extLst>
              <a:ext uri="{FF2B5EF4-FFF2-40B4-BE49-F238E27FC236}">
                <a16:creationId xmlns:a16="http://schemas.microsoft.com/office/drawing/2014/main" id="{F081A723-2F83-4149-BCD6-BF02F3F3BE24}"/>
              </a:ext>
            </a:extLst>
          </p:cNvPr>
          <p:cNvGrpSpPr/>
          <p:nvPr/>
        </p:nvGrpSpPr>
        <p:grpSpPr>
          <a:xfrm>
            <a:off x="3480991" y="2689601"/>
            <a:ext cx="4860250" cy="3327797"/>
            <a:chOff x="1500029" y="2565400"/>
            <a:chExt cx="6480334" cy="4437063"/>
          </a:xfrm>
        </p:grpSpPr>
        <p:grpSp>
          <p:nvGrpSpPr>
            <p:cNvPr id="25" name="Group 14">
              <a:extLst>
                <a:ext uri="{FF2B5EF4-FFF2-40B4-BE49-F238E27FC236}">
                  <a16:creationId xmlns:a16="http://schemas.microsoft.com/office/drawing/2014/main"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a16="http://schemas.microsoft.com/office/drawing/2014/main"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a16="http://schemas.microsoft.com/office/drawing/2014/main"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2" name="Text Box 18">
              <a:extLst>
                <a:ext uri="{FF2B5EF4-FFF2-40B4-BE49-F238E27FC236}">
                  <a16:creationId xmlns:a16="http://schemas.microsoft.com/office/drawing/2014/main" id="{F9CA757D-88CC-BF41-8C8F-6A16BC6C043B}"/>
                </a:ext>
              </a:extLst>
            </p:cNvPr>
            <p:cNvSpPr txBox="1">
              <a:spLocks noChangeArrowheads="1"/>
            </p:cNvSpPr>
            <p:nvPr/>
          </p:nvSpPr>
          <p:spPr bwMode="auto">
            <a:xfrm rot="10800000">
              <a:off x="1500029" y="3508821"/>
              <a:ext cx="492443" cy="180092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RTT (milliseconds)</a:t>
              </a:r>
            </a:p>
          </p:txBody>
        </p:sp>
        <p:sp>
          <p:nvSpPr>
            <p:cNvPr id="33" name="Text Box 19">
              <a:extLst>
                <a:ext uri="{FF2B5EF4-FFF2-40B4-BE49-F238E27FC236}">
                  <a16:creationId xmlns:a16="http://schemas.microsoft.com/office/drawing/2014/main" id="{5783915F-0896-D04A-9D0B-BE930F53923F}"/>
                </a:ext>
              </a:extLst>
            </p:cNvPr>
            <p:cNvSpPr txBox="1">
              <a:spLocks noChangeArrowheads="1"/>
            </p:cNvSpPr>
            <p:nvPr/>
          </p:nvSpPr>
          <p:spPr bwMode="auto">
            <a:xfrm>
              <a:off x="2208862" y="3168651"/>
              <a:ext cx="3980151" cy="33855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r>
                <a:rPr lang="en-US" sz="1050" dirty="0">
                  <a:solidFill>
                    <a:srgbClr val="FFFFFF"/>
                  </a:solidFill>
                  <a:latin typeface="Arial" charset="0"/>
                </a:rPr>
                <a:t> </a:t>
              </a:r>
              <a:r>
                <a:rPr lang="en-US" sz="1050" dirty="0">
                  <a:solidFill>
                    <a:srgbClr val="000000"/>
                  </a:solidFill>
                  <a:latin typeface="Arial" charset="0"/>
                </a:rPr>
                <a:t>gaia.cs.umass.edu</a:t>
              </a:r>
              <a:r>
                <a:rPr lang="en-US" sz="1050" dirty="0">
                  <a:solidFill>
                    <a:srgbClr val="FFFFFF"/>
                  </a:solidFill>
                  <a:latin typeface="Arial" charset="0"/>
                </a:rPr>
                <a:t> </a:t>
              </a:r>
              <a:r>
                <a:rPr lang="en-US" sz="1050" dirty="0">
                  <a:solidFill>
                    <a:srgbClr val="000000"/>
                  </a:solidFill>
                  <a:latin typeface="Arial" charset="0"/>
                </a:rPr>
                <a:t>to</a:t>
              </a:r>
              <a:r>
                <a:rPr lang="en-US" sz="1050" dirty="0">
                  <a:solidFill>
                    <a:srgbClr val="FFFFFF"/>
                  </a:solidFill>
                  <a:latin typeface="Arial" charset="0"/>
                </a:rPr>
                <a:t> </a:t>
              </a:r>
              <a:r>
                <a:rPr lang="en-US" sz="1050" dirty="0">
                  <a:solidFill>
                    <a:srgbClr val="000000"/>
                  </a:solidFill>
                  <a:latin typeface="Arial" charset="0"/>
                </a:rPr>
                <a:t>fantasia.eurecom.fr</a:t>
              </a:r>
            </a:p>
          </p:txBody>
        </p:sp>
        <p:sp>
          <p:nvSpPr>
            <p:cNvPr id="34" name="Text Box 20">
              <a:extLst>
                <a:ext uri="{FF2B5EF4-FFF2-40B4-BE49-F238E27FC236}">
                  <a16:creationId xmlns:a16="http://schemas.microsoft.com/office/drawing/2014/main" id="{FDF3CC5E-05FF-9348-AFEA-B37BF0709D00}"/>
                </a:ext>
              </a:extLst>
            </p:cNvPr>
            <p:cNvSpPr txBox="1">
              <a:spLocks noChangeArrowheads="1"/>
            </p:cNvSpPr>
            <p:nvPr/>
          </p:nvSpPr>
          <p:spPr bwMode="auto">
            <a:xfrm>
              <a:off x="6184440" y="5230813"/>
              <a:ext cx="125504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sampleRTT</a:t>
              </a:r>
            </a:p>
          </p:txBody>
        </p:sp>
        <p:sp>
          <p:nvSpPr>
            <p:cNvPr id="35" name="Text Box 21">
              <a:extLst>
                <a:ext uri="{FF2B5EF4-FFF2-40B4-BE49-F238E27FC236}">
                  <a16:creationId xmlns:a16="http://schemas.microsoft.com/office/drawing/2014/main" id="{F17B9932-059C-5C46-AFDC-5141617F4B50}"/>
                </a:ext>
              </a:extLst>
            </p:cNvPr>
            <p:cNvSpPr txBox="1">
              <a:spLocks noChangeArrowheads="1"/>
            </p:cNvSpPr>
            <p:nvPr/>
          </p:nvSpPr>
          <p:spPr bwMode="auto">
            <a:xfrm>
              <a:off x="6177399" y="5548313"/>
              <a:ext cx="15072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EstimatedRTT</a:t>
              </a:r>
            </a:p>
          </p:txBody>
        </p:sp>
        <p:sp>
          <p:nvSpPr>
            <p:cNvPr id="36" name="AutoShape 22">
              <a:extLst>
                <a:ext uri="{FF2B5EF4-FFF2-40B4-BE49-F238E27FC236}">
                  <a16:creationId xmlns:a16="http://schemas.microsoft.com/office/drawing/2014/main"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7" name="AutoShape 23">
              <a:extLst>
                <a:ext uri="{FF2B5EF4-FFF2-40B4-BE49-F238E27FC236}">
                  <a16:creationId xmlns:a16="http://schemas.microsoft.com/office/drawing/2014/main"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8" name="Rectangle 24">
              <a:extLst>
                <a:ext uri="{FF2B5EF4-FFF2-40B4-BE49-F238E27FC236}">
                  <a16:creationId xmlns:a16="http://schemas.microsoft.com/office/drawing/2014/main"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9" name="Group 15">
              <a:extLst>
                <a:ext uri="{FF2B5EF4-FFF2-40B4-BE49-F238E27FC236}">
                  <a16:creationId xmlns:a16="http://schemas.microsoft.com/office/drawing/2014/main" id="{46A7C35C-F55E-D448-9F19-A868DE731AA0}"/>
                </a:ext>
              </a:extLst>
            </p:cNvPr>
            <p:cNvGrpSpPr>
              <a:grpSpLocks/>
            </p:cNvGrpSpPr>
            <p:nvPr/>
          </p:nvGrpSpPr>
          <p:grpSpPr bwMode="auto">
            <a:xfrm>
              <a:off x="4041775" y="6386513"/>
              <a:ext cx="1512888" cy="615950"/>
              <a:chOff x="2343" y="3645"/>
              <a:chExt cx="953" cy="388"/>
            </a:xfrm>
          </p:grpSpPr>
          <p:sp>
            <p:nvSpPr>
              <p:cNvPr id="40" name="Rectangle 16">
                <a:extLst>
                  <a:ext uri="{FF2B5EF4-FFF2-40B4-BE49-F238E27FC236}">
                    <a16:creationId xmlns:a16="http://schemas.microsoft.com/office/drawing/2014/main"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 name="Text Box 17">
                <a:extLst>
                  <a:ext uri="{FF2B5EF4-FFF2-40B4-BE49-F238E27FC236}">
                    <a16:creationId xmlns:a16="http://schemas.microsoft.com/office/drawing/2014/main" id="{9530FDC0-AF61-1C41-8AC4-6B29BC1A8D3C}"/>
                  </a:ext>
                </a:extLst>
              </p:cNvPr>
              <p:cNvSpPr txBox="1">
                <a:spLocks noChangeArrowheads="1"/>
              </p:cNvSpPr>
              <p:nvPr/>
            </p:nvSpPr>
            <p:spPr bwMode="auto">
              <a:xfrm>
                <a:off x="2343" y="3645"/>
                <a:ext cx="953"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time (seconds)</a:t>
                </a:r>
              </a:p>
            </p:txBody>
          </p:sp>
        </p:grpSp>
      </p:grpSp>
    </p:spTree>
    <p:extLst>
      <p:ext uri="{BB962C8B-B14F-4D97-AF65-F5344CB8AC3E}">
        <p14:creationId xmlns:p14="http://schemas.microsoft.com/office/powerpoint/2010/main" val="388983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Sender</a:t>
            </a:r>
            <a:endParaRPr lang="en-US" sz="3600" dirty="0"/>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9</a:t>
            </a:fld>
            <a:endParaRPr lang="en-US"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599018" y="1895540"/>
            <a:ext cx="3714750"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sz="2100" dirty="0">
                <a:solidFill>
                  <a:srgbClr val="CC0000"/>
                </a:solidFill>
                <a:latin typeface="Calibri" panose="020F0502020204030204"/>
              </a:rPr>
              <a:t>event: data received from application</a:t>
            </a:r>
          </a:p>
          <a:p>
            <a:pPr marL="264319" indent="-166688" defTabSz="685800">
              <a:spcBef>
                <a:spcPts val="750"/>
              </a:spcBef>
              <a:buFont typeface="Wingdings" charset="2"/>
              <a:buChar char="§"/>
              <a:defRPr/>
            </a:pPr>
            <a:r>
              <a:rPr lang="en-US" sz="2100" dirty="0">
                <a:solidFill>
                  <a:prstClr val="black"/>
                </a:solidFill>
                <a:latin typeface="Calibri" panose="020F0502020204030204"/>
              </a:rPr>
              <a:t>create segment with seq #</a:t>
            </a:r>
          </a:p>
          <a:p>
            <a:pPr marL="264319" indent="-166688" defTabSz="685800">
              <a:spcBef>
                <a:spcPts val="750"/>
              </a:spcBef>
              <a:buFont typeface="Wingdings" charset="2"/>
              <a:buChar char="§"/>
              <a:defRPr/>
            </a:pPr>
            <a:r>
              <a:rPr lang="en-US" sz="2100" dirty="0">
                <a:solidFill>
                  <a:prstClr val="black"/>
                </a:solidFill>
                <a:latin typeface="Calibri" panose="020F0502020204030204"/>
              </a:rPr>
              <a:t>seq # is byte-stream number of first data byte in  segment</a:t>
            </a:r>
          </a:p>
          <a:p>
            <a:pPr marL="264319" indent="-166688" defTabSz="685800">
              <a:spcBef>
                <a:spcPts val="750"/>
              </a:spcBef>
              <a:buFont typeface="Wingdings" charset="2"/>
              <a:buChar char="§"/>
              <a:defRPr/>
            </a:pPr>
            <a:r>
              <a:rPr lang="en-US" sz="2100" dirty="0">
                <a:solidFill>
                  <a:prstClr val="black"/>
                </a:solidFill>
                <a:latin typeface="Calibri" panose="020F0502020204030204"/>
              </a:rPr>
              <a:t>start timer if not already running </a:t>
            </a:r>
          </a:p>
          <a:p>
            <a:pPr marL="521494" lvl="1" indent="-173831" defTabSz="685800">
              <a:spcBef>
                <a:spcPts val="375"/>
              </a:spcBef>
              <a:buFont typeface="Arial"/>
              <a:buChar char="•"/>
              <a:defRPr/>
            </a:pPr>
            <a:r>
              <a:rPr lang="en-US" sz="1800" dirty="0">
                <a:solidFill>
                  <a:prstClr val="black"/>
                </a:solidFill>
                <a:latin typeface="Calibri" panose="020F0502020204030204"/>
              </a:rPr>
              <a:t>think of timer as for oldest unACKed segment</a:t>
            </a:r>
          </a:p>
          <a:p>
            <a:pPr marL="521494" lvl="1" indent="-173831" defTabSz="685800">
              <a:spcBef>
                <a:spcPts val="375"/>
              </a:spcBef>
              <a:buFont typeface="Arial"/>
              <a:buChar char="•"/>
              <a:defRPr/>
            </a:pPr>
            <a:r>
              <a:rPr lang="en-US" sz="1800" dirty="0">
                <a:solidFill>
                  <a:prstClr val="black"/>
                </a:solidFill>
                <a:latin typeface="Calibri" panose="020F0502020204030204"/>
              </a:rPr>
              <a:t>expiration interval: </a:t>
            </a:r>
            <a:r>
              <a:rPr lang="en-US" sz="1800" b="1" dirty="0">
                <a:solidFill>
                  <a:prstClr val="black"/>
                </a:solidFill>
                <a:latin typeface="Courier New" charset="0"/>
              </a:rPr>
              <a:t>TimeOutInterval</a:t>
            </a:r>
            <a:r>
              <a:rPr lang="en-US" sz="1800" dirty="0">
                <a:solidFill>
                  <a:prstClr val="black"/>
                </a:solidFill>
                <a:latin typeface="Courier New" charset="0"/>
              </a:rPr>
              <a:t> </a:t>
            </a:r>
            <a:endParaRPr lang="en-US" sz="1800" dirty="0">
              <a:solidFill>
                <a:prstClr val="black"/>
              </a:solidFill>
              <a:latin typeface="Calibri" panose="020F0502020204030204"/>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5046156" y="1941858"/>
            <a:ext cx="2857500" cy="1457325"/>
          </a:xfrm>
          <a:prstGeom prst="rect">
            <a:avLst/>
          </a:prstGeom>
        </p:spPr>
        <p:txBody>
          <a:bodyPr vert="horz" lIns="68580" tIns="34290" rIns="68580" bIns="3429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sz="2250" i="1" dirty="0">
                <a:solidFill>
                  <a:srgbClr val="CC0000"/>
                </a:solidFill>
                <a:latin typeface="Calibri" panose="020F0502020204030204"/>
              </a:rPr>
              <a:t>event: timeout</a:t>
            </a:r>
          </a:p>
          <a:p>
            <a:pPr marL="264319" indent="-166688" defTabSz="685800">
              <a:spcBef>
                <a:spcPts val="750"/>
              </a:spcBef>
              <a:buFont typeface="Wingdings" charset="2"/>
              <a:buChar char="§"/>
              <a:defRPr/>
            </a:pPr>
            <a:r>
              <a:rPr lang="en-US" sz="2100" dirty="0">
                <a:solidFill>
                  <a:prstClr val="black"/>
                </a:solidFill>
                <a:latin typeface="Calibri" panose="020F0502020204030204"/>
              </a:rPr>
              <a:t>retransmit segment that caused timeout</a:t>
            </a:r>
          </a:p>
          <a:p>
            <a:pPr marL="264319" indent="-166688" defTabSz="685800">
              <a:spcBef>
                <a:spcPts val="750"/>
              </a:spcBef>
              <a:buFont typeface="Wingdings" charset="2"/>
              <a:buChar char="§"/>
              <a:defRPr/>
            </a:pPr>
            <a:r>
              <a:rPr lang="en-US" sz="2100" dirty="0">
                <a:solidFill>
                  <a:prstClr val="black"/>
                </a:solidFill>
                <a:latin typeface="Calibri" panose="020F0502020204030204"/>
              </a:rPr>
              <a:t>restart timer</a:t>
            </a:r>
          </a:p>
          <a:p>
            <a:pPr marL="264319" indent="-166688" defTabSz="685800">
              <a:spcBef>
                <a:spcPts val="750"/>
              </a:spcBef>
              <a:buNone/>
              <a:defRPr/>
            </a:pPr>
            <a:r>
              <a:rPr lang="en-US" sz="2100" dirty="0">
                <a:solidFill>
                  <a:prstClr val="black"/>
                </a:solidFill>
                <a:latin typeface="Calibri" panose="020F0502020204030204"/>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5046156" y="3401664"/>
            <a:ext cx="3690340" cy="23953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sz="2100" i="1" dirty="0">
                <a:solidFill>
                  <a:srgbClr val="CC0000"/>
                </a:solidFill>
                <a:latin typeface="Calibri" panose="020F0502020204030204"/>
              </a:rPr>
              <a:t>event: ACK received </a:t>
            </a:r>
          </a:p>
          <a:p>
            <a:pPr marL="264319" indent="-166688" defTabSz="685800">
              <a:spcBef>
                <a:spcPts val="750"/>
              </a:spcBef>
              <a:buFont typeface="Wingdings" charset="2"/>
              <a:buChar char="§"/>
              <a:defRPr/>
            </a:pPr>
            <a:r>
              <a:rPr lang="en-US" sz="2100" dirty="0">
                <a:solidFill>
                  <a:prstClr val="black"/>
                </a:solidFill>
                <a:latin typeface="Calibri" panose="020F0502020204030204"/>
              </a:rPr>
              <a:t>if ACK acknowledges previously unACKed segments</a:t>
            </a:r>
          </a:p>
          <a:p>
            <a:pPr marL="521494" lvl="1" indent="-173831" defTabSz="685800">
              <a:spcBef>
                <a:spcPts val="375"/>
              </a:spcBef>
              <a:buFont typeface="Arial"/>
              <a:buChar char="•"/>
              <a:defRPr/>
            </a:pPr>
            <a:r>
              <a:rPr lang="en-US" sz="1800" dirty="0">
                <a:solidFill>
                  <a:prstClr val="black"/>
                </a:solidFill>
                <a:latin typeface="Calibri" panose="020F0502020204030204"/>
              </a:rPr>
              <a:t>update what is known to be ACKed</a:t>
            </a:r>
          </a:p>
          <a:p>
            <a:pPr marL="521494" lvl="1" indent="-173831" defTabSz="685800">
              <a:spcBef>
                <a:spcPts val="375"/>
              </a:spcBef>
              <a:buFont typeface="Arial"/>
              <a:buChar char="•"/>
              <a:defRPr/>
            </a:pPr>
            <a:r>
              <a:rPr lang="en-US" sz="1800" dirty="0">
                <a:solidFill>
                  <a:prstClr val="black"/>
                </a:solidFill>
                <a:latin typeface="Calibri" panose="020F0502020204030204"/>
              </a:rPr>
              <a:t>start timer if there are  still unACKed segments</a:t>
            </a:r>
          </a:p>
          <a:p>
            <a:pPr marL="521494" lvl="1" indent="-173831" defTabSz="685800">
              <a:spcBef>
                <a:spcPts val="375"/>
              </a:spcBef>
              <a:buNone/>
              <a:defRPr/>
            </a:pPr>
            <a:endParaRPr lang="en-US" sz="1800" dirty="0">
              <a:solidFill>
                <a:prstClr val="black"/>
              </a:solidFill>
              <a:latin typeface="Calibri" panose="020F0502020204030204"/>
            </a:endParaRPr>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Receiver: ACK generation</a:t>
            </a:r>
            <a:endParaRPr lang="en-US" sz="3200" dirty="0"/>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10</a:t>
            </a:fld>
            <a:endParaRPr lang="en-US"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1607965" y="1936717"/>
            <a:ext cx="2666884" cy="38163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lnSpc>
                <a:spcPct val="90000"/>
              </a:lnSpc>
              <a:defRPr/>
            </a:pPr>
            <a:r>
              <a:rPr lang="en-US" sz="2100" i="1" dirty="0">
                <a:solidFill>
                  <a:srgbClr val="CC0000"/>
                </a:solidFill>
                <a:latin typeface="Calibri" panose="020F0502020204030204"/>
              </a:rPr>
              <a:t>Event at receiver</a:t>
            </a:r>
            <a:endParaRPr lang="en-US" sz="1500" i="1" dirty="0">
              <a:solidFill>
                <a:srgbClr val="CC0000"/>
              </a:solidFill>
              <a:latin typeface="Calibri" panose="020F0502020204030204"/>
            </a:endParaRPr>
          </a:p>
          <a:p>
            <a:pPr defTabSz="685800">
              <a:lnSpc>
                <a:spcPct val="90000"/>
              </a:lnSpc>
              <a:defRPr/>
            </a:pPr>
            <a:endParaRPr lang="en-US" sz="1500" i="1" dirty="0">
              <a:solidFill>
                <a:srgbClr val="CC0000"/>
              </a:solidFill>
              <a:latin typeface="Calibri" panose="020F0502020204030204"/>
            </a:endParaRPr>
          </a:p>
          <a:p>
            <a:pPr defTabSz="685800">
              <a:lnSpc>
                <a:spcPct val="90000"/>
              </a:lnSpc>
              <a:defRPr/>
            </a:pPr>
            <a:r>
              <a:rPr lang="en-US" sz="1500" dirty="0">
                <a:solidFill>
                  <a:prstClr val="black"/>
                </a:solidFill>
                <a:latin typeface="Calibri" panose="020F0502020204030204"/>
              </a:rPr>
              <a:t>arrival of in-order segment with</a:t>
            </a:r>
          </a:p>
          <a:p>
            <a:pPr defTabSz="685800">
              <a:lnSpc>
                <a:spcPct val="90000"/>
              </a:lnSpc>
              <a:defRPr/>
            </a:pPr>
            <a:r>
              <a:rPr lang="en-US" sz="1500" dirty="0">
                <a:solidFill>
                  <a:prstClr val="black"/>
                </a:solidFill>
                <a:latin typeface="Calibri" panose="020F0502020204030204"/>
              </a:rPr>
              <a:t>expected seq #. All data up to</a:t>
            </a:r>
          </a:p>
          <a:p>
            <a:pPr defTabSz="685800">
              <a:lnSpc>
                <a:spcPct val="90000"/>
              </a:lnSpc>
              <a:defRPr/>
            </a:pPr>
            <a:r>
              <a:rPr lang="en-US" sz="1500" dirty="0">
                <a:solidFill>
                  <a:prstClr val="black"/>
                </a:solidFill>
                <a:latin typeface="Calibri" panose="020F0502020204030204"/>
              </a:rPr>
              <a:t>expected seq # already ACKed</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arrival of in-order segment with</a:t>
            </a:r>
          </a:p>
          <a:p>
            <a:pPr defTabSz="685800">
              <a:lnSpc>
                <a:spcPct val="90000"/>
              </a:lnSpc>
              <a:defRPr/>
            </a:pPr>
            <a:r>
              <a:rPr lang="en-US" sz="1500" dirty="0">
                <a:solidFill>
                  <a:prstClr val="black"/>
                </a:solidFill>
                <a:latin typeface="Calibri" panose="020F0502020204030204"/>
              </a:rPr>
              <a:t>expected seq #. One other </a:t>
            </a:r>
          </a:p>
          <a:p>
            <a:pPr defTabSz="685800">
              <a:lnSpc>
                <a:spcPct val="90000"/>
              </a:lnSpc>
              <a:defRPr/>
            </a:pPr>
            <a:r>
              <a:rPr lang="en-US" sz="1500" dirty="0">
                <a:solidFill>
                  <a:prstClr val="black"/>
                </a:solidFill>
                <a:latin typeface="Calibri" panose="020F0502020204030204"/>
              </a:rPr>
              <a:t>segment has ACK pending</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arrival of out-of-order segment</a:t>
            </a:r>
          </a:p>
          <a:p>
            <a:pPr defTabSz="685800">
              <a:lnSpc>
                <a:spcPct val="90000"/>
              </a:lnSpc>
              <a:defRPr/>
            </a:pPr>
            <a:r>
              <a:rPr lang="en-US" sz="1500" dirty="0">
                <a:solidFill>
                  <a:prstClr val="black"/>
                </a:solidFill>
                <a:latin typeface="Calibri" panose="020F0502020204030204"/>
              </a:rPr>
              <a:t>higher-than-expect seq. # .</a:t>
            </a:r>
          </a:p>
          <a:p>
            <a:pPr defTabSz="685800">
              <a:lnSpc>
                <a:spcPct val="90000"/>
              </a:lnSpc>
              <a:defRPr/>
            </a:pPr>
            <a:r>
              <a:rPr lang="en-US" sz="1500" dirty="0">
                <a:solidFill>
                  <a:prstClr val="black"/>
                </a:solidFill>
                <a:latin typeface="Calibri" panose="020F0502020204030204"/>
              </a:rPr>
              <a:t>Gap detected</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arrival of segment that </a:t>
            </a:r>
          </a:p>
          <a:p>
            <a:pPr defTabSz="685800">
              <a:lnSpc>
                <a:spcPct val="90000"/>
              </a:lnSpc>
              <a:defRPr/>
            </a:pPr>
            <a:r>
              <a:rPr lang="en-US" sz="1500" dirty="0">
                <a:solidFill>
                  <a:prstClr val="black"/>
                </a:solidFill>
                <a:latin typeface="Calibri" panose="020F0502020204030204"/>
              </a:rPr>
              <a:t>partially or completely fills gap</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endParaRPr lang="en-US" sz="788" dirty="0">
              <a:solidFill>
                <a:prstClr val="black"/>
              </a:solidFill>
              <a:latin typeface="Calibri" panose="020F0502020204030204"/>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4429746" y="1929573"/>
            <a:ext cx="3224152" cy="38163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lnSpc>
                <a:spcPct val="90000"/>
              </a:lnSpc>
              <a:defRPr/>
            </a:pPr>
            <a:r>
              <a:rPr lang="en-US" sz="2100" i="1" dirty="0">
                <a:solidFill>
                  <a:srgbClr val="CC0000"/>
                </a:solidFill>
                <a:latin typeface="Calibri" panose="020F0502020204030204"/>
              </a:rPr>
              <a:t>TCP receiver action</a:t>
            </a:r>
            <a:endParaRPr lang="en-US" sz="1500" i="1" dirty="0">
              <a:solidFill>
                <a:srgbClr val="CC0000"/>
              </a:solidFill>
              <a:latin typeface="Calibri" panose="020F0502020204030204"/>
            </a:endParaRPr>
          </a:p>
          <a:p>
            <a:pPr defTabSz="685800">
              <a:lnSpc>
                <a:spcPct val="90000"/>
              </a:lnSpc>
              <a:defRPr/>
            </a:pPr>
            <a:endParaRPr lang="en-US" sz="1500" i="1" dirty="0">
              <a:solidFill>
                <a:srgbClr val="CC0000"/>
              </a:solidFill>
              <a:latin typeface="Calibri" panose="020F0502020204030204"/>
            </a:endParaRPr>
          </a:p>
          <a:p>
            <a:pPr defTabSz="685800">
              <a:lnSpc>
                <a:spcPct val="90000"/>
              </a:lnSpc>
              <a:defRPr/>
            </a:pPr>
            <a:r>
              <a:rPr lang="en-US" sz="1500" b="1" dirty="0">
                <a:solidFill>
                  <a:prstClr val="black"/>
                </a:solidFill>
                <a:highlight>
                  <a:srgbClr val="FFFF00"/>
                </a:highlight>
                <a:latin typeface="Calibri" panose="020F0502020204030204"/>
              </a:rPr>
              <a:t>delayed ACK</a:t>
            </a:r>
            <a:r>
              <a:rPr lang="en-US" sz="1500" dirty="0">
                <a:solidFill>
                  <a:prstClr val="black"/>
                </a:solidFill>
                <a:latin typeface="Calibri" panose="020F0502020204030204"/>
              </a:rPr>
              <a:t>. Wait up to 500ms</a:t>
            </a:r>
          </a:p>
          <a:p>
            <a:pPr defTabSz="685800">
              <a:lnSpc>
                <a:spcPct val="90000"/>
              </a:lnSpc>
              <a:defRPr/>
            </a:pPr>
            <a:r>
              <a:rPr lang="en-US" sz="1500" dirty="0">
                <a:solidFill>
                  <a:prstClr val="black"/>
                </a:solidFill>
                <a:latin typeface="Calibri" panose="020F0502020204030204"/>
              </a:rPr>
              <a:t>for next segment. If no next segment,</a:t>
            </a:r>
          </a:p>
          <a:p>
            <a:pPr defTabSz="685800">
              <a:lnSpc>
                <a:spcPct val="90000"/>
              </a:lnSpc>
              <a:defRPr/>
            </a:pPr>
            <a:r>
              <a:rPr lang="en-US" sz="1500" dirty="0">
                <a:solidFill>
                  <a:prstClr val="black"/>
                </a:solidFill>
                <a:latin typeface="Calibri" panose="020F0502020204030204"/>
              </a:rPr>
              <a:t>send ACK</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immediately send single </a:t>
            </a:r>
            <a:r>
              <a:rPr lang="en-US" sz="1500" b="1" dirty="0">
                <a:solidFill>
                  <a:prstClr val="black"/>
                </a:solidFill>
                <a:highlight>
                  <a:srgbClr val="FFFF00"/>
                </a:highlight>
                <a:latin typeface="Calibri" panose="020F0502020204030204"/>
              </a:rPr>
              <a:t>cumulative</a:t>
            </a:r>
            <a:r>
              <a:rPr lang="en-US" sz="1500" dirty="0">
                <a:solidFill>
                  <a:prstClr val="black"/>
                </a:solidFill>
                <a:highlight>
                  <a:srgbClr val="FFFF00"/>
                </a:highlight>
                <a:latin typeface="Calibri" panose="020F0502020204030204"/>
              </a:rPr>
              <a:t> </a:t>
            </a:r>
          </a:p>
          <a:p>
            <a:pPr defTabSz="685800">
              <a:lnSpc>
                <a:spcPct val="90000"/>
              </a:lnSpc>
              <a:defRPr/>
            </a:pPr>
            <a:r>
              <a:rPr lang="en-US" sz="1500" dirty="0">
                <a:solidFill>
                  <a:prstClr val="black"/>
                </a:solidFill>
                <a:latin typeface="Calibri" panose="020F0502020204030204"/>
              </a:rPr>
              <a:t>ACK, ACKing both in-order segments </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immediately send </a:t>
            </a:r>
            <a:r>
              <a:rPr lang="en-US" sz="1500" i="1" dirty="0">
                <a:solidFill>
                  <a:srgbClr val="CC0000"/>
                </a:solidFill>
                <a:latin typeface="Calibri" panose="020F0502020204030204"/>
              </a:rPr>
              <a:t>duplicate ACK</a:t>
            </a:r>
            <a:r>
              <a:rPr lang="en-US" sz="1500" dirty="0">
                <a:solidFill>
                  <a:srgbClr val="CC0000"/>
                </a:solidFill>
                <a:latin typeface="Calibri" panose="020F0502020204030204"/>
              </a:rPr>
              <a:t>,</a:t>
            </a:r>
            <a:r>
              <a:rPr lang="en-US" sz="1500" dirty="0">
                <a:solidFill>
                  <a:prstClr val="black"/>
                </a:solidFill>
                <a:latin typeface="Calibri" panose="020F0502020204030204"/>
              </a:rPr>
              <a:t> </a:t>
            </a:r>
          </a:p>
          <a:p>
            <a:pPr defTabSz="685800">
              <a:lnSpc>
                <a:spcPct val="90000"/>
              </a:lnSpc>
              <a:defRPr/>
            </a:pPr>
            <a:r>
              <a:rPr lang="en-US" sz="1500" dirty="0">
                <a:solidFill>
                  <a:prstClr val="black"/>
                </a:solidFill>
                <a:latin typeface="Calibri" panose="020F0502020204030204"/>
              </a:rPr>
              <a:t>indicating </a:t>
            </a:r>
            <a:r>
              <a:rPr lang="en-US" sz="1500" b="1" dirty="0">
                <a:solidFill>
                  <a:prstClr val="black"/>
                </a:solidFill>
                <a:highlight>
                  <a:srgbClr val="FFFF00"/>
                </a:highlight>
                <a:latin typeface="Calibri" panose="020F0502020204030204"/>
              </a:rPr>
              <a:t>seq. # of next expected byte</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r>
              <a:rPr lang="en-US" sz="1500" dirty="0">
                <a:solidFill>
                  <a:prstClr val="black"/>
                </a:solidFill>
                <a:latin typeface="Calibri" panose="020F0502020204030204"/>
              </a:rPr>
              <a:t>immediate send ACK, provided that</a:t>
            </a:r>
          </a:p>
          <a:p>
            <a:pPr defTabSz="685800">
              <a:lnSpc>
                <a:spcPct val="90000"/>
              </a:lnSpc>
              <a:defRPr/>
            </a:pPr>
            <a:r>
              <a:rPr lang="en-US" sz="1500" dirty="0">
                <a:solidFill>
                  <a:prstClr val="black"/>
                </a:solidFill>
                <a:latin typeface="Calibri" panose="020F0502020204030204"/>
              </a:rPr>
              <a:t>segment starts at lower end of gap</a:t>
            </a:r>
          </a:p>
          <a:p>
            <a:pPr defTabSz="685800">
              <a:lnSpc>
                <a:spcPct val="90000"/>
              </a:lnSpc>
              <a:defRPr/>
            </a:pPr>
            <a:endParaRPr lang="en-US" sz="1500" dirty="0">
              <a:solidFill>
                <a:prstClr val="black"/>
              </a:solidFill>
              <a:latin typeface="Calibri" panose="020F0502020204030204"/>
            </a:endParaRPr>
          </a:p>
          <a:p>
            <a:pPr defTabSz="685800">
              <a:lnSpc>
                <a:spcPct val="90000"/>
              </a:lnSpc>
              <a:defRPr/>
            </a:pPr>
            <a:endParaRPr lang="en-US" sz="788" dirty="0">
              <a:solidFill>
                <a:prstClr val="black"/>
              </a:solidFill>
              <a:latin typeface="Calibri" panose="020F0502020204030204"/>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4286871" y="2049826"/>
            <a:ext cx="0" cy="3264694"/>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lnSpc>
                <a:spcPct val="90000"/>
              </a:lnSpc>
              <a:defRPr/>
            </a:pPr>
            <a:endParaRPr lang="en-US" sz="1500" dirty="0">
              <a:solidFill>
                <a:prstClr val="black"/>
              </a:solidFill>
              <a:latin typeface="Calibri" panose="020F0502020204030204"/>
              <a:ea typeface="ＭＳ Ｐゴシック" charset="0"/>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1619871" y="2379629"/>
            <a:ext cx="5620941"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lnSpc>
                <a:spcPct val="90000"/>
              </a:lnSpc>
              <a:defRPr/>
            </a:pPr>
            <a:endParaRPr lang="en-US" sz="1500" dirty="0">
              <a:solidFill>
                <a:prstClr val="black"/>
              </a:solidFill>
              <a:latin typeface="Calibri" panose="020F0502020204030204"/>
              <a:ea typeface="ＭＳ Ｐゴシック" charset="0"/>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1607965" y="3170204"/>
            <a:ext cx="5620941"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lnSpc>
                <a:spcPct val="90000"/>
              </a:lnSpc>
              <a:defRPr/>
            </a:pPr>
            <a:endParaRPr lang="en-US" sz="1500" dirty="0">
              <a:solidFill>
                <a:prstClr val="black"/>
              </a:solidFill>
              <a:latin typeface="Calibri" panose="020F0502020204030204"/>
              <a:ea typeface="ＭＳ Ｐゴシック" charset="0"/>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1621063" y="3994117"/>
            <a:ext cx="5620940"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lnSpc>
                <a:spcPct val="90000"/>
              </a:lnSpc>
              <a:defRPr/>
            </a:pPr>
            <a:endParaRPr lang="en-US" sz="1500" dirty="0">
              <a:solidFill>
                <a:prstClr val="black"/>
              </a:solidFill>
              <a:latin typeface="Calibri" panose="020F0502020204030204"/>
              <a:ea typeface="ＭＳ Ｐゴシック" charset="0"/>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1616300" y="4810886"/>
            <a:ext cx="5620940"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lnSpc>
                <a:spcPct val="90000"/>
              </a:lnSpc>
              <a:defRPr/>
            </a:pPr>
            <a:endParaRPr lang="en-US" sz="1500" dirty="0">
              <a:solidFill>
                <a:prstClr val="black"/>
              </a:solidFill>
              <a:latin typeface="Calibri" panose="020F0502020204030204"/>
              <a:ea typeface="ＭＳ Ｐゴシック" charset="0"/>
            </a:endParaRPr>
          </a:p>
        </p:txBody>
      </p:sp>
    </p:spTree>
    <p:extLst>
      <p:ext uri="{BB962C8B-B14F-4D97-AF65-F5344CB8AC3E}">
        <p14:creationId xmlns:p14="http://schemas.microsoft.com/office/powerpoint/2010/main" val="1771317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retransmission scenarios</a:t>
            </a:r>
            <a:endParaRPr lang="en-US" sz="3600" dirty="0"/>
          </a:p>
        </p:txBody>
      </p:sp>
      <p:sp>
        <p:nvSpPr>
          <p:cNvPr id="89" name="Slide Number Placeholder 2">
            <a:extLst>
              <a:ext uri="{FF2B5EF4-FFF2-40B4-BE49-F238E27FC236}">
                <a16:creationId xmlns:a16="http://schemas.microsoft.com/office/drawing/2014/main" id="{9219ABA9-4F40-D04C-A34A-87A2AE31AF28}"/>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11</a:t>
            </a:fld>
            <a:endParaRPr lang="en-US"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1645796" y="5262316"/>
            <a:ext cx="1505540"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lost ACK scenario</a:t>
            </a:r>
            <a:endParaRPr lang="en-US" sz="750" kern="0" dirty="0">
              <a:solidFill>
                <a:srgbClr val="000000"/>
              </a:solidFill>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2951770" y="1745211"/>
            <a:ext cx="631904"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201941" y="1758308"/>
            <a:ext cx="633507"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1524052" y="2614367"/>
            <a:ext cx="1759744" cy="428625"/>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37812" y="2476173"/>
              <a:ext cx="2163413"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1508573" y="2433391"/>
            <a:ext cx="0" cy="264437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3329039" y="2429820"/>
            <a:ext cx="0" cy="2653903"/>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1514527" y="3935961"/>
            <a:ext cx="1763315" cy="384572"/>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26700" y="4185910"/>
              <a:ext cx="2163414"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119662" y="3110860"/>
            <a:ext cx="1136750" cy="496997"/>
            <a:chOff x="2826215" y="3004810"/>
            <a:chExt cx="1515666" cy="662662"/>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187907" y="3046085"/>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ACK=100</a:t>
              </a:r>
              <a:endParaRPr lang="en-US" sz="750" dirty="0">
                <a:solidFill>
                  <a:srgbClr val="000000"/>
                </a:solidFill>
                <a:latin typeface="Times New Roman" charset="0"/>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26215" y="3236585"/>
              <a:ext cx="421483" cy="43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b="1" kern="0" dirty="0">
                  <a:solidFill>
                    <a:srgbClr val="FF0000"/>
                  </a:solidFill>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1506192" y="4384827"/>
            <a:ext cx="1753791" cy="586978"/>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25944" y="4916160"/>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ACK=100</a:t>
              </a:r>
              <a:endParaRPr lang="en-US" sz="750" dirty="0">
                <a:solidFill>
                  <a:srgbClr val="000000"/>
                </a:solidFill>
                <a:latin typeface="Times New Roman" charset="0"/>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204481" y="2617939"/>
            <a:ext cx="346249" cy="1313259"/>
            <a:chOff x="1605974" y="2347585"/>
            <a:chExt cx="46166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05974" y="2871009"/>
              <a:ext cx="461665" cy="7279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5787940" y="5262316"/>
            <a:ext cx="1617751"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premature timeout</a:t>
            </a:r>
            <a:endParaRPr lang="en-US" sz="750" kern="0" dirty="0">
              <a:solidFill>
                <a:srgbClr val="000000"/>
              </a:solidFill>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7149424" y="1745211"/>
            <a:ext cx="631904"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5399595" y="1758308"/>
            <a:ext cx="633507"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5706227" y="2433391"/>
            <a:ext cx="0" cy="264437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7510025" y="2429820"/>
            <a:ext cx="0" cy="2653903"/>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6465847" y="4028829"/>
            <a:ext cx="792956" cy="381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5696703" y="3940723"/>
            <a:ext cx="1831181" cy="528608"/>
            <a:chOff x="7595603" y="4111297"/>
            <a:chExt cx="2441575" cy="704811"/>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2" y="4262110"/>
              <a:ext cx="1280692" cy="5539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dirty="0">
                  <a:solidFill>
                    <a:srgbClr val="000000"/>
                  </a:solidFill>
                </a:rPr>
                <a:t>Seq=92,  8</a:t>
              </a:r>
            </a:p>
            <a:p>
              <a:pPr defTabSz="685800" eaLnBrk="0" fontAlgn="base" hangingPunct="0">
                <a:spcBef>
                  <a:spcPct val="0"/>
                </a:spcBef>
                <a:spcAft>
                  <a:spcPct val="0"/>
                </a:spcAft>
                <a:defRPr/>
              </a:pPr>
              <a:r>
                <a:rPr lang="en-US" sz="1050" kern="0" dirty="0">
                  <a:solidFill>
                    <a:srgbClr val="000000"/>
                  </a:solidFill>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6345593" y="4661051"/>
            <a:ext cx="560784" cy="18454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5720515" y="4468170"/>
            <a:ext cx="1753791" cy="586978"/>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45041" y="5027285"/>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ACK=120</a:t>
              </a:r>
              <a:endParaRPr lang="en-US" sz="750" dirty="0">
                <a:solidFill>
                  <a:srgbClr val="000000"/>
                </a:solidFill>
                <a:latin typeface="Times New Roman" charset="0"/>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5402134" y="2617939"/>
            <a:ext cx="346249" cy="1313259"/>
            <a:chOff x="7202846" y="2347585"/>
            <a:chExt cx="46166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02846" y="2871009"/>
              <a:ext cx="461665" cy="7279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5702656" y="3110858"/>
            <a:ext cx="1754981" cy="1458515"/>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470322" y="3496940"/>
              <a:ext cx="1022351" cy="338138"/>
              <a:chOff x="4193" y="2253"/>
              <a:chExt cx="644" cy="213"/>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10034" y="3773165"/>
              <a:ext cx="1022351" cy="338138"/>
              <a:chOff x="4193" y="2253"/>
              <a:chExt cx="644" cy="213"/>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ACK=120</a:t>
                </a:r>
                <a:endParaRPr lang="en-US" sz="750" kern="0" dirty="0">
                  <a:solidFill>
                    <a:srgbClr val="000000"/>
                  </a:solidFill>
                  <a:latin typeface="Times New Roman" charset="0"/>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4652902" y="4169326"/>
            <a:ext cx="1093430" cy="509901"/>
            <a:chOff x="6203870" y="4416097"/>
            <a:chExt cx="1457907" cy="679867"/>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03870" y="4416097"/>
              <a:ext cx="143885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SendBase=100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22921" y="4757410"/>
              <a:ext cx="143885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SendBase=120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4681477" y="4931323"/>
            <a:ext cx="1079142"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SendBase=120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4702273" y="2497685"/>
            <a:ext cx="2786322" cy="834629"/>
            <a:chOff x="6269697" y="2187247"/>
            <a:chExt cx="3715095"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34684" y="2476172"/>
              <a:ext cx="216341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4" y="2728585"/>
              <a:ext cx="2370138" cy="571500"/>
              <a:chOff x="3759" y="1622"/>
              <a:chExt cx="1493"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65" y="1706"/>
                <a:ext cx="1487"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269697" y="2187247"/>
              <a:ext cx="1340537" cy="33855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SendBase=92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5389521" y="1954760"/>
            <a:ext cx="472679" cy="40005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7314762" y="1959523"/>
            <a:ext cx="473869" cy="466725"/>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201392" y="1963095"/>
            <a:ext cx="472679" cy="40005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3134967" y="1951189"/>
            <a:ext cx="532210" cy="450056"/>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7480058" y="4238625"/>
            <a:ext cx="1241365" cy="424732"/>
          </a:xfrm>
          <a:prstGeom prst="rect">
            <a:avLst/>
          </a:prstGeom>
          <a:noFill/>
        </p:spPr>
        <p:txBody>
          <a:bodyPr wrap="none" rtlCol="0">
            <a:spAutoFit/>
          </a:bodyPr>
          <a:lstStyle/>
          <a:p>
            <a:pPr defTabSz="685800">
              <a:lnSpc>
                <a:spcPct val="90000"/>
              </a:lnSpc>
              <a:defRPr/>
            </a:pPr>
            <a:r>
              <a:rPr lang="en-US" sz="1200" dirty="0">
                <a:solidFill>
                  <a:srgbClr val="C00000"/>
                </a:solidFill>
                <a:latin typeface="Calibri"/>
              </a:rPr>
              <a:t>send cumulative </a:t>
            </a:r>
          </a:p>
          <a:p>
            <a:pPr defTabSz="685800">
              <a:lnSpc>
                <a:spcPct val="90000"/>
              </a:lnSpc>
              <a:defRPr/>
            </a:pPr>
            <a:r>
              <a:rPr lang="en-US" sz="1200" dirty="0">
                <a:solidFill>
                  <a:srgbClr val="C00000"/>
                </a:solidFill>
                <a:latin typeface="Calibri"/>
              </a:rPr>
              <a:t>ACK for 120</a:t>
            </a:r>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retransmission scenarios</a:t>
            </a:r>
            <a:endParaRPr lang="en-US" sz="3600" dirty="0"/>
          </a:p>
        </p:txBody>
      </p:sp>
      <p:sp>
        <p:nvSpPr>
          <p:cNvPr id="36" name="Slide Number Placeholder 2">
            <a:extLst>
              <a:ext uri="{FF2B5EF4-FFF2-40B4-BE49-F238E27FC236}">
                <a16:creationId xmlns:a16="http://schemas.microsoft.com/office/drawing/2014/main" id="{F42F4D6B-59A3-9047-BAC8-F69D80AB687A}"/>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12</a:t>
            </a:fld>
            <a:endParaRPr lang="en-US"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426604" y="4972051"/>
            <a:ext cx="1907147" cy="5078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cumulative ACK covers for earlier lost ACK</a:t>
            </a:r>
            <a:endParaRPr lang="en-US" sz="750" kern="0" dirty="0">
              <a:solidFill>
                <a:srgbClr val="000000"/>
              </a:solidFill>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1529850" y="2619037"/>
            <a:ext cx="1759744" cy="4286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2948043" y="1740356"/>
            <a:ext cx="631904"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207739" y="1762978"/>
            <a:ext cx="633507"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057296" y="2679759"/>
            <a:ext cx="652463" cy="30122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1609157" y="2719049"/>
            <a:ext cx="1622560" cy="25391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1514372" y="2438062"/>
            <a:ext cx="0" cy="264437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3318169" y="2434491"/>
            <a:ext cx="0" cy="2653903"/>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1507228" y="4181137"/>
            <a:ext cx="1989535" cy="659606"/>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6"/>
              <a:ext cx="2652713"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dirty="0">
                  <a:solidFill>
                    <a:srgbClr val="000000"/>
                  </a:solidFill>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1519133" y="2908359"/>
            <a:ext cx="1777603" cy="428625"/>
            <a:chOff x="3759" y="1622"/>
            <a:chExt cx="1493"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65" y="1706"/>
              <a:ext cx="1487"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1522706" y="3115528"/>
            <a:ext cx="1743075" cy="1035844"/>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22808" y="3372988"/>
              <a:ext cx="421483" cy="43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b="1" kern="0" dirty="0">
                  <a:solidFill>
                    <a:srgbClr val="FF0000"/>
                  </a:solidFill>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04993" y="3211067"/>
              <a:ext cx="1022351" cy="338138"/>
              <a:chOff x="4193" y="2253"/>
              <a:chExt cx="644" cy="213"/>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38293" y="3768279"/>
              <a:ext cx="1022351" cy="338138"/>
              <a:chOff x="4193" y="2253"/>
              <a:chExt cx="644" cy="213"/>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ACK=120</a:t>
                </a:r>
                <a:endParaRPr lang="en-US" sz="750" kern="0" dirty="0">
                  <a:solidFill>
                    <a:srgbClr val="000000"/>
                  </a:solidFill>
                  <a:latin typeface="Times New Roman" charset="0"/>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198857" y="1959431"/>
            <a:ext cx="472678" cy="40005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3132432" y="1955859"/>
            <a:ext cx="506015" cy="442913"/>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fast retransmit</a:t>
            </a:r>
            <a:endParaRPr lang="en-US" sz="3600" dirty="0"/>
          </a:p>
        </p:txBody>
      </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13</a:t>
            </a:fld>
            <a:endParaRPr lang="en-US"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5352938" y="2303261"/>
            <a:ext cx="0" cy="331010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7960888" y="2369602"/>
            <a:ext cx="11000" cy="324376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7555207" y="1641120"/>
            <a:ext cx="631904"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5135795" y="1656323"/>
            <a:ext cx="633507"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4987432" y="2545127"/>
            <a:ext cx="345752" cy="3068240"/>
            <a:chOff x="417" y="868"/>
            <a:chExt cx="21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417" y="1797"/>
              <a:ext cx="210" cy="3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5343255" y="3109580"/>
            <a:ext cx="2626061" cy="1569495"/>
            <a:chOff x="7124339" y="3003106"/>
            <a:chExt cx="350141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158639" y="3548622"/>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171102" y="4037678"/>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162831" y="4408046"/>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165654" y="4694858"/>
              <a:ext cx="1022076"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5576854" y="2780082"/>
            <a:ext cx="785348" cy="19625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5352939" y="2429206"/>
            <a:ext cx="2627707" cy="1449638"/>
            <a:chOff x="7137252" y="2095941"/>
            <a:chExt cx="3503609" cy="193285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8" y="2740684"/>
              <a:ext cx="390753" cy="49244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dirty="0">
                  <a:solidFill>
                    <a:srgbClr val="FF0000"/>
                  </a:solidFill>
                  <a:latin typeface="Arial" charset="0"/>
                </a:rPr>
                <a:t>X</a:t>
              </a:r>
              <a:endParaRPr lang="en-US" sz="750" dirty="0">
                <a:solidFill>
                  <a:srgbClr val="000000"/>
                </a:solidFill>
                <a:latin typeface="Times New Roman" charset="0"/>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095941"/>
              <a:ext cx="2122193" cy="553997"/>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422309"/>
              <a:ext cx="2313690" cy="55399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5379282" y="4706689"/>
            <a:ext cx="2627707" cy="522458"/>
            <a:chOff x="7172376" y="5132585"/>
            <a:chExt cx="350360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7239695" y="5132585"/>
              <a:ext cx="2360048"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4956149" y="1865018"/>
            <a:ext cx="607533" cy="464382"/>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7746465" y="1888514"/>
            <a:ext cx="561820" cy="504463"/>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352550" y="4300537"/>
            <a:ext cx="3989651" cy="1477116"/>
            <a:chOff x="1803400" y="4591050"/>
            <a:chExt cx="5319534" cy="1969489"/>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5"/>
              <a:ext cx="4145527" cy="178510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kern="0" dirty="0">
                  <a:solidFill>
                    <a:srgbClr val="000000"/>
                  </a:solidFill>
                  <a:latin typeface="Calibri"/>
                </a:rPr>
                <a:t>Receipt of three duplicate ACKs indicates 3 segments received after a missing segment – lost segment is likely. So retransmit!</a:t>
              </a:r>
              <a:endParaRPr lang="en-US" sz="825" kern="0" dirty="0">
                <a:solidFill>
                  <a:srgbClr val="000000"/>
                </a:solidFill>
                <a:latin typeface="Calibri"/>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593034" y="1777902"/>
            <a:ext cx="3911233" cy="2159197"/>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908874" cy="2263774"/>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lnSpc>
                  <a:spcPct val="85000"/>
                </a:lnSpc>
                <a:spcBef>
                  <a:spcPct val="20000"/>
                </a:spcBef>
                <a:buClr>
                  <a:srgbClr val="000099"/>
                </a:buClr>
                <a:buSzPct val="65000"/>
                <a:defRPr/>
              </a:pPr>
              <a:r>
                <a:rPr lang="en-US" altLang="en-US" sz="2100" dirty="0">
                  <a:solidFill>
                    <a:prstClr val="black"/>
                  </a:solidFill>
                  <a:latin typeface="Calibri" panose="020F0502020204030204"/>
                </a:rPr>
                <a:t>if sender receives 3 additional ACKs for same data </a:t>
              </a:r>
              <a:r>
                <a:rPr lang="en-US" altLang="en-US" sz="1800" dirty="0">
                  <a:solidFill>
                    <a:prstClr val="black"/>
                  </a:solidFill>
                  <a:latin typeface="Calibri" panose="020F0502020204030204"/>
                </a:rPr>
                <a:t>(“</a:t>
              </a:r>
              <a:r>
                <a:rPr lang="en-US" altLang="ja-JP" sz="1800" dirty="0">
                  <a:solidFill>
                    <a:prstClr val="black"/>
                  </a:solidFill>
                  <a:latin typeface="Calibri" panose="020F0502020204030204"/>
                </a:rPr>
                <a:t>triple duplicate ACKs”),</a:t>
              </a:r>
              <a:r>
                <a:rPr lang="en-US" altLang="ja-JP" sz="2100" dirty="0">
                  <a:solidFill>
                    <a:prstClr val="black"/>
                  </a:solidFill>
                  <a:latin typeface="Calibri" panose="020F0502020204030204"/>
                </a:rPr>
                <a:t> resend unACKed segment with smallest seq #</a:t>
              </a:r>
            </a:p>
            <a:p>
              <a:pPr marL="347663" lvl="1" indent="-178594" defTabSz="685800">
                <a:lnSpc>
                  <a:spcPct val="85000"/>
                </a:lnSpc>
                <a:spcBef>
                  <a:spcPct val="20000"/>
                </a:spcBef>
                <a:buClr>
                  <a:srgbClr val="000099"/>
                </a:buClr>
                <a:buFont typeface="Wingdings" pitchFamily="2" charset="2"/>
                <a:buChar char="§"/>
                <a:defRPr/>
              </a:pPr>
              <a:r>
                <a:rPr lang="en-US" altLang="en-US" sz="1800" dirty="0">
                  <a:solidFill>
                    <a:prstClr val="black"/>
                  </a:solidFill>
                  <a:latin typeface="Calibri" panose="020F0502020204030204"/>
                </a:rPr>
                <a:t>likely that unACKed segment lost, so don’</a:t>
              </a:r>
              <a:r>
                <a:rPr lang="en-US" altLang="ja-JP" sz="1800" dirty="0">
                  <a:solidFill>
                    <a:prstClr val="black"/>
                  </a:solidFill>
                  <a:latin typeface="Calibri" panose="020F0502020204030204"/>
                </a:rPr>
                <a:t>t wait for timeout</a:t>
              </a:r>
              <a:endParaRPr lang="en-US" altLang="en-US" sz="1800" dirty="0">
                <a:solidFill>
                  <a:prstClr val="black"/>
                </a:solidFill>
                <a:latin typeface="Calibri" panose="020F0502020204030204"/>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4" y="1681505"/>
              <a:ext cx="2844284" cy="49244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800" i="1" dirty="0">
                  <a:solidFill>
                    <a:srgbClr val="CC0000"/>
                  </a:solidFill>
                </a:rPr>
                <a:t>TCP fast retransmit</a:t>
              </a:r>
            </a:p>
          </p:txBody>
        </p:sp>
      </p:gr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E6AC-FD5F-025B-33E7-8799CF2032A8}"/>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4E1719AE-B1B9-90B4-C7A9-C40C5C5D0FA8}"/>
              </a:ext>
            </a:extLst>
          </p:cNvPr>
          <p:cNvSpPr>
            <a:spLocks noGrp="1"/>
          </p:cNvSpPr>
          <p:nvPr>
            <p:ph idx="1"/>
          </p:nvPr>
        </p:nvSpPr>
        <p:spPr>
          <a:xfrm>
            <a:off x="628650" y="1498603"/>
            <a:ext cx="7886700" cy="4857748"/>
          </a:xfrm>
        </p:spPr>
        <p:txBody>
          <a:bodyPr>
            <a:normAutofit/>
          </a:bodyPr>
          <a:lstStyle/>
          <a:p>
            <a:r>
              <a:rPr lang="en-US" dirty="0"/>
              <a:t>Connection-oriented transport: TCP</a:t>
            </a:r>
          </a:p>
          <a:p>
            <a:pPr lvl="1"/>
            <a:r>
              <a:rPr lang="en-US" dirty="0"/>
              <a:t>segment structure</a:t>
            </a:r>
          </a:p>
          <a:p>
            <a:pPr lvl="1"/>
            <a:r>
              <a:rPr lang="en-US" dirty="0"/>
              <a:t>reliable data transfer</a:t>
            </a:r>
          </a:p>
          <a:p>
            <a:pPr lvl="1"/>
            <a:r>
              <a:rPr lang="en-US" dirty="0"/>
              <a:t>flow control</a:t>
            </a:r>
          </a:p>
          <a:p>
            <a:pPr lvl="1"/>
            <a:r>
              <a:rPr lang="en-US" dirty="0"/>
              <a:t>connection management</a:t>
            </a:r>
          </a:p>
        </p:txBody>
      </p:sp>
      <p:sp>
        <p:nvSpPr>
          <p:cNvPr id="4" name="Slide Number Placeholder 3">
            <a:extLst>
              <a:ext uri="{FF2B5EF4-FFF2-40B4-BE49-F238E27FC236}">
                <a16:creationId xmlns:a16="http://schemas.microsoft.com/office/drawing/2014/main" id="{A2C09955-B883-EB1B-CA00-1FE33C432D96}"/>
              </a:ext>
            </a:extLst>
          </p:cNvPr>
          <p:cNvSpPr>
            <a:spLocks noGrp="1"/>
          </p:cNvSpPr>
          <p:nvPr>
            <p:ph type="sldNum" sz="quarter" idx="12"/>
          </p:nvPr>
        </p:nvSpPr>
        <p:spPr/>
        <p:txBody>
          <a:bodyPr/>
          <a:lstStyle/>
          <a:p>
            <a:fld id="{0BC41B36-6335-F546-90B9-E2121371E10D}" type="slidenum">
              <a:rPr lang="en-US" smtClean="0"/>
              <a:pPr/>
              <a:t>14</a:t>
            </a:fld>
            <a:endParaRPr lang="en-US" dirty="0"/>
          </a:p>
        </p:txBody>
      </p:sp>
    </p:spTree>
    <p:extLst>
      <p:ext uri="{BB962C8B-B14F-4D97-AF65-F5344CB8AC3E}">
        <p14:creationId xmlns:p14="http://schemas.microsoft.com/office/powerpoint/2010/main" val="90188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flow control</a:t>
            </a:r>
          </a:p>
        </p:txBody>
      </p:sp>
      <p:sp>
        <p:nvSpPr>
          <p:cNvPr id="50" name="Slide Number Placeholder 2">
            <a:extLst>
              <a:ext uri="{FF2B5EF4-FFF2-40B4-BE49-F238E27FC236}">
                <a16:creationId xmlns:a16="http://schemas.microsoft.com/office/drawing/2014/main" id="{48F7A259-99DD-7041-B802-66CCB4B0EB04}"/>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15</a:t>
            </a:fld>
            <a:endParaRPr lang="en-US" dirty="0">
              <a:solidFill>
                <a:prstClr val="white">
                  <a:lumMod val="50000"/>
                </a:prstClr>
              </a:solidFill>
              <a:latin typeface="Calibri" panose="020F0502020204030204"/>
            </a:endParaRPr>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application</a:t>
            </a:r>
          </a:p>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prstClr val="white">
                      <a:lumMod val="95000"/>
                    </a:prstClr>
                  </a:solidFill>
                </a:rPr>
                <a:t>TCP socket</a:t>
              </a:r>
            </a:p>
            <a:p>
              <a:pPr algn="ctr" defTabSz="685800" eaLnBrk="0" fontAlgn="base" hangingPunct="0">
                <a:spcBef>
                  <a:spcPct val="0"/>
                </a:spcBef>
                <a:spcAft>
                  <a:spcPct val="0"/>
                </a:spcAft>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TCP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5" y="1935016"/>
            <a:ext cx="3037189" cy="1200329"/>
          </a:xfrm>
          <a:prstGeom prst="rect">
            <a:avLst/>
          </a:prstGeom>
          <a:noFill/>
        </p:spPr>
        <p:txBody>
          <a:bodyPr wrap="square" rtlCol="0">
            <a:spAutoFit/>
          </a:bodyPr>
          <a:lstStyle/>
          <a:p>
            <a:pPr defTabSz="685800">
              <a:defRPr/>
            </a:pPr>
            <a:r>
              <a:rPr lang="en-US" i="1" u="sng" dirty="0">
                <a:solidFill>
                  <a:srgbClr val="C00000"/>
                </a:solidFill>
                <a:latin typeface="Calibri" panose="020F0502020204030204"/>
              </a:rPr>
              <a:t>Q: </a:t>
            </a:r>
            <a:r>
              <a:rPr lang="en-US" dirty="0">
                <a:solidFill>
                  <a:prstClr val="black"/>
                </a:solidFill>
                <a:latin typeface="Calibri" panose="020F0502020204030204"/>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dirty="0">
              <a:solidFill>
                <a:prstClr val="black"/>
              </a:solidFill>
              <a:latin typeface="Tahoma" charset="0"/>
              <a:ea typeface="ＭＳ Ｐゴシック" charset="0"/>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3892266" y="2962015"/>
            <a:ext cx="3400301" cy="2254033"/>
            <a:chOff x="5189688" y="2806352"/>
            <a:chExt cx="4533734" cy="3005378"/>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731322"/>
              <a:chOff x="4633274" y="3577949"/>
              <a:chExt cx="3750934" cy="2731322"/>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3696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lnSpc>
                    <a:spcPct val="90000"/>
                  </a:lnSpc>
                  <a:spcBef>
                    <a:spcPct val="0"/>
                  </a:spcBef>
                  <a:spcAft>
                    <a:spcPct val="0"/>
                  </a:spcAft>
                  <a:defRPr/>
                </a:pPr>
                <a:r>
                  <a:rPr lang="en-US" altLang="en-US" sz="1350" kern="0" dirty="0">
                    <a:solidFill>
                      <a:srgbClr val="000000"/>
                    </a:solidFill>
                    <a:latin typeface="Calibri" panose="020F0502020204030204" pitchFamily="34" charset="0"/>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39386" y="5970716"/>
                <a:ext cx="1203748"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lnSpc>
                    <a:spcPct val="90000"/>
                  </a:lnSpc>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pic>
        <p:nvPicPr>
          <p:cNvPr id="1026" name="Picture 2" descr="Drinking from the Firehose: How VividCortex Compresses its Metrics">
            <a:extLst>
              <a:ext uri="{FF2B5EF4-FFF2-40B4-BE49-F238E27FC236}">
                <a16:creationId xmlns:a16="http://schemas.microsoft.com/office/drawing/2014/main" id="{4F457921-03BB-884A-B43A-C231DAB76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316" y="4220310"/>
            <a:ext cx="2264019" cy="1358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rinking From the Information Firehose">
            <a:extLst>
              <a:ext uri="{FF2B5EF4-FFF2-40B4-BE49-F238E27FC236}">
                <a16:creationId xmlns:a16="http://schemas.microsoft.com/office/drawing/2014/main" id="{CC4ECDA6-EF5F-7940-8430-C0BB879305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417" y="3332417"/>
            <a:ext cx="2024696" cy="1336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837047"/>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flow control</a:t>
            </a:r>
          </a:p>
        </p:txBody>
      </p:sp>
      <p:sp>
        <p:nvSpPr>
          <p:cNvPr id="70" name="Slide Number Placeholder 2">
            <a:extLst>
              <a:ext uri="{FF2B5EF4-FFF2-40B4-BE49-F238E27FC236}">
                <a16:creationId xmlns:a16="http://schemas.microsoft.com/office/drawing/2014/main" id="{3A4399FC-22AC-CD4F-9984-791C62C984F2}"/>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16</a:t>
            </a:fld>
            <a:endParaRPr lang="en-US" dirty="0">
              <a:solidFill>
                <a:prstClr val="white">
                  <a:lumMod val="50000"/>
                </a:prstClr>
              </a:solidFill>
              <a:latin typeface="Calibri" panose="020F0502020204030204"/>
            </a:endParaRPr>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application</a:t>
            </a:r>
          </a:p>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prstClr val="white">
                      <a:lumMod val="95000"/>
                    </a:prstClr>
                  </a:solidFill>
                </a:rPr>
                <a:t>TCP socket</a:t>
              </a:r>
            </a:p>
            <a:p>
              <a:pPr algn="ctr" defTabSz="685800" eaLnBrk="0" fontAlgn="base" hangingPunct="0">
                <a:spcBef>
                  <a:spcPct val="0"/>
                </a:spcBef>
                <a:spcAft>
                  <a:spcPct val="0"/>
                </a:spcAft>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TCP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5" y="1935016"/>
            <a:ext cx="3093743" cy="1200329"/>
          </a:xfrm>
          <a:prstGeom prst="rect">
            <a:avLst/>
          </a:prstGeom>
          <a:noFill/>
        </p:spPr>
        <p:txBody>
          <a:bodyPr wrap="square" rtlCol="0">
            <a:spAutoFit/>
          </a:bodyPr>
          <a:lstStyle/>
          <a:p>
            <a:pPr defTabSz="685800">
              <a:defRPr/>
            </a:pPr>
            <a:r>
              <a:rPr lang="en-US" i="1" u="sng" dirty="0">
                <a:solidFill>
                  <a:srgbClr val="C00000"/>
                </a:solidFill>
                <a:latin typeface="Calibri" panose="020F0502020204030204"/>
              </a:rPr>
              <a:t>Q: </a:t>
            </a:r>
            <a:r>
              <a:rPr lang="en-US" dirty="0">
                <a:solidFill>
                  <a:prstClr val="black"/>
                </a:solidFill>
                <a:latin typeface="Calibri" panose="020F0502020204030204"/>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dirty="0">
              <a:solidFill>
                <a:prstClr val="black"/>
              </a:solidFill>
              <a:latin typeface="Tahoma" charset="0"/>
              <a:ea typeface="ＭＳ Ｐゴシック" charset="0"/>
            </a:endParaRPr>
          </a:p>
        </p:txBody>
      </p:sp>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6158970" y="3948606"/>
            <a:ext cx="540544" cy="157163"/>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5925940" y="4647503"/>
            <a:ext cx="779527" cy="160799"/>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6153017" y="3167556"/>
            <a:ext cx="540544" cy="157163"/>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5696850" y="4962131"/>
            <a:ext cx="902811"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from sender</a:t>
            </a:r>
          </a:p>
        </p:txBody>
      </p:sp>
      <p:sp>
        <p:nvSpPr>
          <p:cNvPr id="6" name="Curved Down Arrow 5">
            <a:extLst>
              <a:ext uri="{FF2B5EF4-FFF2-40B4-BE49-F238E27FC236}">
                <a16:creationId xmlns:a16="http://schemas.microsoft.com/office/drawing/2014/main" id="{1FE7EE57-FED3-864B-8F06-9CC2C77BF0DE}"/>
              </a:ext>
            </a:extLst>
          </p:cNvPr>
          <p:cNvSpPr/>
          <p:nvPr/>
        </p:nvSpPr>
        <p:spPr>
          <a:xfrm>
            <a:off x="6234546" y="2962014"/>
            <a:ext cx="1058021" cy="2038611"/>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lnSpc>
                    <a:spcPct val="90000"/>
                  </a:lnSpc>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grpSp>
        <p:nvGrpSpPr>
          <p:cNvPr id="54" name="Group 53">
            <a:extLst>
              <a:ext uri="{FF2B5EF4-FFF2-40B4-BE49-F238E27FC236}">
                <a16:creationId xmlns:a16="http://schemas.microsoft.com/office/drawing/2014/main" id="{FB367096-84FB-0C47-BA14-5CD76A63BC39}"/>
              </a:ext>
            </a:extLst>
          </p:cNvPr>
          <p:cNvGrpSpPr/>
          <p:nvPr/>
        </p:nvGrpSpPr>
        <p:grpSpPr>
          <a:xfrm>
            <a:off x="833378" y="3426830"/>
            <a:ext cx="3776240" cy="2100422"/>
            <a:chOff x="4343173" y="1560062"/>
            <a:chExt cx="9034622" cy="4921250"/>
          </a:xfrm>
        </p:grpSpPr>
        <p:sp>
          <p:nvSpPr>
            <p:cNvPr id="55" name="Rectangle 4">
              <a:extLst>
                <a:ext uri="{FF2B5EF4-FFF2-40B4-BE49-F238E27FC236}">
                  <a16:creationId xmlns:a16="http://schemas.microsoft.com/office/drawing/2014/main" id="{887BE98B-9B7E-9D41-AEF0-CA93BB1C9316}"/>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dirty="0">
                <a:solidFill>
                  <a:srgbClr val="000000"/>
                </a:solidFill>
                <a:latin typeface="Tahoma" charset="0"/>
                <a:ea typeface="ＭＳ Ｐゴシック" charset="0"/>
              </a:endParaRPr>
            </a:p>
          </p:txBody>
        </p:sp>
        <p:sp>
          <p:nvSpPr>
            <p:cNvPr id="57" name="Rectangle 5">
              <a:extLst>
                <a:ext uri="{FF2B5EF4-FFF2-40B4-BE49-F238E27FC236}">
                  <a16:creationId xmlns:a16="http://schemas.microsoft.com/office/drawing/2014/main" id="{6DD2E62C-E2CB-C147-9685-E568D5425264}"/>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050" kern="0" dirty="0">
                <a:solidFill>
                  <a:srgbClr val="000000"/>
                </a:solidFill>
                <a:latin typeface="Arial" charset="0"/>
                <a:ea typeface="ＭＳ Ｐゴシック" charset="0"/>
              </a:endParaRPr>
            </a:p>
          </p:txBody>
        </p:sp>
        <p:sp>
          <p:nvSpPr>
            <p:cNvPr id="58" name="Line 8">
              <a:extLst>
                <a:ext uri="{FF2B5EF4-FFF2-40B4-BE49-F238E27FC236}">
                  <a16:creationId xmlns:a16="http://schemas.microsoft.com/office/drawing/2014/main" id="{6E5293FD-6A44-CD45-9C2D-E6EC13F48E0D}"/>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59" name="Line 9">
              <a:extLst>
                <a:ext uri="{FF2B5EF4-FFF2-40B4-BE49-F238E27FC236}">
                  <a16:creationId xmlns:a16="http://schemas.microsoft.com/office/drawing/2014/main" id="{D5FD85FC-35E3-CC42-86B2-4CBE4FF7A22C}"/>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60" name="Line 16">
              <a:extLst>
                <a:ext uri="{FF2B5EF4-FFF2-40B4-BE49-F238E27FC236}">
                  <a16:creationId xmlns:a16="http://schemas.microsoft.com/office/drawing/2014/main" id="{1F09DA56-95A7-9740-9266-702F4D667899}"/>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61" name="Line 18">
              <a:extLst>
                <a:ext uri="{FF2B5EF4-FFF2-40B4-BE49-F238E27FC236}">
                  <a16:creationId xmlns:a16="http://schemas.microsoft.com/office/drawing/2014/main" id="{3173FF56-BD9B-654B-92B6-4B36C86F420A}"/>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62" name="Line 19">
              <a:extLst>
                <a:ext uri="{FF2B5EF4-FFF2-40B4-BE49-F238E27FC236}">
                  <a16:creationId xmlns:a16="http://schemas.microsoft.com/office/drawing/2014/main" id="{84202EA3-2833-F04E-AA3C-8BB8999BFBC1}"/>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63" name="Line 20">
              <a:extLst>
                <a:ext uri="{FF2B5EF4-FFF2-40B4-BE49-F238E27FC236}">
                  <a16:creationId xmlns:a16="http://schemas.microsoft.com/office/drawing/2014/main" id="{B5EE22BF-1DD2-B74E-9710-050E4C365A6C}"/>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64" name="Line 21">
              <a:extLst>
                <a:ext uri="{FF2B5EF4-FFF2-40B4-BE49-F238E27FC236}">
                  <a16:creationId xmlns:a16="http://schemas.microsoft.com/office/drawing/2014/main" id="{E3D5975A-D204-D047-91DC-FE8A65BBCCE9}"/>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grpSp>
          <p:nvGrpSpPr>
            <p:cNvPr id="65" name="Group 64">
              <a:extLst>
                <a:ext uri="{FF2B5EF4-FFF2-40B4-BE49-F238E27FC236}">
                  <a16:creationId xmlns:a16="http://schemas.microsoft.com/office/drawing/2014/main" id="{067C1EE2-2B96-F74C-A327-2DFC2DFC62BA}"/>
                </a:ext>
              </a:extLst>
            </p:cNvPr>
            <p:cNvGrpSpPr/>
            <p:nvPr/>
          </p:nvGrpSpPr>
          <p:grpSpPr>
            <a:xfrm>
              <a:off x="6168491" y="2788385"/>
              <a:ext cx="7209304" cy="1102544"/>
              <a:chOff x="6168491" y="2788385"/>
              <a:chExt cx="7209304" cy="1102544"/>
            </a:xfrm>
          </p:grpSpPr>
          <p:sp>
            <p:nvSpPr>
              <p:cNvPr id="67" name="Text Box 22">
                <a:extLst>
                  <a:ext uri="{FF2B5EF4-FFF2-40B4-BE49-F238E27FC236}">
                    <a16:creationId xmlns:a16="http://schemas.microsoft.com/office/drawing/2014/main" id="{2E8A978C-B58F-724E-97B2-2FB3E91F6385}"/>
                  </a:ext>
                </a:extLst>
              </p:cNvPr>
              <p:cNvSpPr txBox="1">
                <a:spLocks noChangeArrowheads="1"/>
              </p:cNvSpPr>
              <p:nvPr/>
            </p:nvSpPr>
            <p:spPr bwMode="auto">
              <a:xfrm>
                <a:off x="6168491" y="2788385"/>
                <a:ext cx="2182981" cy="51379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825" dirty="0">
                    <a:solidFill>
                      <a:srgbClr val="000000"/>
                    </a:solidFill>
                    <a:latin typeface="Arial" charset="0"/>
                  </a:rPr>
                  <a:t>receive window</a:t>
                </a:r>
              </a:p>
            </p:txBody>
          </p:sp>
          <p:sp>
            <p:nvSpPr>
              <p:cNvPr id="68" name="Text Box 49">
                <a:extLst>
                  <a:ext uri="{FF2B5EF4-FFF2-40B4-BE49-F238E27FC236}">
                    <a16:creationId xmlns:a16="http://schemas.microsoft.com/office/drawing/2014/main" id="{4311B6E6-847F-7C42-98B1-9875A91D17B3}"/>
                  </a:ext>
                </a:extLst>
              </p:cNvPr>
              <p:cNvSpPr txBox="1">
                <a:spLocks noChangeArrowheads="1"/>
              </p:cNvSpPr>
              <p:nvPr/>
            </p:nvSpPr>
            <p:spPr bwMode="auto">
              <a:xfrm>
                <a:off x="8724899" y="2847114"/>
                <a:ext cx="4652896" cy="104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dirty="0">
                    <a:solidFill>
                      <a:srgbClr val="000000"/>
                    </a:solidFill>
                    <a:latin typeface="Calibri" panose="020F0502020204030204"/>
                  </a:rPr>
                  <a:t>flow control: </a:t>
                </a:r>
                <a:r>
                  <a:rPr lang="en-US" sz="1200" dirty="0">
                    <a:solidFill>
                      <a:srgbClr val="000000"/>
                    </a:solidFill>
                    <a:latin typeface="Calibri" panose="020F0502020204030204"/>
                  </a:rPr>
                  <a:t># bytes receiver willing to accept</a:t>
                </a:r>
                <a:endParaRPr lang="en-US" sz="1350" dirty="0">
                  <a:solidFill>
                    <a:srgbClr val="000000"/>
                  </a:solidFill>
                  <a:latin typeface="Calibri" panose="020F0502020204030204"/>
                </a:endParaRPr>
              </a:p>
            </p:txBody>
          </p:sp>
          <p:sp>
            <p:nvSpPr>
              <p:cNvPr id="69" name="Line 53">
                <a:extLst>
                  <a:ext uri="{FF2B5EF4-FFF2-40B4-BE49-F238E27FC236}">
                    <a16:creationId xmlns:a16="http://schemas.microsoft.com/office/drawing/2014/main" id="{1B19FC7E-F3A0-3F49-A0E5-0BD2B4FBCBD0}"/>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dirty="0">
                  <a:solidFill>
                    <a:srgbClr val="000000"/>
                  </a:solidFill>
                  <a:latin typeface="Tahoma" charset="0"/>
                  <a:ea typeface="ＭＳ Ｐゴシック" charset="0"/>
                </a:endParaRPr>
              </a:p>
            </p:txBody>
          </p:sp>
        </p:grpSp>
        <p:sp>
          <p:nvSpPr>
            <p:cNvPr id="66" name="Line 10">
              <a:extLst>
                <a:ext uri="{FF2B5EF4-FFF2-40B4-BE49-F238E27FC236}">
                  <a16:creationId xmlns:a16="http://schemas.microsoft.com/office/drawing/2014/main" id="{C66942C1-B5F2-CD48-AEFD-79309840AF0C}"/>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grpSp>
    </p:spTree>
    <p:extLst>
      <p:ext uri="{BB962C8B-B14F-4D97-AF65-F5344CB8AC3E}">
        <p14:creationId xmlns:p14="http://schemas.microsoft.com/office/powerpoint/2010/main" val="859008616"/>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flow control</a:t>
            </a:r>
          </a:p>
        </p:txBody>
      </p:sp>
      <p:sp>
        <p:nvSpPr>
          <p:cNvPr id="52" name="Slide Number Placeholder 2">
            <a:extLst>
              <a:ext uri="{FF2B5EF4-FFF2-40B4-BE49-F238E27FC236}">
                <a16:creationId xmlns:a16="http://schemas.microsoft.com/office/drawing/2014/main" id="{6AC88DD4-8D5E-1A4B-AF04-AF0A9B96E264}"/>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17</a:t>
            </a:fld>
            <a:endParaRPr lang="en-US" dirty="0">
              <a:solidFill>
                <a:prstClr val="white">
                  <a:lumMod val="50000"/>
                </a:prstClr>
              </a:solidFill>
              <a:latin typeface="Calibri" panose="020F0502020204030204"/>
            </a:endParaRPr>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application</a:t>
            </a:r>
          </a:p>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prstClr val="white">
                      <a:lumMod val="95000"/>
                    </a:prstClr>
                  </a:solidFill>
                </a:rPr>
                <a:t>TCP socket</a:t>
              </a:r>
            </a:p>
            <a:p>
              <a:pPr algn="ctr" defTabSz="685800" eaLnBrk="0" fontAlgn="base" hangingPunct="0">
                <a:spcBef>
                  <a:spcPct val="0"/>
                </a:spcBef>
                <a:spcAft>
                  <a:spcPct val="0"/>
                </a:spcAft>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TCP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IP</a:t>
            </a:r>
          </a:p>
          <a:p>
            <a:pPr algn="ctr" defTabSz="685800" eaLnBrk="0" fontAlgn="base" hangingPunct="0">
              <a:spcBef>
                <a:spcPct val="0"/>
              </a:spcBef>
              <a:spcAft>
                <a:spcPct val="0"/>
              </a:spcAft>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5" y="1935016"/>
            <a:ext cx="3093743" cy="1200329"/>
          </a:xfrm>
          <a:prstGeom prst="rect">
            <a:avLst/>
          </a:prstGeom>
          <a:noFill/>
        </p:spPr>
        <p:txBody>
          <a:bodyPr wrap="square" rtlCol="0">
            <a:spAutoFit/>
          </a:bodyPr>
          <a:lstStyle/>
          <a:p>
            <a:pPr defTabSz="685800">
              <a:defRPr/>
            </a:pPr>
            <a:r>
              <a:rPr lang="en-US" i="1" u="sng" dirty="0">
                <a:solidFill>
                  <a:srgbClr val="C00000"/>
                </a:solidFill>
                <a:latin typeface="Calibri" panose="020F0502020204030204"/>
              </a:rPr>
              <a:t>Q: </a:t>
            </a:r>
            <a:r>
              <a:rPr lang="en-US" dirty="0">
                <a:solidFill>
                  <a:prstClr val="black"/>
                </a:solidFill>
                <a:latin typeface="Calibri" panose="020F0502020204030204"/>
              </a:rPr>
              <a:t>What happens if network layer delivers data faster than application layer removes data from socket buffers?</a:t>
            </a:r>
          </a:p>
        </p:txBody>
      </p:sp>
      <p:grpSp>
        <p:nvGrpSpPr>
          <p:cNvPr id="10" name="Group 9">
            <a:extLst>
              <a:ext uri="{FF2B5EF4-FFF2-40B4-BE49-F238E27FC236}">
                <a16:creationId xmlns:a16="http://schemas.microsoft.com/office/drawing/2014/main" id="{9B4B0832-7295-6748-A6EB-5D9B0607F222}"/>
              </a:ext>
            </a:extLst>
          </p:cNvPr>
          <p:cNvGrpSpPr/>
          <p:nvPr/>
        </p:nvGrpSpPr>
        <p:grpSpPr>
          <a:xfrm>
            <a:off x="567742" y="3509121"/>
            <a:ext cx="3327981" cy="1655535"/>
            <a:chOff x="363537" y="4127499"/>
            <a:chExt cx="4164772" cy="2207380"/>
          </a:xfrm>
        </p:grpSpPr>
        <p:sp>
          <p:nvSpPr>
            <p:cNvPr id="179" name="Rectangle 110">
              <a:extLst>
                <a:ext uri="{FF2B5EF4-FFF2-40B4-BE49-F238E27FC236}">
                  <a16:creationId xmlns:a16="http://schemas.microsoft.com/office/drawing/2014/main" id="{71EEDA6C-9700-F540-8450-88D0CF387D8C}"/>
                </a:ext>
              </a:extLst>
            </p:cNvPr>
            <p:cNvSpPr>
              <a:spLocks noChangeArrowheads="1"/>
            </p:cNvSpPr>
            <p:nvPr/>
          </p:nvSpPr>
          <p:spPr bwMode="auto">
            <a:xfrm>
              <a:off x="363537" y="4397375"/>
              <a:ext cx="4134671" cy="1680696"/>
            </a:xfrm>
            <a:prstGeom prst="rect">
              <a:avLst/>
            </a:prstGeom>
            <a:solidFill>
              <a:srgbClr val="FFFFFF"/>
            </a:solidFill>
            <a:ln w="28575">
              <a:solidFill>
                <a:srgbClr val="CC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Calibri" panose="020F0502020204030204"/>
                <a:ea typeface="ＭＳ Ｐゴシック" charset="0"/>
              </a:endParaRPr>
            </a:p>
          </p:txBody>
        </p:sp>
        <p:sp>
          <p:nvSpPr>
            <p:cNvPr id="180" name="Text Box 111">
              <a:extLst>
                <a:ext uri="{FF2B5EF4-FFF2-40B4-BE49-F238E27FC236}">
                  <a16:creationId xmlns:a16="http://schemas.microsoft.com/office/drawing/2014/main" id="{8C96D4BC-6609-824B-A9B9-24E2A66F66C2}"/>
                </a:ext>
              </a:extLst>
            </p:cNvPr>
            <p:cNvSpPr txBox="1">
              <a:spLocks noChangeArrowheads="1"/>
            </p:cNvSpPr>
            <p:nvPr/>
          </p:nvSpPr>
          <p:spPr bwMode="auto">
            <a:xfrm>
              <a:off x="455613" y="4549775"/>
              <a:ext cx="4072696" cy="17851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lnSpc>
                  <a:spcPct val="90000"/>
                </a:lnSpc>
                <a:defRPr/>
              </a:pPr>
              <a:r>
                <a:rPr lang="en-US" altLang="en-US" sz="1800" dirty="0">
                  <a:solidFill>
                    <a:prstClr val="black"/>
                  </a:solidFill>
                  <a:latin typeface="Calibri" panose="020F0502020204030204"/>
                </a:rPr>
                <a:t>receiver controls sender, so sender won’</a:t>
              </a:r>
              <a:r>
                <a:rPr lang="en-US" altLang="ja-JP" sz="1800" dirty="0">
                  <a:solidFill>
                    <a:prstClr val="black"/>
                  </a:solidFill>
                  <a:latin typeface="Calibri" panose="020F0502020204030204"/>
                </a:rPr>
                <a:t>t overflow receiver’s buffer by transmitting too much, too fast</a:t>
              </a:r>
              <a:endParaRPr lang="en-US" altLang="en-US" sz="788" dirty="0">
                <a:solidFill>
                  <a:prstClr val="black"/>
                </a:solidFill>
                <a:latin typeface="Calibri" panose="020F0502020204030204"/>
              </a:endParaRPr>
            </a:p>
          </p:txBody>
        </p:sp>
        <p:grpSp>
          <p:nvGrpSpPr>
            <p:cNvPr id="181" name="Group 112">
              <a:extLst>
                <a:ext uri="{FF2B5EF4-FFF2-40B4-BE49-F238E27FC236}">
                  <a16:creationId xmlns:a16="http://schemas.microsoft.com/office/drawing/2014/main" id="{6B4EAE2E-56DA-864E-99A1-E535BFD3AF51}"/>
                </a:ext>
              </a:extLst>
            </p:cNvPr>
            <p:cNvGrpSpPr>
              <a:grpSpLocks/>
            </p:cNvGrpSpPr>
            <p:nvPr/>
          </p:nvGrpSpPr>
          <p:grpSpPr bwMode="auto">
            <a:xfrm>
              <a:off x="551438" y="4127499"/>
              <a:ext cx="2003542" cy="554038"/>
              <a:chOff x="3327" y="230"/>
              <a:chExt cx="1176" cy="349"/>
            </a:xfrm>
          </p:grpSpPr>
          <p:sp>
            <p:nvSpPr>
              <p:cNvPr id="183" name="Rectangle 113">
                <a:extLst>
                  <a:ext uri="{FF2B5EF4-FFF2-40B4-BE49-F238E27FC236}">
                    <a16:creationId xmlns:a16="http://schemas.microsoft.com/office/drawing/2014/main" id="{364B36BC-850A-C443-AFE1-8C4A92F8CA4E}"/>
                  </a:ext>
                </a:extLst>
              </p:cNvPr>
              <p:cNvSpPr>
                <a:spLocks noChangeArrowheads="1"/>
              </p:cNvSpPr>
              <p:nvPr/>
            </p:nvSpPr>
            <p:spPr bwMode="auto">
              <a:xfrm>
                <a:off x="3369" y="323"/>
                <a:ext cx="1134" cy="22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Calibri" panose="020F0502020204030204"/>
                  <a:ea typeface="ＭＳ Ｐゴシック" charset="0"/>
                </a:endParaRPr>
              </a:p>
            </p:txBody>
          </p:sp>
          <p:sp>
            <p:nvSpPr>
              <p:cNvPr id="184" name="Text Box 114">
                <a:extLst>
                  <a:ext uri="{FF2B5EF4-FFF2-40B4-BE49-F238E27FC236}">
                    <a16:creationId xmlns:a16="http://schemas.microsoft.com/office/drawing/2014/main" id="{4A67984A-D193-3248-9AD8-3DC1586083A2}"/>
                  </a:ext>
                </a:extLst>
              </p:cNvPr>
              <p:cNvSpPr txBox="1">
                <a:spLocks noChangeArrowheads="1"/>
              </p:cNvSpPr>
              <p:nvPr/>
            </p:nvSpPr>
            <p:spPr bwMode="auto">
              <a:xfrm>
                <a:off x="3327" y="230"/>
                <a:ext cx="1175" cy="34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2100" dirty="0">
                    <a:solidFill>
                      <a:srgbClr val="CC0000"/>
                    </a:solidFill>
                    <a:latin typeface="Calibri" panose="020F0502020204030204"/>
                  </a:rPr>
                  <a:t>flow control</a:t>
                </a:r>
              </a:p>
            </p:txBody>
          </p:sp>
        </p:grpSp>
      </p:gr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dirty="0">
              <a:solidFill>
                <a:prstClr val="black"/>
              </a:solidFill>
              <a:latin typeface="Tahoma" charset="0"/>
              <a:ea typeface="ＭＳ Ｐゴシック" charset="0"/>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696850" y="2962015"/>
            <a:ext cx="1595717" cy="2254033"/>
            <a:chOff x="7595799" y="2806352"/>
            <a:chExt cx="2127623" cy="3005378"/>
          </a:xfrm>
        </p:grpSpPr>
        <p:grpSp>
          <p:nvGrpSpPr>
            <p:cNvPr id="7" name="Group 6">
              <a:extLst>
                <a:ext uri="{FF2B5EF4-FFF2-40B4-BE49-F238E27FC236}">
                  <a16:creationId xmlns:a16="http://schemas.microsoft.com/office/drawing/2014/main" id="{90136498-1DCA-8245-9AEB-79D923D0965C}"/>
                </a:ext>
              </a:extLst>
            </p:cNvPr>
            <p:cNvGrpSpPr/>
            <p:nvPr/>
          </p:nvGrpSpPr>
          <p:grpSpPr>
            <a:xfrm>
              <a:off x="7595799" y="3080408"/>
              <a:ext cx="1344823" cy="2731322"/>
              <a:chOff x="7039385" y="3577949"/>
              <a:chExt cx="1344823" cy="2731322"/>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39385" y="5970716"/>
                <a:ext cx="1203748"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lnSpc>
                    <a:spcPct val="90000"/>
                  </a:lnSpc>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black"/>
                </a:solidFill>
                <a:latin typeface="Calibri"/>
              </a:endParaRPr>
            </a:p>
          </p:txBody>
        </p:sp>
      </p:grpSp>
    </p:spTree>
    <p:extLst>
      <p:ext uri="{BB962C8B-B14F-4D97-AF65-F5344CB8AC3E}">
        <p14:creationId xmlns:p14="http://schemas.microsoft.com/office/powerpoint/2010/main" val="3329041873"/>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flow control</a:t>
            </a:r>
          </a:p>
        </p:txBody>
      </p:sp>
      <p:sp>
        <p:nvSpPr>
          <p:cNvPr id="30" name="Slide Number Placeholder 2">
            <a:extLst>
              <a:ext uri="{FF2B5EF4-FFF2-40B4-BE49-F238E27FC236}">
                <a16:creationId xmlns:a16="http://schemas.microsoft.com/office/drawing/2014/main" id="{FD800B74-F67D-AF4D-AABB-EE14B6FEBDCB}"/>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18</a:t>
            </a:fld>
            <a:endParaRPr lang="en-US" dirty="0">
              <a:solidFill>
                <a:prstClr val="white">
                  <a:lumMod val="50000"/>
                </a:prstClr>
              </a:solidFill>
              <a:latin typeface="Calibri" panose="020F0502020204030204"/>
            </a:endParaRPr>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501705" y="1971676"/>
            <a:ext cx="4369804" cy="368022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TCP receiver “</a:t>
            </a:r>
            <a:r>
              <a:rPr lang="en-US" altLang="ja-JP" sz="2100" dirty="0">
                <a:solidFill>
                  <a:prstClr val="black"/>
                </a:solidFill>
                <a:latin typeface="Calibri" panose="020F0502020204030204"/>
                <a:ea typeface="ＭＳ Ｐゴシック" panose="020B0600070205080204" pitchFamily="34" charset="-128"/>
              </a:rPr>
              <a:t>advertises” free buffer space in </a:t>
            </a:r>
            <a:r>
              <a:rPr lang="en-US" altLang="ja-JP" sz="2100" b="1" dirty="0">
                <a:solidFill>
                  <a:prstClr val="black"/>
                </a:solidFill>
                <a:latin typeface="Courier New" panose="02070309020205020404" pitchFamily="49" charset="0"/>
                <a:ea typeface="ＭＳ Ｐゴシック" panose="020B0600070205080204" pitchFamily="34" charset="-128"/>
              </a:rPr>
              <a:t>rwnd</a:t>
            </a:r>
            <a:r>
              <a:rPr lang="en-US" altLang="ja-JP" sz="2100" dirty="0">
                <a:solidFill>
                  <a:prstClr val="black"/>
                </a:solidFill>
                <a:latin typeface="Calibri" panose="020F0502020204030204"/>
                <a:ea typeface="ＭＳ Ｐゴシック" panose="020B0600070205080204" pitchFamily="34" charset="-128"/>
              </a:rPr>
              <a:t> field in TCP header</a:t>
            </a:r>
          </a:p>
          <a:p>
            <a:pPr marL="521494" lvl="1" indent="-173831" defTabSz="685800">
              <a:lnSpc>
                <a:spcPct val="100000"/>
              </a:lnSpc>
              <a:spcBef>
                <a:spcPts val="375"/>
              </a:spcBef>
              <a:defRPr/>
            </a:pPr>
            <a:r>
              <a:rPr lang="en-US" altLang="en-US" sz="1800" b="1" dirty="0">
                <a:solidFill>
                  <a:prstClr val="black"/>
                </a:solidFill>
                <a:latin typeface="Courier New" panose="02070309020205020404" pitchFamily="49" charset="0"/>
                <a:ea typeface="ＭＳ Ｐゴシック" panose="020B0600070205080204" pitchFamily="34" charset="-128"/>
              </a:rPr>
              <a:t>RcvBuffer </a:t>
            </a:r>
            <a:r>
              <a:rPr lang="en-US" altLang="en-US" sz="1800" dirty="0">
                <a:solidFill>
                  <a:prstClr val="black"/>
                </a:solidFill>
                <a:latin typeface="Calibri" panose="020F0502020204030204"/>
                <a:ea typeface="ＭＳ Ｐゴシック" panose="020B0600070205080204" pitchFamily="34" charset="-128"/>
              </a:rPr>
              <a:t>size set via socket options (typical default is 4096 bytes)</a:t>
            </a:r>
          </a:p>
          <a:p>
            <a:pPr marL="521494" lvl="1" indent="-173831" defTabSz="685800">
              <a:lnSpc>
                <a:spcPct val="100000"/>
              </a:lnSpc>
              <a:spcBef>
                <a:spcPts val="375"/>
              </a:spcBef>
              <a:defRPr/>
            </a:pPr>
            <a:r>
              <a:rPr lang="en-US" altLang="en-US" sz="1800" dirty="0">
                <a:solidFill>
                  <a:prstClr val="black"/>
                </a:solidFill>
                <a:latin typeface="Calibri" panose="020F0502020204030204"/>
                <a:ea typeface="ＭＳ Ｐゴシック" panose="020B0600070205080204" pitchFamily="34" charset="-128"/>
              </a:rPr>
              <a:t>many operating systems auto-adjust </a:t>
            </a:r>
            <a:r>
              <a:rPr lang="en-US" altLang="en-US" sz="1800" b="1" dirty="0">
                <a:solidFill>
                  <a:prstClr val="black"/>
                </a:solidFill>
                <a:latin typeface="Courier New" panose="02070309020205020404" pitchFamily="49" charset="0"/>
                <a:ea typeface="ＭＳ Ｐゴシック" panose="020B0600070205080204" pitchFamily="34" charset="-128"/>
              </a:rPr>
              <a:t>RcvBuffer</a:t>
            </a:r>
            <a:endParaRPr lang="en-US" altLang="en-US" sz="1800" dirty="0">
              <a:solidFill>
                <a:prstClr val="black"/>
              </a:solidFill>
              <a:latin typeface="Calibri" panose="020F0502020204030204"/>
              <a:ea typeface="ＭＳ Ｐゴシック" panose="020B0600070205080204" pitchFamily="34" charset="-128"/>
            </a:endParaRPr>
          </a:p>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sender limits amount of unACKed (“</a:t>
            </a:r>
            <a:r>
              <a:rPr lang="en-US" altLang="ja-JP" sz="2100" dirty="0">
                <a:solidFill>
                  <a:prstClr val="black"/>
                </a:solidFill>
                <a:latin typeface="Calibri" panose="020F0502020204030204"/>
                <a:ea typeface="ＭＳ Ｐゴシック" panose="020B0600070205080204" pitchFamily="34" charset="-128"/>
              </a:rPr>
              <a:t>in-flight”) data to received </a:t>
            </a:r>
            <a:r>
              <a:rPr lang="en-US" altLang="ja-JP" sz="2100" b="1" dirty="0">
                <a:solidFill>
                  <a:prstClr val="black"/>
                </a:solidFill>
                <a:latin typeface="Courier New" panose="02070309020205020404" pitchFamily="49" charset="0"/>
                <a:ea typeface="ＭＳ Ｐゴシック" panose="020B0600070205080204" pitchFamily="34" charset="-128"/>
              </a:rPr>
              <a:t>rwnd</a:t>
            </a:r>
          </a:p>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guarantees receive buffer will not overflow</a:t>
            </a:r>
          </a:p>
        </p:txBody>
      </p:sp>
      <p:grpSp>
        <p:nvGrpSpPr>
          <p:cNvPr id="81" name="Group 72">
            <a:extLst>
              <a:ext uri="{FF2B5EF4-FFF2-40B4-BE49-F238E27FC236}">
                <a16:creationId xmlns:a16="http://schemas.microsoft.com/office/drawing/2014/main" id="{BCF10484-C4F0-2146-A1F6-01CD23E18EAF}"/>
              </a:ext>
            </a:extLst>
          </p:cNvPr>
          <p:cNvGrpSpPr>
            <a:grpSpLocks/>
          </p:cNvGrpSpPr>
          <p:nvPr/>
        </p:nvGrpSpPr>
        <p:grpSpPr bwMode="auto">
          <a:xfrm>
            <a:off x="6110638" y="2620566"/>
            <a:ext cx="1933575" cy="1616869"/>
            <a:chOff x="512" y="1294"/>
            <a:chExt cx="1888" cy="1358"/>
          </a:xfrm>
        </p:grpSpPr>
        <p:grpSp>
          <p:nvGrpSpPr>
            <p:cNvPr id="82" name="Group 17">
              <a:extLst>
                <a:ext uri="{FF2B5EF4-FFF2-40B4-BE49-F238E27FC236}">
                  <a16:creationId xmlns:a16="http://schemas.microsoft.com/office/drawing/2014/main" id="{1B215862-92BC-FD44-8231-FAC4460EC932}"/>
                </a:ext>
              </a:extLst>
            </p:cNvPr>
            <p:cNvGrpSpPr>
              <a:grpSpLocks/>
            </p:cNvGrpSpPr>
            <p:nvPr/>
          </p:nvGrpSpPr>
          <p:grpSpPr bwMode="auto">
            <a:xfrm>
              <a:off x="1232" y="1410"/>
              <a:ext cx="336" cy="130"/>
              <a:chOff x="2003" y="1816"/>
              <a:chExt cx="336" cy="130"/>
            </a:xfrm>
          </p:grpSpPr>
          <p:sp>
            <p:nvSpPr>
              <p:cNvPr id="91" name="Rectangle 18">
                <a:extLst>
                  <a:ext uri="{FF2B5EF4-FFF2-40B4-BE49-F238E27FC236}">
                    <a16:creationId xmlns:a16="http://schemas.microsoft.com/office/drawing/2014/main" id="{9F916805-82BB-7244-99A5-5F0A5D165046}"/>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2" name="Rectangle 19">
                <a:extLst>
                  <a:ext uri="{FF2B5EF4-FFF2-40B4-BE49-F238E27FC236}">
                    <a16:creationId xmlns:a16="http://schemas.microsoft.com/office/drawing/2014/main" id="{4DA550D0-215D-334C-AB2B-CF8748123D33}"/>
                  </a:ext>
                </a:extLst>
              </p:cNvPr>
              <p:cNvSpPr>
                <a:spLocks noChangeArrowheads="1"/>
              </p:cNvSpPr>
              <p:nvPr/>
            </p:nvSpPr>
            <p:spPr bwMode="auto">
              <a:xfrm>
                <a:off x="2105" y="1833"/>
                <a:ext cx="108"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3" name="Rectangle 20">
                <a:extLst>
                  <a:ext uri="{FF2B5EF4-FFF2-40B4-BE49-F238E27FC236}">
                    <a16:creationId xmlns:a16="http://schemas.microsoft.com/office/drawing/2014/main" id="{B48A6578-4F82-8A4E-B684-CD32D31F82B1}"/>
                  </a:ext>
                </a:extLst>
              </p:cNvPr>
              <p:cNvSpPr>
                <a:spLocks noChangeArrowheads="1"/>
              </p:cNvSpPr>
              <p:nvPr/>
            </p:nvSpPr>
            <p:spPr bwMode="auto">
              <a:xfrm>
                <a:off x="2228" y="1891"/>
                <a:ext cx="28"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4" name="Rectangle 21">
                <a:extLst>
                  <a:ext uri="{FF2B5EF4-FFF2-40B4-BE49-F238E27FC236}">
                    <a16:creationId xmlns:a16="http://schemas.microsoft.com/office/drawing/2014/main" id="{FE3C8549-958F-8C49-9BB2-21BE77A5A384}"/>
                  </a:ext>
                </a:extLst>
              </p:cNvPr>
              <p:cNvSpPr>
                <a:spLocks noChangeArrowheads="1"/>
              </p:cNvSpPr>
              <p:nvPr/>
            </p:nvSpPr>
            <p:spPr bwMode="auto">
              <a:xfrm>
                <a:off x="2056"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83" name="Rectangle 52">
              <a:extLst>
                <a:ext uri="{FF2B5EF4-FFF2-40B4-BE49-F238E27FC236}">
                  <a16:creationId xmlns:a16="http://schemas.microsoft.com/office/drawing/2014/main" id="{4EAEE0E4-1542-A044-B98C-0D8E8528492B}"/>
                </a:ext>
              </a:extLst>
            </p:cNvPr>
            <p:cNvSpPr>
              <a:spLocks noChangeArrowheads="1"/>
            </p:cNvSpPr>
            <p:nvPr/>
          </p:nvSpPr>
          <p:spPr bwMode="auto">
            <a:xfrm>
              <a:off x="526" y="1522"/>
              <a:ext cx="1871" cy="896"/>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4" name="Line 53">
              <a:extLst>
                <a:ext uri="{FF2B5EF4-FFF2-40B4-BE49-F238E27FC236}">
                  <a16:creationId xmlns:a16="http://schemas.microsoft.com/office/drawing/2014/main" id="{1BF4AFA5-7079-8E48-98E5-F01131B6DC42}"/>
                </a:ext>
              </a:extLst>
            </p:cNvPr>
            <p:cNvSpPr>
              <a:spLocks noChangeShapeType="1"/>
            </p:cNvSpPr>
            <p:nvPr/>
          </p:nvSpPr>
          <p:spPr bwMode="auto">
            <a:xfrm>
              <a:off x="512" y="1863"/>
              <a:ext cx="188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5" name="AutoShape 54">
              <a:extLst>
                <a:ext uri="{FF2B5EF4-FFF2-40B4-BE49-F238E27FC236}">
                  <a16:creationId xmlns:a16="http://schemas.microsoft.com/office/drawing/2014/main" id="{01CE49A7-7FEA-2F41-B96C-9C13B374840D}"/>
                </a:ext>
              </a:extLst>
            </p:cNvPr>
            <p:cNvSpPr>
              <a:spLocks noChangeArrowheads="1"/>
            </p:cNvSpPr>
            <p:nvPr/>
          </p:nvSpPr>
          <p:spPr bwMode="auto">
            <a:xfrm>
              <a:off x="1310" y="1294"/>
              <a:ext cx="157" cy="288"/>
            </a:xfrm>
            <a:prstGeom prst="upArrow">
              <a:avLst>
                <a:gd name="adj1" fmla="val 50000"/>
                <a:gd name="adj2" fmla="val 45860"/>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6" name="Rectangle 55" descr="Dark upward diagonal">
              <a:extLst>
                <a:ext uri="{FF2B5EF4-FFF2-40B4-BE49-F238E27FC236}">
                  <a16:creationId xmlns:a16="http://schemas.microsoft.com/office/drawing/2014/main" id="{E7DBF90D-63AF-CA4B-B765-CCAF65A7F80D}"/>
                </a:ext>
              </a:extLst>
            </p:cNvPr>
            <p:cNvSpPr>
              <a:spLocks noChangeArrowheads="1"/>
            </p:cNvSpPr>
            <p:nvPr/>
          </p:nvSpPr>
          <p:spPr bwMode="auto">
            <a:xfrm>
              <a:off x="534" y="1856"/>
              <a:ext cx="1848" cy="555"/>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7" name="AutoShape 56">
              <a:extLst>
                <a:ext uri="{FF2B5EF4-FFF2-40B4-BE49-F238E27FC236}">
                  <a16:creationId xmlns:a16="http://schemas.microsoft.com/office/drawing/2014/main" id="{E85EDD4B-2EB2-CF4B-A7E7-5DB87DD8E261}"/>
                </a:ext>
              </a:extLst>
            </p:cNvPr>
            <p:cNvSpPr>
              <a:spLocks noChangeArrowheads="1"/>
            </p:cNvSpPr>
            <p:nvPr/>
          </p:nvSpPr>
          <p:spPr bwMode="auto">
            <a:xfrm>
              <a:off x="1312" y="2364"/>
              <a:ext cx="157" cy="288"/>
            </a:xfrm>
            <a:prstGeom prst="upArrow">
              <a:avLst>
                <a:gd name="adj1" fmla="val 50000"/>
                <a:gd name="adj2" fmla="val 45860"/>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8" name="Text Box 57">
              <a:extLst>
                <a:ext uri="{FF2B5EF4-FFF2-40B4-BE49-F238E27FC236}">
                  <a16:creationId xmlns:a16="http://schemas.microsoft.com/office/drawing/2014/main" id="{18AF2730-2703-2A49-8B1B-CCB541608D5B}"/>
                </a:ext>
              </a:extLst>
            </p:cNvPr>
            <p:cNvSpPr txBox="1">
              <a:spLocks noChangeArrowheads="1"/>
            </p:cNvSpPr>
            <p:nvPr/>
          </p:nvSpPr>
          <p:spPr bwMode="auto">
            <a:xfrm>
              <a:off x="787" y="1568"/>
              <a:ext cx="1298"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prstClr val="white"/>
                  </a:solidFill>
                </a:rPr>
                <a:t>buffered data</a:t>
              </a:r>
            </a:p>
          </p:txBody>
        </p:sp>
        <p:sp>
          <p:nvSpPr>
            <p:cNvPr id="89" name="Line 58">
              <a:extLst>
                <a:ext uri="{FF2B5EF4-FFF2-40B4-BE49-F238E27FC236}">
                  <a16:creationId xmlns:a16="http://schemas.microsoft.com/office/drawing/2014/main" id="{3E425F76-602D-884F-B462-CE3703890F46}"/>
                </a:ext>
              </a:extLst>
            </p:cNvPr>
            <p:cNvSpPr>
              <a:spLocks noChangeShapeType="1"/>
            </p:cNvSpPr>
            <p:nvPr/>
          </p:nvSpPr>
          <p:spPr bwMode="auto">
            <a:xfrm>
              <a:off x="522" y="1857"/>
              <a:ext cx="1878" cy="7"/>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0" name="Text Box 59">
              <a:extLst>
                <a:ext uri="{FF2B5EF4-FFF2-40B4-BE49-F238E27FC236}">
                  <a16:creationId xmlns:a16="http://schemas.microsoft.com/office/drawing/2014/main" id="{FAA57939-600A-5644-BD7E-58580D1D7997}"/>
                </a:ext>
              </a:extLst>
            </p:cNvPr>
            <p:cNvSpPr txBox="1">
              <a:spLocks noChangeArrowheads="1"/>
            </p:cNvSpPr>
            <p:nvPr/>
          </p:nvSpPr>
          <p:spPr bwMode="auto">
            <a:xfrm>
              <a:off x="624" y="2020"/>
              <a:ext cx="1587"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free buffer space</a:t>
              </a:r>
            </a:p>
          </p:txBody>
        </p:sp>
      </p:grpSp>
      <p:sp>
        <p:nvSpPr>
          <p:cNvPr id="95" name="Text Box 62">
            <a:extLst>
              <a:ext uri="{FF2B5EF4-FFF2-40B4-BE49-F238E27FC236}">
                <a16:creationId xmlns:a16="http://schemas.microsoft.com/office/drawing/2014/main" id="{AEFCE47F-E93D-AF44-B3F4-73BB671A7DAA}"/>
              </a:ext>
            </a:extLst>
          </p:cNvPr>
          <p:cNvSpPr txBox="1">
            <a:spLocks noChangeArrowheads="1"/>
          </p:cNvSpPr>
          <p:nvPr/>
        </p:nvSpPr>
        <p:spPr bwMode="auto">
          <a:xfrm>
            <a:off x="5419210" y="3479006"/>
            <a:ext cx="55656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b="1" dirty="0">
                <a:solidFill>
                  <a:srgbClr val="000000"/>
                </a:solidFill>
                <a:latin typeface="Courier New" charset="0"/>
              </a:rPr>
              <a:t>rwnd</a:t>
            </a:r>
          </a:p>
        </p:txBody>
      </p:sp>
      <p:sp>
        <p:nvSpPr>
          <p:cNvPr id="96" name="Line 64">
            <a:extLst>
              <a:ext uri="{FF2B5EF4-FFF2-40B4-BE49-F238E27FC236}">
                <a16:creationId xmlns:a16="http://schemas.microsoft.com/office/drawing/2014/main" id="{16902A7E-A0A9-CA44-AA34-DA532E0008E8}"/>
              </a:ext>
            </a:extLst>
          </p:cNvPr>
          <p:cNvSpPr>
            <a:spLocks noChangeShapeType="1"/>
          </p:cNvSpPr>
          <p:nvPr/>
        </p:nvSpPr>
        <p:spPr bwMode="auto">
          <a:xfrm>
            <a:off x="5828459" y="3278981"/>
            <a:ext cx="0" cy="24169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7" name="Line 65">
            <a:extLst>
              <a:ext uri="{FF2B5EF4-FFF2-40B4-BE49-F238E27FC236}">
                <a16:creationId xmlns:a16="http://schemas.microsoft.com/office/drawing/2014/main" id="{D648F6B1-0A50-8C4D-A7D2-3CF747C8BABF}"/>
              </a:ext>
            </a:extLst>
          </p:cNvPr>
          <p:cNvSpPr>
            <a:spLocks noChangeShapeType="1"/>
          </p:cNvSpPr>
          <p:nvPr/>
        </p:nvSpPr>
        <p:spPr bwMode="auto">
          <a:xfrm flipV="1">
            <a:off x="5828459" y="3673078"/>
            <a:ext cx="0" cy="24169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8" name="Line 66">
            <a:extLst>
              <a:ext uri="{FF2B5EF4-FFF2-40B4-BE49-F238E27FC236}">
                <a16:creationId xmlns:a16="http://schemas.microsoft.com/office/drawing/2014/main" id="{6D1EA1AA-F1A0-E74F-8EB6-323F135BBE4A}"/>
              </a:ext>
            </a:extLst>
          </p:cNvPr>
          <p:cNvSpPr>
            <a:spLocks noChangeShapeType="1"/>
          </p:cNvSpPr>
          <p:nvPr/>
        </p:nvSpPr>
        <p:spPr bwMode="auto">
          <a:xfrm>
            <a:off x="5712969" y="3921918"/>
            <a:ext cx="3571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99" name="Line 67">
            <a:extLst>
              <a:ext uri="{FF2B5EF4-FFF2-40B4-BE49-F238E27FC236}">
                <a16:creationId xmlns:a16="http://schemas.microsoft.com/office/drawing/2014/main" id="{1C85352E-17C9-D549-A2BD-57A09913F048}"/>
              </a:ext>
            </a:extLst>
          </p:cNvPr>
          <p:cNvSpPr>
            <a:spLocks noChangeShapeType="1"/>
          </p:cNvSpPr>
          <p:nvPr/>
        </p:nvSpPr>
        <p:spPr bwMode="auto">
          <a:xfrm>
            <a:off x="5749878" y="3270647"/>
            <a:ext cx="14763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00" name="Line 68">
            <a:extLst>
              <a:ext uri="{FF2B5EF4-FFF2-40B4-BE49-F238E27FC236}">
                <a16:creationId xmlns:a16="http://schemas.microsoft.com/office/drawing/2014/main" id="{EBC9AE0D-2B04-2645-9476-0B3051DF9276}"/>
              </a:ext>
            </a:extLst>
          </p:cNvPr>
          <p:cNvSpPr>
            <a:spLocks noChangeShapeType="1"/>
          </p:cNvSpPr>
          <p:nvPr/>
        </p:nvSpPr>
        <p:spPr bwMode="auto">
          <a:xfrm>
            <a:off x="5729638" y="2876549"/>
            <a:ext cx="3571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01" name="Line 69">
            <a:extLst>
              <a:ext uri="{FF2B5EF4-FFF2-40B4-BE49-F238E27FC236}">
                <a16:creationId xmlns:a16="http://schemas.microsoft.com/office/drawing/2014/main" id="{C0332117-A4C3-844D-8A08-8B0B485AD2EA}"/>
              </a:ext>
            </a:extLst>
          </p:cNvPr>
          <p:cNvSpPr>
            <a:spLocks noChangeShapeType="1"/>
          </p:cNvSpPr>
          <p:nvPr/>
        </p:nvSpPr>
        <p:spPr bwMode="auto">
          <a:xfrm>
            <a:off x="6021341" y="2880122"/>
            <a:ext cx="0" cy="13335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02" name="Line 70">
            <a:extLst>
              <a:ext uri="{FF2B5EF4-FFF2-40B4-BE49-F238E27FC236}">
                <a16:creationId xmlns:a16="http://schemas.microsoft.com/office/drawing/2014/main" id="{838B5881-D7D0-554D-93A9-E8D16418B8D3}"/>
              </a:ext>
            </a:extLst>
          </p:cNvPr>
          <p:cNvSpPr>
            <a:spLocks noChangeShapeType="1"/>
          </p:cNvSpPr>
          <p:nvPr/>
        </p:nvSpPr>
        <p:spPr bwMode="auto">
          <a:xfrm flipH="1">
            <a:off x="6020150" y="3198018"/>
            <a:ext cx="0" cy="71556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03" name="Text Box 71">
            <a:extLst>
              <a:ext uri="{FF2B5EF4-FFF2-40B4-BE49-F238E27FC236}">
                <a16:creationId xmlns:a16="http://schemas.microsoft.com/office/drawing/2014/main" id="{76399630-36A1-DE42-B526-233291123DB6}"/>
              </a:ext>
            </a:extLst>
          </p:cNvPr>
          <p:cNvSpPr txBox="1">
            <a:spLocks noChangeArrowheads="1"/>
          </p:cNvSpPr>
          <p:nvPr/>
        </p:nvSpPr>
        <p:spPr bwMode="auto">
          <a:xfrm>
            <a:off x="5097538" y="3000375"/>
            <a:ext cx="1021434"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b="1" dirty="0">
                <a:solidFill>
                  <a:srgbClr val="000000"/>
                </a:solidFill>
                <a:latin typeface="Courier New" charset="0"/>
              </a:rPr>
              <a:t>RcvBuffer</a:t>
            </a:r>
          </a:p>
        </p:txBody>
      </p:sp>
      <p:sp>
        <p:nvSpPr>
          <p:cNvPr id="104" name="Text Box 73">
            <a:extLst>
              <a:ext uri="{FF2B5EF4-FFF2-40B4-BE49-F238E27FC236}">
                <a16:creationId xmlns:a16="http://schemas.microsoft.com/office/drawing/2014/main" id="{B6E3B689-E8B2-BF4B-86DF-927AF5D4F690}"/>
              </a:ext>
            </a:extLst>
          </p:cNvPr>
          <p:cNvSpPr txBox="1">
            <a:spLocks noChangeArrowheads="1"/>
          </p:cNvSpPr>
          <p:nvPr/>
        </p:nvSpPr>
        <p:spPr bwMode="auto">
          <a:xfrm>
            <a:off x="6093779" y="4221956"/>
            <a:ext cx="1935145"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Calibri" panose="020F0502020204030204"/>
              </a:rPr>
              <a:t>TCP segment payloads</a:t>
            </a:r>
          </a:p>
        </p:txBody>
      </p:sp>
      <p:sp>
        <p:nvSpPr>
          <p:cNvPr id="105" name="Text Box 74">
            <a:extLst>
              <a:ext uri="{FF2B5EF4-FFF2-40B4-BE49-F238E27FC236}">
                <a16:creationId xmlns:a16="http://schemas.microsoft.com/office/drawing/2014/main" id="{91F2C3EF-EE52-4542-BF6E-028621EA7670}"/>
              </a:ext>
            </a:extLst>
          </p:cNvPr>
          <p:cNvSpPr txBox="1">
            <a:spLocks noChangeArrowheads="1"/>
          </p:cNvSpPr>
          <p:nvPr/>
        </p:nvSpPr>
        <p:spPr bwMode="auto">
          <a:xfrm>
            <a:off x="6131447" y="2346722"/>
            <a:ext cx="190148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Calibri" panose="020F0502020204030204"/>
              </a:rPr>
              <a:t>to application process</a:t>
            </a:r>
          </a:p>
        </p:txBody>
      </p:sp>
      <p:sp>
        <p:nvSpPr>
          <p:cNvPr id="106" name="Text Box 76">
            <a:extLst>
              <a:ext uri="{FF2B5EF4-FFF2-40B4-BE49-F238E27FC236}">
                <a16:creationId xmlns:a16="http://schemas.microsoft.com/office/drawing/2014/main" id="{0CF681A2-AC47-5344-AE94-24FC5FD82425}"/>
              </a:ext>
            </a:extLst>
          </p:cNvPr>
          <p:cNvSpPr txBox="1">
            <a:spLocks noChangeArrowheads="1"/>
          </p:cNvSpPr>
          <p:nvPr/>
        </p:nvSpPr>
        <p:spPr bwMode="auto">
          <a:xfrm>
            <a:off x="5642109" y="4711303"/>
            <a:ext cx="272061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000000"/>
                </a:solidFill>
                <a:latin typeface="Calibri" panose="020F0502020204030204"/>
              </a:rPr>
              <a:t>TCP receiver-side buffering</a:t>
            </a:r>
          </a:p>
        </p:txBody>
      </p:sp>
    </p:spTree>
    <p:extLst>
      <p:ext uri="{BB962C8B-B14F-4D97-AF65-F5344CB8AC3E}">
        <p14:creationId xmlns:p14="http://schemas.microsoft.com/office/powerpoint/2010/main" val="4217487287"/>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flow control</a:t>
            </a:r>
          </a:p>
        </p:txBody>
      </p:sp>
      <p:sp>
        <p:nvSpPr>
          <p:cNvPr id="20" name="Slide Number Placeholder 2">
            <a:extLst>
              <a:ext uri="{FF2B5EF4-FFF2-40B4-BE49-F238E27FC236}">
                <a16:creationId xmlns:a16="http://schemas.microsoft.com/office/drawing/2014/main" id="{73A53F5E-537D-1E40-85EE-92D8692A70E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19</a:t>
            </a:fld>
            <a:endParaRPr lang="en-US" dirty="0">
              <a:solidFill>
                <a:prstClr val="white">
                  <a:lumMod val="50000"/>
                </a:prstClr>
              </a:solidFill>
              <a:latin typeface="Calibri" panose="020F0502020204030204"/>
            </a:endParaRPr>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501705" y="1971676"/>
            <a:ext cx="4369804" cy="368022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TCP receiver “</a:t>
            </a:r>
            <a:r>
              <a:rPr lang="en-US" altLang="ja-JP" sz="2100" dirty="0">
                <a:solidFill>
                  <a:prstClr val="black"/>
                </a:solidFill>
                <a:latin typeface="Calibri" panose="020F0502020204030204"/>
                <a:ea typeface="ＭＳ Ｐゴシック" panose="020B0600070205080204" pitchFamily="34" charset="-128"/>
              </a:rPr>
              <a:t>advertises” free buffer space in </a:t>
            </a:r>
            <a:r>
              <a:rPr lang="en-US" altLang="ja-JP" sz="2100" b="1" dirty="0">
                <a:solidFill>
                  <a:prstClr val="black"/>
                </a:solidFill>
                <a:latin typeface="Courier New" panose="02070309020205020404" pitchFamily="49" charset="0"/>
                <a:ea typeface="ＭＳ Ｐゴシック" panose="020B0600070205080204" pitchFamily="34" charset="-128"/>
              </a:rPr>
              <a:t>rwnd</a:t>
            </a:r>
            <a:r>
              <a:rPr lang="en-US" altLang="ja-JP" sz="2100" dirty="0">
                <a:solidFill>
                  <a:prstClr val="black"/>
                </a:solidFill>
                <a:latin typeface="Calibri" panose="020F0502020204030204"/>
                <a:ea typeface="ＭＳ Ｐゴシック" panose="020B0600070205080204" pitchFamily="34" charset="-128"/>
              </a:rPr>
              <a:t> field in TCP header</a:t>
            </a:r>
          </a:p>
          <a:p>
            <a:pPr marL="521494" lvl="1" indent="-173831" defTabSz="685800">
              <a:lnSpc>
                <a:spcPct val="100000"/>
              </a:lnSpc>
              <a:spcBef>
                <a:spcPts val="375"/>
              </a:spcBef>
              <a:defRPr/>
            </a:pPr>
            <a:r>
              <a:rPr lang="en-US" altLang="en-US" sz="1800" b="1" dirty="0">
                <a:solidFill>
                  <a:prstClr val="black"/>
                </a:solidFill>
                <a:latin typeface="Courier New" panose="02070309020205020404" pitchFamily="49" charset="0"/>
                <a:ea typeface="ＭＳ Ｐゴシック" panose="020B0600070205080204" pitchFamily="34" charset="-128"/>
              </a:rPr>
              <a:t>RcvBuffer </a:t>
            </a:r>
            <a:r>
              <a:rPr lang="en-US" altLang="en-US" sz="1800" dirty="0">
                <a:solidFill>
                  <a:prstClr val="black"/>
                </a:solidFill>
                <a:latin typeface="Calibri" panose="020F0502020204030204"/>
                <a:ea typeface="ＭＳ Ｐゴシック" panose="020B0600070205080204" pitchFamily="34" charset="-128"/>
              </a:rPr>
              <a:t>size set via socket options (typical default is 4096 bytes)</a:t>
            </a:r>
          </a:p>
          <a:p>
            <a:pPr marL="521494" lvl="1" indent="-173831" defTabSz="685800">
              <a:lnSpc>
                <a:spcPct val="100000"/>
              </a:lnSpc>
              <a:spcBef>
                <a:spcPts val="375"/>
              </a:spcBef>
              <a:defRPr/>
            </a:pPr>
            <a:r>
              <a:rPr lang="en-US" altLang="en-US" sz="1800" dirty="0">
                <a:solidFill>
                  <a:prstClr val="black"/>
                </a:solidFill>
                <a:latin typeface="Calibri" panose="020F0502020204030204"/>
                <a:ea typeface="ＭＳ Ｐゴシック" panose="020B0600070205080204" pitchFamily="34" charset="-128"/>
              </a:rPr>
              <a:t>many operating systems auto-adjust </a:t>
            </a:r>
            <a:r>
              <a:rPr lang="en-US" altLang="en-US" sz="1800" b="1" dirty="0">
                <a:solidFill>
                  <a:prstClr val="black"/>
                </a:solidFill>
                <a:latin typeface="Courier New" panose="02070309020205020404" pitchFamily="49" charset="0"/>
                <a:ea typeface="ＭＳ Ｐゴシック" panose="020B0600070205080204" pitchFamily="34" charset="-128"/>
              </a:rPr>
              <a:t>RcvBuffer</a:t>
            </a:r>
            <a:endParaRPr lang="en-US" altLang="en-US" sz="1800" dirty="0">
              <a:solidFill>
                <a:prstClr val="black"/>
              </a:solidFill>
              <a:latin typeface="Calibri" panose="020F0502020204030204"/>
              <a:ea typeface="ＭＳ Ｐゴシック" panose="020B0600070205080204" pitchFamily="34" charset="-128"/>
            </a:endParaRPr>
          </a:p>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sender limits amount of unACKed (“</a:t>
            </a:r>
            <a:r>
              <a:rPr lang="en-US" altLang="ja-JP" sz="2100" dirty="0">
                <a:solidFill>
                  <a:prstClr val="black"/>
                </a:solidFill>
                <a:latin typeface="Calibri" panose="020F0502020204030204"/>
                <a:ea typeface="ＭＳ Ｐゴシック" panose="020B0600070205080204" pitchFamily="34" charset="-128"/>
              </a:rPr>
              <a:t>in-flight”) data to received </a:t>
            </a:r>
            <a:r>
              <a:rPr lang="en-US" altLang="ja-JP" sz="2100" b="1" dirty="0">
                <a:solidFill>
                  <a:prstClr val="black"/>
                </a:solidFill>
                <a:latin typeface="Courier New" panose="02070309020205020404" pitchFamily="49" charset="0"/>
                <a:ea typeface="ＭＳ Ｐゴシック" panose="020B0600070205080204" pitchFamily="34" charset="-128"/>
              </a:rPr>
              <a:t>rwnd</a:t>
            </a:r>
          </a:p>
          <a:p>
            <a:pPr marL="264319" indent="-166688" defTabSz="685800">
              <a:lnSpc>
                <a:spcPct val="10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guarantees receive buffer will not overflow</a:t>
            </a:r>
          </a:p>
        </p:txBody>
      </p:sp>
      <p:grpSp>
        <p:nvGrpSpPr>
          <p:cNvPr id="4" name="Group 3">
            <a:extLst>
              <a:ext uri="{FF2B5EF4-FFF2-40B4-BE49-F238E27FC236}">
                <a16:creationId xmlns:a16="http://schemas.microsoft.com/office/drawing/2014/main" id="{65ED315A-00AA-7C4A-8164-7D6F6F0CAA0E}"/>
              </a:ext>
            </a:extLst>
          </p:cNvPr>
          <p:cNvGrpSpPr/>
          <p:nvPr/>
        </p:nvGrpSpPr>
        <p:grpSpPr>
          <a:xfrm>
            <a:off x="5522809" y="1658711"/>
            <a:ext cx="3261963" cy="3897447"/>
            <a:chOff x="7334716" y="821871"/>
            <a:chExt cx="4349284" cy="5196595"/>
          </a:xfrm>
        </p:grpSpPr>
        <p:sp>
          <p:nvSpPr>
            <p:cNvPr id="43" name="Text Box 49">
              <a:extLst>
                <a:ext uri="{FF2B5EF4-FFF2-40B4-BE49-F238E27FC236}">
                  <a16:creationId xmlns:a16="http://schemas.microsoft.com/office/drawing/2014/main" id="{4942189D-75C7-5146-A769-620DCCD5AD2C}"/>
                </a:ext>
              </a:extLst>
            </p:cNvPr>
            <p:cNvSpPr txBox="1">
              <a:spLocks noChangeArrowheads="1"/>
            </p:cNvSpPr>
            <p:nvPr/>
          </p:nvSpPr>
          <p:spPr bwMode="auto">
            <a:xfrm>
              <a:off x="7334716" y="821871"/>
              <a:ext cx="4349284" cy="3724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dirty="0">
                  <a:solidFill>
                    <a:srgbClr val="000000"/>
                  </a:solidFill>
                  <a:latin typeface="Calibri" panose="020F0502020204030204"/>
                </a:rPr>
                <a:t>flow control: </a:t>
              </a:r>
              <a:r>
                <a:rPr lang="en-US" sz="1200" dirty="0">
                  <a:solidFill>
                    <a:srgbClr val="000000"/>
                  </a:solidFill>
                  <a:latin typeface="Calibri" panose="020F0502020204030204"/>
                </a:rPr>
                <a:t># bytes receiver willing to accept</a:t>
              </a:r>
              <a:endParaRPr lang="en-US" sz="1350" dirty="0">
                <a:solidFill>
                  <a:srgbClr val="000000"/>
                </a:solidFill>
                <a:latin typeface="Calibri" panose="020F0502020204030204"/>
              </a:endParaRPr>
            </a:p>
          </p:txBody>
        </p:sp>
        <p:grpSp>
          <p:nvGrpSpPr>
            <p:cNvPr id="3" name="Group 2">
              <a:extLst>
                <a:ext uri="{FF2B5EF4-FFF2-40B4-BE49-F238E27FC236}">
                  <a16:creationId xmlns:a16="http://schemas.microsoft.com/office/drawing/2014/main" id="{013C6F91-8B0A-654D-A104-22DAAE940A5C}"/>
                </a:ext>
              </a:extLst>
            </p:cNvPr>
            <p:cNvGrpSpPr/>
            <p:nvPr/>
          </p:nvGrpSpPr>
          <p:grpSpPr>
            <a:xfrm>
              <a:off x="7490842" y="1445945"/>
              <a:ext cx="3173211" cy="4078555"/>
              <a:chOff x="7157014" y="1873079"/>
              <a:chExt cx="2251592" cy="2800562"/>
            </a:xfrm>
          </p:grpSpPr>
          <p:sp>
            <p:nvSpPr>
              <p:cNvPr id="31" name="Rectangle 4">
                <a:extLst>
                  <a:ext uri="{FF2B5EF4-FFF2-40B4-BE49-F238E27FC236}">
                    <a16:creationId xmlns:a16="http://schemas.microsoft.com/office/drawing/2014/main" id="{F26D3C4D-BBC1-F742-A1E0-D6E34A9B3149}"/>
                  </a:ext>
                </a:extLst>
              </p:cNvPr>
              <p:cNvSpPr>
                <a:spLocks noChangeArrowheads="1"/>
              </p:cNvSpPr>
              <p:nvPr/>
            </p:nvSpPr>
            <p:spPr bwMode="auto">
              <a:xfrm>
                <a:off x="7206558" y="1873079"/>
                <a:ext cx="2202048" cy="2745454"/>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dirty="0">
                  <a:solidFill>
                    <a:srgbClr val="000000"/>
                  </a:solidFill>
                  <a:latin typeface="Tahoma" charset="0"/>
                  <a:ea typeface="ＭＳ Ｐゴシック" charset="0"/>
                </a:endParaRPr>
              </a:p>
            </p:txBody>
          </p:sp>
          <p:sp>
            <p:nvSpPr>
              <p:cNvPr id="32" name="Rectangle 5">
                <a:extLst>
                  <a:ext uri="{FF2B5EF4-FFF2-40B4-BE49-F238E27FC236}">
                    <a16:creationId xmlns:a16="http://schemas.microsoft.com/office/drawing/2014/main" id="{EDEADB29-BFA2-B047-B027-A9139A42EC40}"/>
                  </a:ext>
                </a:extLst>
              </p:cNvPr>
              <p:cNvSpPr>
                <a:spLocks noChangeArrowheads="1"/>
              </p:cNvSpPr>
              <p:nvPr/>
            </p:nvSpPr>
            <p:spPr bwMode="auto">
              <a:xfrm>
                <a:off x="7158783" y="1939027"/>
                <a:ext cx="2202048" cy="2734614"/>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050" kern="0" dirty="0">
                  <a:solidFill>
                    <a:srgbClr val="000000"/>
                  </a:solidFill>
                  <a:latin typeface="Arial" charset="0"/>
                  <a:ea typeface="ＭＳ Ｐゴシック" charset="0"/>
                </a:endParaRPr>
              </a:p>
            </p:txBody>
          </p:sp>
          <p:sp>
            <p:nvSpPr>
              <p:cNvPr id="33" name="Line 8">
                <a:extLst>
                  <a:ext uri="{FF2B5EF4-FFF2-40B4-BE49-F238E27FC236}">
                    <a16:creationId xmlns:a16="http://schemas.microsoft.com/office/drawing/2014/main" id="{D6DDC5BF-A1E6-C24B-9CE3-F65B498DEB30}"/>
                  </a:ext>
                </a:extLst>
              </p:cNvPr>
              <p:cNvSpPr>
                <a:spLocks noChangeShapeType="1"/>
              </p:cNvSpPr>
              <p:nvPr/>
            </p:nvSpPr>
            <p:spPr bwMode="auto">
              <a:xfrm>
                <a:off x="7160553" y="2152232"/>
                <a:ext cx="2199395" cy="2711"/>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4" name="Line 9">
                <a:extLst>
                  <a:ext uri="{FF2B5EF4-FFF2-40B4-BE49-F238E27FC236}">
                    <a16:creationId xmlns:a16="http://schemas.microsoft.com/office/drawing/2014/main" id="{D073AA58-CCB9-1143-BD54-AECB66E97A27}"/>
                  </a:ext>
                </a:extLst>
              </p:cNvPr>
              <p:cNvSpPr>
                <a:spLocks noChangeShapeType="1"/>
              </p:cNvSpPr>
              <p:nvPr/>
            </p:nvSpPr>
            <p:spPr bwMode="auto">
              <a:xfrm flipV="1">
                <a:off x="7157014" y="2368146"/>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5" name="Line 16">
                <a:extLst>
                  <a:ext uri="{FF2B5EF4-FFF2-40B4-BE49-F238E27FC236}">
                    <a16:creationId xmlns:a16="http://schemas.microsoft.com/office/drawing/2014/main" id="{3BCF6F65-DFAE-C544-BAEE-68B6416C49EB}"/>
                  </a:ext>
                </a:extLst>
              </p:cNvPr>
              <p:cNvSpPr>
                <a:spLocks noChangeShapeType="1"/>
              </p:cNvSpPr>
              <p:nvPr/>
            </p:nvSpPr>
            <p:spPr bwMode="auto">
              <a:xfrm flipV="1">
                <a:off x="7162322" y="2584964"/>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6" name="Line 18">
                <a:extLst>
                  <a:ext uri="{FF2B5EF4-FFF2-40B4-BE49-F238E27FC236}">
                    <a16:creationId xmlns:a16="http://schemas.microsoft.com/office/drawing/2014/main" id="{73D40423-B9BC-B445-A204-77B62C8A65F0}"/>
                  </a:ext>
                </a:extLst>
              </p:cNvPr>
              <p:cNvSpPr>
                <a:spLocks noChangeShapeType="1"/>
              </p:cNvSpPr>
              <p:nvPr/>
            </p:nvSpPr>
            <p:spPr bwMode="auto">
              <a:xfrm flipV="1">
                <a:off x="7159668" y="2809912"/>
                <a:ext cx="220204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7" name="Line 19">
                <a:extLst>
                  <a:ext uri="{FF2B5EF4-FFF2-40B4-BE49-F238E27FC236}">
                    <a16:creationId xmlns:a16="http://schemas.microsoft.com/office/drawing/2014/main" id="{9E50A3C5-1DEF-C346-9F9A-A93A3289A502}"/>
                  </a:ext>
                </a:extLst>
              </p:cNvPr>
              <p:cNvSpPr>
                <a:spLocks noChangeShapeType="1"/>
              </p:cNvSpPr>
              <p:nvPr/>
            </p:nvSpPr>
            <p:spPr bwMode="auto">
              <a:xfrm flipV="1">
                <a:off x="7157014" y="3032150"/>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8" name="Line 20">
                <a:extLst>
                  <a:ext uri="{FF2B5EF4-FFF2-40B4-BE49-F238E27FC236}">
                    <a16:creationId xmlns:a16="http://schemas.microsoft.com/office/drawing/2014/main" id="{548B775C-D85F-5847-B406-FA9F2CBD5940}"/>
                  </a:ext>
                </a:extLst>
              </p:cNvPr>
              <p:cNvSpPr>
                <a:spLocks noChangeShapeType="1"/>
              </p:cNvSpPr>
              <p:nvPr/>
            </p:nvSpPr>
            <p:spPr bwMode="auto">
              <a:xfrm flipV="1">
                <a:off x="7157014" y="3351956"/>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39" name="Line 21">
                <a:extLst>
                  <a:ext uri="{FF2B5EF4-FFF2-40B4-BE49-F238E27FC236}">
                    <a16:creationId xmlns:a16="http://schemas.microsoft.com/office/drawing/2014/main" id="{5295938A-7AD9-3A43-B065-16AE7DE46620}"/>
                  </a:ext>
                </a:extLst>
              </p:cNvPr>
              <p:cNvSpPr>
                <a:spLocks noChangeShapeType="1"/>
              </p:cNvSpPr>
              <p:nvPr/>
            </p:nvSpPr>
            <p:spPr bwMode="auto">
              <a:xfrm flipH="1" flipV="1">
                <a:off x="8249633" y="2586771"/>
                <a:ext cx="2654" cy="442669"/>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sp>
            <p:nvSpPr>
              <p:cNvPr id="42" name="Text Box 22">
                <a:extLst>
                  <a:ext uri="{FF2B5EF4-FFF2-40B4-BE49-F238E27FC236}">
                    <a16:creationId xmlns:a16="http://schemas.microsoft.com/office/drawing/2014/main" id="{DBAB1210-0C8C-574D-9755-E0E40D1D8E2B}"/>
                  </a:ext>
                </a:extLst>
              </p:cNvPr>
              <p:cNvSpPr txBox="1">
                <a:spLocks noChangeArrowheads="1"/>
              </p:cNvSpPr>
              <p:nvPr/>
            </p:nvSpPr>
            <p:spPr bwMode="auto">
              <a:xfrm>
                <a:off x="8200032" y="2572087"/>
                <a:ext cx="1165033" cy="2536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rial" charset="0"/>
                  </a:rPr>
                  <a:t>receive window</a:t>
                </a:r>
              </a:p>
            </p:txBody>
          </p:sp>
          <p:sp>
            <p:nvSpPr>
              <p:cNvPr id="41" name="Line 10">
                <a:extLst>
                  <a:ext uri="{FF2B5EF4-FFF2-40B4-BE49-F238E27FC236}">
                    <a16:creationId xmlns:a16="http://schemas.microsoft.com/office/drawing/2014/main" id="{A5EAF221-945B-9044-8647-B161BDC6D143}"/>
                  </a:ext>
                </a:extLst>
              </p:cNvPr>
              <p:cNvSpPr>
                <a:spLocks noChangeShapeType="1"/>
              </p:cNvSpPr>
              <p:nvPr/>
            </p:nvSpPr>
            <p:spPr bwMode="auto">
              <a:xfrm flipH="1" flipV="1">
                <a:off x="8241671" y="1940977"/>
                <a:ext cx="981" cy="20781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kern="0" dirty="0">
                  <a:solidFill>
                    <a:srgbClr val="000000"/>
                  </a:solidFill>
                  <a:latin typeface="Tahoma" charset="0"/>
                  <a:ea typeface="ＭＳ Ｐゴシック" charset="0"/>
                </a:endParaRPr>
              </a:p>
            </p:txBody>
          </p:sp>
        </p:grpSp>
        <p:sp>
          <p:nvSpPr>
            <p:cNvPr id="44" name="Line 53">
              <a:extLst>
                <a:ext uri="{FF2B5EF4-FFF2-40B4-BE49-F238E27FC236}">
                  <a16:creationId xmlns:a16="http://schemas.microsoft.com/office/drawing/2014/main" id="{1BBBD060-CF26-F24A-BA7E-49EE7DADEE01}"/>
                </a:ext>
              </a:extLst>
            </p:cNvPr>
            <p:cNvSpPr>
              <a:spLocks noChangeShapeType="1"/>
            </p:cNvSpPr>
            <p:nvPr/>
          </p:nvSpPr>
          <p:spPr bwMode="auto">
            <a:xfrm flipH="1" flipV="1">
              <a:off x="7968285" y="1150408"/>
              <a:ext cx="1233771" cy="1404106"/>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788" dirty="0">
                <a:solidFill>
                  <a:srgbClr val="000000"/>
                </a:solidFill>
                <a:latin typeface="Tahoma" charset="0"/>
                <a:ea typeface="ＭＳ Ｐゴシック" charset="0"/>
              </a:endParaRPr>
            </a:p>
          </p:txBody>
        </p:sp>
        <p:sp>
          <p:nvSpPr>
            <p:cNvPr id="46" name="Text Box 49">
              <a:extLst>
                <a:ext uri="{FF2B5EF4-FFF2-40B4-BE49-F238E27FC236}">
                  <a16:creationId xmlns:a16="http://schemas.microsoft.com/office/drawing/2014/main" id="{FBFCD652-9EB9-FE4F-BB9F-A9277C4DE74F}"/>
                </a:ext>
              </a:extLst>
            </p:cNvPr>
            <p:cNvSpPr txBox="1">
              <a:spLocks noChangeArrowheads="1"/>
            </p:cNvSpPr>
            <p:nvPr/>
          </p:nvSpPr>
          <p:spPr bwMode="auto">
            <a:xfrm>
              <a:off x="8125744" y="5646057"/>
              <a:ext cx="2310027" cy="3724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dirty="0">
                  <a:solidFill>
                    <a:srgbClr val="000000"/>
                  </a:solidFill>
                  <a:latin typeface="Calibri" panose="020F0502020204030204"/>
                </a:rPr>
                <a:t>TCP segment format</a:t>
              </a:r>
            </a:p>
          </p:txBody>
        </p:sp>
      </p:grpSp>
    </p:spTree>
    <p:extLst>
      <p:ext uri="{BB962C8B-B14F-4D97-AF65-F5344CB8AC3E}">
        <p14:creationId xmlns:p14="http://schemas.microsoft.com/office/powerpoint/2010/main" val="3774413299"/>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connection management</a:t>
            </a:r>
          </a:p>
        </p:txBody>
      </p:sp>
      <p:sp>
        <p:nvSpPr>
          <p:cNvPr id="74" name="Slide Number Placeholder 2">
            <a:extLst>
              <a:ext uri="{FF2B5EF4-FFF2-40B4-BE49-F238E27FC236}">
                <a16:creationId xmlns:a16="http://schemas.microsoft.com/office/drawing/2014/main" id="{2804BB5E-F6B2-BA48-BFC5-59C8B165BD2D}"/>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20</a:t>
            </a:fld>
            <a:endParaRPr lang="en-US" dirty="0">
              <a:solidFill>
                <a:prstClr val="white">
                  <a:lumMod val="50000"/>
                </a:prstClr>
              </a:solidFill>
              <a:latin typeface="Calibri" panose="020F0502020204030204"/>
            </a:endParaRPr>
          </a:p>
        </p:txBody>
      </p:sp>
      <p:sp>
        <p:nvSpPr>
          <p:cNvPr id="31" name="Rectangle 5">
            <a:extLst>
              <a:ext uri="{FF2B5EF4-FFF2-40B4-BE49-F238E27FC236}">
                <a16:creationId xmlns:a16="http://schemas.microsoft.com/office/drawing/2014/main" id="{9C578410-CCAC-A940-BEC5-74269A538606}"/>
              </a:ext>
            </a:extLst>
          </p:cNvPr>
          <p:cNvSpPr txBox="1">
            <a:spLocks noChangeArrowheads="1"/>
          </p:cNvSpPr>
          <p:nvPr/>
        </p:nvSpPr>
        <p:spPr>
          <a:xfrm>
            <a:off x="588932" y="1854300"/>
            <a:ext cx="8496983" cy="164068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altLang="en-US" sz="2100" dirty="0">
                <a:solidFill>
                  <a:prstClr val="black"/>
                </a:solidFill>
                <a:latin typeface="Calibri" panose="020F0502020204030204"/>
                <a:ea typeface="ＭＳ Ｐゴシック" panose="020B0600070205080204" pitchFamily="34" charset="-128"/>
              </a:rPr>
              <a:t>before exchanging data, sender/receiver “</a:t>
            </a:r>
            <a:r>
              <a:rPr lang="en-US" altLang="ja-JP" sz="2100" dirty="0">
                <a:solidFill>
                  <a:prstClr val="black"/>
                </a:solidFill>
                <a:latin typeface="Calibri" panose="020F0502020204030204"/>
                <a:ea typeface="ＭＳ Ｐゴシック" panose="020B0600070205080204" pitchFamily="34" charset="-128"/>
              </a:rPr>
              <a:t>handshake”:</a:t>
            </a:r>
          </a:p>
          <a:p>
            <a:pPr marL="264319" indent="-166688" defTabSz="685800">
              <a:spcBef>
                <a:spcPts val="300"/>
              </a:spcBef>
              <a:defRPr/>
            </a:pPr>
            <a:r>
              <a:rPr lang="en-US" altLang="en-US" sz="1800" dirty="0">
                <a:solidFill>
                  <a:prstClr val="black"/>
                </a:solidFill>
                <a:latin typeface="Calibri" panose="020F0502020204030204"/>
                <a:ea typeface="ＭＳ Ｐゴシック" panose="020B0600070205080204" pitchFamily="34" charset="-128"/>
              </a:rPr>
              <a:t>agree to establish connection (each knowing the other willing to establish connection)</a:t>
            </a:r>
          </a:p>
          <a:p>
            <a:pPr marL="264319" indent="-166688" defTabSz="685800">
              <a:spcBef>
                <a:spcPts val="300"/>
              </a:spcBef>
              <a:defRPr/>
            </a:pPr>
            <a:r>
              <a:rPr lang="en-US" altLang="en-US" sz="1800" dirty="0">
                <a:solidFill>
                  <a:prstClr val="black"/>
                </a:solidFill>
                <a:latin typeface="Calibri" panose="020F0502020204030204"/>
                <a:ea typeface="ＭＳ Ｐゴシック" panose="020B0600070205080204" pitchFamily="34" charset="-128"/>
              </a:rPr>
              <a:t>agree on connection parameters (e.g., starting seq #s, </a:t>
            </a:r>
            <a:r>
              <a:rPr lang="en-US" altLang="en-US" sz="1800" dirty="0" err="1">
                <a:solidFill>
                  <a:prstClr val="black"/>
                </a:solidFill>
                <a:latin typeface="Calibri" panose="020F0502020204030204"/>
                <a:ea typeface="ＭＳ Ｐゴシック" panose="020B0600070205080204" pitchFamily="34" charset="-128"/>
              </a:rPr>
              <a:t>rcvbuffer</a:t>
            </a:r>
            <a:r>
              <a:rPr lang="en-US" altLang="en-US" sz="1800" dirty="0">
                <a:solidFill>
                  <a:prstClr val="black"/>
                </a:solidFill>
                <a:latin typeface="Calibri" panose="020F0502020204030204"/>
                <a:ea typeface="ＭＳ Ｐゴシック" panose="020B0600070205080204" pitchFamily="34" charset="-128"/>
              </a:rPr>
              <a:t> size)</a:t>
            </a:r>
          </a:p>
        </p:txBody>
      </p:sp>
      <p:sp>
        <p:nvSpPr>
          <p:cNvPr id="129" name="Rectangle 62">
            <a:extLst>
              <a:ext uri="{FF2B5EF4-FFF2-40B4-BE49-F238E27FC236}">
                <a16:creationId xmlns:a16="http://schemas.microsoft.com/office/drawing/2014/main" id="{C5E2ED2D-96E6-7640-B8B9-2E97B87686AF}"/>
              </a:ext>
            </a:extLst>
          </p:cNvPr>
          <p:cNvSpPr>
            <a:spLocks noChangeArrowheads="1"/>
          </p:cNvSpPr>
          <p:nvPr/>
        </p:nvSpPr>
        <p:spPr bwMode="auto">
          <a:xfrm>
            <a:off x="2354008" y="3058718"/>
            <a:ext cx="1709738" cy="1810941"/>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30" name="Rectangle 45">
            <a:extLst>
              <a:ext uri="{FF2B5EF4-FFF2-40B4-BE49-F238E27FC236}">
                <a16:creationId xmlns:a16="http://schemas.microsoft.com/office/drawing/2014/main" id="{E1C433CA-144F-FE40-9939-574216DE0F50}"/>
              </a:ext>
            </a:extLst>
          </p:cNvPr>
          <p:cNvSpPr>
            <a:spLocks noChangeArrowheads="1"/>
          </p:cNvSpPr>
          <p:nvPr/>
        </p:nvSpPr>
        <p:spPr bwMode="auto">
          <a:xfrm>
            <a:off x="2324242" y="3099199"/>
            <a:ext cx="1702594" cy="1853804"/>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Line 55">
            <a:extLst>
              <a:ext uri="{FF2B5EF4-FFF2-40B4-BE49-F238E27FC236}">
                <a16:creationId xmlns:a16="http://schemas.microsoft.com/office/drawing/2014/main" id="{B5AF7973-E361-6A42-9B3B-A8AD0E9C7140}"/>
              </a:ext>
            </a:extLst>
          </p:cNvPr>
          <p:cNvSpPr>
            <a:spLocks noChangeShapeType="1"/>
          </p:cNvSpPr>
          <p:nvPr/>
        </p:nvSpPr>
        <p:spPr bwMode="auto">
          <a:xfrm>
            <a:off x="2324242" y="3430193"/>
            <a:ext cx="1702594"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2" name="Text Box 6">
            <a:extLst>
              <a:ext uri="{FF2B5EF4-FFF2-40B4-BE49-F238E27FC236}">
                <a16:creationId xmlns:a16="http://schemas.microsoft.com/office/drawing/2014/main" id="{F4060720-F3C5-A543-A168-90183A3F78EB}"/>
              </a:ext>
            </a:extLst>
          </p:cNvPr>
          <p:cNvSpPr txBox="1">
            <a:spLocks noChangeArrowheads="1"/>
          </p:cNvSpPr>
          <p:nvPr/>
        </p:nvSpPr>
        <p:spPr bwMode="auto">
          <a:xfrm>
            <a:off x="2334958" y="3514727"/>
            <a:ext cx="1751409" cy="12234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dirty="0">
                <a:solidFill>
                  <a:srgbClr val="000000"/>
                </a:solidFill>
              </a:rPr>
              <a:t>connection state: ESTAB</a:t>
            </a:r>
          </a:p>
          <a:p>
            <a:pPr defTabSz="685800" eaLnBrk="0" fontAlgn="base" hangingPunct="0">
              <a:spcBef>
                <a:spcPct val="0"/>
              </a:spcBef>
              <a:spcAft>
                <a:spcPct val="0"/>
              </a:spcAft>
              <a:defRPr/>
            </a:pPr>
            <a:r>
              <a:rPr lang="en-US" sz="1050" kern="0" dirty="0">
                <a:solidFill>
                  <a:srgbClr val="000000"/>
                </a:solidFill>
              </a:rPr>
              <a:t>connection variables:</a:t>
            </a:r>
          </a:p>
          <a:p>
            <a:pPr marL="172641" lvl="1" defTabSz="685800" eaLnBrk="0" fontAlgn="base" hangingPunct="0">
              <a:spcBef>
                <a:spcPct val="0"/>
              </a:spcBef>
              <a:spcAft>
                <a:spcPct val="0"/>
              </a:spcAft>
              <a:defRPr/>
            </a:pPr>
            <a:r>
              <a:rPr lang="en-US" sz="1050" kern="0" dirty="0">
                <a:solidFill>
                  <a:srgbClr val="000000"/>
                </a:solidFill>
              </a:rPr>
              <a:t>seq # client-to-server</a:t>
            </a:r>
          </a:p>
          <a:p>
            <a:pPr marL="172641" lvl="1" defTabSz="685800" eaLnBrk="0" fontAlgn="base" hangingPunct="0">
              <a:spcBef>
                <a:spcPct val="0"/>
              </a:spcBef>
              <a:spcAft>
                <a:spcPct val="0"/>
              </a:spcAft>
              <a:defRPr/>
            </a:pPr>
            <a:r>
              <a:rPr lang="en-US" sz="1050" kern="0" dirty="0">
                <a:solidFill>
                  <a:srgbClr val="000000"/>
                </a:solidFill>
              </a:rPr>
              <a:t>         server-to-client</a:t>
            </a:r>
          </a:p>
          <a:p>
            <a:pPr marL="172641" lvl="1" defTabSz="685800" eaLnBrk="0" fontAlgn="base" hangingPunct="0">
              <a:spcBef>
                <a:spcPct val="0"/>
              </a:spcBef>
              <a:spcAft>
                <a:spcPct val="0"/>
              </a:spcAft>
              <a:defRPr/>
            </a:pPr>
            <a:r>
              <a:rPr lang="en-US" sz="1050" b="1" kern="0" dirty="0">
                <a:solidFill>
                  <a:srgbClr val="000000"/>
                </a:solidFill>
                <a:latin typeface="Courier New" charset="0"/>
              </a:rPr>
              <a:t>rcvBuffer</a:t>
            </a:r>
            <a:r>
              <a:rPr lang="en-US" sz="1050" kern="0" dirty="0">
                <a:solidFill>
                  <a:srgbClr val="000000"/>
                </a:solidFill>
              </a:rPr>
              <a:t> size</a:t>
            </a:r>
          </a:p>
          <a:p>
            <a:pPr marL="172641" lvl="1" defTabSz="685800" eaLnBrk="0" fontAlgn="base" hangingPunct="0">
              <a:spcBef>
                <a:spcPct val="0"/>
              </a:spcBef>
              <a:spcAft>
                <a:spcPct val="0"/>
              </a:spcAft>
              <a:defRPr/>
            </a:pPr>
            <a:r>
              <a:rPr lang="en-US" sz="1050" kern="0" dirty="0">
                <a:solidFill>
                  <a:srgbClr val="000000"/>
                </a:solidFill>
              </a:rPr>
              <a:t>   at server,client </a:t>
            </a:r>
          </a:p>
          <a:p>
            <a:pPr marL="172641" lvl="1" defTabSz="685800" eaLnBrk="0" fontAlgn="base" hangingPunct="0">
              <a:spcBef>
                <a:spcPct val="0"/>
              </a:spcBef>
              <a:spcAft>
                <a:spcPct val="0"/>
              </a:spcAft>
              <a:defRPr/>
            </a:pPr>
            <a:r>
              <a:rPr lang="en-US" sz="1050" kern="0" dirty="0">
                <a:solidFill>
                  <a:srgbClr val="000000"/>
                </a:solidFill>
              </a:rPr>
              <a:t>           </a:t>
            </a:r>
          </a:p>
        </p:txBody>
      </p:sp>
      <p:grpSp>
        <p:nvGrpSpPr>
          <p:cNvPr id="133" name="Group 46">
            <a:extLst>
              <a:ext uri="{FF2B5EF4-FFF2-40B4-BE49-F238E27FC236}">
                <a16:creationId xmlns:a16="http://schemas.microsoft.com/office/drawing/2014/main" id="{B33AB7A5-CCC5-254C-8A3A-759B759D5041}"/>
              </a:ext>
            </a:extLst>
          </p:cNvPr>
          <p:cNvGrpSpPr>
            <a:grpSpLocks/>
          </p:cNvGrpSpPr>
          <p:nvPr/>
        </p:nvGrpSpPr>
        <p:grpSpPr bwMode="auto">
          <a:xfrm>
            <a:off x="2984619" y="3365899"/>
            <a:ext cx="328613" cy="154781"/>
            <a:chOff x="344" y="1846"/>
            <a:chExt cx="336" cy="130"/>
          </a:xfrm>
        </p:grpSpPr>
        <p:sp>
          <p:nvSpPr>
            <p:cNvPr id="134" name="Rectangle 47">
              <a:extLst>
                <a:ext uri="{FF2B5EF4-FFF2-40B4-BE49-F238E27FC236}">
                  <a16:creationId xmlns:a16="http://schemas.microsoft.com/office/drawing/2014/main" id="{6C823A22-D6EB-C649-B7E4-0B164EE814C3}"/>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5" name="Rectangle 48">
              <a:extLst>
                <a:ext uri="{FF2B5EF4-FFF2-40B4-BE49-F238E27FC236}">
                  <a16:creationId xmlns:a16="http://schemas.microsoft.com/office/drawing/2014/main" id="{A8BB07C4-6AD0-A344-8975-A5BF33372416}"/>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6" name="Rectangle 49">
              <a:extLst>
                <a:ext uri="{FF2B5EF4-FFF2-40B4-BE49-F238E27FC236}">
                  <a16:creationId xmlns:a16="http://schemas.microsoft.com/office/drawing/2014/main" id="{2CA09AF3-81EA-B643-82AA-454FD210EE48}"/>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7" name="Rectangle 50">
              <a:extLst>
                <a:ext uri="{FF2B5EF4-FFF2-40B4-BE49-F238E27FC236}">
                  <a16:creationId xmlns:a16="http://schemas.microsoft.com/office/drawing/2014/main" id="{467634F2-41DA-0748-9C1A-D08864A76A2F}"/>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38" name="Text Box 54">
            <a:extLst>
              <a:ext uri="{FF2B5EF4-FFF2-40B4-BE49-F238E27FC236}">
                <a16:creationId xmlns:a16="http://schemas.microsoft.com/office/drawing/2014/main" id="{A9AEB3C4-6978-5E48-B717-A659B5C3B9DD}"/>
              </a:ext>
            </a:extLst>
          </p:cNvPr>
          <p:cNvSpPr txBox="1">
            <a:spLocks noChangeArrowheads="1"/>
          </p:cNvSpPr>
          <p:nvPr/>
        </p:nvSpPr>
        <p:spPr bwMode="auto">
          <a:xfrm>
            <a:off x="2686412" y="3112083"/>
            <a:ext cx="91243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application</a:t>
            </a:r>
          </a:p>
        </p:txBody>
      </p:sp>
      <p:sp>
        <p:nvSpPr>
          <p:cNvPr id="139" name="Line 56">
            <a:extLst>
              <a:ext uri="{FF2B5EF4-FFF2-40B4-BE49-F238E27FC236}">
                <a16:creationId xmlns:a16="http://schemas.microsoft.com/office/drawing/2014/main" id="{D326D2D6-0DA1-914C-9073-3ECFE526F8CC}"/>
              </a:ext>
            </a:extLst>
          </p:cNvPr>
          <p:cNvSpPr>
            <a:spLocks noChangeShapeType="1"/>
          </p:cNvSpPr>
          <p:nvPr/>
        </p:nvSpPr>
        <p:spPr bwMode="auto">
          <a:xfrm>
            <a:off x="2329004" y="4551761"/>
            <a:ext cx="1701404"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Text Box 57">
            <a:extLst>
              <a:ext uri="{FF2B5EF4-FFF2-40B4-BE49-F238E27FC236}">
                <a16:creationId xmlns:a16="http://schemas.microsoft.com/office/drawing/2014/main" id="{E4C0EAD6-0908-3C42-9A10-A6AAF94515B4}"/>
              </a:ext>
            </a:extLst>
          </p:cNvPr>
          <p:cNvSpPr txBox="1">
            <a:spLocks noChangeArrowheads="1"/>
          </p:cNvSpPr>
          <p:nvPr/>
        </p:nvSpPr>
        <p:spPr bwMode="auto">
          <a:xfrm>
            <a:off x="2691014" y="4623133"/>
            <a:ext cx="73449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network</a:t>
            </a:r>
          </a:p>
        </p:txBody>
      </p:sp>
      <p:sp>
        <p:nvSpPr>
          <p:cNvPr id="141" name="Rectangle 58">
            <a:extLst>
              <a:ext uri="{FF2B5EF4-FFF2-40B4-BE49-F238E27FC236}">
                <a16:creationId xmlns:a16="http://schemas.microsoft.com/office/drawing/2014/main" id="{1CB6C439-3E38-7043-B2E4-E0EA4F390BE5}"/>
              </a:ext>
            </a:extLst>
          </p:cNvPr>
          <p:cNvSpPr>
            <a:spLocks noChangeArrowheads="1"/>
          </p:cNvSpPr>
          <p:nvPr/>
        </p:nvSpPr>
        <p:spPr bwMode="auto">
          <a:xfrm>
            <a:off x="2302811" y="4868468"/>
            <a:ext cx="1751410" cy="13573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2" name="Line 59">
            <a:extLst>
              <a:ext uri="{FF2B5EF4-FFF2-40B4-BE49-F238E27FC236}">
                <a16:creationId xmlns:a16="http://schemas.microsoft.com/office/drawing/2014/main" id="{D8BBE84F-BCD3-BB4A-9FD3-757AFB3C13AA}"/>
              </a:ext>
            </a:extLst>
          </p:cNvPr>
          <p:cNvSpPr>
            <a:spLocks noChangeShapeType="1"/>
          </p:cNvSpPr>
          <p:nvPr/>
        </p:nvSpPr>
        <p:spPr bwMode="auto">
          <a:xfrm>
            <a:off x="2324242" y="4860134"/>
            <a:ext cx="0" cy="177403"/>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3" name="Line 60">
            <a:extLst>
              <a:ext uri="{FF2B5EF4-FFF2-40B4-BE49-F238E27FC236}">
                <a16:creationId xmlns:a16="http://schemas.microsoft.com/office/drawing/2014/main" id="{F862C10B-983A-F94D-A269-24CE747FC5AA}"/>
              </a:ext>
            </a:extLst>
          </p:cNvPr>
          <p:cNvSpPr>
            <a:spLocks noChangeShapeType="1"/>
          </p:cNvSpPr>
          <p:nvPr/>
        </p:nvSpPr>
        <p:spPr bwMode="auto">
          <a:xfrm>
            <a:off x="4022073" y="4838703"/>
            <a:ext cx="0" cy="177403"/>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4" name="Freeform 8">
            <a:extLst>
              <a:ext uri="{FF2B5EF4-FFF2-40B4-BE49-F238E27FC236}">
                <a16:creationId xmlns:a16="http://schemas.microsoft.com/office/drawing/2014/main" id="{DF364C08-2C0C-EE4E-8664-EDA4833FE296}"/>
              </a:ext>
            </a:extLst>
          </p:cNvPr>
          <p:cNvSpPr>
            <a:spLocks/>
          </p:cNvSpPr>
          <p:nvPr/>
        </p:nvSpPr>
        <p:spPr bwMode="auto">
          <a:xfrm flipH="1">
            <a:off x="1969436" y="3101580"/>
            <a:ext cx="351235" cy="186809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45" name="Rectangle 63">
            <a:extLst>
              <a:ext uri="{FF2B5EF4-FFF2-40B4-BE49-F238E27FC236}">
                <a16:creationId xmlns:a16="http://schemas.microsoft.com/office/drawing/2014/main" id="{0F4E1AF7-DE3A-2541-818F-C54CEC430AE0}"/>
              </a:ext>
            </a:extLst>
          </p:cNvPr>
          <p:cNvSpPr>
            <a:spLocks noChangeArrowheads="1"/>
          </p:cNvSpPr>
          <p:nvPr/>
        </p:nvSpPr>
        <p:spPr bwMode="auto">
          <a:xfrm>
            <a:off x="5580601" y="3063480"/>
            <a:ext cx="1709738" cy="1810941"/>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6" name="Rectangle 64">
            <a:extLst>
              <a:ext uri="{FF2B5EF4-FFF2-40B4-BE49-F238E27FC236}">
                <a16:creationId xmlns:a16="http://schemas.microsoft.com/office/drawing/2014/main" id="{5B961E58-331E-B748-A80F-3B7778F1C486}"/>
              </a:ext>
            </a:extLst>
          </p:cNvPr>
          <p:cNvSpPr>
            <a:spLocks noChangeArrowheads="1"/>
          </p:cNvSpPr>
          <p:nvPr/>
        </p:nvSpPr>
        <p:spPr bwMode="auto">
          <a:xfrm>
            <a:off x="5550836" y="3103961"/>
            <a:ext cx="1702594" cy="1853804"/>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7" name="Line 65">
            <a:extLst>
              <a:ext uri="{FF2B5EF4-FFF2-40B4-BE49-F238E27FC236}">
                <a16:creationId xmlns:a16="http://schemas.microsoft.com/office/drawing/2014/main" id="{83696C28-A57C-AC46-B97E-048E3D615664}"/>
              </a:ext>
            </a:extLst>
          </p:cNvPr>
          <p:cNvSpPr>
            <a:spLocks noChangeShapeType="1"/>
          </p:cNvSpPr>
          <p:nvPr/>
        </p:nvSpPr>
        <p:spPr bwMode="auto">
          <a:xfrm>
            <a:off x="5550836" y="3434955"/>
            <a:ext cx="1702594"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8" name="Text Box 66">
            <a:extLst>
              <a:ext uri="{FF2B5EF4-FFF2-40B4-BE49-F238E27FC236}">
                <a16:creationId xmlns:a16="http://schemas.microsoft.com/office/drawing/2014/main" id="{3C17C23B-2BF5-5B4E-BB33-288C1922406B}"/>
              </a:ext>
            </a:extLst>
          </p:cNvPr>
          <p:cNvSpPr txBox="1">
            <a:spLocks noChangeArrowheads="1"/>
          </p:cNvSpPr>
          <p:nvPr/>
        </p:nvSpPr>
        <p:spPr bwMode="auto">
          <a:xfrm>
            <a:off x="5561552" y="3519490"/>
            <a:ext cx="1751409" cy="12234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dirty="0">
                <a:solidFill>
                  <a:srgbClr val="000000"/>
                </a:solidFill>
              </a:rPr>
              <a:t>connection state: ESTAB</a:t>
            </a:r>
          </a:p>
          <a:p>
            <a:pPr defTabSz="685800" eaLnBrk="0" fontAlgn="base" hangingPunct="0">
              <a:spcBef>
                <a:spcPct val="0"/>
              </a:spcBef>
              <a:spcAft>
                <a:spcPct val="0"/>
              </a:spcAft>
              <a:defRPr/>
            </a:pPr>
            <a:r>
              <a:rPr lang="en-US" sz="1050" kern="0" dirty="0">
                <a:solidFill>
                  <a:srgbClr val="000000"/>
                </a:solidFill>
              </a:rPr>
              <a:t>connection Variables:</a:t>
            </a:r>
          </a:p>
          <a:p>
            <a:pPr marL="172641" lvl="1" defTabSz="685800" eaLnBrk="0" fontAlgn="base" hangingPunct="0">
              <a:spcBef>
                <a:spcPct val="0"/>
              </a:spcBef>
              <a:spcAft>
                <a:spcPct val="0"/>
              </a:spcAft>
              <a:defRPr/>
            </a:pPr>
            <a:r>
              <a:rPr lang="en-US" sz="1050" kern="0" dirty="0">
                <a:solidFill>
                  <a:srgbClr val="000000"/>
                </a:solidFill>
              </a:rPr>
              <a:t>seq # client-to-server</a:t>
            </a:r>
          </a:p>
          <a:p>
            <a:pPr marL="172641" lvl="1" defTabSz="685800" eaLnBrk="0" fontAlgn="base" hangingPunct="0">
              <a:spcBef>
                <a:spcPct val="0"/>
              </a:spcBef>
              <a:spcAft>
                <a:spcPct val="0"/>
              </a:spcAft>
              <a:defRPr/>
            </a:pPr>
            <a:r>
              <a:rPr lang="en-US" sz="1050" kern="0" dirty="0">
                <a:solidFill>
                  <a:srgbClr val="000000"/>
                </a:solidFill>
              </a:rPr>
              <a:t>          server-to-client</a:t>
            </a:r>
          </a:p>
          <a:p>
            <a:pPr marL="172641" lvl="1" defTabSz="685800" eaLnBrk="0" fontAlgn="base" hangingPunct="0">
              <a:spcBef>
                <a:spcPct val="0"/>
              </a:spcBef>
              <a:spcAft>
                <a:spcPct val="0"/>
              </a:spcAft>
              <a:defRPr/>
            </a:pPr>
            <a:r>
              <a:rPr lang="en-US" sz="1050" b="1" kern="0" dirty="0">
                <a:solidFill>
                  <a:srgbClr val="000000"/>
                </a:solidFill>
                <a:latin typeface="Courier New" charset="0"/>
              </a:rPr>
              <a:t>rcvBuffer</a:t>
            </a:r>
            <a:r>
              <a:rPr lang="en-US" sz="1050" kern="0" dirty="0">
                <a:solidFill>
                  <a:srgbClr val="000000"/>
                </a:solidFill>
              </a:rPr>
              <a:t> size</a:t>
            </a:r>
          </a:p>
          <a:p>
            <a:pPr marL="172641" lvl="1" defTabSz="685800" eaLnBrk="0" fontAlgn="base" hangingPunct="0">
              <a:spcBef>
                <a:spcPct val="0"/>
              </a:spcBef>
              <a:spcAft>
                <a:spcPct val="0"/>
              </a:spcAft>
              <a:defRPr/>
            </a:pPr>
            <a:r>
              <a:rPr lang="en-US" sz="1050" kern="0" dirty="0">
                <a:solidFill>
                  <a:srgbClr val="000000"/>
                </a:solidFill>
              </a:rPr>
              <a:t>   at server,client </a:t>
            </a:r>
          </a:p>
          <a:p>
            <a:pPr marL="172641" lvl="1" defTabSz="685800" eaLnBrk="0" fontAlgn="base" hangingPunct="0">
              <a:spcBef>
                <a:spcPct val="0"/>
              </a:spcBef>
              <a:spcAft>
                <a:spcPct val="0"/>
              </a:spcAft>
              <a:defRPr/>
            </a:pPr>
            <a:r>
              <a:rPr lang="en-US" sz="1050" kern="0" dirty="0">
                <a:solidFill>
                  <a:srgbClr val="000000"/>
                </a:solidFill>
              </a:rPr>
              <a:t>           </a:t>
            </a:r>
          </a:p>
        </p:txBody>
      </p:sp>
      <p:grpSp>
        <p:nvGrpSpPr>
          <p:cNvPr id="149" name="Group 67">
            <a:extLst>
              <a:ext uri="{FF2B5EF4-FFF2-40B4-BE49-F238E27FC236}">
                <a16:creationId xmlns:a16="http://schemas.microsoft.com/office/drawing/2014/main" id="{A3675259-9C7A-1740-AEED-A90AD2D0AE87}"/>
              </a:ext>
            </a:extLst>
          </p:cNvPr>
          <p:cNvGrpSpPr>
            <a:grpSpLocks/>
          </p:cNvGrpSpPr>
          <p:nvPr/>
        </p:nvGrpSpPr>
        <p:grpSpPr bwMode="auto">
          <a:xfrm>
            <a:off x="6231383" y="3370662"/>
            <a:ext cx="328613" cy="154781"/>
            <a:chOff x="344" y="1846"/>
            <a:chExt cx="336" cy="130"/>
          </a:xfrm>
        </p:grpSpPr>
        <p:sp>
          <p:nvSpPr>
            <p:cNvPr id="150" name="Rectangle 68">
              <a:extLst>
                <a:ext uri="{FF2B5EF4-FFF2-40B4-BE49-F238E27FC236}">
                  <a16:creationId xmlns:a16="http://schemas.microsoft.com/office/drawing/2014/main" id="{4B4BD261-01C7-494F-8D01-68B19AA4B9AC}"/>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1" name="Rectangle 69">
              <a:extLst>
                <a:ext uri="{FF2B5EF4-FFF2-40B4-BE49-F238E27FC236}">
                  <a16:creationId xmlns:a16="http://schemas.microsoft.com/office/drawing/2014/main" id="{4E7628F3-86B5-E44C-8195-D9FF1BBA53D4}"/>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2" name="Rectangle 70">
              <a:extLst>
                <a:ext uri="{FF2B5EF4-FFF2-40B4-BE49-F238E27FC236}">
                  <a16:creationId xmlns:a16="http://schemas.microsoft.com/office/drawing/2014/main" id="{BE5565DB-C659-5048-B6BD-16420D5CE92C}"/>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3" name="Rectangle 71">
              <a:extLst>
                <a:ext uri="{FF2B5EF4-FFF2-40B4-BE49-F238E27FC236}">
                  <a16:creationId xmlns:a16="http://schemas.microsoft.com/office/drawing/2014/main" id="{720A74F5-E1C3-FF45-B800-884CFBB24D0A}"/>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54" name="Text Box 72">
            <a:extLst>
              <a:ext uri="{FF2B5EF4-FFF2-40B4-BE49-F238E27FC236}">
                <a16:creationId xmlns:a16="http://schemas.microsoft.com/office/drawing/2014/main" id="{48C5FBCA-1883-5B46-BC6B-BD218B24C18D}"/>
              </a:ext>
            </a:extLst>
          </p:cNvPr>
          <p:cNvSpPr txBox="1">
            <a:spLocks noChangeArrowheads="1"/>
          </p:cNvSpPr>
          <p:nvPr/>
        </p:nvSpPr>
        <p:spPr bwMode="auto">
          <a:xfrm>
            <a:off x="5931036" y="3125289"/>
            <a:ext cx="91243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application</a:t>
            </a:r>
          </a:p>
        </p:txBody>
      </p:sp>
      <p:sp>
        <p:nvSpPr>
          <p:cNvPr id="155" name="Line 73">
            <a:extLst>
              <a:ext uri="{FF2B5EF4-FFF2-40B4-BE49-F238E27FC236}">
                <a16:creationId xmlns:a16="http://schemas.microsoft.com/office/drawing/2014/main" id="{C7D010E1-FDC8-B843-B502-33120A86EB14}"/>
              </a:ext>
            </a:extLst>
          </p:cNvPr>
          <p:cNvSpPr>
            <a:spLocks noChangeShapeType="1"/>
          </p:cNvSpPr>
          <p:nvPr/>
        </p:nvSpPr>
        <p:spPr bwMode="auto">
          <a:xfrm>
            <a:off x="5555598" y="4556524"/>
            <a:ext cx="1701404"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6" name="Text Box 74">
            <a:extLst>
              <a:ext uri="{FF2B5EF4-FFF2-40B4-BE49-F238E27FC236}">
                <a16:creationId xmlns:a16="http://schemas.microsoft.com/office/drawing/2014/main" id="{46053DCC-44E5-2C43-B37B-8DA921C733B2}"/>
              </a:ext>
            </a:extLst>
          </p:cNvPr>
          <p:cNvSpPr txBox="1">
            <a:spLocks noChangeArrowheads="1"/>
          </p:cNvSpPr>
          <p:nvPr/>
        </p:nvSpPr>
        <p:spPr bwMode="auto">
          <a:xfrm>
            <a:off x="6026486" y="4617610"/>
            <a:ext cx="73449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network</a:t>
            </a:r>
          </a:p>
        </p:txBody>
      </p:sp>
      <p:sp>
        <p:nvSpPr>
          <p:cNvPr id="157" name="Rectangle 75">
            <a:extLst>
              <a:ext uri="{FF2B5EF4-FFF2-40B4-BE49-F238E27FC236}">
                <a16:creationId xmlns:a16="http://schemas.microsoft.com/office/drawing/2014/main" id="{2794759F-1BDF-124F-8990-F97B9E3FFDCA}"/>
              </a:ext>
            </a:extLst>
          </p:cNvPr>
          <p:cNvSpPr>
            <a:spLocks noChangeArrowheads="1"/>
          </p:cNvSpPr>
          <p:nvPr/>
        </p:nvSpPr>
        <p:spPr bwMode="auto">
          <a:xfrm>
            <a:off x="5529405" y="4873231"/>
            <a:ext cx="1751410" cy="13573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8" name="Line 76">
            <a:extLst>
              <a:ext uri="{FF2B5EF4-FFF2-40B4-BE49-F238E27FC236}">
                <a16:creationId xmlns:a16="http://schemas.microsoft.com/office/drawing/2014/main" id="{AA62258B-6959-8646-9E2E-9B0097512BD1}"/>
              </a:ext>
            </a:extLst>
          </p:cNvPr>
          <p:cNvSpPr>
            <a:spLocks noChangeShapeType="1"/>
          </p:cNvSpPr>
          <p:nvPr/>
        </p:nvSpPr>
        <p:spPr bwMode="auto">
          <a:xfrm>
            <a:off x="5550836" y="4864896"/>
            <a:ext cx="0" cy="177403"/>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59" name="Line 77">
            <a:extLst>
              <a:ext uri="{FF2B5EF4-FFF2-40B4-BE49-F238E27FC236}">
                <a16:creationId xmlns:a16="http://schemas.microsoft.com/office/drawing/2014/main" id="{B39909BE-5B6C-6F46-8749-CE29AEAB2CB2}"/>
              </a:ext>
            </a:extLst>
          </p:cNvPr>
          <p:cNvSpPr>
            <a:spLocks noChangeShapeType="1"/>
          </p:cNvSpPr>
          <p:nvPr/>
        </p:nvSpPr>
        <p:spPr bwMode="auto">
          <a:xfrm>
            <a:off x="7248667" y="4843465"/>
            <a:ext cx="0" cy="177403"/>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0" name="Freeform 78">
            <a:extLst>
              <a:ext uri="{FF2B5EF4-FFF2-40B4-BE49-F238E27FC236}">
                <a16:creationId xmlns:a16="http://schemas.microsoft.com/office/drawing/2014/main" id="{830D21F8-79F0-0E4D-A9EF-3C8300C80D17}"/>
              </a:ext>
            </a:extLst>
          </p:cNvPr>
          <p:cNvSpPr>
            <a:spLocks/>
          </p:cNvSpPr>
          <p:nvPr/>
        </p:nvSpPr>
        <p:spPr bwMode="auto">
          <a:xfrm>
            <a:off x="7261764" y="3056336"/>
            <a:ext cx="351234" cy="186809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61" name="Text Box 83">
            <a:extLst>
              <a:ext uri="{FF2B5EF4-FFF2-40B4-BE49-F238E27FC236}">
                <a16:creationId xmlns:a16="http://schemas.microsoft.com/office/drawing/2014/main" id="{E97571FE-EF31-0544-985B-906D8CF8F351}"/>
              </a:ext>
            </a:extLst>
          </p:cNvPr>
          <p:cNvSpPr txBox="1">
            <a:spLocks noChangeArrowheads="1"/>
          </p:cNvSpPr>
          <p:nvPr/>
        </p:nvSpPr>
        <p:spPr bwMode="auto">
          <a:xfrm>
            <a:off x="747035" y="5176987"/>
            <a:ext cx="4225018"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173831" indent="-173831" defTabSz="685800" eaLnBrk="0" fontAlgn="base" hangingPunct="0">
              <a:spcBef>
                <a:spcPct val="0"/>
              </a:spcBef>
              <a:spcAft>
                <a:spcPct val="0"/>
              </a:spcAft>
              <a:defRPr/>
            </a:pPr>
            <a:r>
              <a:rPr lang="en-US" sz="1350" b="1" dirty="0">
                <a:solidFill>
                  <a:srgbClr val="000000"/>
                </a:solidFill>
                <a:latin typeface="Courier New" charset="0"/>
              </a:rPr>
              <a:t>Socket clientSocket =   </a:t>
            </a:r>
          </a:p>
          <a:p>
            <a:pPr marL="173831" indent="-173831" defTabSz="685800" eaLnBrk="0" fontAlgn="base" hangingPunct="0">
              <a:spcBef>
                <a:spcPct val="0"/>
              </a:spcBef>
              <a:spcAft>
                <a:spcPct val="0"/>
              </a:spcAft>
              <a:defRPr/>
            </a:pPr>
            <a:r>
              <a:rPr lang="en-US" sz="1350" b="1" dirty="0">
                <a:solidFill>
                  <a:srgbClr val="000000"/>
                </a:solidFill>
                <a:latin typeface="Courier New" charset="0"/>
              </a:rPr>
              <a:t>  newSocket("hostname","port number");</a:t>
            </a:r>
          </a:p>
        </p:txBody>
      </p:sp>
      <p:sp>
        <p:nvSpPr>
          <p:cNvPr id="162" name="Text Box 85">
            <a:extLst>
              <a:ext uri="{FF2B5EF4-FFF2-40B4-BE49-F238E27FC236}">
                <a16:creationId xmlns:a16="http://schemas.microsoft.com/office/drawing/2014/main" id="{C80EBC7F-DBC0-BD40-9507-82100813B9B7}"/>
              </a:ext>
            </a:extLst>
          </p:cNvPr>
          <p:cNvSpPr txBox="1">
            <a:spLocks noChangeArrowheads="1"/>
          </p:cNvSpPr>
          <p:nvPr/>
        </p:nvSpPr>
        <p:spPr bwMode="auto">
          <a:xfrm>
            <a:off x="5266347" y="5187109"/>
            <a:ext cx="3119699"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173831" indent="-173831" defTabSz="685800" eaLnBrk="0" fontAlgn="base" hangingPunct="0">
              <a:spcBef>
                <a:spcPct val="0"/>
              </a:spcBef>
              <a:spcAft>
                <a:spcPct val="0"/>
              </a:spcAft>
              <a:defRPr/>
            </a:pPr>
            <a:r>
              <a:rPr lang="en-US" sz="1350" b="1" dirty="0">
                <a:solidFill>
                  <a:srgbClr val="000000"/>
                </a:solidFill>
                <a:latin typeface="Courier New" charset="0"/>
              </a:rPr>
              <a:t>Socket connectionSocket = welcomeSocket.accept();</a:t>
            </a:r>
          </a:p>
        </p:txBody>
      </p:sp>
      <p:grpSp>
        <p:nvGrpSpPr>
          <p:cNvPr id="163" name="Group 89">
            <a:extLst>
              <a:ext uri="{FF2B5EF4-FFF2-40B4-BE49-F238E27FC236}">
                <a16:creationId xmlns:a16="http://schemas.microsoft.com/office/drawing/2014/main" id="{DB71F8E2-0EB4-2A4E-B4C5-3DC2955DEDE8}"/>
              </a:ext>
            </a:extLst>
          </p:cNvPr>
          <p:cNvGrpSpPr>
            <a:grpSpLocks/>
          </p:cNvGrpSpPr>
          <p:nvPr/>
        </p:nvGrpSpPr>
        <p:grpSpPr bwMode="auto">
          <a:xfrm>
            <a:off x="1612248" y="4625581"/>
            <a:ext cx="523875" cy="459581"/>
            <a:chOff x="-44" y="1473"/>
            <a:chExt cx="981" cy="1105"/>
          </a:xfrm>
        </p:grpSpPr>
        <p:pic>
          <p:nvPicPr>
            <p:cNvPr id="164" name="Picture 90" descr="desktop_computer_stylized_medium">
              <a:extLst>
                <a:ext uri="{FF2B5EF4-FFF2-40B4-BE49-F238E27FC236}">
                  <a16:creationId xmlns:a16="http://schemas.microsoft.com/office/drawing/2014/main" id="{C631DB34-DA41-694E-BA26-57FDF68E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91">
              <a:extLst>
                <a:ext uri="{FF2B5EF4-FFF2-40B4-BE49-F238E27FC236}">
                  <a16:creationId xmlns:a16="http://schemas.microsoft.com/office/drawing/2014/main" id="{BEF55614-0BD4-8249-9822-CEE59DA9A93D}"/>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66" name="Group 92">
            <a:extLst>
              <a:ext uri="{FF2B5EF4-FFF2-40B4-BE49-F238E27FC236}">
                <a16:creationId xmlns:a16="http://schemas.microsoft.com/office/drawing/2014/main" id="{F06A1B16-A85F-394E-802F-0E5CD7D943D6}"/>
              </a:ext>
            </a:extLst>
          </p:cNvPr>
          <p:cNvGrpSpPr>
            <a:grpSpLocks/>
          </p:cNvGrpSpPr>
          <p:nvPr/>
        </p:nvGrpSpPr>
        <p:grpSpPr bwMode="auto">
          <a:xfrm>
            <a:off x="7473696" y="4549381"/>
            <a:ext cx="311944" cy="470297"/>
            <a:chOff x="4140" y="429"/>
            <a:chExt cx="1425" cy="2396"/>
          </a:xfrm>
        </p:grpSpPr>
        <p:sp>
          <p:nvSpPr>
            <p:cNvPr id="167" name="Freeform 93">
              <a:extLst>
                <a:ext uri="{FF2B5EF4-FFF2-40B4-BE49-F238E27FC236}">
                  <a16:creationId xmlns:a16="http://schemas.microsoft.com/office/drawing/2014/main" id="{0B18D7B8-4C19-6A48-9356-0BDC63F4B19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68" name="Rectangle 94">
              <a:extLst>
                <a:ext uri="{FF2B5EF4-FFF2-40B4-BE49-F238E27FC236}">
                  <a16:creationId xmlns:a16="http://schemas.microsoft.com/office/drawing/2014/main" id="{83F51854-758D-F348-B0AE-4C8BBF01B327}"/>
                </a:ext>
              </a:extLst>
            </p:cNvPr>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69" name="Freeform 95">
              <a:extLst>
                <a:ext uri="{FF2B5EF4-FFF2-40B4-BE49-F238E27FC236}">
                  <a16:creationId xmlns:a16="http://schemas.microsoft.com/office/drawing/2014/main" id="{BCB6E605-7A9B-CA4D-855C-288812DAAB0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70" name="Freeform 96">
              <a:extLst>
                <a:ext uri="{FF2B5EF4-FFF2-40B4-BE49-F238E27FC236}">
                  <a16:creationId xmlns:a16="http://schemas.microsoft.com/office/drawing/2014/main" id="{010D7A25-5C86-B443-B0F4-6A6735092E3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71" name="Rectangle 97">
              <a:extLst>
                <a:ext uri="{FF2B5EF4-FFF2-40B4-BE49-F238E27FC236}">
                  <a16:creationId xmlns:a16="http://schemas.microsoft.com/office/drawing/2014/main" id="{6B6FDD4A-AD55-9345-AF53-BC625746DD19}"/>
                </a:ext>
              </a:extLst>
            </p:cNvPr>
            <p:cNvSpPr>
              <a:spLocks noChangeArrowheads="1"/>
            </p:cNvSpPr>
            <p:nvPr/>
          </p:nvSpPr>
          <p:spPr bwMode="auto">
            <a:xfrm>
              <a:off x="4211" y="696"/>
              <a:ext cx="598"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2" name="Group 98">
              <a:extLst>
                <a:ext uri="{FF2B5EF4-FFF2-40B4-BE49-F238E27FC236}">
                  <a16:creationId xmlns:a16="http://schemas.microsoft.com/office/drawing/2014/main" id="{A97FBBEC-0302-FA4C-A3B9-B0FD424712B4}"/>
                </a:ext>
              </a:extLst>
            </p:cNvPr>
            <p:cNvGrpSpPr>
              <a:grpSpLocks/>
            </p:cNvGrpSpPr>
            <p:nvPr/>
          </p:nvGrpSpPr>
          <p:grpSpPr bwMode="auto">
            <a:xfrm>
              <a:off x="4749" y="668"/>
              <a:ext cx="581" cy="145"/>
              <a:chOff x="614" y="2568"/>
              <a:chExt cx="725" cy="139"/>
            </a:xfrm>
          </p:grpSpPr>
          <p:sp>
            <p:nvSpPr>
              <p:cNvPr id="197" name="AutoShape 99">
                <a:extLst>
                  <a:ext uri="{FF2B5EF4-FFF2-40B4-BE49-F238E27FC236}">
                    <a16:creationId xmlns:a16="http://schemas.microsoft.com/office/drawing/2014/main" id="{C21CB491-D46B-EE41-AA0F-DE79A218D55A}"/>
                  </a:ext>
                </a:extLst>
              </p:cNvPr>
              <p:cNvSpPr>
                <a:spLocks noChangeArrowheads="1"/>
              </p:cNvSpPr>
              <p:nvPr/>
            </p:nvSpPr>
            <p:spPr bwMode="auto">
              <a:xfrm>
                <a:off x="614" y="2566"/>
                <a:ext cx="726"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8" name="AutoShape 100">
                <a:extLst>
                  <a:ext uri="{FF2B5EF4-FFF2-40B4-BE49-F238E27FC236}">
                    <a16:creationId xmlns:a16="http://schemas.microsoft.com/office/drawing/2014/main" id="{1FC5D9EE-EAE0-7E4E-B85F-6FC8DE4DEE26}"/>
                  </a:ext>
                </a:extLst>
              </p:cNvPr>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73" name="Rectangle 101">
              <a:extLst>
                <a:ext uri="{FF2B5EF4-FFF2-40B4-BE49-F238E27FC236}">
                  <a16:creationId xmlns:a16="http://schemas.microsoft.com/office/drawing/2014/main" id="{8F3C4297-FFD3-D843-98B6-43C61A7317BF}"/>
                </a:ext>
              </a:extLst>
            </p:cNvPr>
            <p:cNvSpPr>
              <a:spLocks noChangeArrowheads="1"/>
            </p:cNvSpPr>
            <p:nvPr/>
          </p:nvSpPr>
          <p:spPr bwMode="auto">
            <a:xfrm>
              <a:off x="4222" y="1017"/>
              <a:ext cx="598"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4" name="Group 102">
              <a:extLst>
                <a:ext uri="{FF2B5EF4-FFF2-40B4-BE49-F238E27FC236}">
                  <a16:creationId xmlns:a16="http://schemas.microsoft.com/office/drawing/2014/main" id="{21DC2796-CCBB-6A4F-838F-49A2C67C0E64}"/>
                </a:ext>
              </a:extLst>
            </p:cNvPr>
            <p:cNvGrpSpPr>
              <a:grpSpLocks/>
            </p:cNvGrpSpPr>
            <p:nvPr/>
          </p:nvGrpSpPr>
          <p:grpSpPr bwMode="auto">
            <a:xfrm>
              <a:off x="4747" y="994"/>
              <a:ext cx="581" cy="134"/>
              <a:chOff x="614" y="2568"/>
              <a:chExt cx="725" cy="139"/>
            </a:xfrm>
          </p:grpSpPr>
          <p:sp>
            <p:nvSpPr>
              <p:cNvPr id="195" name="AutoShape 103">
                <a:extLst>
                  <a:ext uri="{FF2B5EF4-FFF2-40B4-BE49-F238E27FC236}">
                    <a16:creationId xmlns:a16="http://schemas.microsoft.com/office/drawing/2014/main" id="{969D7B41-0DC1-4440-AFDE-248D9CDB66EB}"/>
                  </a:ext>
                </a:extLst>
              </p:cNvPr>
              <p:cNvSpPr>
                <a:spLocks noChangeArrowheads="1"/>
              </p:cNvSpPr>
              <p:nvPr/>
            </p:nvSpPr>
            <p:spPr bwMode="auto">
              <a:xfrm>
                <a:off x="617" y="2567"/>
                <a:ext cx="719"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6" name="AutoShape 104">
                <a:extLst>
                  <a:ext uri="{FF2B5EF4-FFF2-40B4-BE49-F238E27FC236}">
                    <a16:creationId xmlns:a16="http://schemas.microsoft.com/office/drawing/2014/main" id="{B3EC6575-CF4C-6246-8181-ED39D289D214}"/>
                  </a:ext>
                </a:extLst>
              </p:cNvPr>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75" name="Rectangle 105">
              <a:extLst>
                <a:ext uri="{FF2B5EF4-FFF2-40B4-BE49-F238E27FC236}">
                  <a16:creationId xmlns:a16="http://schemas.microsoft.com/office/drawing/2014/main" id="{E4C8EF29-9693-8843-BE99-DFF7EF55F859}"/>
                </a:ext>
              </a:extLst>
            </p:cNvPr>
            <p:cNvSpPr>
              <a:spLocks noChangeArrowheads="1"/>
            </p:cNvSpPr>
            <p:nvPr/>
          </p:nvSpPr>
          <p:spPr bwMode="auto">
            <a:xfrm>
              <a:off x="4216" y="1357"/>
              <a:ext cx="598"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76" name="Rectangle 106">
              <a:extLst>
                <a:ext uri="{FF2B5EF4-FFF2-40B4-BE49-F238E27FC236}">
                  <a16:creationId xmlns:a16="http://schemas.microsoft.com/office/drawing/2014/main" id="{444A4DA4-95C5-7247-8CDB-5D7AF6D3A816}"/>
                </a:ext>
              </a:extLst>
            </p:cNvPr>
            <p:cNvSpPr>
              <a:spLocks noChangeArrowheads="1"/>
            </p:cNvSpPr>
            <p:nvPr/>
          </p:nvSpPr>
          <p:spPr bwMode="auto">
            <a:xfrm>
              <a:off x="4227" y="1654"/>
              <a:ext cx="598"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77" name="Group 107">
              <a:extLst>
                <a:ext uri="{FF2B5EF4-FFF2-40B4-BE49-F238E27FC236}">
                  <a16:creationId xmlns:a16="http://schemas.microsoft.com/office/drawing/2014/main" id="{E95F09FB-35B3-984D-8B07-8ED352E49862}"/>
                </a:ext>
              </a:extLst>
            </p:cNvPr>
            <p:cNvGrpSpPr>
              <a:grpSpLocks/>
            </p:cNvGrpSpPr>
            <p:nvPr/>
          </p:nvGrpSpPr>
          <p:grpSpPr bwMode="auto">
            <a:xfrm>
              <a:off x="4735" y="1627"/>
              <a:ext cx="582" cy="151"/>
              <a:chOff x="614" y="2568"/>
              <a:chExt cx="725" cy="139"/>
            </a:xfrm>
          </p:grpSpPr>
          <p:sp>
            <p:nvSpPr>
              <p:cNvPr id="193" name="AutoShape 108">
                <a:extLst>
                  <a:ext uri="{FF2B5EF4-FFF2-40B4-BE49-F238E27FC236}">
                    <a16:creationId xmlns:a16="http://schemas.microsoft.com/office/drawing/2014/main" id="{0D8F2BD6-B00B-A145-9FAD-DEBB9A14C761}"/>
                  </a:ext>
                </a:extLst>
              </p:cNvPr>
              <p:cNvSpPr>
                <a:spLocks noChangeArrowheads="1"/>
              </p:cNvSpPr>
              <p:nvPr/>
            </p:nvSpPr>
            <p:spPr bwMode="auto">
              <a:xfrm>
                <a:off x="611" y="2576"/>
                <a:ext cx="725" cy="123"/>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4" name="AutoShape 109">
                <a:extLst>
                  <a:ext uri="{FF2B5EF4-FFF2-40B4-BE49-F238E27FC236}">
                    <a16:creationId xmlns:a16="http://schemas.microsoft.com/office/drawing/2014/main" id="{FBEB72B8-9464-2649-9EA1-03257A809BD1}"/>
                  </a:ext>
                </a:extLst>
              </p:cNvPr>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78" name="Freeform 110">
              <a:extLst>
                <a:ext uri="{FF2B5EF4-FFF2-40B4-BE49-F238E27FC236}">
                  <a16:creationId xmlns:a16="http://schemas.microsoft.com/office/drawing/2014/main" id="{69825DF1-2B01-DB4D-AD1A-63C84CD1638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79" name="Group 111">
              <a:extLst>
                <a:ext uri="{FF2B5EF4-FFF2-40B4-BE49-F238E27FC236}">
                  <a16:creationId xmlns:a16="http://schemas.microsoft.com/office/drawing/2014/main" id="{77E8896E-C175-9440-8F1C-C0DAB898AF9D}"/>
                </a:ext>
              </a:extLst>
            </p:cNvPr>
            <p:cNvGrpSpPr>
              <a:grpSpLocks/>
            </p:cNvGrpSpPr>
            <p:nvPr/>
          </p:nvGrpSpPr>
          <p:grpSpPr bwMode="auto">
            <a:xfrm>
              <a:off x="4739" y="1327"/>
              <a:ext cx="582" cy="139"/>
              <a:chOff x="614" y="2568"/>
              <a:chExt cx="725" cy="139"/>
            </a:xfrm>
          </p:grpSpPr>
          <p:sp>
            <p:nvSpPr>
              <p:cNvPr id="191" name="AutoShape 112">
                <a:extLst>
                  <a:ext uri="{FF2B5EF4-FFF2-40B4-BE49-F238E27FC236}">
                    <a16:creationId xmlns:a16="http://schemas.microsoft.com/office/drawing/2014/main" id="{207BBBCB-E17B-0743-A1A2-C4D7DD812519}"/>
                  </a:ext>
                </a:extLst>
              </p:cNvPr>
              <p:cNvSpPr>
                <a:spLocks noChangeArrowheads="1"/>
              </p:cNvSpPr>
              <p:nvPr/>
            </p:nvSpPr>
            <p:spPr bwMode="auto">
              <a:xfrm>
                <a:off x="613" y="2568"/>
                <a:ext cx="725"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2" name="AutoShape 113">
                <a:extLst>
                  <a:ext uri="{FF2B5EF4-FFF2-40B4-BE49-F238E27FC236}">
                    <a16:creationId xmlns:a16="http://schemas.microsoft.com/office/drawing/2014/main" id="{28DD6B35-219B-6B45-BF21-71B299ABB40C}"/>
                  </a:ext>
                </a:extLst>
              </p:cNvPr>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80" name="Rectangle 114">
              <a:extLst>
                <a:ext uri="{FF2B5EF4-FFF2-40B4-BE49-F238E27FC236}">
                  <a16:creationId xmlns:a16="http://schemas.microsoft.com/office/drawing/2014/main" id="{CD269004-8DB5-4549-A4AF-499B61683FB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1" name="Freeform 115">
              <a:extLst>
                <a:ext uri="{FF2B5EF4-FFF2-40B4-BE49-F238E27FC236}">
                  <a16:creationId xmlns:a16="http://schemas.microsoft.com/office/drawing/2014/main" id="{8AAFEB73-B442-224B-96A6-63129BA97E1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2" name="Freeform 116">
              <a:extLst>
                <a:ext uri="{FF2B5EF4-FFF2-40B4-BE49-F238E27FC236}">
                  <a16:creationId xmlns:a16="http://schemas.microsoft.com/office/drawing/2014/main" id="{E0880A41-79A8-9248-8678-A4C1ACE4B8B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3" name="Oval 117">
              <a:extLst>
                <a:ext uri="{FF2B5EF4-FFF2-40B4-BE49-F238E27FC236}">
                  <a16:creationId xmlns:a16="http://schemas.microsoft.com/office/drawing/2014/main" id="{11D25FBB-2A67-A949-8638-6A82B88E1AEE}"/>
                </a:ext>
              </a:extLst>
            </p:cNvPr>
            <p:cNvSpPr>
              <a:spLocks noChangeArrowheads="1"/>
            </p:cNvSpPr>
            <p:nvPr/>
          </p:nvSpPr>
          <p:spPr bwMode="auto">
            <a:xfrm>
              <a:off x="5516" y="2613"/>
              <a:ext cx="49"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4" name="Freeform 118">
              <a:extLst>
                <a:ext uri="{FF2B5EF4-FFF2-40B4-BE49-F238E27FC236}">
                  <a16:creationId xmlns:a16="http://schemas.microsoft.com/office/drawing/2014/main" id="{9FEB11C7-9DF6-A746-9A7F-CE68217C13B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5" name="AutoShape 119">
              <a:extLst>
                <a:ext uri="{FF2B5EF4-FFF2-40B4-BE49-F238E27FC236}">
                  <a16:creationId xmlns:a16="http://schemas.microsoft.com/office/drawing/2014/main" id="{D279A648-2B84-1346-BF0F-DB65CFB075C7}"/>
                </a:ext>
              </a:extLst>
            </p:cNvPr>
            <p:cNvSpPr>
              <a:spLocks noChangeArrowheads="1"/>
            </p:cNvSpPr>
            <p:nvPr/>
          </p:nvSpPr>
          <p:spPr bwMode="auto">
            <a:xfrm>
              <a:off x="4140" y="2679"/>
              <a:ext cx="1197"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6" name="AutoShape 120">
              <a:extLst>
                <a:ext uri="{FF2B5EF4-FFF2-40B4-BE49-F238E27FC236}">
                  <a16:creationId xmlns:a16="http://schemas.microsoft.com/office/drawing/2014/main" id="{0EDBF10F-D10C-CA46-A0A9-1ACE621AD066}"/>
                </a:ext>
              </a:extLst>
            </p:cNvPr>
            <p:cNvSpPr>
              <a:spLocks noChangeArrowheads="1"/>
            </p:cNvSpPr>
            <p:nvPr/>
          </p:nvSpPr>
          <p:spPr bwMode="auto">
            <a:xfrm>
              <a:off x="4205" y="2710"/>
              <a:ext cx="1071"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7" name="Oval 121">
              <a:extLst>
                <a:ext uri="{FF2B5EF4-FFF2-40B4-BE49-F238E27FC236}">
                  <a16:creationId xmlns:a16="http://schemas.microsoft.com/office/drawing/2014/main" id="{E4E41E31-C9C4-AF4E-A419-E8421CCEF424}"/>
                </a:ext>
              </a:extLst>
            </p:cNvPr>
            <p:cNvSpPr>
              <a:spLocks noChangeArrowheads="1"/>
            </p:cNvSpPr>
            <p:nvPr/>
          </p:nvSpPr>
          <p:spPr bwMode="auto">
            <a:xfrm>
              <a:off x="4309"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8" name="Oval 122">
              <a:extLst>
                <a:ext uri="{FF2B5EF4-FFF2-40B4-BE49-F238E27FC236}">
                  <a16:creationId xmlns:a16="http://schemas.microsoft.com/office/drawing/2014/main" id="{2C59CE5F-437A-C441-8354-6530041056CC}"/>
                </a:ext>
              </a:extLst>
            </p:cNvPr>
            <p:cNvSpPr>
              <a:spLocks noChangeArrowheads="1"/>
            </p:cNvSpPr>
            <p:nvPr/>
          </p:nvSpPr>
          <p:spPr bwMode="auto">
            <a:xfrm>
              <a:off x="4488"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189" name="Oval 123">
              <a:extLst>
                <a:ext uri="{FF2B5EF4-FFF2-40B4-BE49-F238E27FC236}">
                  <a16:creationId xmlns:a16="http://schemas.microsoft.com/office/drawing/2014/main" id="{E077C775-39FA-824B-8701-FA02EBEDC5FF}"/>
                </a:ext>
              </a:extLst>
            </p:cNvPr>
            <p:cNvSpPr>
              <a:spLocks noChangeArrowheads="1"/>
            </p:cNvSpPr>
            <p:nvPr/>
          </p:nvSpPr>
          <p:spPr bwMode="auto">
            <a:xfrm>
              <a:off x="4662"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0" name="Rectangle 124">
              <a:extLst>
                <a:ext uri="{FF2B5EF4-FFF2-40B4-BE49-F238E27FC236}">
                  <a16:creationId xmlns:a16="http://schemas.microsoft.com/office/drawing/2014/main" id="{858DFD8B-E1AF-0646-911F-639730691009}"/>
                </a:ext>
              </a:extLst>
            </p:cNvPr>
            <p:cNvSpPr>
              <a:spLocks noChangeArrowheads="1"/>
            </p:cNvSpPr>
            <p:nvPr/>
          </p:nvSpPr>
          <p:spPr bwMode="auto">
            <a:xfrm>
              <a:off x="5065" y="1836"/>
              <a:ext cx="82"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Tree>
    <p:extLst>
      <p:ext uri="{BB962C8B-B14F-4D97-AF65-F5344CB8AC3E}">
        <p14:creationId xmlns:p14="http://schemas.microsoft.com/office/powerpoint/2010/main" val="2492069188"/>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Agreeing to establish a connection</a:t>
            </a:r>
          </a:p>
        </p:txBody>
      </p:sp>
      <p:sp>
        <p:nvSpPr>
          <p:cNvPr id="69" name="Slide Number Placeholder 2">
            <a:extLst>
              <a:ext uri="{FF2B5EF4-FFF2-40B4-BE49-F238E27FC236}">
                <a16:creationId xmlns:a16="http://schemas.microsoft.com/office/drawing/2014/main" id="{173A9DD9-82B1-6E42-88A8-6C0B706AA49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21</a:t>
            </a:fld>
            <a:endParaRPr lang="en-US" dirty="0">
              <a:solidFill>
                <a:prstClr val="white">
                  <a:lumMod val="50000"/>
                </a:prstClr>
              </a:solidFill>
              <a:latin typeface="Calibri" panose="020F0502020204030204"/>
            </a:endParaRPr>
          </a:p>
        </p:txBody>
      </p:sp>
      <p:sp>
        <p:nvSpPr>
          <p:cNvPr id="211" name="Rectangle 63">
            <a:extLst>
              <a:ext uri="{FF2B5EF4-FFF2-40B4-BE49-F238E27FC236}">
                <a16:creationId xmlns:a16="http://schemas.microsoft.com/office/drawing/2014/main" id="{1C578050-76D7-774F-8B1E-4F455216E94E}"/>
              </a:ext>
            </a:extLst>
          </p:cNvPr>
          <p:cNvSpPr txBox="1">
            <a:spLocks noChangeArrowheads="1"/>
          </p:cNvSpPr>
          <p:nvPr/>
        </p:nvSpPr>
        <p:spPr bwMode="auto">
          <a:xfrm>
            <a:off x="4470553" y="2578563"/>
            <a:ext cx="4142940" cy="26826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en-US" sz="2400" i="1" u="sng" kern="0" dirty="0">
                <a:solidFill>
                  <a:srgbClr val="CC0000"/>
                </a:solidFill>
                <a:latin typeface="Calibri" panose="020F0502020204030204"/>
                <a:ea typeface="ＭＳ Ｐゴシック" panose="020B0600070205080204" pitchFamily="34" charset="-128"/>
              </a:rPr>
              <a:t>Q:</a:t>
            </a:r>
            <a:r>
              <a:rPr lang="en-US" altLang="en-US" sz="2400" kern="0" dirty="0">
                <a:solidFill>
                  <a:prstClr val="black"/>
                </a:solidFill>
                <a:latin typeface="Calibri" panose="020F0502020204030204"/>
                <a:ea typeface="ＭＳ Ｐゴシック" panose="020B0600070205080204" pitchFamily="34" charset="-128"/>
              </a:rPr>
              <a:t> will 2-way handshake always work in network?</a:t>
            </a:r>
          </a:p>
          <a:p>
            <a:pPr marL="259556" indent="-209550" defTabSz="685800">
              <a:lnSpc>
                <a:spcPct val="90000"/>
              </a:lnSpc>
              <a:defRPr/>
            </a:pPr>
            <a:r>
              <a:rPr lang="en-US" altLang="en-US" sz="2100" kern="0" dirty="0">
                <a:solidFill>
                  <a:prstClr val="black"/>
                </a:solidFill>
                <a:latin typeface="Calibri" panose="020F0502020204030204"/>
                <a:ea typeface="ＭＳ Ｐゴシック" panose="020B0600070205080204" pitchFamily="34" charset="-128"/>
              </a:rPr>
              <a:t>variable delays</a:t>
            </a:r>
          </a:p>
          <a:p>
            <a:pPr marL="259556" indent="-209550" defTabSz="685800">
              <a:lnSpc>
                <a:spcPct val="90000"/>
              </a:lnSpc>
              <a:defRPr/>
            </a:pPr>
            <a:r>
              <a:rPr lang="en-US" altLang="en-US" sz="2100" kern="0" dirty="0">
                <a:solidFill>
                  <a:prstClr val="black"/>
                </a:solidFill>
                <a:latin typeface="Calibri" panose="020F0502020204030204"/>
                <a:ea typeface="ＭＳ Ｐゴシック" panose="020B0600070205080204" pitchFamily="34" charset="-128"/>
              </a:rPr>
              <a:t>retransmitted messages (e.g. req_conn(x)) due to message loss</a:t>
            </a:r>
          </a:p>
          <a:p>
            <a:pPr marL="259556" indent="-209550" defTabSz="685800">
              <a:lnSpc>
                <a:spcPct val="90000"/>
              </a:lnSpc>
              <a:defRPr/>
            </a:pPr>
            <a:r>
              <a:rPr lang="en-US" altLang="en-US" sz="2100" kern="0" dirty="0">
                <a:solidFill>
                  <a:prstClr val="black"/>
                </a:solidFill>
                <a:latin typeface="Calibri" panose="020F0502020204030204"/>
                <a:ea typeface="ＭＳ Ｐゴシック" panose="020B0600070205080204" pitchFamily="34" charset="-128"/>
              </a:rPr>
              <a:t>message reordering</a:t>
            </a:r>
          </a:p>
          <a:p>
            <a:pPr marL="259556" indent="-209550" defTabSz="685800">
              <a:lnSpc>
                <a:spcPct val="90000"/>
              </a:lnSpc>
              <a:defRPr/>
            </a:pPr>
            <a:r>
              <a:rPr lang="en-US" altLang="en-US" sz="2100" kern="0" dirty="0">
                <a:solidFill>
                  <a:prstClr val="black"/>
                </a:solidFill>
                <a:latin typeface="Calibri" panose="020F0502020204030204"/>
                <a:ea typeface="ＭＳ Ｐゴシック" panose="020B0600070205080204" pitchFamily="34" charset="-128"/>
              </a:rPr>
              <a:t>can’</a:t>
            </a:r>
            <a:r>
              <a:rPr lang="en-US" altLang="ja-JP" sz="2100" kern="0" dirty="0">
                <a:solidFill>
                  <a:prstClr val="black"/>
                </a:solidFill>
                <a:latin typeface="Calibri" panose="020F0502020204030204"/>
                <a:ea typeface="ＭＳ Ｐゴシック" panose="020B0600070205080204" pitchFamily="34" charset="-128"/>
              </a:rPr>
              <a:t>t “see” other side</a:t>
            </a:r>
            <a:endParaRPr lang="en-US" altLang="en-US" sz="2100" kern="0" dirty="0">
              <a:solidFill>
                <a:prstClr val="black"/>
              </a:solidFill>
              <a:latin typeface="Calibri" panose="020F0502020204030204"/>
              <a:ea typeface="ＭＳ Ｐゴシック" panose="020B0600070205080204" pitchFamily="34" charset="-128"/>
            </a:endParaRPr>
          </a:p>
        </p:txBody>
      </p:sp>
      <p:pic>
        <p:nvPicPr>
          <p:cNvPr id="212" name="Picture 62" descr="Alice">
            <a:extLst>
              <a:ext uri="{FF2B5EF4-FFF2-40B4-BE49-F238E27FC236}">
                <a16:creationId xmlns:a16="http://schemas.microsoft.com/office/drawing/2014/main" id="{15DE982A-54F5-BC41-BC95-48D876587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306" y="2380703"/>
            <a:ext cx="514080" cy="51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 name="Picture 63" descr="Bob">
            <a:extLst>
              <a:ext uri="{FF2B5EF4-FFF2-40B4-BE49-F238E27FC236}">
                <a16:creationId xmlns:a16="http://schemas.microsoft.com/office/drawing/2014/main" id="{178ED826-4BC2-684F-9F28-0736092503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1726" y="2409185"/>
            <a:ext cx="629747" cy="51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Text Box 49">
            <a:extLst>
              <a:ext uri="{FF2B5EF4-FFF2-40B4-BE49-F238E27FC236}">
                <a16:creationId xmlns:a16="http://schemas.microsoft.com/office/drawing/2014/main" id="{F0A75C95-49D9-D049-B8FA-C8954515AFD3}"/>
              </a:ext>
            </a:extLst>
          </p:cNvPr>
          <p:cNvSpPr txBox="1">
            <a:spLocks noChangeArrowheads="1"/>
          </p:cNvSpPr>
          <p:nvPr/>
        </p:nvSpPr>
        <p:spPr bwMode="auto">
          <a:xfrm>
            <a:off x="713855" y="1873216"/>
            <a:ext cx="244810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2400" kern="0" dirty="0">
                <a:solidFill>
                  <a:srgbClr val="000000"/>
                </a:solidFill>
                <a:latin typeface="Calibri" panose="020F0502020204030204"/>
              </a:rPr>
              <a:t>2-way handshake:</a:t>
            </a:r>
          </a:p>
        </p:txBody>
      </p:sp>
      <p:sp>
        <p:nvSpPr>
          <p:cNvPr id="215" name="Line 50">
            <a:extLst>
              <a:ext uri="{FF2B5EF4-FFF2-40B4-BE49-F238E27FC236}">
                <a16:creationId xmlns:a16="http://schemas.microsoft.com/office/drawing/2014/main" id="{2B6C64FC-1BFF-2745-8864-00793CCCA3F1}"/>
              </a:ext>
            </a:extLst>
          </p:cNvPr>
          <p:cNvSpPr>
            <a:spLocks noChangeShapeType="1"/>
          </p:cNvSpPr>
          <p:nvPr/>
        </p:nvSpPr>
        <p:spPr bwMode="auto">
          <a:xfrm>
            <a:off x="1657573" y="2977518"/>
            <a:ext cx="1497257" cy="25762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16" name="Line 51">
            <a:extLst>
              <a:ext uri="{FF2B5EF4-FFF2-40B4-BE49-F238E27FC236}">
                <a16:creationId xmlns:a16="http://schemas.microsoft.com/office/drawing/2014/main" id="{662E0AA8-2544-0243-A461-A97BB5D9F891}"/>
              </a:ext>
            </a:extLst>
          </p:cNvPr>
          <p:cNvSpPr>
            <a:spLocks noChangeShapeType="1"/>
          </p:cNvSpPr>
          <p:nvPr/>
        </p:nvSpPr>
        <p:spPr bwMode="auto">
          <a:xfrm>
            <a:off x="1612591" y="2910199"/>
            <a:ext cx="0" cy="893282"/>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17" name="Line 53">
            <a:extLst>
              <a:ext uri="{FF2B5EF4-FFF2-40B4-BE49-F238E27FC236}">
                <a16:creationId xmlns:a16="http://schemas.microsoft.com/office/drawing/2014/main" id="{61703F8D-DE60-7647-AB88-B625C4E037AF}"/>
              </a:ext>
            </a:extLst>
          </p:cNvPr>
          <p:cNvSpPr>
            <a:spLocks noChangeShapeType="1"/>
          </p:cNvSpPr>
          <p:nvPr/>
        </p:nvSpPr>
        <p:spPr bwMode="auto">
          <a:xfrm>
            <a:off x="3161256" y="2932207"/>
            <a:ext cx="0" cy="893282"/>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18" name="Line 54">
            <a:extLst>
              <a:ext uri="{FF2B5EF4-FFF2-40B4-BE49-F238E27FC236}">
                <a16:creationId xmlns:a16="http://schemas.microsoft.com/office/drawing/2014/main" id="{DE642691-1B6A-B64E-88A0-E9C02593B397}"/>
              </a:ext>
            </a:extLst>
          </p:cNvPr>
          <p:cNvSpPr>
            <a:spLocks noChangeShapeType="1"/>
          </p:cNvSpPr>
          <p:nvPr/>
        </p:nvSpPr>
        <p:spPr bwMode="auto">
          <a:xfrm flipH="1">
            <a:off x="1609378" y="3301171"/>
            <a:ext cx="1497257" cy="25762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19" name="Rectangle 56">
            <a:extLst>
              <a:ext uri="{FF2B5EF4-FFF2-40B4-BE49-F238E27FC236}">
                <a16:creationId xmlns:a16="http://schemas.microsoft.com/office/drawing/2014/main" id="{AB601B94-B2EC-5F44-8BA3-961BC7EAD4D6}"/>
              </a:ext>
            </a:extLst>
          </p:cNvPr>
          <p:cNvSpPr>
            <a:spLocks noChangeArrowheads="1"/>
          </p:cNvSpPr>
          <p:nvPr/>
        </p:nvSpPr>
        <p:spPr bwMode="auto">
          <a:xfrm>
            <a:off x="1898548" y="2965867"/>
            <a:ext cx="901247" cy="26669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20" name="Text Box 55">
            <a:extLst>
              <a:ext uri="{FF2B5EF4-FFF2-40B4-BE49-F238E27FC236}">
                <a16:creationId xmlns:a16="http://schemas.microsoft.com/office/drawing/2014/main" id="{51E91065-A73A-7D43-92CF-648D7E78E17F}"/>
              </a:ext>
            </a:extLst>
          </p:cNvPr>
          <p:cNvSpPr txBox="1">
            <a:spLocks noChangeArrowheads="1"/>
          </p:cNvSpPr>
          <p:nvPr/>
        </p:nvSpPr>
        <p:spPr bwMode="auto">
          <a:xfrm>
            <a:off x="1920232" y="2947743"/>
            <a:ext cx="880370" cy="32316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500" kern="0" dirty="0">
                <a:solidFill>
                  <a:srgbClr val="000000"/>
                </a:solidFill>
                <a:latin typeface="Calibri" panose="020F0502020204030204"/>
              </a:rPr>
              <a:t>Let’</a:t>
            </a:r>
            <a:r>
              <a:rPr lang="en-US" altLang="ja-JP" sz="1500" kern="0" dirty="0">
                <a:solidFill>
                  <a:srgbClr val="000000"/>
                </a:solidFill>
                <a:latin typeface="Calibri" panose="020F0502020204030204"/>
              </a:rPr>
              <a:t>s talk</a:t>
            </a:r>
            <a:endParaRPr lang="en-US" altLang="en-US" sz="1500" kern="0" dirty="0">
              <a:solidFill>
                <a:srgbClr val="000000"/>
              </a:solidFill>
              <a:latin typeface="Calibri" panose="020F0502020204030204"/>
            </a:endParaRPr>
          </a:p>
        </p:txBody>
      </p:sp>
      <p:sp>
        <p:nvSpPr>
          <p:cNvPr id="221" name="Rectangle 57">
            <a:extLst>
              <a:ext uri="{FF2B5EF4-FFF2-40B4-BE49-F238E27FC236}">
                <a16:creationId xmlns:a16="http://schemas.microsoft.com/office/drawing/2014/main" id="{2004BA2B-FE8D-D147-B254-220BD421C2B5}"/>
              </a:ext>
            </a:extLst>
          </p:cNvPr>
          <p:cNvSpPr>
            <a:spLocks noChangeArrowheads="1"/>
          </p:cNvSpPr>
          <p:nvPr/>
        </p:nvSpPr>
        <p:spPr bwMode="auto">
          <a:xfrm>
            <a:off x="2158801" y="3311527"/>
            <a:ext cx="445001" cy="26669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22" name="Text Box 58">
            <a:extLst>
              <a:ext uri="{FF2B5EF4-FFF2-40B4-BE49-F238E27FC236}">
                <a16:creationId xmlns:a16="http://schemas.microsoft.com/office/drawing/2014/main" id="{45CBCA7D-6EF9-B544-8A1D-83FC7ADA336D}"/>
              </a:ext>
            </a:extLst>
          </p:cNvPr>
          <p:cNvSpPr txBox="1">
            <a:spLocks noChangeArrowheads="1"/>
          </p:cNvSpPr>
          <p:nvPr/>
        </p:nvSpPr>
        <p:spPr bwMode="auto">
          <a:xfrm>
            <a:off x="2163908" y="3293403"/>
            <a:ext cx="410690" cy="32316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Calibri" panose="020F0502020204030204"/>
              </a:rPr>
              <a:t>OK</a:t>
            </a:r>
          </a:p>
        </p:txBody>
      </p:sp>
      <p:sp>
        <p:nvSpPr>
          <p:cNvPr id="223" name="Text Box 60">
            <a:extLst>
              <a:ext uri="{FF2B5EF4-FFF2-40B4-BE49-F238E27FC236}">
                <a16:creationId xmlns:a16="http://schemas.microsoft.com/office/drawing/2014/main" id="{9105DBEA-03C4-1045-B9A8-39AA7B1F3CAB}"/>
              </a:ext>
            </a:extLst>
          </p:cNvPr>
          <p:cNvSpPr txBox="1">
            <a:spLocks noChangeArrowheads="1"/>
          </p:cNvSpPr>
          <p:nvPr/>
        </p:nvSpPr>
        <p:spPr bwMode="auto">
          <a:xfrm>
            <a:off x="3218863" y="3157470"/>
            <a:ext cx="67518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CC0000"/>
                </a:solidFill>
                <a:latin typeface="Calibri" panose="020F0502020204030204"/>
              </a:rPr>
              <a:t>ESTAB</a:t>
            </a:r>
          </a:p>
        </p:txBody>
      </p:sp>
      <p:sp>
        <p:nvSpPr>
          <p:cNvPr id="224" name="Text Box 61">
            <a:extLst>
              <a:ext uri="{FF2B5EF4-FFF2-40B4-BE49-F238E27FC236}">
                <a16:creationId xmlns:a16="http://schemas.microsoft.com/office/drawing/2014/main" id="{D3DDB3E1-DD0C-7242-BD98-892C99B0A0FC}"/>
              </a:ext>
            </a:extLst>
          </p:cNvPr>
          <p:cNvSpPr txBox="1">
            <a:spLocks noChangeArrowheads="1"/>
          </p:cNvSpPr>
          <p:nvPr/>
        </p:nvSpPr>
        <p:spPr bwMode="auto">
          <a:xfrm>
            <a:off x="797868" y="3429338"/>
            <a:ext cx="67518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CC0000"/>
                </a:solidFill>
                <a:latin typeface="Calibri" panose="020F0502020204030204"/>
              </a:rPr>
              <a:t>ESTAB</a:t>
            </a:r>
          </a:p>
        </p:txBody>
      </p:sp>
      <p:sp>
        <p:nvSpPr>
          <p:cNvPr id="225" name="Oval 66">
            <a:extLst>
              <a:ext uri="{FF2B5EF4-FFF2-40B4-BE49-F238E27FC236}">
                <a16:creationId xmlns:a16="http://schemas.microsoft.com/office/drawing/2014/main" id="{7A085CF1-13C2-7E45-BD13-7FBE5EC96389}"/>
              </a:ext>
            </a:extLst>
          </p:cNvPr>
          <p:cNvSpPr>
            <a:spLocks noChangeArrowheads="1"/>
          </p:cNvSpPr>
          <p:nvPr/>
        </p:nvSpPr>
        <p:spPr bwMode="auto">
          <a:xfrm>
            <a:off x="1566003" y="3525139"/>
            <a:ext cx="91570" cy="72498"/>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dirty="0">
              <a:solidFill>
                <a:srgbClr val="CC0000"/>
              </a:solidFill>
              <a:latin typeface="Calibri" panose="020F0502020204030204"/>
              <a:ea typeface="ＭＳ Ｐゴシック" charset="0"/>
            </a:endParaRPr>
          </a:p>
        </p:txBody>
      </p:sp>
      <p:sp>
        <p:nvSpPr>
          <p:cNvPr id="226" name="Oval 67">
            <a:extLst>
              <a:ext uri="{FF2B5EF4-FFF2-40B4-BE49-F238E27FC236}">
                <a16:creationId xmlns:a16="http://schemas.microsoft.com/office/drawing/2014/main" id="{5F8DFD39-4C67-544E-BDB6-995B73F0032B}"/>
              </a:ext>
            </a:extLst>
          </p:cNvPr>
          <p:cNvSpPr>
            <a:spLocks noChangeArrowheads="1"/>
          </p:cNvSpPr>
          <p:nvPr/>
        </p:nvSpPr>
        <p:spPr bwMode="auto">
          <a:xfrm>
            <a:off x="3113062" y="3245503"/>
            <a:ext cx="91571" cy="72498"/>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dirty="0">
              <a:solidFill>
                <a:srgbClr val="CC0000"/>
              </a:solidFill>
              <a:latin typeface="Calibri" panose="020F0502020204030204"/>
              <a:ea typeface="ＭＳ Ｐゴシック" charset="0"/>
            </a:endParaRPr>
          </a:p>
        </p:txBody>
      </p:sp>
      <p:sp>
        <p:nvSpPr>
          <p:cNvPr id="227" name="Text Box 72">
            <a:extLst>
              <a:ext uri="{FF2B5EF4-FFF2-40B4-BE49-F238E27FC236}">
                <a16:creationId xmlns:a16="http://schemas.microsoft.com/office/drawing/2014/main" id="{DB384BF1-67A8-D941-979F-3D776AAC77D8}"/>
              </a:ext>
            </a:extLst>
          </p:cNvPr>
          <p:cNvSpPr txBox="1">
            <a:spLocks noChangeArrowheads="1"/>
          </p:cNvSpPr>
          <p:nvPr/>
        </p:nvSpPr>
        <p:spPr bwMode="auto">
          <a:xfrm>
            <a:off x="683934" y="4572478"/>
            <a:ext cx="867610" cy="5539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500" kern="0" dirty="0">
                <a:solidFill>
                  <a:srgbClr val="000000"/>
                </a:solidFill>
                <a:latin typeface="Calibri" panose="020F0502020204030204"/>
              </a:rPr>
              <a:t>choose x</a:t>
            </a:r>
          </a:p>
          <a:p>
            <a:pPr algn="r" defTabSz="685800" eaLnBrk="0" fontAlgn="base" hangingPunct="0">
              <a:spcBef>
                <a:spcPct val="0"/>
              </a:spcBef>
              <a:spcAft>
                <a:spcPct val="0"/>
              </a:spcAft>
              <a:defRPr/>
            </a:pPr>
            <a:endParaRPr lang="en-US" sz="1500" kern="0" dirty="0">
              <a:solidFill>
                <a:srgbClr val="000000"/>
              </a:solidFill>
              <a:latin typeface="Calibri" panose="020F0502020204030204"/>
            </a:endParaRPr>
          </a:p>
        </p:txBody>
      </p:sp>
      <p:sp>
        <p:nvSpPr>
          <p:cNvPr id="228" name="Line 73">
            <a:extLst>
              <a:ext uri="{FF2B5EF4-FFF2-40B4-BE49-F238E27FC236}">
                <a16:creationId xmlns:a16="http://schemas.microsoft.com/office/drawing/2014/main" id="{F4A5217C-A64A-BC43-8BDA-A9CC2AE187E7}"/>
              </a:ext>
            </a:extLst>
          </p:cNvPr>
          <p:cNvSpPr>
            <a:spLocks noChangeShapeType="1"/>
          </p:cNvSpPr>
          <p:nvPr/>
        </p:nvSpPr>
        <p:spPr bwMode="auto">
          <a:xfrm>
            <a:off x="1686490" y="4713592"/>
            <a:ext cx="1497257" cy="25762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29" name="Line 74">
            <a:extLst>
              <a:ext uri="{FF2B5EF4-FFF2-40B4-BE49-F238E27FC236}">
                <a16:creationId xmlns:a16="http://schemas.microsoft.com/office/drawing/2014/main" id="{5DF0EBDC-C356-0F40-8E4B-0D4CDB884913}"/>
              </a:ext>
            </a:extLst>
          </p:cNvPr>
          <p:cNvSpPr>
            <a:spLocks noChangeShapeType="1"/>
          </p:cNvSpPr>
          <p:nvPr/>
        </p:nvSpPr>
        <p:spPr bwMode="auto">
          <a:xfrm>
            <a:off x="1641508" y="4646272"/>
            <a:ext cx="0" cy="893282"/>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30" name="Line 75">
            <a:extLst>
              <a:ext uri="{FF2B5EF4-FFF2-40B4-BE49-F238E27FC236}">
                <a16:creationId xmlns:a16="http://schemas.microsoft.com/office/drawing/2014/main" id="{06DA6EB7-8FDC-114C-A158-24F848F8929E}"/>
              </a:ext>
            </a:extLst>
          </p:cNvPr>
          <p:cNvSpPr>
            <a:spLocks noChangeShapeType="1"/>
          </p:cNvSpPr>
          <p:nvPr/>
        </p:nvSpPr>
        <p:spPr bwMode="auto">
          <a:xfrm>
            <a:off x="3190173" y="4668280"/>
            <a:ext cx="0" cy="893282"/>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31" name="Line 76">
            <a:extLst>
              <a:ext uri="{FF2B5EF4-FFF2-40B4-BE49-F238E27FC236}">
                <a16:creationId xmlns:a16="http://schemas.microsoft.com/office/drawing/2014/main" id="{6E751C46-6DAD-2049-8052-C6ECA9B99101}"/>
              </a:ext>
            </a:extLst>
          </p:cNvPr>
          <p:cNvSpPr>
            <a:spLocks noChangeShapeType="1"/>
          </p:cNvSpPr>
          <p:nvPr/>
        </p:nvSpPr>
        <p:spPr bwMode="auto">
          <a:xfrm flipH="1">
            <a:off x="1638295" y="5037245"/>
            <a:ext cx="1497257" cy="25762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dirty="0">
              <a:solidFill>
                <a:srgbClr val="000000"/>
              </a:solidFill>
              <a:latin typeface="Calibri" panose="020F0502020204030204"/>
              <a:ea typeface="ＭＳ Ｐゴシック" charset="0"/>
            </a:endParaRPr>
          </a:p>
        </p:txBody>
      </p:sp>
      <p:sp>
        <p:nvSpPr>
          <p:cNvPr id="232" name="Rectangle 77">
            <a:extLst>
              <a:ext uri="{FF2B5EF4-FFF2-40B4-BE49-F238E27FC236}">
                <a16:creationId xmlns:a16="http://schemas.microsoft.com/office/drawing/2014/main" id="{05CA4AE2-2F93-D544-A582-D6138CBE65B1}"/>
              </a:ext>
            </a:extLst>
          </p:cNvPr>
          <p:cNvSpPr>
            <a:spLocks noChangeArrowheads="1"/>
          </p:cNvSpPr>
          <p:nvPr/>
        </p:nvSpPr>
        <p:spPr bwMode="auto">
          <a:xfrm>
            <a:off x="2007790" y="4701940"/>
            <a:ext cx="787184" cy="26669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33" name="Text Box 78">
            <a:extLst>
              <a:ext uri="{FF2B5EF4-FFF2-40B4-BE49-F238E27FC236}">
                <a16:creationId xmlns:a16="http://schemas.microsoft.com/office/drawing/2014/main" id="{DF22492C-21D4-FC46-996B-E22F99143FEC}"/>
              </a:ext>
            </a:extLst>
          </p:cNvPr>
          <p:cNvSpPr txBox="1">
            <a:spLocks noChangeArrowheads="1"/>
          </p:cNvSpPr>
          <p:nvPr/>
        </p:nvSpPr>
        <p:spPr bwMode="auto">
          <a:xfrm>
            <a:off x="1854637" y="4674753"/>
            <a:ext cx="1128835" cy="3231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Calibri" panose="020F0502020204030204"/>
              </a:rPr>
              <a:t>req_conn(x)</a:t>
            </a:r>
          </a:p>
        </p:txBody>
      </p:sp>
      <p:sp>
        <p:nvSpPr>
          <p:cNvPr id="234" name="Rectangle 79">
            <a:extLst>
              <a:ext uri="{FF2B5EF4-FFF2-40B4-BE49-F238E27FC236}">
                <a16:creationId xmlns:a16="http://schemas.microsoft.com/office/drawing/2014/main" id="{EB35072C-E8DC-1D43-88F2-D6CC06A96B2B}"/>
              </a:ext>
            </a:extLst>
          </p:cNvPr>
          <p:cNvSpPr>
            <a:spLocks noChangeArrowheads="1"/>
          </p:cNvSpPr>
          <p:nvPr/>
        </p:nvSpPr>
        <p:spPr bwMode="auto">
          <a:xfrm>
            <a:off x="2187718" y="5047601"/>
            <a:ext cx="445001" cy="26669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35" name="Text Box 81">
            <a:extLst>
              <a:ext uri="{FF2B5EF4-FFF2-40B4-BE49-F238E27FC236}">
                <a16:creationId xmlns:a16="http://schemas.microsoft.com/office/drawing/2014/main" id="{41E79C30-5AC2-7B42-AF35-87394C87DCF6}"/>
              </a:ext>
            </a:extLst>
          </p:cNvPr>
          <p:cNvSpPr txBox="1">
            <a:spLocks noChangeArrowheads="1"/>
          </p:cNvSpPr>
          <p:nvPr/>
        </p:nvSpPr>
        <p:spPr bwMode="auto">
          <a:xfrm>
            <a:off x="3247779" y="4893543"/>
            <a:ext cx="67518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CC0000"/>
                </a:solidFill>
                <a:latin typeface="Calibri" panose="020F0502020204030204"/>
              </a:rPr>
              <a:t>ESTAB</a:t>
            </a:r>
          </a:p>
        </p:txBody>
      </p:sp>
      <p:sp>
        <p:nvSpPr>
          <p:cNvPr id="236" name="Text Box 82">
            <a:extLst>
              <a:ext uri="{FF2B5EF4-FFF2-40B4-BE49-F238E27FC236}">
                <a16:creationId xmlns:a16="http://schemas.microsoft.com/office/drawing/2014/main" id="{15937B6C-DE9E-BB41-AF3C-AFA9046B2368}"/>
              </a:ext>
            </a:extLst>
          </p:cNvPr>
          <p:cNvSpPr txBox="1">
            <a:spLocks noChangeArrowheads="1"/>
          </p:cNvSpPr>
          <p:nvPr/>
        </p:nvSpPr>
        <p:spPr bwMode="auto">
          <a:xfrm>
            <a:off x="826786" y="5165411"/>
            <a:ext cx="67518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CC0000"/>
                </a:solidFill>
                <a:latin typeface="Calibri" panose="020F0502020204030204"/>
              </a:rPr>
              <a:t>ESTAB</a:t>
            </a:r>
          </a:p>
        </p:txBody>
      </p:sp>
      <p:sp>
        <p:nvSpPr>
          <p:cNvPr id="237" name="Oval 83">
            <a:extLst>
              <a:ext uri="{FF2B5EF4-FFF2-40B4-BE49-F238E27FC236}">
                <a16:creationId xmlns:a16="http://schemas.microsoft.com/office/drawing/2014/main" id="{60CAB79E-F562-A147-B2B6-BCD35B4CE79B}"/>
              </a:ext>
            </a:extLst>
          </p:cNvPr>
          <p:cNvSpPr>
            <a:spLocks noChangeArrowheads="1"/>
          </p:cNvSpPr>
          <p:nvPr/>
        </p:nvSpPr>
        <p:spPr bwMode="auto">
          <a:xfrm>
            <a:off x="1594920" y="5261212"/>
            <a:ext cx="91570" cy="72498"/>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dirty="0">
              <a:solidFill>
                <a:srgbClr val="CC0000"/>
              </a:solidFill>
              <a:latin typeface="Calibri" panose="020F0502020204030204"/>
              <a:ea typeface="ＭＳ Ｐゴシック" charset="0"/>
            </a:endParaRPr>
          </a:p>
        </p:txBody>
      </p:sp>
      <p:sp>
        <p:nvSpPr>
          <p:cNvPr id="238" name="Oval 84">
            <a:extLst>
              <a:ext uri="{FF2B5EF4-FFF2-40B4-BE49-F238E27FC236}">
                <a16:creationId xmlns:a16="http://schemas.microsoft.com/office/drawing/2014/main" id="{AB867DAA-A20D-7E4E-8866-E4B15C4B0299}"/>
              </a:ext>
            </a:extLst>
          </p:cNvPr>
          <p:cNvSpPr>
            <a:spLocks noChangeArrowheads="1"/>
          </p:cNvSpPr>
          <p:nvPr/>
        </p:nvSpPr>
        <p:spPr bwMode="auto">
          <a:xfrm>
            <a:off x="3141979" y="4981576"/>
            <a:ext cx="91571" cy="72498"/>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dirty="0">
              <a:solidFill>
                <a:srgbClr val="CC0000"/>
              </a:solidFill>
              <a:latin typeface="Calibri" panose="020F0502020204030204"/>
              <a:ea typeface="ＭＳ Ｐゴシック" charset="0"/>
            </a:endParaRPr>
          </a:p>
        </p:txBody>
      </p:sp>
      <p:sp>
        <p:nvSpPr>
          <p:cNvPr id="239" name="Rectangle 86">
            <a:extLst>
              <a:ext uri="{FF2B5EF4-FFF2-40B4-BE49-F238E27FC236}">
                <a16:creationId xmlns:a16="http://schemas.microsoft.com/office/drawing/2014/main" id="{0E9D55EE-8F12-D242-B60A-BF7C0AE861A3}"/>
              </a:ext>
            </a:extLst>
          </p:cNvPr>
          <p:cNvSpPr>
            <a:spLocks noChangeArrowheads="1"/>
          </p:cNvSpPr>
          <p:nvPr/>
        </p:nvSpPr>
        <p:spPr bwMode="auto">
          <a:xfrm>
            <a:off x="1885696" y="5052780"/>
            <a:ext cx="1084388" cy="21231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40" name="Text Box 85">
            <a:extLst>
              <a:ext uri="{FF2B5EF4-FFF2-40B4-BE49-F238E27FC236}">
                <a16:creationId xmlns:a16="http://schemas.microsoft.com/office/drawing/2014/main" id="{98A973F5-A6AE-4941-BAAF-D9632C720884}"/>
              </a:ext>
            </a:extLst>
          </p:cNvPr>
          <p:cNvSpPr txBox="1">
            <a:spLocks noChangeArrowheads="1"/>
          </p:cNvSpPr>
          <p:nvPr/>
        </p:nvSpPr>
        <p:spPr bwMode="auto">
          <a:xfrm>
            <a:off x="1853823" y="5021709"/>
            <a:ext cx="1119217" cy="3231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Calibri" panose="020F0502020204030204"/>
              </a:rPr>
              <a:t>acc_conn(x)</a:t>
            </a:r>
          </a:p>
        </p:txBody>
      </p:sp>
      <p:grpSp>
        <p:nvGrpSpPr>
          <p:cNvPr id="241" name="Group 92">
            <a:extLst>
              <a:ext uri="{FF2B5EF4-FFF2-40B4-BE49-F238E27FC236}">
                <a16:creationId xmlns:a16="http://schemas.microsoft.com/office/drawing/2014/main" id="{A1DEBE31-8A7C-FA42-BF21-534E9F956FD1}"/>
              </a:ext>
            </a:extLst>
          </p:cNvPr>
          <p:cNvGrpSpPr>
            <a:grpSpLocks/>
          </p:cNvGrpSpPr>
          <p:nvPr/>
        </p:nvGrpSpPr>
        <p:grpSpPr bwMode="auto">
          <a:xfrm>
            <a:off x="1272013" y="4211283"/>
            <a:ext cx="581552" cy="424632"/>
            <a:chOff x="-44" y="1473"/>
            <a:chExt cx="981" cy="1105"/>
          </a:xfrm>
        </p:grpSpPr>
        <p:pic>
          <p:nvPicPr>
            <p:cNvPr id="242" name="Picture 93" descr="desktop_computer_stylized_medium">
              <a:extLst>
                <a:ext uri="{FF2B5EF4-FFF2-40B4-BE49-F238E27FC236}">
                  <a16:creationId xmlns:a16="http://schemas.microsoft.com/office/drawing/2014/main" id="{D4855CC7-B0C0-0C40-99B3-064E94398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94">
              <a:extLst>
                <a:ext uri="{FF2B5EF4-FFF2-40B4-BE49-F238E27FC236}">
                  <a16:creationId xmlns:a16="http://schemas.microsoft.com/office/drawing/2014/main" id="{E45A3676-D1D0-F747-9A77-79DCC58FFC6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grpSp>
      <p:grpSp>
        <p:nvGrpSpPr>
          <p:cNvPr id="244" name="Group 95">
            <a:extLst>
              <a:ext uri="{FF2B5EF4-FFF2-40B4-BE49-F238E27FC236}">
                <a16:creationId xmlns:a16="http://schemas.microsoft.com/office/drawing/2014/main" id="{30DE6A89-1D8F-B54B-9DDE-549AD2FC2274}"/>
              </a:ext>
            </a:extLst>
          </p:cNvPr>
          <p:cNvGrpSpPr>
            <a:grpSpLocks/>
          </p:cNvGrpSpPr>
          <p:nvPr/>
        </p:nvGrpSpPr>
        <p:grpSpPr bwMode="auto">
          <a:xfrm>
            <a:off x="3055227" y="4195748"/>
            <a:ext cx="239063" cy="418159"/>
            <a:chOff x="4140" y="429"/>
            <a:chExt cx="1425" cy="2396"/>
          </a:xfrm>
        </p:grpSpPr>
        <p:sp>
          <p:nvSpPr>
            <p:cNvPr id="245" name="Freeform 96">
              <a:extLst>
                <a:ext uri="{FF2B5EF4-FFF2-40B4-BE49-F238E27FC236}">
                  <a16:creationId xmlns:a16="http://schemas.microsoft.com/office/drawing/2014/main" id="{B71F5390-5611-A549-8A76-3052ABA7D19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46" name="Rectangle 97">
              <a:extLst>
                <a:ext uri="{FF2B5EF4-FFF2-40B4-BE49-F238E27FC236}">
                  <a16:creationId xmlns:a16="http://schemas.microsoft.com/office/drawing/2014/main" id="{A1B57D5C-B8BE-CC48-A959-8D0CB8D18EA1}"/>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47" name="Freeform 98">
              <a:extLst>
                <a:ext uri="{FF2B5EF4-FFF2-40B4-BE49-F238E27FC236}">
                  <a16:creationId xmlns:a16="http://schemas.microsoft.com/office/drawing/2014/main" id="{F022A685-2E50-194F-BC85-D97F7CAFFCF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48" name="Freeform 99">
              <a:extLst>
                <a:ext uri="{FF2B5EF4-FFF2-40B4-BE49-F238E27FC236}">
                  <a16:creationId xmlns:a16="http://schemas.microsoft.com/office/drawing/2014/main" id="{67381A9D-9DB7-0A4E-B993-95AAAF4CCB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49" name="Rectangle 100">
              <a:extLst>
                <a:ext uri="{FF2B5EF4-FFF2-40B4-BE49-F238E27FC236}">
                  <a16:creationId xmlns:a16="http://schemas.microsoft.com/office/drawing/2014/main" id="{B178CA92-6419-B94D-82C2-001A4C53E7AC}"/>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nvGrpSpPr>
            <p:cNvPr id="250" name="Group 101">
              <a:extLst>
                <a:ext uri="{FF2B5EF4-FFF2-40B4-BE49-F238E27FC236}">
                  <a16:creationId xmlns:a16="http://schemas.microsoft.com/office/drawing/2014/main" id="{2DDA5E0E-93B0-FC4E-AA1E-3A161BEB6179}"/>
                </a:ext>
              </a:extLst>
            </p:cNvPr>
            <p:cNvGrpSpPr>
              <a:grpSpLocks/>
            </p:cNvGrpSpPr>
            <p:nvPr/>
          </p:nvGrpSpPr>
          <p:grpSpPr bwMode="auto">
            <a:xfrm>
              <a:off x="4749" y="668"/>
              <a:ext cx="581" cy="145"/>
              <a:chOff x="614" y="2568"/>
              <a:chExt cx="725" cy="139"/>
            </a:xfrm>
          </p:grpSpPr>
          <p:sp>
            <p:nvSpPr>
              <p:cNvPr id="275" name="AutoShape 102">
                <a:extLst>
                  <a:ext uri="{FF2B5EF4-FFF2-40B4-BE49-F238E27FC236}">
                    <a16:creationId xmlns:a16="http://schemas.microsoft.com/office/drawing/2014/main" id="{1245BCF6-EEF2-F34C-92E3-2CA1C2C948EF}"/>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76" name="AutoShape 103">
                <a:extLst>
                  <a:ext uri="{FF2B5EF4-FFF2-40B4-BE49-F238E27FC236}">
                    <a16:creationId xmlns:a16="http://schemas.microsoft.com/office/drawing/2014/main" id="{1067DCBA-D400-0642-B68F-AE171164BAE3}"/>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sp>
          <p:nvSpPr>
            <p:cNvPr id="251" name="Rectangle 104">
              <a:extLst>
                <a:ext uri="{FF2B5EF4-FFF2-40B4-BE49-F238E27FC236}">
                  <a16:creationId xmlns:a16="http://schemas.microsoft.com/office/drawing/2014/main" id="{CEE13654-E51E-634B-B3A8-1909C6DC88FB}"/>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nvGrpSpPr>
            <p:cNvPr id="252" name="Group 105">
              <a:extLst>
                <a:ext uri="{FF2B5EF4-FFF2-40B4-BE49-F238E27FC236}">
                  <a16:creationId xmlns:a16="http://schemas.microsoft.com/office/drawing/2014/main" id="{3DE4D6D2-40C1-6843-BB18-76EFFF97C7B0}"/>
                </a:ext>
              </a:extLst>
            </p:cNvPr>
            <p:cNvGrpSpPr>
              <a:grpSpLocks/>
            </p:cNvGrpSpPr>
            <p:nvPr/>
          </p:nvGrpSpPr>
          <p:grpSpPr bwMode="auto">
            <a:xfrm>
              <a:off x="4747" y="994"/>
              <a:ext cx="581" cy="134"/>
              <a:chOff x="614" y="2568"/>
              <a:chExt cx="725" cy="139"/>
            </a:xfrm>
          </p:grpSpPr>
          <p:sp>
            <p:nvSpPr>
              <p:cNvPr id="273" name="AutoShape 106">
                <a:extLst>
                  <a:ext uri="{FF2B5EF4-FFF2-40B4-BE49-F238E27FC236}">
                    <a16:creationId xmlns:a16="http://schemas.microsoft.com/office/drawing/2014/main" id="{2685B222-9BE5-0D43-A3B3-6021358AE35E}"/>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74" name="AutoShape 107">
                <a:extLst>
                  <a:ext uri="{FF2B5EF4-FFF2-40B4-BE49-F238E27FC236}">
                    <a16:creationId xmlns:a16="http://schemas.microsoft.com/office/drawing/2014/main" id="{00F72E45-552A-534D-A233-34AE532CCE1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sp>
          <p:nvSpPr>
            <p:cNvPr id="253" name="Rectangle 108">
              <a:extLst>
                <a:ext uri="{FF2B5EF4-FFF2-40B4-BE49-F238E27FC236}">
                  <a16:creationId xmlns:a16="http://schemas.microsoft.com/office/drawing/2014/main" id="{3DF4CAF9-06A6-F849-9FCD-1AEC85C1CF94}"/>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54" name="Rectangle 109">
              <a:extLst>
                <a:ext uri="{FF2B5EF4-FFF2-40B4-BE49-F238E27FC236}">
                  <a16:creationId xmlns:a16="http://schemas.microsoft.com/office/drawing/2014/main" id="{148B444B-183C-764F-B7FB-60CA4703B6DB}"/>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nvGrpSpPr>
            <p:cNvPr id="255" name="Group 110">
              <a:extLst>
                <a:ext uri="{FF2B5EF4-FFF2-40B4-BE49-F238E27FC236}">
                  <a16:creationId xmlns:a16="http://schemas.microsoft.com/office/drawing/2014/main" id="{39959419-6C63-ED42-9E1F-394A82CD6225}"/>
                </a:ext>
              </a:extLst>
            </p:cNvPr>
            <p:cNvGrpSpPr>
              <a:grpSpLocks/>
            </p:cNvGrpSpPr>
            <p:nvPr/>
          </p:nvGrpSpPr>
          <p:grpSpPr bwMode="auto">
            <a:xfrm>
              <a:off x="4735" y="1627"/>
              <a:ext cx="582" cy="151"/>
              <a:chOff x="614" y="2568"/>
              <a:chExt cx="725" cy="139"/>
            </a:xfrm>
          </p:grpSpPr>
          <p:sp>
            <p:nvSpPr>
              <p:cNvPr id="271" name="AutoShape 111">
                <a:extLst>
                  <a:ext uri="{FF2B5EF4-FFF2-40B4-BE49-F238E27FC236}">
                    <a16:creationId xmlns:a16="http://schemas.microsoft.com/office/drawing/2014/main" id="{A34CF4FA-FD1C-5145-835F-119FE044DC3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72" name="AutoShape 112">
                <a:extLst>
                  <a:ext uri="{FF2B5EF4-FFF2-40B4-BE49-F238E27FC236}">
                    <a16:creationId xmlns:a16="http://schemas.microsoft.com/office/drawing/2014/main" id="{59A59735-AA02-0146-A5A5-87EEABC8E28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sp>
          <p:nvSpPr>
            <p:cNvPr id="256" name="Freeform 113">
              <a:extLst>
                <a:ext uri="{FF2B5EF4-FFF2-40B4-BE49-F238E27FC236}">
                  <a16:creationId xmlns:a16="http://schemas.microsoft.com/office/drawing/2014/main" id="{FDFF2545-90A4-DA4C-82D7-3315F0B6C88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grpSp>
          <p:nvGrpSpPr>
            <p:cNvPr id="257" name="Group 114">
              <a:extLst>
                <a:ext uri="{FF2B5EF4-FFF2-40B4-BE49-F238E27FC236}">
                  <a16:creationId xmlns:a16="http://schemas.microsoft.com/office/drawing/2014/main" id="{05A30CF6-38EC-774A-B2D7-6BC1988EFCEE}"/>
                </a:ext>
              </a:extLst>
            </p:cNvPr>
            <p:cNvGrpSpPr>
              <a:grpSpLocks/>
            </p:cNvGrpSpPr>
            <p:nvPr/>
          </p:nvGrpSpPr>
          <p:grpSpPr bwMode="auto">
            <a:xfrm>
              <a:off x="4739" y="1327"/>
              <a:ext cx="582" cy="139"/>
              <a:chOff x="614" y="2568"/>
              <a:chExt cx="725" cy="139"/>
            </a:xfrm>
          </p:grpSpPr>
          <p:sp>
            <p:nvSpPr>
              <p:cNvPr id="269" name="AutoShape 115">
                <a:extLst>
                  <a:ext uri="{FF2B5EF4-FFF2-40B4-BE49-F238E27FC236}">
                    <a16:creationId xmlns:a16="http://schemas.microsoft.com/office/drawing/2014/main" id="{82E4336A-2972-5248-BA09-8141B5778E54}"/>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70" name="AutoShape 116">
                <a:extLst>
                  <a:ext uri="{FF2B5EF4-FFF2-40B4-BE49-F238E27FC236}">
                    <a16:creationId xmlns:a16="http://schemas.microsoft.com/office/drawing/2014/main" id="{AD1D49DB-E480-5641-AC7E-56E3D66E7135}"/>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sp>
          <p:nvSpPr>
            <p:cNvPr id="258" name="Rectangle 117">
              <a:extLst>
                <a:ext uri="{FF2B5EF4-FFF2-40B4-BE49-F238E27FC236}">
                  <a16:creationId xmlns:a16="http://schemas.microsoft.com/office/drawing/2014/main" id="{0B98AE39-2021-6E44-A2F5-79952D91407E}"/>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59" name="Freeform 118">
              <a:extLst>
                <a:ext uri="{FF2B5EF4-FFF2-40B4-BE49-F238E27FC236}">
                  <a16:creationId xmlns:a16="http://schemas.microsoft.com/office/drawing/2014/main" id="{E786E227-0635-1B4C-B935-93B9B2090B2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60" name="Freeform 119">
              <a:extLst>
                <a:ext uri="{FF2B5EF4-FFF2-40B4-BE49-F238E27FC236}">
                  <a16:creationId xmlns:a16="http://schemas.microsoft.com/office/drawing/2014/main" id="{FB8A87AF-D14D-3042-95ED-47109B79894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61" name="Oval 120">
              <a:extLst>
                <a:ext uri="{FF2B5EF4-FFF2-40B4-BE49-F238E27FC236}">
                  <a16:creationId xmlns:a16="http://schemas.microsoft.com/office/drawing/2014/main" id="{2E438A96-E553-D34A-BF0C-432436BD21D5}"/>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62" name="Freeform 121">
              <a:extLst>
                <a:ext uri="{FF2B5EF4-FFF2-40B4-BE49-F238E27FC236}">
                  <a16:creationId xmlns:a16="http://schemas.microsoft.com/office/drawing/2014/main" id="{C7F13FD9-6F22-2742-B6C1-05E03B039F7D}"/>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panose="020B0600070205080204" pitchFamily="34" charset="-128"/>
              </a:endParaRPr>
            </a:p>
          </p:txBody>
        </p:sp>
        <p:sp>
          <p:nvSpPr>
            <p:cNvPr id="263" name="AutoShape 122">
              <a:extLst>
                <a:ext uri="{FF2B5EF4-FFF2-40B4-BE49-F238E27FC236}">
                  <a16:creationId xmlns:a16="http://schemas.microsoft.com/office/drawing/2014/main" id="{348EE68C-CA73-834E-B867-CD1C84FAC89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64" name="AutoShape 123">
              <a:extLst>
                <a:ext uri="{FF2B5EF4-FFF2-40B4-BE49-F238E27FC236}">
                  <a16:creationId xmlns:a16="http://schemas.microsoft.com/office/drawing/2014/main" id="{1204051C-8ED9-7648-9B46-C01EFEE9DB1E}"/>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65" name="Oval 124">
              <a:extLst>
                <a:ext uri="{FF2B5EF4-FFF2-40B4-BE49-F238E27FC236}">
                  <a16:creationId xmlns:a16="http://schemas.microsoft.com/office/drawing/2014/main" id="{E60C883F-574D-2748-ABCD-0B7DB3EE98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66" name="Oval 125">
              <a:extLst>
                <a:ext uri="{FF2B5EF4-FFF2-40B4-BE49-F238E27FC236}">
                  <a16:creationId xmlns:a16="http://schemas.microsoft.com/office/drawing/2014/main" id="{FB94FD42-6202-F644-B3BA-267D89970B38}"/>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kern="0" dirty="0">
                <a:solidFill>
                  <a:srgbClr val="FF0000"/>
                </a:solidFill>
                <a:latin typeface="Calibri" panose="020F0502020204030204"/>
                <a:ea typeface="ＭＳ Ｐゴシック" charset="0"/>
                <a:cs typeface="Arial" charset="0"/>
              </a:endParaRPr>
            </a:p>
          </p:txBody>
        </p:sp>
        <p:sp>
          <p:nvSpPr>
            <p:cNvPr id="267" name="Oval 126">
              <a:extLst>
                <a:ext uri="{FF2B5EF4-FFF2-40B4-BE49-F238E27FC236}">
                  <a16:creationId xmlns:a16="http://schemas.microsoft.com/office/drawing/2014/main" id="{FD6A9A5E-7B0B-0C4F-B512-765209079139}"/>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sp>
          <p:nvSpPr>
            <p:cNvPr id="268" name="Rectangle 127">
              <a:extLst>
                <a:ext uri="{FF2B5EF4-FFF2-40B4-BE49-F238E27FC236}">
                  <a16:creationId xmlns:a16="http://schemas.microsoft.com/office/drawing/2014/main" id="{1A503147-D0ED-D94A-8360-5E7F4D3ED8FD}"/>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dirty="0">
                <a:solidFill>
                  <a:srgbClr val="000000"/>
                </a:solidFill>
                <a:latin typeface="Calibri" panose="020F0502020204030204"/>
                <a:ea typeface="ＭＳ Ｐゴシック" charset="0"/>
              </a:endParaRPr>
            </a:p>
          </p:txBody>
        </p:sp>
      </p:grpSp>
    </p:spTree>
    <p:extLst>
      <p:ext uri="{BB962C8B-B14F-4D97-AF65-F5344CB8AC3E}">
        <p14:creationId xmlns:p14="http://schemas.microsoft.com/office/powerpoint/2010/main" val="450562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dissolv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2-way handshake scenarios</a:t>
            </a:r>
          </a:p>
        </p:txBody>
      </p:sp>
      <p:sp>
        <p:nvSpPr>
          <p:cNvPr id="73" name="Slide Number Placeholder 2">
            <a:extLst>
              <a:ext uri="{FF2B5EF4-FFF2-40B4-BE49-F238E27FC236}">
                <a16:creationId xmlns:a16="http://schemas.microsoft.com/office/drawing/2014/main" id="{26201937-A24A-454E-B97D-9D841DC2449E}"/>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22</a:t>
            </a:fld>
            <a:endParaRPr lang="en-US" dirty="0">
              <a:solidFill>
                <a:prstClr val="white">
                  <a:lumMod val="50000"/>
                </a:prstClr>
              </a:solidFill>
              <a:latin typeface="Calibri" panose="020F0502020204030204"/>
            </a:endParaRPr>
          </a:p>
        </p:txBody>
      </p:sp>
      <p:grpSp>
        <p:nvGrpSpPr>
          <p:cNvPr id="423" name="Group 422">
            <a:extLst>
              <a:ext uri="{FF2B5EF4-FFF2-40B4-BE49-F238E27FC236}">
                <a16:creationId xmlns:a16="http://schemas.microsoft.com/office/drawing/2014/main" id="{D692DA0E-1EF2-F448-A9D8-1C3ACE390DD1}"/>
              </a:ext>
            </a:extLst>
          </p:cNvPr>
          <p:cNvGrpSpPr/>
          <p:nvPr/>
        </p:nvGrpSpPr>
        <p:grpSpPr>
          <a:xfrm>
            <a:off x="271973" y="1933605"/>
            <a:ext cx="2946320" cy="2415788"/>
            <a:chOff x="362630" y="1990325"/>
            <a:chExt cx="3928426" cy="3221051"/>
          </a:xfrm>
        </p:grpSpPr>
        <p:sp>
          <p:nvSpPr>
            <p:cNvPr id="424" name="Line 25">
              <a:extLst>
                <a:ext uri="{FF2B5EF4-FFF2-40B4-BE49-F238E27FC236}">
                  <a16:creationId xmlns:a16="http://schemas.microsoft.com/office/drawing/2014/main" id="{91E4D71D-79FA-CA4A-B78E-8C1871D4733B}"/>
                </a:ext>
              </a:extLst>
            </p:cNvPr>
            <p:cNvSpPr>
              <a:spLocks noChangeShapeType="1"/>
            </p:cNvSpPr>
            <p:nvPr/>
          </p:nvSpPr>
          <p:spPr bwMode="auto">
            <a:xfrm flipH="1">
              <a:off x="1461180" y="2545950"/>
              <a:ext cx="1588" cy="2470150"/>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425" name="Line 39">
              <a:extLst>
                <a:ext uri="{FF2B5EF4-FFF2-40B4-BE49-F238E27FC236}">
                  <a16:creationId xmlns:a16="http://schemas.microsoft.com/office/drawing/2014/main" id="{3CE8A2F3-443B-CB42-96FD-D8DF221502CB}"/>
                </a:ext>
              </a:extLst>
            </p:cNvPr>
            <p:cNvSpPr>
              <a:spLocks noChangeShapeType="1"/>
            </p:cNvSpPr>
            <p:nvPr/>
          </p:nvSpPr>
          <p:spPr bwMode="auto">
            <a:xfrm flipH="1">
              <a:off x="2991529" y="2618975"/>
              <a:ext cx="0" cy="2524525"/>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426" name="Group 93">
              <a:extLst>
                <a:ext uri="{FF2B5EF4-FFF2-40B4-BE49-F238E27FC236}">
                  <a16:creationId xmlns:a16="http://schemas.microsoft.com/office/drawing/2014/main" id="{773C4FC2-EAD6-0D4F-85E4-043FD6EDCD22}"/>
                </a:ext>
              </a:extLst>
            </p:cNvPr>
            <p:cNvGrpSpPr>
              <a:grpSpLocks/>
            </p:cNvGrpSpPr>
            <p:nvPr/>
          </p:nvGrpSpPr>
          <p:grpSpPr bwMode="auto">
            <a:xfrm>
              <a:off x="1386567" y="4700200"/>
              <a:ext cx="2405063" cy="511176"/>
              <a:chOff x="1097" y="2807"/>
              <a:chExt cx="1515" cy="322"/>
            </a:xfrm>
          </p:grpSpPr>
          <p:sp>
            <p:nvSpPr>
              <p:cNvPr id="488" name="Line 40">
                <a:extLst>
                  <a:ext uri="{FF2B5EF4-FFF2-40B4-BE49-F238E27FC236}">
                    <a16:creationId xmlns:a16="http://schemas.microsoft.com/office/drawing/2014/main" id="{111704BC-1B6B-2944-9D57-698BFD5CC308}"/>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89" name="Text Box 85">
                <a:extLst>
                  <a:ext uri="{FF2B5EF4-FFF2-40B4-BE49-F238E27FC236}">
                    <a16:creationId xmlns:a16="http://schemas.microsoft.com/office/drawing/2014/main" id="{190D3E08-8ADE-534C-9FC3-5199F6792D9B}"/>
                  </a:ext>
                </a:extLst>
              </p:cNvPr>
              <p:cNvSpPr txBox="1">
                <a:spLocks noChangeArrowheads="1"/>
              </p:cNvSpPr>
              <p:nvPr/>
            </p:nvSpPr>
            <p:spPr bwMode="auto">
              <a:xfrm>
                <a:off x="1247" y="2807"/>
                <a:ext cx="750" cy="32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rPr>
                  <a:t>connection </a:t>
                </a:r>
              </a:p>
              <a:p>
                <a:pPr algn="ctr" defTabSz="685800" eaLnBrk="0" fontAlgn="base" hangingPunct="0">
                  <a:lnSpc>
                    <a:spcPct val="90000"/>
                  </a:lnSpc>
                  <a:spcBef>
                    <a:spcPct val="0"/>
                  </a:spcBef>
                  <a:spcAft>
                    <a:spcPct val="0"/>
                  </a:spcAft>
                  <a:defRPr/>
                </a:pPr>
                <a:r>
                  <a:rPr lang="en-US" sz="1050" kern="0" dirty="0">
                    <a:solidFill>
                      <a:srgbClr val="000000"/>
                    </a:solidFill>
                  </a:rPr>
                  <a:t>x completes</a:t>
                </a:r>
              </a:p>
            </p:txBody>
          </p:sp>
        </p:grpSp>
        <p:grpSp>
          <p:nvGrpSpPr>
            <p:cNvPr id="427" name="Group 102">
              <a:extLst>
                <a:ext uri="{FF2B5EF4-FFF2-40B4-BE49-F238E27FC236}">
                  <a16:creationId xmlns:a16="http://schemas.microsoft.com/office/drawing/2014/main" id="{0D5744FA-4339-D545-9B57-B45E093F571A}"/>
                </a:ext>
              </a:extLst>
            </p:cNvPr>
            <p:cNvGrpSpPr>
              <a:grpSpLocks/>
            </p:cNvGrpSpPr>
            <p:nvPr/>
          </p:nvGrpSpPr>
          <p:grpSpPr bwMode="auto">
            <a:xfrm>
              <a:off x="362630" y="1990325"/>
              <a:ext cx="3495676" cy="2170113"/>
              <a:chOff x="438" y="1100"/>
              <a:chExt cx="2202" cy="1367"/>
            </a:xfrm>
          </p:grpSpPr>
          <p:sp>
            <p:nvSpPr>
              <p:cNvPr id="439" name="Text Box 103">
                <a:extLst>
                  <a:ext uri="{FF2B5EF4-FFF2-40B4-BE49-F238E27FC236}">
                    <a16:creationId xmlns:a16="http://schemas.microsoft.com/office/drawing/2014/main" id="{384A1174-EF45-3D47-B451-2B62A2717579}"/>
                  </a:ext>
                </a:extLst>
              </p:cNvPr>
              <p:cNvSpPr txBox="1">
                <a:spLocks noChangeArrowheads="1"/>
              </p:cNvSpPr>
              <p:nvPr/>
            </p:nvSpPr>
            <p:spPr bwMode="auto">
              <a:xfrm>
                <a:off x="438" y="1393"/>
                <a:ext cx="659"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rPr>
                  <a:t>choose x</a:t>
                </a:r>
              </a:p>
              <a:p>
                <a:pPr algn="r" defTabSz="685800" eaLnBrk="0" fontAlgn="base" hangingPunct="0">
                  <a:spcBef>
                    <a:spcPct val="0"/>
                  </a:spcBef>
                  <a:spcAft>
                    <a:spcPct val="0"/>
                  </a:spcAft>
                  <a:defRPr/>
                </a:pPr>
                <a:endParaRPr lang="en-US" sz="1200" kern="0" dirty="0">
                  <a:solidFill>
                    <a:srgbClr val="000000"/>
                  </a:solidFill>
                </a:endParaRPr>
              </a:p>
            </p:txBody>
          </p:sp>
          <p:sp>
            <p:nvSpPr>
              <p:cNvPr id="440" name="Line 104">
                <a:extLst>
                  <a:ext uri="{FF2B5EF4-FFF2-40B4-BE49-F238E27FC236}">
                    <a16:creationId xmlns:a16="http://schemas.microsoft.com/office/drawing/2014/main" id="{01799853-A3A5-894C-8B0B-3CBEE6379CDD}"/>
                  </a:ext>
                </a:extLst>
              </p:cNvPr>
              <p:cNvSpPr>
                <a:spLocks noChangeShapeType="1"/>
              </p:cNvSpPr>
              <p:nvPr/>
            </p:nvSpPr>
            <p:spPr bwMode="auto">
              <a:xfrm>
                <a:off x="1159" y="1516"/>
                <a:ext cx="932" cy="199"/>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41" name="Line 105">
                <a:extLst>
                  <a:ext uri="{FF2B5EF4-FFF2-40B4-BE49-F238E27FC236}">
                    <a16:creationId xmlns:a16="http://schemas.microsoft.com/office/drawing/2014/main" id="{E4D37334-2302-C946-AD71-897255F798F8}"/>
                  </a:ext>
                </a:extLst>
              </p:cNvPr>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42" name="Rectangle 106">
                <a:extLst>
                  <a:ext uri="{FF2B5EF4-FFF2-40B4-BE49-F238E27FC236}">
                    <a16:creationId xmlns:a16="http://schemas.microsoft.com/office/drawing/2014/main" id="{A9F291AF-7263-964C-9C39-E6D9DD79FF9B}"/>
                  </a:ext>
                </a:extLst>
              </p:cNvPr>
              <p:cNvSpPr>
                <a:spLocks noChangeArrowheads="1"/>
              </p:cNvSpPr>
              <p:nvPr/>
            </p:nvSpPr>
            <p:spPr bwMode="auto">
              <a:xfrm>
                <a:off x="1359" y="1507"/>
                <a:ext cx="490"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43" name="Text Box 107">
                <a:extLst>
                  <a:ext uri="{FF2B5EF4-FFF2-40B4-BE49-F238E27FC236}">
                    <a16:creationId xmlns:a16="http://schemas.microsoft.com/office/drawing/2014/main" id="{8256400A-AA91-2B45-8FD6-9FEEAEE48C35}"/>
                  </a:ext>
                </a:extLst>
              </p:cNvPr>
              <p:cNvSpPr txBox="1">
                <a:spLocks noChangeArrowheads="1"/>
              </p:cNvSpPr>
              <p:nvPr/>
            </p:nvSpPr>
            <p:spPr bwMode="auto">
              <a:xfrm>
                <a:off x="1189" y="1486"/>
                <a:ext cx="851"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req_conn(x)</a:t>
                </a:r>
              </a:p>
            </p:txBody>
          </p:sp>
          <p:sp>
            <p:nvSpPr>
              <p:cNvPr id="444" name="Rectangle 108">
                <a:extLst>
                  <a:ext uri="{FF2B5EF4-FFF2-40B4-BE49-F238E27FC236}">
                    <a16:creationId xmlns:a16="http://schemas.microsoft.com/office/drawing/2014/main" id="{8F206717-52E2-FB4D-B242-30E9BF426AE1}"/>
                  </a:ext>
                </a:extLst>
              </p:cNvPr>
              <p:cNvSpPr>
                <a:spLocks noChangeArrowheads="1"/>
              </p:cNvSpPr>
              <p:nvPr/>
            </p:nvSpPr>
            <p:spPr bwMode="auto">
              <a:xfrm>
                <a:off x="1471" y="1774"/>
                <a:ext cx="277"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45" name="Text Box 109">
                <a:extLst>
                  <a:ext uri="{FF2B5EF4-FFF2-40B4-BE49-F238E27FC236}">
                    <a16:creationId xmlns:a16="http://schemas.microsoft.com/office/drawing/2014/main" id="{9F6C9D6F-A1F8-8544-BE47-BCDA73F1EC12}"/>
                  </a:ext>
                </a:extLst>
              </p:cNvPr>
              <p:cNvSpPr txBox="1">
                <a:spLocks noChangeArrowheads="1"/>
              </p:cNvSpPr>
              <p:nvPr/>
            </p:nvSpPr>
            <p:spPr bwMode="auto">
              <a:xfrm>
                <a:off x="2111" y="1649"/>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446" name="Text Box 110">
                <a:extLst>
                  <a:ext uri="{FF2B5EF4-FFF2-40B4-BE49-F238E27FC236}">
                    <a16:creationId xmlns:a16="http://schemas.microsoft.com/office/drawing/2014/main" id="{5194F166-9430-4242-89A4-5D091B008960}"/>
                  </a:ext>
                </a:extLst>
              </p:cNvPr>
              <p:cNvSpPr txBox="1">
                <a:spLocks noChangeArrowheads="1"/>
              </p:cNvSpPr>
              <p:nvPr/>
            </p:nvSpPr>
            <p:spPr bwMode="auto">
              <a:xfrm>
                <a:off x="561" y="2234"/>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447" name="Oval 111">
                <a:extLst>
                  <a:ext uri="{FF2B5EF4-FFF2-40B4-BE49-F238E27FC236}">
                    <a16:creationId xmlns:a16="http://schemas.microsoft.com/office/drawing/2014/main" id="{64F10CAD-3D48-3B4D-AE41-2AEA0DB2E4A3}"/>
                  </a:ext>
                </a:extLst>
              </p:cNvPr>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448" name="Oval 112">
                <a:extLst>
                  <a:ext uri="{FF2B5EF4-FFF2-40B4-BE49-F238E27FC236}">
                    <a16:creationId xmlns:a16="http://schemas.microsoft.com/office/drawing/2014/main" id="{98F68D03-FCEB-0F41-A286-A0FEC1FAEA51}"/>
                  </a:ext>
                </a:extLst>
              </p:cNvPr>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nvGrpSpPr>
              <p:cNvPr id="449" name="Group 113">
                <a:extLst>
                  <a:ext uri="{FF2B5EF4-FFF2-40B4-BE49-F238E27FC236}">
                    <a16:creationId xmlns:a16="http://schemas.microsoft.com/office/drawing/2014/main" id="{E535B351-6B01-AE49-8479-F8762FC2AA2E}"/>
                  </a:ext>
                </a:extLst>
              </p:cNvPr>
              <p:cNvGrpSpPr>
                <a:grpSpLocks/>
              </p:cNvGrpSpPr>
              <p:nvPr/>
            </p:nvGrpSpPr>
            <p:grpSpPr bwMode="auto">
              <a:xfrm>
                <a:off x="1254" y="1861"/>
                <a:ext cx="850" cy="233"/>
                <a:chOff x="1042" y="2085"/>
                <a:chExt cx="850" cy="233"/>
              </a:xfrm>
            </p:grpSpPr>
            <p:sp>
              <p:nvSpPr>
                <p:cNvPr id="486" name="Rectangle 114">
                  <a:extLst>
                    <a:ext uri="{FF2B5EF4-FFF2-40B4-BE49-F238E27FC236}">
                      <a16:creationId xmlns:a16="http://schemas.microsoft.com/office/drawing/2014/main" id="{3ABD9392-9290-6043-AF0A-164F1B0F7B39}"/>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87" name="Text Box 115">
                  <a:extLst>
                    <a:ext uri="{FF2B5EF4-FFF2-40B4-BE49-F238E27FC236}">
                      <a16:creationId xmlns:a16="http://schemas.microsoft.com/office/drawing/2014/main" id="{E01A5D11-E159-0C40-9DBC-E064BEC5774C}"/>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acc_conn(x)</a:t>
                  </a:r>
                </a:p>
              </p:txBody>
            </p:sp>
          </p:grpSp>
          <p:grpSp>
            <p:nvGrpSpPr>
              <p:cNvPr id="450" name="Group 116">
                <a:extLst>
                  <a:ext uri="{FF2B5EF4-FFF2-40B4-BE49-F238E27FC236}">
                    <a16:creationId xmlns:a16="http://schemas.microsoft.com/office/drawing/2014/main" id="{3E3A49BF-0E39-8D4D-A2D0-63CBFDDD6FAF}"/>
                  </a:ext>
                </a:extLst>
              </p:cNvPr>
              <p:cNvGrpSpPr>
                <a:grpSpLocks/>
              </p:cNvGrpSpPr>
              <p:nvPr/>
            </p:nvGrpSpPr>
            <p:grpSpPr bwMode="auto">
              <a:xfrm>
                <a:off x="834" y="1112"/>
                <a:ext cx="391" cy="307"/>
                <a:chOff x="-44" y="1473"/>
                <a:chExt cx="981" cy="1105"/>
              </a:xfrm>
            </p:grpSpPr>
            <p:pic>
              <p:nvPicPr>
                <p:cNvPr id="484" name="Picture 117" descr="desktop_computer_stylized_medium">
                  <a:extLst>
                    <a:ext uri="{FF2B5EF4-FFF2-40B4-BE49-F238E27FC236}">
                      <a16:creationId xmlns:a16="http://schemas.microsoft.com/office/drawing/2014/main" id="{68652FF9-3BA5-AD41-98E0-A222D63A4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5" name="Freeform 118">
                  <a:extLst>
                    <a:ext uri="{FF2B5EF4-FFF2-40B4-BE49-F238E27FC236}">
                      <a16:creationId xmlns:a16="http://schemas.microsoft.com/office/drawing/2014/main" id="{73D50490-21D8-7746-B97E-C2FE25CBD7B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451" name="Group 119">
                <a:extLst>
                  <a:ext uri="{FF2B5EF4-FFF2-40B4-BE49-F238E27FC236}">
                    <a16:creationId xmlns:a16="http://schemas.microsoft.com/office/drawing/2014/main" id="{6E788993-C5DA-164F-9258-0CB775450A30}"/>
                  </a:ext>
                </a:extLst>
              </p:cNvPr>
              <p:cNvGrpSpPr>
                <a:grpSpLocks/>
              </p:cNvGrpSpPr>
              <p:nvPr/>
            </p:nvGrpSpPr>
            <p:grpSpPr bwMode="auto">
              <a:xfrm>
                <a:off x="1973" y="1100"/>
                <a:ext cx="212" cy="323"/>
                <a:chOff x="4140" y="429"/>
                <a:chExt cx="1425" cy="2396"/>
              </a:xfrm>
            </p:grpSpPr>
            <p:sp>
              <p:nvSpPr>
                <p:cNvPr id="452" name="Freeform 120">
                  <a:extLst>
                    <a:ext uri="{FF2B5EF4-FFF2-40B4-BE49-F238E27FC236}">
                      <a16:creationId xmlns:a16="http://schemas.microsoft.com/office/drawing/2014/main" id="{12CC2128-75E5-114A-937D-4B672A89AA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53" name="Rectangle 121">
                  <a:extLst>
                    <a:ext uri="{FF2B5EF4-FFF2-40B4-BE49-F238E27FC236}">
                      <a16:creationId xmlns:a16="http://schemas.microsoft.com/office/drawing/2014/main" id="{F5C3491A-CD29-114C-A378-A2E414822C3C}"/>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54" name="Freeform 122">
                  <a:extLst>
                    <a:ext uri="{FF2B5EF4-FFF2-40B4-BE49-F238E27FC236}">
                      <a16:creationId xmlns:a16="http://schemas.microsoft.com/office/drawing/2014/main" id="{1FAF7C96-26AF-BC4C-8EE5-52686FB51F5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55" name="Freeform 123">
                  <a:extLst>
                    <a:ext uri="{FF2B5EF4-FFF2-40B4-BE49-F238E27FC236}">
                      <a16:creationId xmlns:a16="http://schemas.microsoft.com/office/drawing/2014/main" id="{F24EFDC4-D2B3-7440-A83B-52220A26C97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56" name="Rectangle 124">
                  <a:extLst>
                    <a:ext uri="{FF2B5EF4-FFF2-40B4-BE49-F238E27FC236}">
                      <a16:creationId xmlns:a16="http://schemas.microsoft.com/office/drawing/2014/main" id="{C738D1B1-14C3-F143-9286-716F3B0BC8CB}"/>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457" name="Group 125">
                  <a:extLst>
                    <a:ext uri="{FF2B5EF4-FFF2-40B4-BE49-F238E27FC236}">
                      <a16:creationId xmlns:a16="http://schemas.microsoft.com/office/drawing/2014/main" id="{1C9F2DD0-76F5-9945-A4A2-BFF420651D30}"/>
                    </a:ext>
                  </a:extLst>
                </p:cNvPr>
                <p:cNvGrpSpPr>
                  <a:grpSpLocks/>
                </p:cNvGrpSpPr>
                <p:nvPr/>
              </p:nvGrpSpPr>
              <p:grpSpPr bwMode="auto">
                <a:xfrm>
                  <a:off x="4749" y="668"/>
                  <a:ext cx="581" cy="145"/>
                  <a:chOff x="614" y="2568"/>
                  <a:chExt cx="725" cy="139"/>
                </a:xfrm>
              </p:grpSpPr>
              <p:sp>
                <p:nvSpPr>
                  <p:cNvPr id="482" name="AutoShape 126">
                    <a:extLst>
                      <a:ext uri="{FF2B5EF4-FFF2-40B4-BE49-F238E27FC236}">
                        <a16:creationId xmlns:a16="http://schemas.microsoft.com/office/drawing/2014/main" id="{C09A9BC4-E4D4-9740-8415-C18557F484B7}"/>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83" name="AutoShape 127">
                    <a:extLst>
                      <a:ext uri="{FF2B5EF4-FFF2-40B4-BE49-F238E27FC236}">
                        <a16:creationId xmlns:a16="http://schemas.microsoft.com/office/drawing/2014/main" id="{F3D70C92-E5D6-2E4F-8DCA-B1904F759DA4}"/>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458" name="Rectangle 128">
                  <a:extLst>
                    <a:ext uri="{FF2B5EF4-FFF2-40B4-BE49-F238E27FC236}">
                      <a16:creationId xmlns:a16="http://schemas.microsoft.com/office/drawing/2014/main" id="{722160C6-98E8-2849-92F6-C0477CF41C15}"/>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459" name="Group 129">
                  <a:extLst>
                    <a:ext uri="{FF2B5EF4-FFF2-40B4-BE49-F238E27FC236}">
                      <a16:creationId xmlns:a16="http://schemas.microsoft.com/office/drawing/2014/main" id="{5CF614C1-2FA4-194F-99CB-B59EBAA69627}"/>
                    </a:ext>
                  </a:extLst>
                </p:cNvPr>
                <p:cNvGrpSpPr>
                  <a:grpSpLocks/>
                </p:cNvGrpSpPr>
                <p:nvPr/>
              </p:nvGrpSpPr>
              <p:grpSpPr bwMode="auto">
                <a:xfrm>
                  <a:off x="4747" y="994"/>
                  <a:ext cx="581" cy="134"/>
                  <a:chOff x="614" y="2568"/>
                  <a:chExt cx="725" cy="139"/>
                </a:xfrm>
              </p:grpSpPr>
              <p:sp>
                <p:nvSpPr>
                  <p:cNvPr id="480" name="AutoShape 130">
                    <a:extLst>
                      <a:ext uri="{FF2B5EF4-FFF2-40B4-BE49-F238E27FC236}">
                        <a16:creationId xmlns:a16="http://schemas.microsoft.com/office/drawing/2014/main" id="{2DFF64EB-D097-2043-B088-40E31FBCA144}"/>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81" name="AutoShape 131">
                    <a:extLst>
                      <a:ext uri="{FF2B5EF4-FFF2-40B4-BE49-F238E27FC236}">
                        <a16:creationId xmlns:a16="http://schemas.microsoft.com/office/drawing/2014/main" id="{DF72C84E-59FE-844F-8A5B-E79C5EEA947F}"/>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460" name="Rectangle 132">
                  <a:extLst>
                    <a:ext uri="{FF2B5EF4-FFF2-40B4-BE49-F238E27FC236}">
                      <a16:creationId xmlns:a16="http://schemas.microsoft.com/office/drawing/2014/main" id="{0D34B495-F619-5744-92CE-02150CAEF02F}"/>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61" name="Rectangle 133">
                  <a:extLst>
                    <a:ext uri="{FF2B5EF4-FFF2-40B4-BE49-F238E27FC236}">
                      <a16:creationId xmlns:a16="http://schemas.microsoft.com/office/drawing/2014/main" id="{B289AC45-5AE1-8144-A213-D8D732FD9762}"/>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462" name="Group 134">
                  <a:extLst>
                    <a:ext uri="{FF2B5EF4-FFF2-40B4-BE49-F238E27FC236}">
                      <a16:creationId xmlns:a16="http://schemas.microsoft.com/office/drawing/2014/main" id="{1749D736-5D93-C94F-BEFF-83BA3C60704D}"/>
                    </a:ext>
                  </a:extLst>
                </p:cNvPr>
                <p:cNvGrpSpPr>
                  <a:grpSpLocks/>
                </p:cNvGrpSpPr>
                <p:nvPr/>
              </p:nvGrpSpPr>
              <p:grpSpPr bwMode="auto">
                <a:xfrm>
                  <a:off x="4735" y="1627"/>
                  <a:ext cx="582" cy="151"/>
                  <a:chOff x="614" y="2568"/>
                  <a:chExt cx="725" cy="139"/>
                </a:xfrm>
              </p:grpSpPr>
              <p:sp>
                <p:nvSpPr>
                  <p:cNvPr id="478" name="AutoShape 135">
                    <a:extLst>
                      <a:ext uri="{FF2B5EF4-FFF2-40B4-BE49-F238E27FC236}">
                        <a16:creationId xmlns:a16="http://schemas.microsoft.com/office/drawing/2014/main" id="{A0C2743E-C87A-D14C-85B5-A8F79F7531D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9" name="AutoShape 136">
                    <a:extLst>
                      <a:ext uri="{FF2B5EF4-FFF2-40B4-BE49-F238E27FC236}">
                        <a16:creationId xmlns:a16="http://schemas.microsoft.com/office/drawing/2014/main" id="{9BD6DBA0-FC1C-254E-9398-6CCD7340CADE}"/>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463" name="Freeform 137">
                  <a:extLst>
                    <a:ext uri="{FF2B5EF4-FFF2-40B4-BE49-F238E27FC236}">
                      <a16:creationId xmlns:a16="http://schemas.microsoft.com/office/drawing/2014/main" id="{5440E4EF-7DC8-C948-8355-65BC2A778B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464" name="Group 138">
                  <a:extLst>
                    <a:ext uri="{FF2B5EF4-FFF2-40B4-BE49-F238E27FC236}">
                      <a16:creationId xmlns:a16="http://schemas.microsoft.com/office/drawing/2014/main" id="{5E633347-2A45-9548-B218-3565A9B3D215}"/>
                    </a:ext>
                  </a:extLst>
                </p:cNvPr>
                <p:cNvGrpSpPr>
                  <a:grpSpLocks/>
                </p:cNvGrpSpPr>
                <p:nvPr/>
              </p:nvGrpSpPr>
              <p:grpSpPr bwMode="auto">
                <a:xfrm>
                  <a:off x="4739" y="1327"/>
                  <a:ext cx="582" cy="139"/>
                  <a:chOff x="614" y="2568"/>
                  <a:chExt cx="725" cy="139"/>
                </a:xfrm>
              </p:grpSpPr>
              <p:sp>
                <p:nvSpPr>
                  <p:cNvPr id="476" name="AutoShape 139">
                    <a:extLst>
                      <a:ext uri="{FF2B5EF4-FFF2-40B4-BE49-F238E27FC236}">
                        <a16:creationId xmlns:a16="http://schemas.microsoft.com/office/drawing/2014/main" id="{0F545573-C3F3-7D4F-8E2E-057960582DC3}"/>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7" name="AutoShape 140">
                    <a:extLst>
                      <a:ext uri="{FF2B5EF4-FFF2-40B4-BE49-F238E27FC236}">
                        <a16:creationId xmlns:a16="http://schemas.microsoft.com/office/drawing/2014/main" id="{2B38E4F6-9B20-FE41-8688-9F827513A800}"/>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465" name="Rectangle 141">
                  <a:extLst>
                    <a:ext uri="{FF2B5EF4-FFF2-40B4-BE49-F238E27FC236}">
                      <a16:creationId xmlns:a16="http://schemas.microsoft.com/office/drawing/2014/main" id="{0ADB7777-054A-3B42-99E1-AA3880CEBF4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66" name="Freeform 142">
                  <a:extLst>
                    <a:ext uri="{FF2B5EF4-FFF2-40B4-BE49-F238E27FC236}">
                      <a16:creationId xmlns:a16="http://schemas.microsoft.com/office/drawing/2014/main" id="{851EFEA0-9F99-9D45-BDD9-05781330AA68}"/>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67" name="Freeform 143">
                  <a:extLst>
                    <a:ext uri="{FF2B5EF4-FFF2-40B4-BE49-F238E27FC236}">
                      <a16:creationId xmlns:a16="http://schemas.microsoft.com/office/drawing/2014/main" id="{D46DD2F0-137E-7246-8429-922D11398E3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68" name="Oval 144">
                  <a:extLst>
                    <a:ext uri="{FF2B5EF4-FFF2-40B4-BE49-F238E27FC236}">
                      <a16:creationId xmlns:a16="http://schemas.microsoft.com/office/drawing/2014/main" id="{6D2FDB16-DD50-754D-B173-29B81535A1D0}"/>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69" name="Freeform 145">
                  <a:extLst>
                    <a:ext uri="{FF2B5EF4-FFF2-40B4-BE49-F238E27FC236}">
                      <a16:creationId xmlns:a16="http://schemas.microsoft.com/office/drawing/2014/main" id="{7D62A206-5CA0-E947-82FC-8F081AA926B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470" name="AutoShape 146">
                  <a:extLst>
                    <a:ext uri="{FF2B5EF4-FFF2-40B4-BE49-F238E27FC236}">
                      <a16:creationId xmlns:a16="http://schemas.microsoft.com/office/drawing/2014/main" id="{FD0F85B5-11E0-7445-9862-BC483A492BC8}"/>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1" name="AutoShape 147">
                  <a:extLst>
                    <a:ext uri="{FF2B5EF4-FFF2-40B4-BE49-F238E27FC236}">
                      <a16:creationId xmlns:a16="http://schemas.microsoft.com/office/drawing/2014/main" id="{67E0531B-2E65-AF43-9DB9-355885A8BFB3}"/>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2" name="Oval 148">
                  <a:extLst>
                    <a:ext uri="{FF2B5EF4-FFF2-40B4-BE49-F238E27FC236}">
                      <a16:creationId xmlns:a16="http://schemas.microsoft.com/office/drawing/2014/main" id="{64B5B35B-452E-FD4C-ACFF-7D475CD7D3D3}"/>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3" name="Oval 149">
                  <a:extLst>
                    <a:ext uri="{FF2B5EF4-FFF2-40B4-BE49-F238E27FC236}">
                      <a16:creationId xmlns:a16="http://schemas.microsoft.com/office/drawing/2014/main" id="{A4534FEA-4A8B-8A42-8930-71A153E19C7E}"/>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474" name="Oval 150">
                  <a:extLst>
                    <a:ext uri="{FF2B5EF4-FFF2-40B4-BE49-F238E27FC236}">
                      <a16:creationId xmlns:a16="http://schemas.microsoft.com/office/drawing/2014/main" id="{D6E50F70-5ED2-3344-A7D3-F9408B324055}"/>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75" name="Rectangle 151">
                  <a:extLst>
                    <a:ext uri="{FF2B5EF4-FFF2-40B4-BE49-F238E27FC236}">
                      <a16:creationId xmlns:a16="http://schemas.microsoft.com/office/drawing/2014/main" id="{7B699B0E-7FA7-A24C-814D-12D1D823F816}"/>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sp>
          <p:nvSpPr>
            <p:cNvPr id="428" name="Oval 159">
              <a:extLst>
                <a:ext uri="{FF2B5EF4-FFF2-40B4-BE49-F238E27FC236}">
                  <a16:creationId xmlns:a16="http://schemas.microsoft.com/office/drawing/2014/main" id="{8AE68307-4F03-0042-965E-5D84FCC3C3EB}"/>
                </a:ext>
              </a:extLst>
            </p:cNvPr>
            <p:cNvSpPr>
              <a:spLocks noChangeArrowheads="1"/>
            </p:cNvSpPr>
            <p:nvPr/>
          </p:nvSpPr>
          <p:spPr bwMode="auto">
            <a:xfrm>
              <a:off x="1416094" y="3893738"/>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429" name="Line 169">
              <a:extLst>
                <a:ext uri="{FF2B5EF4-FFF2-40B4-BE49-F238E27FC236}">
                  <a16:creationId xmlns:a16="http://schemas.microsoft.com/office/drawing/2014/main" id="{28EC4C67-0BE3-D54D-926D-9B81AED1C0D5}"/>
                </a:ext>
              </a:extLst>
            </p:cNvPr>
            <p:cNvSpPr>
              <a:spLocks noChangeShapeType="1"/>
            </p:cNvSpPr>
            <p:nvPr/>
          </p:nvSpPr>
          <p:spPr bwMode="auto">
            <a:xfrm>
              <a:off x="1511344" y="3966763"/>
              <a:ext cx="1479550" cy="3159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30" name="Rectangle 170">
              <a:extLst>
                <a:ext uri="{FF2B5EF4-FFF2-40B4-BE49-F238E27FC236}">
                  <a16:creationId xmlns:a16="http://schemas.microsoft.com/office/drawing/2014/main" id="{B8AFD2C9-C151-F748-8B96-E389535E32BE}"/>
                </a:ext>
              </a:extLst>
            </p:cNvPr>
            <p:cNvSpPr>
              <a:spLocks noChangeArrowheads="1"/>
            </p:cNvSpPr>
            <p:nvPr/>
          </p:nvSpPr>
          <p:spPr bwMode="auto">
            <a:xfrm>
              <a:off x="1828844" y="3952476"/>
              <a:ext cx="777875" cy="32702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31" name="Text Box 171">
              <a:extLst>
                <a:ext uri="{FF2B5EF4-FFF2-40B4-BE49-F238E27FC236}">
                  <a16:creationId xmlns:a16="http://schemas.microsoft.com/office/drawing/2014/main" id="{E48C6C06-1970-9949-B718-68B9AD5B435E}"/>
                </a:ext>
              </a:extLst>
            </p:cNvPr>
            <p:cNvSpPr txBox="1">
              <a:spLocks noChangeArrowheads="1"/>
            </p:cNvSpPr>
            <p:nvPr/>
          </p:nvSpPr>
          <p:spPr bwMode="auto">
            <a:xfrm>
              <a:off x="1653675" y="3919139"/>
              <a:ext cx="1163140"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data(x+1)</a:t>
              </a:r>
            </a:p>
          </p:txBody>
        </p:sp>
        <p:sp>
          <p:nvSpPr>
            <p:cNvPr id="432" name="Oval 172">
              <a:extLst>
                <a:ext uri="{FF2B5EF4-FFF2-40B4-BE49-F238E27FC236}">
                  <a16:creationId xmlns:a16="http://schemas.microsoft.com/office/drawing/2014/main" id="{C551802D-96E3-F942-A271-44B93EF7D61C}"/>
                </a:ext>
              </a:extLst>
            </p:cNvPr>
            <p:cNvSpPr>
              <a:spLocks noChangeArrowheads="1"/>
            </p:cNvSpPr>
            <p:nvPr/>
          </p:nvSpPr>
          <p:spPr bwMode="auto">
            <a:xfrm>
              <a:off x="2960731" y="4250926"/>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433" name="Text Box 173">
              <a:extLst>
                <a:ext uri="{FF2B5EF4-FFF2-40B4-BE49-F238E27FC236}">
                  <a16:creationId xmlns:a16="http://schemas.microsoft.com/office/drawing/2014/main" id="{D76C6664-0DFF-6847-8C91-9630B8CABF4C}"/>
                </a:ext>
              </a:extLst>
            </p:cNvPr>
            <p:cNvSpPr txBox="1">
              <a:spLocks noChangeArrowheads="1"/>
            </p:cNvSpPr>
            <p:nvPr/>
          </p:nvSpPr>
          <p:spPr bwMode="auto">
            <a:xfrm>
              <a:off x="3119482" y="4011213"/>
              <a:ext cx="1171574" cy="5416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rPr>
                <a:t>accept</a:t>
              </a:r>
            </a:p>
            <a:p>
              <a:pPr defTabSz="685800" eaLnBrk="0" fontAlgn="base" hangingPunct="0">
                <a:lnSpc>
                  <a:spcPct val="85000"/>
                </a:lnSpc>
                <a:spcBef>
                  <a:spcPct val="0"/>
                </a:spcBef>
                <a:spcAft>
                  <a:spcPct val="0"/>
                </a:spcAft>
                <a:defRPr/>
              </a:pPr>
              <a:r>
                <a:rPr lang="en-US" sz="1200" kern="0" dirty="0">
                  <a:solidFill>
                    <a:srgbClr val="000000"/>
                  </a:solidFill>
                </a:rPr>
                <a:t>data(x+1)</a:t>
              </a:r>
            </a:p>
          </p:txBody>
        </p:sp>
        <p:grpSp>
          <p:nvGrpSpPr>
            <p:cNvPr id="434" name="Group 433">
              <a:extLst>
                <a:ext uri="{FF2B5EF4-FFF2-40B4-BE49-F238E27FC236}">
                  <a16:creationId xmlns:a16="http://schemas.microsoft.com/office/drawing/2014/main" id="{7800DC3B-8637-C445-B46C-B1F234EAAAF7}"/>
                </a:ext>
              </a:extLst>
            </p:cNvPr>
            <p:cNvGrpSpPr/>
            <p:nvPr/>
          </p:nvGrpSpPr>
          <p:grpSpPr>
            <a:xfrm flipH="1">
              <a:off x="1449388" y="4279047"/>
              <a:ext cx="1539875" cy="390924"/>
              <a:chOff x="796245" y="5993547"/>
              <a:chExt cx="1539875" cy="390924"/>
            </a:xfrm>
          </p:grpSpPr>
          <p:sp>
            <p:nvSpPr>
              <p:cNvPr id="436" name="Line 169">
                <a:extLst>
                  <a:ext uri="{FF2B5EF4-FFF2-40B4-BE49-F238E27FC236}">
                    <a16:creationId xmlns:a16="http://schemas.microsoft.com/office/drawing/2014/main" id="{DF8AED72-CC03-D141-BF1D-CDBAD8CFF041}"/>
                  </a:ext>
                </a:extLst>
              </p:cNvPr>
              <p:cNvSpPr>
                <a:spLocks noChangeShapeType="1"/>
              </p:cNvSpPr>
              <p:nvPr/>
            </p:nvSpPr>
            <p:spPr bwMode="auto">
              <a:xfrm>
                <a:off x="796245" y="6007834"/>
                <a:ext cx="1479550" cy="3159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37" name="Rectangle 170">
                <a:extLst>
                  <a:ext uri="{FF2B5EF4-FFF2-40B4-BE49-F238E27FC236}">
                    <a16:creationId xmlns:a16="http://schemas.microsoft.com/office/drawing/2014/main" id="{629240BC-A74F-6E49-91FA-059AA1C94494}"/>
                  </a:ext>
                </a:extLst>
              </p:cNvPr>
              <p:cNvSpPr>
                <a:spLocks noChangeArrowheads="1"/>
              </p:cNvSpPr>
              <p:nvPr/>
            </p:nvSpPr>
            <p:spPr bwMode="auto">
              <a:xfrm>
                <a:off x="1113745" y="5993547"/>
                <a:ext cx="859292" cy="39092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38" name="Oval 172">
                <a:extLst>
                  <a:ext uri="{FF2B5EF4-FFF2-40B4-BE49-F238E27FC236}">
                    <a16:creationId xmlns:a16="http://schemas.microsoft.com/office/drawing/2014/main" id="{A155E5ED-674B-0544-A028-085A5AD95F12}"/>
                  </a:ext>
                </a:extLst>
              </p:cNvPr>
              <p:cNvSpPr>
                <a:spLocks noChangeArrowheads="1"/>
              </p:cNvSpPr>
              <p:nvPr/>
            </p:nvSpPr>
            <p:spPr bwMode="auto">
              <a:xfrm>
                <a:off x="2245632" y="6291997"/>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sp>
          <p:nvSpPr>
            <p:cNvPr id="435" name="Text Box 171">
              <a:extLst>
                <a:ext uri="{FF2B5EF4-FFF2-40B4-BE49-F238E27FC236}">
                  <a16:creationId xmlns:a16="http://schemas.microsoft.com/office/drawing/2014/main" id="{F73380DB-6861-6B4E-B8D4-43FE3C783476}"/>
                </a:ext>
              </a:extLst>
            </p:cNvPr>
            <p:cNvSpPr txBox="1">
              <a:spLocks noChangeArrowheads="1"/>
            </p:cNvSpPr>
            <p:nvPr/>
          </p:nvSpPr>
          <p:spPr bwMode="auto">
            <a:xfrm>
              <a:off x="1703582" y="4283529"/>
              <a:ext cx="1135353"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ACK(x+1)</a:t>
              </a:r>
            </a:p>
          </p:txBody>
        </p:sp>
      </p:grpSp>
      <p:grpSp>
        <p:nvGrpSpPr>
          <p:cNvPr id="9" name="Group 8">
            <a:extLst>
              <a:ext uri="{FF2B5EF4-FFF2-40B4-BE49-F238E27FC236}">
                <a16:creationId xmlns:a16="http://schemas.microsoft.com/office/drawing/2014/main" id="{A4CB8012-D87E-F547-97B0-03323A38506E}"/>
              </a:ext>
            </a:extLst>
          </p:cNvPr>
          <p:cNvGrpSpPr/>
          <p:nvPr/>
        </p:nvGrpSpPr>
        <p:grpSpPr>
          <a:xfrm>
            <a:off x="955222" y="4717280"/>
            <a:ext cx="1378391" cy="752792"/>
            <a:chOff x="1273629" y="5146706"/>
            <a:chExt cx="1837855" cy="1003723"/>
          </a:xfrm>
        </p:grpSpPr>
        <p:sp>
          <p:nvSpPr>
            <p:cNvPr id="4" name="TextBox 3">
              <a:extLst>
                <a:ext uri="{FF2B5EF4-FFF2-40B4-BE49-F238E27FC236}">
                  <a16:creationId xmlns:a16="http://schemas.microsoft.com/office/drawing/2014/main" id="{BDFF0F55-D08F-1344-9B87-5BCA4686A75C}"/>
                </a:ext>
              </a:extLst>
            </p:cNvPr>
            <p:cNvSpPr txBox="1"/>
            <p:nvPr/>
          </p:nvSpPr>
          <p:spPr>
            <a:xfrm>
              <a:off x="1273629" y="5146706"/>
              <a:ext cx="1837855" cy="492443"/>
            </a:xfrm>
            <a:prstGeom prst="rect">
              <a:avLst/>
            </a:prstGeom>
            <a:noFill/>
          </p:spPr>
          <p:txBody>
            <a:bodyPr wrap="none" rtlCol="0">
              <a:spAutoFit/>
            </a:bodyPr>
            <a:lstStyle/>
            <a:p>
              <a:pPr defTabSz="685800">
                <a:defRPr/>
              </a:pPr>
              <a:r>
                <a:rPr lang="en-US" dirty="0">
                  <a:solidFill>
                    <a:prstClr val="black"/>
                  </a:solidFill>
                  <a:latin typeface="Calibri"/>
                </a:rPr>
                <a:t>No problem!</a:t>
              </a:r>
            </a:p>
          </p:txBody>
        </p:sp>
        <p:pic>
          <p:nvPicPr>
            <p:cNvPr id="6" name="Picture 5" descr="A picture containing drawing&#10;&#10;Description automatically generated">
              <a:extLst>
                <a:ext uri="{FF2B5EF4-FFF2-40B4-BE49-F238E27FC236}">
                  <a16:creationId xmlns:a16="http://schemas.microsoft.com/office/drawing/2014/main" id="{4F95E370-82E9-0D41-AB1B-B42B590C4566}"/>
                </a:ext>
              </a:extLst>
            </p:cNvPr>
            <p:cNvPicPr>
              <a:picLocks noChangeAspect="1"/>
            </p:cNvPicPr>
            <p:nvPr/>
          </p:nvPicPr>
          <p:blipFill>
            <a:blip r:embed="rId4"/>
            <a:stretch>
              <a:fillRect/>
            </a:stretch>
          </p:blipFill>
          <p:spPr>
            <a:xfrm>
              <a:off x="1812470" y="5524500"/>
              <a:ext cx="625929" cy="625929"/>
            </a:xfrm>
            <a:prstGeom prst="rect">
              <a:avLst/>
            </a:prstGeom>
          </p:spPr>
        </p:pic>
      </p:grpSp>
    </p:spTree>
    <p:extLst>
      <p:ext uri="{BB962C8B-B14F-4D97-AF65-F5344CB8AC3E}">
        <p14:creationId xmlns:p14="http://schemas.microsoft.com/office/powerpoint/2010/main" val="7154784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2-way handshake scenarios</a:t>
            </a:r>
          </a:p>
        </p:txBody>
      </p:sp>
      <p:sp>
        <p:nvSpPr>
          <p:cNvPr id="81" name="Slide Number Placeholder 2">
            <a:extLst>
              <a:ext uri="{FF2B5EF4-FFF2-40B4-BE49-F238E27FC236}">
                <a16:creationId xmlns:a16="http://schemas.microsoft.com/office/drawing/2014/main" id="{C5180A9E-4EA2-5A45-B935-0F6B15CE622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23</a:t>
            </a:fld>
            <a:endParaRPr lang="en-US" dirty="0">
              <a:solidFill>
                <a:prstClr val="white">
                  <a:lumMod val="50000"/>
                </a:prstClr>
              </a:solidFill>
              <a:latin typeface="Calibri" panose="020F0502020204030204"/>
            </a:endParaRPr>
          </a:p>
        </p:txBody>
      </p:sp>
      <p:grpSp>
        <p:nvGrpSpPr>
          <p:cNvPr id="3" name="Group 2">
            <a:extLst>
              <a:ext uri="{FF2B5EF4-FFF2-40B4-BE49-F238E27FC236}">
                <a16:creationId xmlns:a16="http://schemas.microsoft.com/office/drawing/2014/main" id="{9CAAA66F-65EC-E34C-8D40-259E21717735}"/>
              </a:ext>
            </a:extLst>
          </p:cNvPr>
          <p:cNvGrpSpPr/>
          <p:nvPr/>
        </p:nvGrpSpPr>
        <p:grpSpPr>
          <a:xfrm>
            <a:off x="3946581" y="2344881"/>
            <a:ext cx="1147763" cy="3025379"/>
            <a:chOff x="5276623" y="2475192"/>
            <a:chExt cx="1530350" cy="4033838"/>
          </a:xfrm>
        </p:grpSpPr>
        <p:sp>
          <p:nvSpPr>
            <p:cNvPr id="279"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76623" y="2475192"/>
              <a:ext cx="1588" cy="2470150"/>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80"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805386" y="2548217"/>
              <a:ext cx="1587" cy="3960813"/>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7" name="Group 6">
            <a:extLst>
              <a:ext uri="{FF2B5EF4-FFF2-40B4-BE49-F238E27FC236}">
                <a16:creationId xmlns:a16="http://schemas.microsoft.com/office/drawing/2014/main" id="{D58C52DC-C8FA-4944-8CC4-85815AC982E1}"/>
              </a:ext>
            </a:extLst>
          </p:cNvPr>
          <p:cNvGrpSpPr/>
          <p:nvPr/>
        </p:nvGrpSpPr>
        <p:grpSpPr>
          <a:xfrm>
            <a:off x="5076322" y="4874424"/>
            <a:ext cx="661622" cy="276999"/>
            <a:chOff x="11151735" y="5148718"/>
            <a:chExt cx="882162" cy="369332"/>
          </a:xfrm>
        </p:grpSpPr>
        <p:sp>
          <p:nvSpPr>
            <p:cNvPr id="284"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193496" y="5148718"/>
              <a:ext cx="84040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285"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grpSp>
        <p:nvGrpSpPr>
          <p:cNvPr id="5" name="Group 4">
            <a:extLst>
              <a:ext uri="{FF2B5EF4-FFF2-40B4-BE49-F238E27FC236}">
                <a16:creationId xmlns:a16="http://schemas.microsoft.com/office/drawing/2014/main" id="{BF5066A4-7FFD-3447-A085-E135DC48118A}"/>
              </a:ext>
            </a:extLst>
          </p:cNvPr>
          <p:cNvGrpSpPr/>
          <p:nvPr/>
        </p:nvGrpSpPr>
        <p:grpSpPr>
          <a:xfrm>
            <a:off x="2808517" y="2863452"/>
            <a:ext cx="2321717" cy="2137174"/>
            <a:chOff x="8098974" y="2492829"/>
            <a:chExt cx="3095623" cy="2849565"/>
          </a:xfrm>
        </p:grpSpPr>
        <p:sp>
          <p:nvSpPr>
            <p:cNvPr id="282"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098974" y="2492829"/>
              <a:ext cx="1527173" cy="7879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rPr>
                <a:t>retransmit</a:t>
              </a:r>
            </a:p>
            <a:p>
              <a:pPr algn="r" defTabSz="685800" eaLnBrk="0" fontAlgn="base" hangingPunct="0">
                <a:lnSpc>
                  <a:spcPct val="85000"/>
                </a:lnSpc>
                <a:spcBef>
                  <a:spcPct val="0"/>
                </a:spcBef>
                <a:spcAft>
                  <a:spcPct val="0"/>
                </a:spcAft>
                <a:defRPr/>
              </a:pPr>
              <a:r>
                <a:rPr lang="en-US" sz="1200" kern="0" dirty="0">
                  <a:solidFill>
                    <a:srgbClr val="000000"/>
                  </a:solidFill>
                </a:rPr>
                <a:t>req_conn(x)</a:t>
              </a:r>
            </a:p>
            <a:p>
              <a:pPr algn="r" defTabSz="685800" eaLnBrk="0" fontAlgn="base" hangingPunct="0">
                <a:spcBef>
                  <a:spcPct val="0"/>
                </a:spcBef>
                <a:spcAft>
                  <a:spcPct val="0"/>
                </a:spcAft>
                <a:defRPr/>
              </a:pPr>
              <a:endParaRPr lang="en-US" sz="1200" kern="0" dirty="0">
                <a:solidFill>
                  <a:srgbClr val="000000"/>
                </a:solidFill>
              </a:endParaRPr>
            </a:p>
          </p:txBody>
        </p:sp>
        <p:sp>
          <p:nvSpPr>
            <p:cNvPr id="283"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286" name="Group 46">
              <a:extLst>
                <a:ext uri="{FF2B5EF4-FFF2-40B4-BE49-F238E27FC236}">
                  <a16:creationId xmlns:a16="http://schemas.microsoft.com/office/drawing/2014/main" id="{3F65A0FD-93D7-FE4A-976F-9F9685E790A3}"/>
                </a:ext>
              </a:extLst>
            </p:cNvPr>
            <p:cNvGrpSpPr>
              <a:grpSpLocks/>
            </p:cNvGrpSpPr>
            <p:nvPr/>
          </p:nvGrpSpPr>
          <p:grpSpPr bwMode="auto">
            <a:xfrm>
              <a:off x="9724574" y="3386596"/>
              <a:ext cx="1350962" cy="369888"/>
              <a:chOff x="1040" y="2085"/>
              <a:chExt cx="851" cy="233"/>
            </a:xfrm>
          </p:grpSpPr>
          <p:sp>
            <p:nvSpPr>
              <p:cNvPr id="288" name="Rectangle 47">
                <a:extLst>
                  <a:ext uri="{FF2B5EF4-FFF2-40B4-BE49-F238E27FC236}">
                    <a16:creationId xmlns:a16="http://schemas.microsoft.com/office/drawing/2014/main" id="{528CC805-3663-4846-BF33-966C0CEBEFDC}"/>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89" name="Text Box 48">
                <a:extLst>
                  <a:ext uri="{FF2B5EF4-FFF2-40B4-BE49-F238E27FC236}">
                    <a16:creationId xmlns:a16="http://schemas.microsoft.com/office/drawing/2014/main" id="{37D76C29-568C-6D4B-A1D0-D37EBE61CD72}"/>
                  </a:ext>
                </a:extLst>
              </p:cNvPr>
              <p:cNvSpPr txBox="1">
                <a:spLocks noChangeArrowheads="1"/>
              </p:cNvSpPr>
              <p:nvPr/>
            </p:nvSpPr>
            <p:spPr bwMode="auto">
              <a:xfrm>
                <a:off x="1040" y="2085"/>
                <a:ext cx="851"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req_conn(x)</a:t>
                </a:r>
              </a:p>
            </p:txBody>
          </p:sp>
        </p:grpSp>
      </p:grpSp>
      <p:grpSp>
        <p:nvGrpSpPr>
          <p:cNvPr id="290" name="Group 93">
            <a:extLst>
              <a:ext uri="{FF2B5EF4-FFF2-40B4-BE49-F238E27FC236}">
                <a16:creationId xmlns:a16="http://schemas.microsoft.com/office/drawing/2014/main" id="{86B69F27-A994-CA47-985C-04430FA1972B}"/>
              </a:ext>
            </a:extLst>
          </p:cNvPr>
          <p:cNvGrpSpPr>
            <a:grpSpLocks/>
          </p:cNvGrpSpPr>
          <p:nvPr/>
        </p:nvGrpSpPr>
        <p:grpSpPr bwMode="auto">
          <a:xfrm>
            <a:off x="2971630" y="3949671"/>
            <a:ext cx="2980135" cy="561975"/>
            <a:chOff x="316" y="2807"/>
            <a:chExt cx="2503" cy="472"/>
          </a:xfrm>
        </p:grpSpPr>
        <p:sp>
          <p:nvSpPr>
            <p:cNvPr id="291"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92"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316" y="2937"/>
              <a:ext cx="828" cy="3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rPr>
                <a:t>client terminates</a:t>
              </a:r>
            </a:p>
          </p:txBody>
        </p:sp>
        <p:sp>
          <p:nvSpPr>
            <p:cNvPr id="293"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rPr>
                <a:t>server</a:t>
              </a:r>
            </a:p>
            <a:p>
              <a:pPr defTabSz="685800" eaLnBrk="0" fontAlgn="base" hangingPunct="0">
                <a:lnSpc>
                  <a:spcPct val="85000"/>
                </a:lnSpc>
                <a:spcBef>
                  <a:spcPct val="0"/>
                </a:spcBef>
                <a:spcAft>
                  <a:spcPct val="0"/>
                </a:spcAft>
                <a:defRPr/>
              </a:pPr>
              <a:r>
                <a:rPr lang="en-US" sz="1200" kern="0" dirty="0">
                  <a:solidFill>
                    <a:srgbClr val="000000"/>
                  </a:solidFill>
                </a:rPr>
                <a:t>forgets x</a:t>
              </a:r>
            </a:p>
          </p:txBody>
        </p:sp>
        <p:sp>
          <p:nvSpPr>
            <p:cNvPr id="294"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47" y="2807"/>
              <a:ext cx="750" cy="32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rPr>
                <a:t>connection </a:t>
              </a:r>
            </a:p>
            <a:p>
              <a:pPr algn="ctr" defTabSz="685800" eaLnBrk="0" fontAlgn="base" hangingPunct="0">
                <a:lnSpc>
                  <a:spcPct val="90000"/>
                </a:lnSpc>
                <a:spcBef>
                  <a:spcPct val="0"/>
                </a:spcBef>
                <a:spcAft>
                  <a:spcPct val="0"/>
                </a:spcAft>
                <a:defRPr/>
              </a:pPr>
              <a:r>
                <a:rPr lang="en-US" sz="1050" kern="0" dirty="0">
                  <a:solidFill>
                    <a:srgbClr val="000000"/>
                  </a:solidFill>
                </a:rPr>
                <a:t>x completes</a:t>
              </a:r>
            </a:p>
          </p:txBody>
        </p:sp>
      </p:grpSp>
      <p:grpSp>
        <p:nvGrpSpPr>
          <p:cNvPr id="12" name="Group 11">
            <a:extLst>
              <a:ext uri="{FF2B5EF4-FFF2-40B4-BE49-F238E27FC236}">
                <a16:creationId xmlns:a16="http://schemas.microsoft.com/office/drawing/2014/main" id="{09A60973-A80A-204A-B7D6-FB475901ED33}"/>
              </a:ext>
            </a:extLst>
          </p:cNvPr>
          <p:cNvGrpSpPr/>
          <p:nvPr/>
        </p:nvGrpSpPr>
        <p:grpSpPr>
          <a:xfrm>
            <a:off x="3112150" y="2342329"/>
            <a:ext cx="2622213" cy="1278315"/>
            <a:chOff x="7792621" y="1602735"/>
            <a:chExt cx="3496285" cy="1704419"/>
          </a:xfrm>
        </p:grpSpPr>
        <p:sp>
          <p:nvSpPr>
            <p:cNvPr id="308"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792621" y="1602735"/>
              <a:ext cx="1045672" cy="61555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rPr>
                <a:t>choose x</a:t>
              </a:r>
            </a:p>
            <a:p>
              <a:pPr algn="r" defTabSz="685800" eaLnBrk="0" fontAlgn="base" hangingPunct="0">
                <a:spcBef>
                  <a:spcPct val="0"/>
                </a:spcBef>
                <a:spcAft>
                  <a:spcPct val="0"/>
                </a:spcAft>
                <a:defRPr/>
              </a:pPr>
              <a:endParaRPr lang="en-US" sz="1200" kern="0" dirty="0">
                <a:solidFill>
                  <a:srgbClr val="000000"/>
                </a:solidFill>
              </a:endParaRPr>
            </a:p>
          </p:txBody>
        </p:sp>
        <p:sp>
          <p:nvSpPr>
            <p:cNvPr id="309"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0"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1"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2"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8985005" y="1750372"/>
              <a:ext cx="1351225"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req_conn(x)</a:t>
              </a:r>
            </a:p>
          </p:txBody>
        </p:sp>
        <p:sp>
          <p:nvSpPr>
            <p:cNvPr id="313"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4"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48505" y="2009135"/>
              <a:ext cx="84040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315"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7987881" y="2937822"/>
              <a:ext cx="84040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316"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317"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nvGrpSpPr>
            <p:cNvPr id="318" name="Group 113">
              <a:extLst>
                <a:ext uri="{FF2B5EF4-FFF2-40B4-BE49-F238E27FC236}">
                  <a16:creationId xmlns:a16="http://schemas.microsoft.com/office/drawing/2014/main" id="{204BAA52-89B1-794F-88E6-9C5622E551C2}"/>
                </a:ext>
              </a:extLst>
            </p:cNvPr>
            <p:cNvGrpSpPr>
              <a:grpSpLocks/>
            </p:cNvGrpSpPr>
            <p:nvPr/>
          </p:nvGrpSpPr>
          <p:grpSpPr bwMode="auto">
            <a:xfrm>
              <a:off x="9087531" y="2345689"/>
              <a:ext cx="1349376" cy="369888"/>
              <a:chOff x="1042" y="2085"/>
              <a:chExt cx="850" cy="233"/>
            </a:xfrm>
          </p:grpSpPr>
          <p:sp>
            <p:nvSpPr>
              <p:cNvPr id="355"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56"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acc_conn(x)</a:t>
                </a:r>
              </a:p>
            </p:txBody>
          </p:sp>
        </p:grpSp>
      </p:grpSp>
      <p:grpSp>
        <p:nvGrpSpPr>
          <p:cNvPr id="319" name="Group 116">
            <a:extLst>
              <a:ext uri="{FF2B5EF4-FFF2-40B4-BE49-F238E27FC236}">
                <a16:creationId xmlns:a16="http://schemas.microsoft.com/office/drawing/2014/main" id="{80C83854-C77F-BA47-9721-52914A496B51}"/>
              </a:ext>
            </a:extLst>
          </p:cNvPr>
          <p:cNvGrpSpPr>
            <a:grpSpLocks/>
          </p:cNvGrpSpPr>
          <p:nvPr/>
        </p:nvGrpSpPr>
        <p:grpSpPr bwMode="auto">
          <a:xfrm>
            <a:off x="3659472" y="1931564"/>
            <a:ext cx="465535" cy="365522"/>
            <a:chOff x="-44" y="1473"/>
            <a:chExt cx="981" cy="1105"/>
          </a:xfrm>
        </p:grpSpPr>
        <p:pic>
          <p:nvPicPr>
            <p:cNvPr id="353"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320" name="Group 119">
            <a:extLst>
              <a:ext uri="{FF2B5EF4-FFF2-40B4-BE49-F238E27FC236}">
                <a16:creationId xmlns:a16="http://schemas.microsoft.com/office/drawing/2014/main" id="{20AAAB4F-DE43-4840-934B-1D6561325F75}"/>
              </a:ext>
            </a:extLst>
          </p:cNvPr>
          <p:cNvGrpSpPr>
            <a:grpSpLocks/>
          </p:cNvGrpSpPr>
          <p:nvPr/>
        </p:nvGrpSpPr>
        <p:grpSpPr bwMode="auto">
          <a:xfrm>
            <a:off x="5015593" y="1917277"/>
            <a:ext cx="252413" cy="384572"/>
            <a:chOff x="4140" y="429"/>
            <a:chExt cx="1425" cy="2396"/>
          </a:xfrm>
        </p:grpSpPr>
        <p:sp>
          <p:nvSpPr>
            <p:cNvPr id="321"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22"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23"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24"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25"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26"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351"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52"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27"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28"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349"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50"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29"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30"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31"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347"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8"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32"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333"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345"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6"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34"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35"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36"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37"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38"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39"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0"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1"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2"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343"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4"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13" name="Group 12">
            <a:extLst>
              <a:ext uri="{FF2B5EF4-FFF2-40B4-BE49-F238E27FC236}">
                <a16:creationId xmlns:a16="http://schemas.microsoft.com/office/drawing/2014/main" id="{DE38AD7C-A8B1-2B4B-BE71-513FFA7EFB6C}"/>
              </a:ext>
            </a:extLst>
          </p:cNvPr>
          <p:cNvGrpSpPr/>
          <p:nvPr/>
        </p:nvGrpSpPr>
        <p:grpSpPr>
          <a:xfrm>
            <a:off x="3688046" y="5011511"/>
            <a:ext cx="1417354" cy="496521"/>
            <a:chOff x="9620023" y="2667000"/>
            <a:chExt cx="1889805" cy="662028"/>
          </a:xfrm>
        </p:grpSpPr>
        <p:sp>
          <p:nvSpPr>
            <p:cNvPr id="225"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9620023" y="2667000"/>
              <a:ext cx="1889805" cy="66202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8" name="Rectangle 108">
              <a:extLst>
                <a:ext uri="{FF2B5EF4-FFF2-40B4-BE49-F238E27FC236}">
                  <a16:creationId xmlns:a16="http://schemas.microsoft.com/office/drawing/2014/main" id="{34867620-5404-3840-9CB7-CC051B16076F}"/>
                </a:ext>
              </a:extLst>
            </p:cNvPr>
            <p:cNvSpPr>
              <a:spLocks noChangeArrowheads="1"/>
            </p:cNvSpPr>
            <p:nvPr/>
          </p:nvSpPr>
          <p:spPr bwMode="auto">
            <a:xfrm>
              <a:off x="10132106" y="2824428"/>
              <a:ext cx="855208" cy="39774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33" name="Group 113">
              <a:extLst>
                <a:ext uri="{FF2B5EF4-FFF2-40B4-BE49-F238E27FC236}">
                  <a16:creationId xmlns:a16="http://schemas.microsoft.com/office/drawing/2014/main" id="{FF53EAD9-E51E-C047-8717-0A017ED29429}"/>
                </a:ext>
              </a:extLst>
            </p:cNvPr>
            <p:cNvGrpSpPr>
              <a:grpSpLocks/>
            </p:cNvGrpSpPr>
            <p:nvPr/>
          </p:nvGrpSpPr>
          <p:grpSpPr bwMode="auto">
            <a:xfrm>
              <a:off x="9961789" y="2802889"/>
              <a:ext cx="1349376" cy="369888"/>
              <a:chOff x="1042" y="2085"/>
              <a:chExt cx="850" cy="233"/>
            </a:xfrm>
          </p:grpSpPr>
          <p:sp>
            <p:nvSpPr>
              <p:cNvPr id="234" name="Rectangle 114">
                <a:extLst>
                  <a:ext uri="{FF2B5EF4-FFF2-40B4-BE49-F238E27FC236}">
                    <a16:creationId xmlns:a16="http://schemas.microsoft.com/office/drawing/2014/main" id="{49C5CA13-D3E8-AD41-9B46-F0CAA1288DCE}"/>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5" name="Text Box 115">
                <a:extLst>
                  <a:ext uri="{FF2B5EF4-FFF2-40B4-BE49-F238E27FC236}">
                    <a16:creationId xmlns:a16="http://schemas.microsoft.com/office/drawing/2014/main" id="{D4E6AFA2-674D-4C4B-889C-819675572F06}"/>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acc_conn(x)</a:t>
                </a:r>
              </a:p>
            </p:txBody>
          </p:sp>
        </p:grpSp>
      </p:grpSp>
      <p:grpSp>
        <p:nvGrpSpPr>
          <p:cNvPr id="15" name="Group 14">
            <a:extLst>
              <a:ext uri="{FF2B5EF4-FFF2-40B4-BE49-F238E27FC236}">
                <a16:creationId xmlns:a16="http://schemas.microsoft.com/office/drawing/2014/main" id="{D5CE827D-884B-C243-811A-BA57B03C1272}"/>
              </a:ext>
            </a:extLst>
          </p:cNvPr>
          <p:cNvGrpSpPr/>
          <p:nvPr/>
        </p:nvGrpSpPr>
        <p:grpSpPr>
          <a:xfrm>
            <a:off x="3060247" y="5156427"/>
            <a:ext cx="3101067" cy="811667"/>
            <a:chOff x="3673928" y="5775778"/>
            <a:chExt cx="4134756" cy="1082222"/>
          </a:xfrm>
        </p:grpSpPr>
        <p:sp>
          <p:nvSpPr>
            <p:cNvPr id="14" name="Rectangle 13">
              <a:extLst>
                <a:ext uri="{FF2B5EF4-FFF2-40B4-BE49-F238E27FC236}">
                  <a16:creationId xmlns:a16="http://schemas.microsoft.com/office/drawing/2014/main" id="{014466EA-38BF-AC46-AFFE-C98EDEE60F29}"/>
                </a:ext>
              </a:extLst>
            </p:cNvPr>
            <p:cNvSpPr/>
            <p:nvPr/>
          </p:nvSpPr>
          <p:spPr>
            <a:xfrm>
              <a:off x="4020455" y="5775778"/>
              <a:ext cx="3788229" cy="1082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a:endParaRPr>
            </a:p>
          </p:txBody>
        </p:sp>
        <p:grpSp>
          <p:nvGrpSpPr>
            <p:cNvPr id="11" name="Group 10">
              <a:extLst>
                <a:ext uri="{FF2B5EF4-FFF2-40B4-BE49-F238E27FC236}">
                  <a16:creationId xmlns:a16="http://schemas.microsoft.com/office/drawing/2014/main" id="{0FEA675F-95EB-944F-978C-22DF4F8A54DC}"/>
                </a:ext>
              </a:extLst>
            </p:cNvPr>
            <p:cNvGrpSpPr/>
            <p:nvPr/>
          </p:nvGrpSpPr>
          <p:grpSpPr>
            <a:xfrm>
              <a:off x="3673928" y="5804239"/>
              <a:ext cx="3829958" cy="861775"/>
              <a:chOff x="4588327" y="5819777"/>
              <a:chExt cx="3829958" cy="861775"/>
            </a:xfrm>
            <a:noFill/>
          </p:grpSpPr>
          <p:sp>
            <p:nvSpPr>
              <p:cNvPr id="287" name="Text Box 49">
                <a:extLst>
                  <a:ext uri="{FF2B5EF4-FFF2-40B4-BE49-F238E27FC236}">
                    <a16:creationId xmlns:a16="http://schemas.microsoft.com/office/drawing/2014/main" id="{132D608A-D3A5-E54F-AEEE-E1F1B0718AC0}"/>
                  </a:ext>
                </a:extLst>
              </p:cNvPr>
              <p:cNvSpPr txBox="1">
                <a:spLocks noChangeArrowheads="1"/>
              </p:cNvSpPr>
              <p:nvPr/>
            </p:nvSpPr>
            <p:spPr bwMode="auto">
              <a:xfrm>
                <a:off x="5202012" y="5819777"/>
                <a:ext cx="3216273" cy="861775"/>
              </a:xfrm>
              <a:prstGeom prst="rect">
                <a:avLst/>
              </a:prstGeom>
              <a:grp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800" kern="0" dirty="0">
                    <a:solidFill>
                      <a:srgbClr val="000000"/>
                    </a:solidFill>
                    <a:latin typeface="Calibri"/>
                  </a:rPr>
                  <a:t>Problem: half open connection! (no client)</a:t>
                </a:r>
              </a:p>
            </p:txBody>
          </p:sp>
          <p:pic>
            <p:nvPicPr>
              <p:cNvPr id="8" name="Picture 7" descr="A picture containing drawing&#10;&#10;Description automatically generated">
                <a:extLst>
                  <a:ext uri="{FF2B5EF4-FFF2-40B4-BE49-F238E27FC236}">
                    <a16:creationId xmlns:a16="http://schemas.microsoft.com/office/drawing/2014/main" id="{5EAF06CF-36BA-E34A-83CF-1DFB966A8512}"/>
                  </a:ext>
                </a:extLst>
              </p:cNvPr>
              <p:cNvPicPr>
                <a:picLocks noChangeAspect="1"/>
              </p:cNvPicPr>
              <p:nvPr/>
            </p:nvPicPr>
            <p:blipFill>
              <a:blip r:embed="rId4"/>
              <a:stretch>
                <a:fillRect/>
              </a:stretch>
            </p:blipFill>
            <p:spPr>
              <a:xfrm>
                <a:off x="4588327" y="5916386"/>
                <a:ext cx="636815" cy="636815"/>
              </a:xfrm>
              <a:prstGeom prst="rect">
                <a:avLst/>
              </a:prstGeom>
              <a:grpFill/>
            </p:spPr>
          </p:pic>
        </p:grpSp>
      </p:grpSp>
    </p:spTree>
    <p:extLst>
      <p:ext uri="{BB962C8B-B14F-4D97-AF65-F5344CB8AC3E}">
        <p14:creationId xmlns:p14="http://schemas.microsoft.com/office/powerpoint/2010/main" val="16196934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0"/>
                                        </p:tgtEl>
                                        <p:attrNameLst>
                                          <p:attrName>style.visibility</p:attrName>
                                        </p:attrNameLst>
                                      </p:cBhvr>
                                      <p:to>
                                        <p:strVal val="visible"/>
                                      </p:to>
                                    </p:set>
                                    <p:animEffect transition="in" filter="dissolve">
                                      <p:cBhvr>
                                        <p:cTn id="12" dur="500"/>
                                        <p:tgtEl>
                                          <p:spTgt spid="2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2-way handshake scenarios</a:t>
            </a:r>
          </a:p>
        </p:txBody>
      </p:sp>
      <p:grpSp>
        <p:nvGrpSpPr>
          <p:cNvPr id="357" name="Group 152">
            <a:extLst>
              <a:ext uri="{FF2B5EF4-FFF2-40B4-BE49-F238E27FC236}">
                <a16:creationId xmlns:a16="http://schemas.microsoft.com/office/drawing/2014/main" id="{9C2006BA-AA2D-8544-A70F-118097C53265}"/>
              </a:ext>
            </a:extLst>
          </p:cNvPr>
          <p:cNvGrpSpPr>
            <a:grpSpLocks/>
          </p:cNvGrpSpPr>
          <p:nvPr/>
        </p:nvGrpSpPr>
        <p:grpSpPr bwMode="auto">
          <a:xfrm>
            <a:off x="5995341" y="1864380"/>
            <a:ext cx="3084910" cy="3426619"/>
            <a:chOff x="3037" y="1107"/>
            <a:chExt cx="2591" cy="2878"/>
          </a:xfrm>
        </p:grpSpPr>
        <p:sp>
          <p:nvSpPr>
            <p:cNvPr id="358" name="Line 153">
              <a:extLst>
                <a:ext uri="{FF2B5EF4-FFF2-40B4-BE49-F238E27FC236}">
                  <a16:creationId xmlns:a16="http://schemas.microsoft.com/office/drawing/2014/main" id="{C056962F-C2E4-4D43-8591-63C2094689E9}"/>
                </a:ext>
              </a:extLst>
            </p:cNvPr>
            <p:cNvSpPr>
              <a:spLocks noChangeShapeType="1"/>
            </p:cNvSpPr>
            <p:nvPr/>
          </p:nvSpPr>
          <p:spPr bwMode="auto">
            <a:xfrm flipH="1">
              <a:off x="4822" y="1490"/>
              <a:ext cx="1" cy="2495"/>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59"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037" y="2983"/>
              <a:ext cx="851" cy="3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rPr>
                <a:t>client terminates</a:t>
              </a:r>
            </a:p>
          </p:txBody>
        </p:sp>
        <p:sp>
          <p:nvSpPr>
            <p:cNvPr id="360" name="Line 155">
              <a:extLst>
                <a:ext uri="{FF2B5EF4-FFF2-40B4-BE49-F238E27FC236}">
                  <a16:creationId xmlns:a16="http://schemas.microsoft.com/office/drawing/2014/main" id="{666153C5-2212-0042-ABC5-919CF540FFF1}"/>
                </a:ext>
              </a:extLst>
            </p:cNvPr>
            <p:cNvSpPr>
              <a:spLocks noChangeShapeType="1"/>
            </p:cNvSpPr>
            <p:nvPr/>
          </p:nvSpPr>
          <p:spPr bwMode="auto">
            <a:xfrm flipH="1">
              <a:off x="3845" y="1451"/>
              <a:ext cx="15" cy="1549"/>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61"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62" name="Rectangle 157">
              <a:extLst>
                <a:ext uri="{FF2B5EF4-FFF2-40B4-BE49-F238E27FC236}">
                  <a16:creationId xmlns:a16="http://schemas.microsoft.com/office/drawing/2014/main" id="{7479C1A9-07F7-CD4C-A137-D663CAEFD43C}"/>
                </a:ext>
              </a:extLst>
            </p:cNvPr>
            <p:cNvSpPr>
              <a:spLocks noChangeArrowheads="1"/>
            </p:cNvSpPr>
            <p:nvPr/>
          </p:nvSpPr>
          <p:spPr bwMode="auto">
            <a:xfrm>
              <a:off x="4200" y="1761"/>
              <a:ext cx="277"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63"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290" y="2221"/>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364"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365"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167" y="1380"/>
              <a:ext cx="659"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rPr>
                <a:t>choose x</a:t>
              </a:r>
            </a:p>
            <a:p>
              <a:pPr algn="r" defTabSz="685800" eaLnBrk="0" fontAlgn="base" hangingPunct="0">
                <a:spcBef>
                  <a:spcPct val="0"/>
                </a:spcBef>
                <a:spcAft>
                  <a:spcPct val="0"/>
                </a:spcAft>
                <a:defRPr/>
              </a:pPr>
              <a:endParaRPr lang="en-US" sz="1200" kern="0" dirty="0">
                <a:solidFill>
                  <a:srgbClr val="000000"/>
                </a:solidFill>
              </a:endParaRPr>
            </a:p>
          </p:txBody>
        </p:sp>
        <p:sp>
          <p:nvSpPr>
            <p:cNvPr id="366"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67" name="Rectangle 162">
              <a:extLst>
                <a:ext uri="{FF2B5EF4-FFF2-40B4-BE49-F238E27FC236}">
                  <a16:creationId xmlns:a16="http://schemas.microsoft.com/office/drawing/2014/main" id="{636932A4-EF38-E141-9BEF-C806F12D9ABB}"/>
                </a:ext>
              </a:extLst>
            </p:cNvPr>
            <p:cNvSpPr>
              <a:spLocks noChangeArrowheads="1"/>
            </p:cNvSpPr>
            <p:nvPr/>
          </p:nvSpPr>
          <p:spPr bwMode="auto">
            <a:xfrm>
              <a:off x="4088" y="1494"/>
              <a:ext cx="490"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68" name="Text Box 163">
              <a:extLst>
                <a:ext uri="{FF2B5EF4-FFF2-40B4-BE49-F238E27FC236}">
                  <a16:creationId xmlns:a16="http://schemas.microsoft.com/office/drawing/2014/main" id="{09C7E230-4405-9E40-BEB3-C33FFEF6366D}"/>
                </a:ext>
              </a:extLst>
            </p:cNvPr>
            <p:cNvSpPr txBox="1">
              <a:spLocks noChangeArrowheads="1"/>
            </p:cNvSpPr>
            <p:nvPr/>
          </p:nvSpPr>
          <p:spPr bwMode="auto">
            <a:xfrm>
              <a:off x="3918" y="1473"/>
              <a:ext cx="851"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req_conn(x)</a:t>
              </a:r>
            </a:p>
          </p:txBody>
        </p:sp>
        <p:sp>
          <p:nvSpPr>
            <p:cNvPr id="369"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40" y="1636"/>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370"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nvGrpSpPr>
            <p:cNvPr id="371" name="Group 166">
              <a:extLst>
                <a:ext uri="{FF2B5EF4-FFF2-40B4-BE49-F238E27FC236}">
                  <a16:creationId xmlns:a16="http://schemas.microsoft.com/office/drawing/2014/main" id="{A1A4C995-57EF-2B44-9A2B-4B574A973474}"/>
                </a:ext>
              </a:extLst>
            </p:cNvPr>
            <p:cNvGrpSpPr>
              <a:grpSpLocks/>
            </p:cNvGrpSpPr>
            <p:nvPr/>
          </p:nvGrpSpPr>
          <p:grpSpPr bwMode="auto">
            <a:xfrm>
              <a:off x="3983" y="1848"/>
              <a:ext cx="850" cy="233"/>
              <a:chOff x="1042" y="2085"/>
              <a:chExt cx="850" cy="233"/>
            </a:xfrm>
          </p:grpSpPr>
          <p:sp>
            <p:nvSpPr>
              <p:cNvPr id="417" name="Rectangle 167">
                <a:extLst>
                  <a:ext uri="{FF2B5EF4-FFF2-40B4-BE49-F238E27FC236}">
                    <a16:creationId xmlns:a16="http://schemas.microsoft.com/office/drawing/2014/main" id="{5B3B9AC0-C168-2542-9619-9FFE0FFD6E7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8" name="Text Box 168">
                <a:extLst>
                  <a:ext uri="{FF2B5EF4-FFF2-40B4-BE49-F238E27FC236}">
                    <a16:creationId xmlns:a16="http://schemas.microsoft.com/office/drawing/2014/main" id="{FAF5722C-69B4-6B44-95D4-000562ACFDF9}"/>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acc_conn(x)</a:t>
                </a:r>
              </a:p>
            </p:txBody>
          </p:sp>
        </p:grpSp>
        <p:sp>
          <p:nvSpPr>
            <p:cNvPr id="372"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73" name="Rectangle 170">
              <a:extLst>
                <a:ext uri="{FF2B5EF4-FFF2-40B4-BE49-F238E27FC236}">
                  <a16:creationId xmlns:a16="http://schemas.microsoft.com/office/drawing/2014/main" id="{8B70B875-EE96-E044-B8D9-41CF1BBB693D}"/>
                </a:ext>
              </a:extLst>
            </p:cNvPr>
            <p:cNvSpPr>
              <a:spLocks noChangeArrowheads="1"/>
            </p:cNvSpPr>
            <p:nvPr/>
          </p:nvSpPr>
          <p:spPr bwMode="auto">
            <a:xfrm>
              <a:off x="4077" y="2336"/>
              <a:ext cx="490"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74" name="Text Box 171">
              <a:extLst>
                <a:ext uri="{FF2B5EF4-FFF2-40B4-BE49-F238E27FC236}">
                  <a16:creationId xmlns:a16="http://schemas.microsoft.com/office/drawing/2014/main" id="{069C4711-758D-CF4A-A407-6F22C98DCF70}"/>
                </a:ext>
              </a:extLst>
            </p:cNvPr>
            <p:cNvSpPr txBox="1">
              <a:spLocks noChangeArrowheads="1"/>
            </p:cNvSpPr>
            <p:nvPr/>
          </p:nvSpPr>
          <p:spPr bwMode="auto">
            <a:xfrm>
              <a:off x="3967" y="2315"/>
              <a:ext cx="733"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data(x+1)</a:t>
              </a:r>
            </a:p>
          </p:txBody>
        </p:sp>
        <p:sp>
          <p:nvSpPr>
            <p:cNvPr id="375"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sp>
          <p:nvSpPr>
            <p:cNvPr id="376"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rPr>
                <a:t>accept</a:t>
              </a:r>
            </a:p>
            <a:p>
              <a:pPr defTabSz="685800" eaLnBrk="0" fontAlgn="base" hangingPunct="0">
                <a:lnSpc>
                  <a:spcPct val="85000"/>
                </a:lnSpc>
                <a:spcBef>
                  <a:spcPct val="0"/>
                </a:spcBef>
                <a:spcAft>
                  <a:spcPct val="0"/>
                </a:spcAft>
                <a:defRPr/>
              </a:pPr>
              <a:r>
                <a:rPr lang="en-US" sz="1200" kern="0" dirty="0">
                  <a:solidFill>
                    <a:srgbClr val="000000"/>
                  </a:solidFill>
                </a:rPr>
                <a:t>data(x+1)</a:t>
              </a:r>
            </a:p>
          </p:txBody>
        </p:sp>
        <p:grpSp>
          <p:nvGrpSpPr>
            <p:cNvPr id="377"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22"/>
              <a:chOff x="3818" y="2796"/>
              <a:chExt cx="1515" cy="322"/>
            </a:xfrm>
          </p:grpSpPr>
          <p:sp>
            <p:nvSpPr>
              <p:cNvPr id="415"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6"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67" y="2796"/>
                <a:ext cx="750" cy="32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rPr>
                  <a:t>connection </a:t>
                </a:r>
              </a:p>
              <a:p>
                <a:pPr algn="ctr" defTabSz="685800" eaLnBrk="0" fontAlgn="base" hangingPunct="0">
                  <a:lnSpc>
                    <a:spcPct val="90000"/>
                  </a:lnSpc>
                  <a:spcBef>
                    <a:spcPct val="0"/>
                  </a:spcBef>
                  <a:spcAft>
                    <a:spcPct val="0"/>
                  </a:spcAft>
                  <a:defRPr/>
                </a:pPr>
                <a:r>
                  <a:rPr lang="en-US" sz="1050" kern="0" dirty="0">
                    <a:solidFill>
                      <a:srgbClr val="000000"/>
                    </a:solidFill>
                  </a:rPr>
                  <a:t>x completes</a:t>
                </a:r>
              </a:p>
            </p:txBody>
          </p:sp>
        </p:grpSp>
        <p:sp>
          <p:nvSpPr>
            <p:cNvPr id="378"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rPr>
                <a:t>server</a:t>
              </a:r>
            </a:p>
            <a:p>
              <a:pPr defTabSz="685800" eaLnBrk="0" fontAlgn="base" hangingPunct="0">
                <a:lnSpc>
                  <a:spcPct val="85000"/>
                </a:lnSpc>
                <a:spcBef>
                  <a:spcPct val="0"/>
                </a:spcBef>
                <a:spcAft>
                  <a:spcPct val="0"/>
                </a:spcAft>
                <a:defRPr/>
              </a:pPr>
              <a:r>
                <a:rPr lang="en-US" sz="1200" kern="0" dirty="0">
                  <a:solidFill>
                    <a:srgbClr val="000000"/>
                  </a:solidFill>
                </a:rPr>
                <a:t>forgets x</a:t>
              </a:r>
            </a:p>
          </p:txBody>
        </p:sp>
        <p:grpSp>
          <p:nvGrpSpPr>
            <p:cNvPr id="379"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413"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380"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381"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82"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83"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84"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85"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86"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411"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2"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87"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88"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409"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0"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89"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90"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391"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407"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8"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92"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393"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405"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6"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394"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95"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96"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97"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98"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99"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0"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1"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2"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403"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04"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grpSp>
        <p:nvGrpSpPr>
          <p:cNvPr id="10" name="Group 9">
            <a:extLst>
              <a:ext uri="{FF2B5EF4-FFF2-40B4-BE49-F238E27FC236}">
                <a16:creationId xmlns:a16="http://schemas.microsoft.com/office/drawing/2014/main" id="{3BB0CBF7-361A-5548-A01C-90FF3005AB01}"/>
              </a:ext>
            </a:extLst>
          </p:cNvPr>
          <p:cNvGrpSpPr/>
          <p:nvPr/>
        </p:nvGrpSpPr>
        <p:grpSpPr>
          <a:xfrm>
            <a:off x="6840311" y="5344844"/>
            <a:ext cx="2661557" cy="646331"/>
            <a:chOff x="8757558" y="5903267"/>
            <a:chExt cx="3548742" cy="861775"/>
          </a:xfrm>
        </p:grpSpPr>
        <p:sp>
          <p:nvSpPr>
            <p:cNvPr id="491" name="TextBox 490">
              <a:extLst>
                <a:ext uri="{FF2B5EF4-FFF2-40B4-BE49-F238E27FC236}">
                  <a16:creationId xmlns:a16="http://schemas.microsoft.com/office/drawing/2014/main" id="{9C02D14E-840C-344B-9763-DE44A289373C}"/>
                </a:ext>
              </a:extLst>
            </p:cNvPr>
            <p:cNvSpPr txBox="1"/>
            <p:nvPr/>
          </p:nvSpPr>
          <p:spPr>
            <a:xfrm>
              <a:off x="9372601" y="5903267"/>
              <a:ext cx="2933699" cy="861775"/>
            </a:xfrm>
            <a:prstGeom prst="rect">
              <a:avLst/>
            </a:prstGeom>
            <a:noFill/>
          </p:spPr>
          <p:txBody>
            <a:bodyPr wrap="square" rtlCol="0">
              <a:spAutoFit/>
            </a:bodyPr>
            <a:lstStyle/>
            <a:p>
              <a:pPr defTabSz="685800">
                <a:defRPr/>
              </a:pPr>
              <a:r>
                <a:rPr lang="en-US" dirty="0">
                  <a:solidFill>
                    <a:prstClr val="black"/>
                  </a:solidFill>
                  <a:latin typeface="Calibri"/>
                </a:rPr>
                <a:t>Problem: dup data</a:t>
              </a:r>
            </a:p>
            <a:p>
              <a:pPr defTabSz="685800">
                <a:defRPr/>
              </a:pPr>
              <a:r>
                <a:rPr lang="en-US" dirty="0">
                  <a:solidFill>
                    <a:prstClr val="black"/>
                  </a:solidFill>
                  <a:latin typeface="Calibri"/>
                </a:rPr>
                <a:t>accepted!</a:t>
              </a:r>
            </a:p>
          </p:txBody>
        </p:sp>
        <p:pic>
          <p:nvPicPr>
            <p:cNvPr id="492" name="Picture 491" descr="A picture containing drawing&#10;&#10;Description automatically generated">
              <a:extLst>
                <a:ext uri="{FF2B5EF4-FFF2-40B4-BE49-F238E27FC236}">
                  <a16:creationId xmlns:a16="http://schemas.microsoft.com/office/drawing/2014/main" id="{44630E30-AB86-2744-AC77-B540735E14B7}"/>
                </a:ext>
              </a:extLst>
            </p:cNvPr>
            <p:cNvPicPr>
              <a:picLocks noChangeAspect="1"/>
            </p:cNvPicPr>
            <p:nvPr/>
          </p:nvPicPr>
          <p:blipFill>
            <a:blip r:embed="rId4"/>
            <a:stretch>
              <a:fillRect/>
            </a:stretch>
          </p:blipFill>
          <p:spPr>
            <a:xfrm>
              <a:off x="8757558" y="6003472"/>
              <a:ext cx="636815" cy="636815"/>
            </a:xfrm>
            <a:prstGeom prst="rect">
              <a:avLst/>
            </a:prstGeom>
          </p:spPr>
        </p:pic>
      </p:grpSp>
      <p:grpSp>
        <p:nvGrpSpPr>
          <p:cNvPr id="13" name="Group 12">
            <a:extLst>
              <a:ext uri="{FF2B5EF4-FFF2-40B4-BE49-F238E27FC236}">
                <a16:creationId xmlns:a16="http://schemas.microsoft.com/office/drawing/2014/main" id="{FF4B12AC-451D-994B-8F10-E450C0737005}"/>
              </a:ext>
            </a:extLst>
          </p:cNvPr>
          <p:cNvGrpSpPr/>
          <p:nvPr/>
        </p:nvGrpSpPr>
        <p:grpSpPr>
          <a:xfrm>
            <a:off x="5811985" y="3619701"/>
            <a:ext cx="3254658" cy="1799297"/>
            <a:chOff x="2843484" y="3422010"/>
            <a:chExt cx="4339544" cy="2399062"/>
          </a:xfrm>
        </p:grpSpPr>
        <p:sp>
          <p:nvSpPr>
            <p:cNvPr id="302"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303" name="Rectangle 88">
              <a:extLst>
                <a:ext uri="{FF2B5EF4-FFF2-40B4-BE49-F238E27FC236}">
                  <a16:creationId xmlns:a16="http://schemas.microsoft.com/office/drawing/2014/main" id="{2B3E4B53-E066-C34C-A204-C42E865280B3}"/>
                </a:ext>
              </a:extLst>
            </p:cNvPr>
            <p:cNvSpPr>
              <a:spLocks noChangeArrowheads="1"/>
            </p:cNvSpPr>
            <p:nvPr/>
          </p:nvSpPr>
          <p:spPr bwMode="auto">
            <a:xfrm>
              <a:off x="4782728" y="5196835"/>
              <a:ext cx="711200" cy="2825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04" name="Text Box 87">
              <a:extLst>
                <a:ext uri="{FF2B5EF4-FFF2-40B4-BE49-F238E27FC236}">
                  <a16:creationId xmlns:a16="http://schemas.microsoft.com/office/drawing/2014/main" id="{3D13DFEA-C794-CD4D-B546-BEBC15495B31}"/>
                </a:ext>
              </a:extLst>
            </p:cNvPr>
            <p:cNvSpPr txBox="1">
              <a:spLocks noChangeArrowheads="1"/>
            </p:cNvSpPr>
            <p:nvPr/>
          </p:nvSpPr>
          <p:spPr bwMode="auto">
            <a:xfrm>
              <a:off x="4432934" y="5152385"/>
              <a:ext cx="1163140"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data(x+1)</a:t>
              </a:r>
            </a:p>
          </p:txBody>
        </p:sp>
        <p:sp>
          <p:nvSpPr>
            <p:cNvPr id="305"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2843484" y="3422010"/>
              <a:ext cx="1615395" cy="7879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rPr>
                <a:t>retransmit</a:t>
              </a:r>
            </a:p>
            <a:p>
              <a:pPr algn="r" defTabSz="685800" eaLnBrk="0" fontAlgn="base" hangingPunct="0">
                <a:lnSpc>
                  <a:spcPct val="85000"/>
                </a:lnSpc>
                <a:spcBef>
                  <a:spcPct val="0"/>
                </a:spcBef>
                <a:spcAft>
                  <a:spcPct val="0"/>
                </a:spcAft>
                <a:defRPr/>
              </a:pPr>
              <a:r>
                <a:rPr lang="en-US" sz="1200" kern="0" dirty="0">
                  <a:solidFill>
                    <a:srgbClr val="000000"/>
                  </a:solidFill>
                </a:rPr>
                <a:t>data(x+1)</a:t>
              </a:r>
            </a:p>
            <a:p>
              <a:pPr algn="r" defTabSz="685800" eaLnBrk="0" fontAlgn="base" hangingPunct="0">
                <a:spcBef>
                  <a:spcPct val="0"/>
                </a:spcBef>
                <a:spcAft>
                  <a:spcPct val="0"/>
                </a:spcAft>
                <a:defRPr/>
              </a:pPr>
              <a:endParaRPr lang="en-US" sz="1200" kern="0" dirty="0">
                <a:solidFill>
                  <a:srgbClr val="000000"/>
                </a:solidFill>
              </a:endParaRPr>
            </a:p>
          </p:txBody>
        </p:sp>
        <p:sp>
          <p:nvSpPr>
            <p:cNvPr id="306" name="Text Box 90">
              <a:extLst>
                <a:ext uri="{FF2B5EF4-FFF2-40B4-BE49-F238E27FC236}">
                  <a16:creationId xmlns:a16="http://schemas.microsoft.com/office/drawing/2014/main" id="{32C37D16-8B61-D246-B162-8D0E36A5BA9F}"/>
                </a:ext>
              </a:extLst>
            </p:cNvPr>
            <p:cNvSpPr txBox="1">
              <a:spLocks noChangeArrowheads="1"/>
            </p:cNvSpPr>
            <p:nvPr/>
          </p:nvSpPr>
          <p:spPr bwMode="auto">
            <a:xfrm>
              <a:off x="6011453" y="5279385"/>
              <a:ext cx="1171575" cy="5416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rPr>
                <a:t>accept</a:t>
              </a:r>
            </a:p>
            <a:p>
              <a:pPr defTabSz="685800" eaLnBrk="0" fontAlgn="base" hangingPunct="0">
                <a:lnSpc>
                  <a:spcPct val="85000"/>
                </a:lnSpc>
                <a:spcBef>
                  <a:spcPct val="0"/>
                </a:spcBef>
                <a:spcAft>
                  <a:spcPct val="0"/>
                </a:spcAft>
                <a:defRPr/>
              </a:pPr>
              <a:r>
                <a:rPr lang="en-US" sz="1200" kern="0" dirty="0">
                  <a:solidFill>
                    <a:srgbClr val="000000"/>
                  </a:solidFill>
                </a:rPr>
                <a:t>data(x+1)</a:t>
              </a:r>
            </a:p>
          </p:txBody>
        </p:sp>
      </p:grpSp>
      <p:grpSp>
        <p:nvGrpSpPr>
          <p:cNvPr id="12" name="Group 11">
            <a:extLst>
              <a:ext uri="{FF2B5EF4-FFF2-40B4-BE49-F238E27FC236}">
                <a16:creationId xmlns:a16="http://schemas.microsoft.com/office/drawing/2014/main" id="{2FBF50D0-D345-1348-8991-01B659F7A8D4}"/>
              </a:ext>
            </a:extLst>
          </p:cNvPr>
          <p:cNvGrpSpPr/>
          <p:nvPr/>
        </p:nvGrpSpPr>
        <p:grpSpPr>
          <a:xfrm>
            <a:off x="5811984" y="2727722"/>
            <a:ext cx="2946601" cy="2268915"/>
            <a:chOff x="2887028" y="2369497"/>
            <a:chExt cx="3928801" cy="3025220"/>
          </a:xfrm>
        </p:grpSpPr>
        <p:grpSp>
          <p:nvGrpSpPr>
            <p:cNvPr id="7" name="Group 6">
              <a:extLst>
                <a:ext uri="{FF2B5EF4-FFF2-40B4-BE49-F238E27FC236}">
                  <a16:creationId xmlns:a16="http://schemas.microsoft.com/office/drawing/2014/main" id="{6190F2C1-0C5D-3A42-A359-9CD3AF8C99E1}"/>
                </a:ext>
              </a:extLst>
            </p:cNvPr>
            <p:cNvGrpSpPr/>
            <p:nvPr/>
          </p:nvGrpSpPr>
          <p:grpSpPr>
            <a:xfrm>
              <a:off x="2887028" y="2369497"/>
              <a:ext cx="3928801" cy="3025220"/>
              <a:chOff x="2887028" y="2369497"/>
              <a:chExt cx="3928801" cy="3025220"/>
            </a:xfrm>
          </p:grpSpPr>
          <p:grpSp>
            <p:nvGrpSpPr>
              <p:cNvPr id="5" name="Group 4">
                <a:extLst>
                  <a:ext uri="{FF2B5EF4-FFF2-40B4-BE49-F238E27FC236}">
                    <a16:creationId xmlns:a16="http://schemas.microsoft.com/office/drawing/2014/main" id="{56EB4120-1B3C-1046-99F5-B25161010680}"/>
                  </a:ext>
                </a:extLst>
              </p:cNvPr>
              <p:cNvGrpSpPr/>
              <p:nvPr/>
            </p:nvGrpSpPr>
            <p:grpSpPr>
              <a:xfrm>
                <a:off x="2887028" y="2369497"/>
                <a:ext cx="3928801" cy="3025220"/>
                <a:chOff x="2887028" y="2369497"/>
                <a:chExt cx="3928801" cy="3025220"/>
              </a:xfrm>
            </p:grpSpPr>
            <p:sp>
              <p:nvSpPr>
                <p:cNvPr id="296"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2887028" y="2369497"/>
                  <a:ext cx="1521051" cy="7879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rPr>
                    <a:t>retransmit</a:t>
                  </a:r>
                </a:p>
                <a:p>
                  <a:pPr algn="r" defTabSz="685800" eaLnBrk="0" fontAlgn="base" hangingPunct="0">
                    <a:lnSpc>
                      <a:spcPct val="85000"/>
                    </a:lnSpc>
                    <a:spcBef>
                      <a:spcPct val="0"/>
                    </a:spcBef>
                    <a:spcAft>
                      <a:spcPct val="0"/>
                    </a:spcAft>
                    <a:defRPr/>
                  </a:pPr>
                  <a:r>
                    <a:rPr lang="en-US" sz="1200" kern="0" dirty="0">
                      <a:solidFill>
                        <a:srgbClr val="000000"/>
                      </a:solidFill>
                    </a:rPr>
                    <a:t>req_conn(x)</a:t>
                  </a:r>
                </a:p>
                <a:p>
                  <a:pPr algn="r" defTabSz="685800" eaLnBrk="0" fontAlgn="base" hangingPunct="0">
                    <a:spcBef>
                      <a:spcPct val="0"/>
                    </a:spcBef>
                    <a:spcAft>
                      <a:spcPct val="0"/>
                    </a:spcAft>
                    <a:defRPr/>
                  </a:pPr>
                  <a:endParaRPr lang="en-US" sz="1200" kern="0" dirty="0">
                    <a:solidFill>
                      <a:srgbClr val="000000"/>
                    </a:solidFill>
                  </a:endParaRPr>
                </a:p>
              </p:txBody>
            </p:sp>
            <p:sp>
              <p:nvSpPr>
                <p:cNvPr id="297"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98" name="Text Box 71">
                  <a:extLst>
                    <a:ext uri="{FF2B5EF4-FFF2-40B4-BE49-F238E27FC236}">
                      <a16:creationId xmlns:a16="http://schemas.microsoft.com/office/drawing/2014/main" id="{B25E41D2-C0CA-EB48-880B-B13A1DD07596}"/>
                    </a:ext>
                  </a:extLst>
                </p:cNvPr>
                <p:cNvSpPr txBox="1">
                  <a:spLocks noChangeArrowheads="1"/>
                </p:cNvSpPr>
                <p:nvPr/>
              </p:nvSpPr>
              <p:spPr bwMode="auto">
                <a:xfrm>
                  <a:off x="5975428" y="5025385"/>
                  <a:ext cx="84040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grpSp>
          <p:sp>
            <p:nvSpPr>
              <p:cNvPr id="299"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CC0000"/>
                  </a:solidFill>
                  <a:latin typeface="Tahoma" charset="0"/>
                  <a:ea typeface="ＭＳ Ｐゴシック" charset="0"/>
                </a:endParaRPr>
              </a:p>
            </p:txBody>
          </p:sp>
        </p:grpSp>
        <p:sp>
          <p:nvSpPr>
            <p:cNvPr id="300" name="Rectangle 74">
              <a:extLst>
                <a:ext uri="{FF2B5EF4-FFF2-40B4-BE49-F238E27FC236}">
                  <a16:creationId xmlns:a16="http://schemas.microsoft.com/office/drawing/2014/main" id="{27FAA0CE-40E3-9343-AB09-AE069D66FDA9}"/>
                </a:ext>
              </a:extLst>
            </p:cNvPr>
            <p:cNvSpPr>
              <a:spLocks noChangeArrowheads="1"/>
            </p:cNvSpPr>
            <p:nvPr/>
          </p:nvSpPr>
          <p:spPr bwMode="auto">
            <a:xfrm>
              <a:off x="4660491" y="4725570"/>
              <a:ext cx="1071563" cy="26035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01" name="Text Box 75">
              <a:extLst>
                <a:ext uri="{FF2B5EF4-FFF2-40B4-BE49-F238E27FC236}">
                  <a16:creationId xmlns:a16="http://schemas.microsoft.com/office/drawing/2014/main" id="{DDB36B2F-A920-A540-B13F-3450D027F31C}"/>
                </a:ext>
              </a:extLst>
            </p:cNvPr>
            <p:cNvSpPr txBox="1">
              <a:spLocks noChangeArrowheads="1"/>
            </p:cNvSpPr>
            <p:nvPr/>
          </p:nvSpPr>
          <p:spPr bwMode="auto">
            <a:xfrm>
              <a:off x="4729416" y="4650732"/>
              <a:ext cx="1351225"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req_conn(x)</a:t>
              </a:r>
            </a:p>
          </p:txBody>
        </p:sp>
      </p:grpSp>
    </p:spTree>
    <p:extLst>
      <p:ext uri="{BB962C8B-B14F-4D97-AF65-F5344CB8AC3E}">
        <p14:creationId xmlns:p14="http://schemas.microsoft.com/office/powerpoint/2010/main" val="16106671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TCP 3-way handshake</a:t>
            </a:r>
          </a:p>
        </p:txBody>
      </p:sp>
      <p:sp>
        <p:nvSpPr>
          <p:cNvPr id="76" name="Slide Number Placeholder 2">
            <a:extLst>
              <a:ext uri="{FF2B5EF4-FFF2-40B4-BE49-F238E27FC236}">
                <a16:creationId xmlns:a16="http://schemas.microsoft.com/office/drawing/2014/main" id="{86E89225-4B9A-C747-8672-752709ED8105}"/>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25</a:t>
            </a:fld>
            <a:endParaRPr lang="en-US" dirty="0">
              <a:solidFill>
                <a:prstClr val="white">
                  <a:lumMod val="50000"/>
                </a:prstClr>
              </a:solidFill>
              <a:latin typeface="Calibri" panose="020F0502020204030204"/>
            </a:endParaRPr>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3597473" y="3166246"/>
            <a:ext cx="1191" cy="1852613"/>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2049662" y="3111478"/>
            <a:ext cx="3429000" cy="716756"/>
            <a:chOff x="761" y="1363"/>
            <a:chExt cx="2880"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286" y="1624"/>
              <a:ext cx="1145"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761" y="1363"/>
              <a:ext cx="1279"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050" kern="0" dirty="0">
                  <a:solidFill>
                    <a:srgbClr val="000000"/>
                  </a:solidFill>
                </a:rPr>
                <a:t>choose init seq num, x</a:t>
              </a:r>
            </a:p>
            <a:p>
              <a:pPr algn="r" defTabSz="685800" eaLnBrk="0" fontAlgn="base" hangingPunct="0">
                <a:lnSpc>
                  <a:spcPct val="90000"/>
                </a:lnSpc>
                <a:spcBef>
                  <a:spcPct val="0"/>
                </a:spcBef>
                <a:spcAft>
                  <a:spcPct val="0"/>
                </a:spcAft>
                <a:defRPr/>
              </a:pPr>
              <a:r>
                <a:rPr lang="en-US" sz="1050" kern="0" dirty="0">
                  <a:solidFill>
                    <a:srgbClr val="000000"/>
                  </a:solidFill>
                </a:rPr>
                <a:t>send TCP SYN msg</a:t>
              </a: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5539384" y="3218633"/>
            <a:ext cx="1190" cy="2563416"/>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7153046" y="5347471"/>
            <a:ext cx="630301"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3596283" y="3613921"/>
            <a:ext cx="3446859" cy="1069181"/>
            <a:chOff x="2060" y="1785"/>
            <a:chExt cx="2895" cy="898"/>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31" y="2169"/>
              <a:ext cx="1590" cy="38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SYNbit=1, Seq=y</a:t>
              </a:r>
            </a:p>
            <a:p>
              <a:pPr algn="ctr" defTabSz="685800" eaLnBrk="0" fontAlgn="base" hangingPunct="0">
                <a:spcBef>
                  <a:spcPct val="0"/>
                </a:spcBef>
                <a:spcAft>
                  <a:spcPct val="0"/>
                </a:spcAft>
                <a:defRPr/>
              </a:pPr>
              <a:r>
                <a:rPr lang="en-US" sz="1200" kern="0" dirty="0">
                  <a:solidFill>
                    <a:srgbClr val="000000"/>
                  </a:solidFill>
                </a:rPr>
                <a:t>ACKbit=1; ACKnum=x+1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76" y="1785"/>
              <a:ext cx="1279" cy="44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dirty="0">
                  <a:solidFill>
                    <a:srgbClr val="000000"/>
                  </a:solidFill>
                </a:rPr>
                <a:t>choose init seq num, y</a:t>
              </a:r>
            </a:p>
            <a:p>
              <a:pPr defTabSz="685800" eaLnBrk="0" fontAlgn="base" hangingPunct="0">
                <a:lnSpc>
                  <a:spcPct val="90000"/>
                </a:lnSpc>
                <a:spcBef>
                  <a:spcPct val="0"/>
                </a:spcBef>
                <a:spcAft>
                  <a:spcPct val="0"/>
                </a:spcAft>
                <a:defRPr/>
              </a:pPr>
              <a:r>
                <a:rPr lang="en-US" sz="1050" kern="0" dirty="0">
                  <a:solidFill>
                    <a:srgbClr val="000000"/>
                  </a:solidFill>
                </a:rPr>
                <a:t>send TCP SYNACK</a:t>
              </a:r>
            </a:p>
            <a:p>
              <a:pPr defTabSz="685800" eaLnBrk="0" fontAlgn="base" hangingPunct="0">
                <a:lnSpc>
                  <a:spcPct val="90000"/>
                </a:lnSpc>
                <a:spcBef>
                  <a:spcPct val="0"/>
                </a:spcBef>
                <a:spcAft>
                  <a:spcPct val="0"/>
                </a:spcAft>
                <a:defRPr/>
              </a:pPr>
              <a:r>
                <a:rPr lang="en-US" sz="1050" kern="0" dirty="0">
                  <a:solidFill>
                    <a:srgbClr val="000000"/>
                  </a:solidFill>
                </a:rPr>
                <a:t>msg, acking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1823443" y="4437834"/>
            <a:ext cx="5083968" cy="1056085"/>
            <a:chOff x="571" y="2477"/>
            <a:chExt cx="4270" cy="887"/>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65" y="2852"/>
              <a:ext cx="1584"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571" y="2477"/>
              <a:ext cx="1473" cy="68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050" kern="0" dirty="0">
                  <a:solidFill>
                    <a:srgbClr val="000000"/>
                  </a:solidFill>
                </a:rPr>
                <a:t>received SYNACK(x) </a:t>
              </a:r>
            </a:p>
            <a:p>
              <a:pPr algn="r" defTabSz="685800" eaLnBrk="0" fontAlgn="base" hangingPunct="0">
                <a:lnSpc>
                  <a:spcPct val="90000"/>
                </a:lnSpc>
                <a:spcBef>
                  <a:spcPct val="0"/>
                </a:spcBef>
                <a:spcAft>
                  <a:spcPct val="0"/>
                </a:spcAft>
                <a:defRPr/>
              </a:pPr>
              <a:r>
                <a:rPr lang="en-US" sz="1050" kern="0" dirty="0">
                  <a:solidFill>
                    <a:srgbClr val="000000"/>
                  </a:solidFill>
                </a:rPr>
                <a:t>indicates server is live;</a:t>
              </a:r>
            </a:p>
            <a:p>
              <a:pPr algn="r" defTabSz="685800" eaLnBrk="0" fontAlgn="base" hangingPunct="0">
                <a:lnSpc>
                  <a:spcPct val="90000"/>
                </a:lnSpc>
                <a:spcBef>
                  <a:spcPct val="0"/>
                </a:spcBef>
                <a:spcAft>
                  <a:spcPct val="0"/>
                </a:spcAft>
                <a:defRPr/>
              </a:pPr>
              <a:r>
                <a:rPr lang="en-US" sz="1050" kern="0" dirty="0">
                  <a:solidFill>
                    <a:srgbClr val="000000"/>
                  </a:solidFill>
                </a:rPr>
                <a:t>send ACK for SYNACK;</a:t>
              </a:r>
            </a:p>
            <a:p>
              <a:pPr algn="r" defTabSz="685800" eaLnBrk="0" fontAlgn="base" hangingPunct="0">
                <a:lnSpc>
                  <a:spcPct val="90000"/>
                </a:lnSpc>
                <a:spcBef>
                  <a:spcPct val="0"/>
                </a:spcBef>
                <a:spcAft>
                  <a:spcPct val="0"/>
                </a:spcAft>
                <a:defRPr/>
              </a:pPr>
              <a:r>
                <a:rPr lang="en-US" sz="1050" kern="0" dirty="0">
                  <a:solidFill>
                    <a:srgbClr val="000000"/>
                  </a:solidFill>
                </a:rPr>
                <a:t>this segment may contain </a:t>
              </a:r>
            </a:p>
            <a:p>
              <a:pPr algn="r" defTabSz="685800" eaLnBrk="0" fontAlgn="base" hangingPunct="0">
                <a:lnSpc>
                  <a:spcPct val="90000"/>
                </a:lnSpc>
                <a:spcBef>
                  <a:spcPct val="0"/>
                </a:spcBef>
                <a:spcAft>
                  <a:spcPct val="0"/>
                </a:spcAft>
                <a:defRPr/>
              </a:pPr>
              <a:r>
                <a:rPr lang="en-US" sz="1050" kern="0" dirty="0">
                  <a:solidFill>
                    <a:srgbClr val="000000"/>
                  </a:solidFill>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40" y="3042"/>
              <a:ext cx="1201"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dirty="0">
                  <a:solidFill>
                    <a:srgbClr val="000000"/>
                  </a:solidFill>
                </a:rPr>
                <a:t>received ACK(y) </a:t>
              </a:r>
            </a:p>
            <a:p>
              <a:pPr defTabSz="685800" eaLnBrk="0" fontAlgn="base" hangingPunct="0">
                <a:lnSpc>
                  <a:spcPct val="90000"/>
                </a:lnSpc>
                <a:spcBef>
                  <a:spcPct val="0"/>
                </a:spcBef>
                <a:spcAft>
                  <a:spcPct val="0"/>
                </a:spcAft>
                <a:defRPr/>
              </a:pPr>
              <a:r>
                <a:rPr lang="en-US" sz="1050" kern="0" dirty="0">
                  <a:solidFill>
                    <a:srgbClr val="000000"/>
                  </a:solidFill>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1334096" y="3140053"/>
            <a:ext cx="823912" cy="550069"/>
            <a:chOff x="160" y="1387"/>
            <a:chExt cx="692" cy="462"/>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60" y="1616"/>
              <a:ext cx="692"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62" y="1387"/>
              <a:ext cx="0" cy="277"/>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1335286" y="3635352"/>
            <a:ext cx="629842" cy="1241822"/>
            <a:chOff x="161" y="1803"/>
            <a:chExt cx="529" cy="1043"/>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61" y="2613"/>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6924080" y="3181725"/>
            <a:ext cx="892969" cy="919162"/>
            <a:chOff x="4855" y="1422"/>
            <a:chExt cx="750" cy="772"/>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55" y="1961"/>
              <a:ext cx="750"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7487246" y="4083028"/>
            <a:ext cx="0" cy="1278731"/>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997009" y="2114061"/>
            <a:ext cx="1428661" cy="6001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Calibri"/>
              </a:rPr>
              <a:t>Client state</a:t>
            </a:r>
          </a:p>
          <a:p>
            <a:pPr algn="r" defTabSz="685800" eaLnBrk="0" fontAlgn="base" hangingPunct="0">
              <a:spcBef>
                <a:spcPct val="0"/>
              </a:spcBef>
              <a:spcAft>
                <a:spcPct val="0"/>
              </a:spcAft>
              <a:defRPr/>
            </a:pPr>
            <a:endParaRPr lang="en-US" sz="1200" i="1" kern="0" dirty="0">
              <a:solidFill>
                <a:srgbClr val="000099"/>
              </a:solidFill>
            </a:endParaRPr>
          </a:p>
        </p:txBody>
      </p:sp>
      <p:sp>
        <p:nvSpPr>
          <p:cNvPr id="246" name="Text Box 115">
            <a:extLst>
              <a:ext uri="{FF2B5EF4-FFF2-40B4-BE49-F238E27FC236}">
                <a16:creationId xmlns:a16="http://schemas.microsoft.com/office/drawing/2014/main" id="{052EAC19-09BF-FD44-ADF4-7A708D2CC77C}"/>
              </a:ext>
            </a:extLst>
          </p:cNvPr>
          <p:cNvSpPr txBox="1">
            <a:spLocks noChangeArrowheads="1"/>
          </p:cNvSpPr>
          <p:nvPr/>
        </p:nvSpPr>
        <p:spPr bwMode="auto">
          <a:xfrm>
            <a:off x="1389347" y="2649467"/>
            <a:ext cx="564578"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rPr>
              <a:t>WAIT</a:t>
            </a:r>
            <a:endParaRPr lang="en-US" sz="1200" kern="0" dirty="0">
              <a:solidFill>
                <a:srgbClr val="000000"/>
              </a:solidFill>
            </a:endParaRP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6629444" y="1668719"/>
            <a:ext cx="1497590" cy="6001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Calibri"/>
              </a:rPr>
              <a:t>Server state</a:t>
            </a:r>
          </a:p>
          <a:p>
            <a:pPr algn="r" defTabSz="685800" eaLnBrk="0" fontAlgn="base" hangingPunct="0">
              <a:spcBef>
                <a:spcPct val="0"/>
              </a:spcBef>
              <a:spcAft>
                <a:spcPct val="0"/>
              </a:spcAft>
              <a:defRPr/>
            </a:pPr>
            <a:endParaRPr lang="en-US" sz="1200" i="1" kern="0" dirty="0">
              <a:solidFill>
                <a:srgbClr val="000099"/>
              </a:solidFill>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7108139" y="2831633"/>
            <a:ext cx="68320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3348355" y="2726857"/>
            <a:ext cx="482203" cy="450056"/>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5416357" y="2792341"/>
            <a:ext cx="252413" cy="384572"/>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74" name="Text Box 13">
            <a:extLst>
              <a:ext uri="{FF2B5EF4-FFF2-40B4-BE49-F238E27FC236}">
                <a16:creationId xmlns:a16="http://schemas.microsoft.com/office/drawing/2014/main" id="{5C657586-8C26-7645-A308-A162DA1C735B}"/>
              </a:ext>
            </a:extLst>
          </p:cNvPr>
          <p:cNvSpPr txBox="1">
            <a:spLocks noChangeArrowheads="1"/>
          </p:cNvSpPr>
          <p:nvPr/>
        </p:nvSpPr>
        <p:spPr bwMode="auto">
          <a:xfrm>
            <a:off x="280997" y="2480876"/>
            <a:ext cx="3157398" cy="220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defTabSz="685800">
              <a:lnSpc>
                <a:spcPct val="90000"/>
              </a:lnSpc>
              <a:defRPr/>
            </a:pPr>
            <a:r>
              <a:rPr lang="en-US" altLang="en-US" sz="900" dirty="0">
                <a:solidFill>
                  <a:prstClr val="black"/>
                </a:solidFill>
                <a:latin typeface="Courier Std" panose="02070409020205020404" pitchFamily="49" charset="77"/>
              </a:rPr>
              <a:t>clientSocket = socket(AF_INET, SOCK_STREAM)</a:t>
            </a:r>
          </a:p>
        </p:txBody>
      </p:sp>
      <p:sp>
        <p:nvSpPr>
          <p:cNvPr id="75" name="Text Box 5">
            <a:extLst>
              <a:ext uri="{FF2B5EF4-FFF2-40B4-BE49-F238E27FC236}">
                <a16:creationId xmlns:a16="http://schemas.microsoft.com/office/drawing/2014/main" id="{1D57F3DF-BFA3-284D-8B9A-ADD3873D3BB3}"/>
              </a:ext>
            </a:extLst>
          </p:cNvPr>
          <p:cNvSpPr txBox="1">
            <a:spLocks noChangeArrowheads="1"/>
          </p:cNvSpPr>
          <p:nvPr/>
        </p:nvSpPr>
        <p:spPr bwMode="auto">
          <a:xfrm>
            <a:off x="5866423" y="2084088"/>
            <a:ext cx="3355406" cy="80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dirty="0">
                <a:solidFill>
                  <a:prstClr val="black"/>
                </a:solidFill>
                <a:latin typeface="Courier Std" panose="02070409020205020404" pitchFamily="49" charset="77"/>
              </a:rPr>
              <a:t>serverSocket = socket(AF_INET,SOCK_STREAM)</a:t>
            </a:r>
          </a:p>
          <a:p>
            <a:pPr defTabSz="685800">
              <a:defRPr/>
            </a:pPr>
            <a:r>
              <a:rPr lang="en-US" altLang="en-US" sz="900" dirty="0">
                <a:solidFill>
                  <a:prstClr val="black"/>
                </a:solidFill>
                <a:latin typeface="Courier Std" panose="02070409020205020404" pitchFamily="49" charset="77"/>
              </a:rPr>
              <a:t>serverSocket.bind((‘’,serverPort))</a:t>
            </a:r>
          </a:p>
          <a:p>
            <a:pPr defTabSz="685800">
              <a:defRPr/>
            </a:pPr>
            <a:r>
              <a:rPr lang="en-US" altLang="en-US" sz="900" dirty="0">
                <a:solidFill>
                  <a:prstClr val="black"/>
                </a:solidFill>
                <a:latin typeface="Courier Std" panose="02070409020205020404" pitchFamily="49" charset="77"/>
              </a:rPr>
              <a:t>serverSocket.listen(1)</a:t>
            </a:r>
          </a:p>
          <a:p>
            <a:pPr defTabSz="685800">
              <a:defRPr/>
            </a:pPr>
            <a:r>
              <a:rPr lang="en-US" altLang="en-US" sz="900" dirty="0">
                <a:solidFill>
                  <a:prstClr val="black"/>
                </a:solidFill>
                <a:latin typeface="Courier Std" panose="02070409020205020404" pitchFamily="49" charset="77"/>
              </a:rPr>
              <a:t>connectionSocket, addr = serverSocket.accept()</a:t>
            </a:r>
          </a:p>
          <a:p>
            <a:pPr defTabSz="685800">
              <a:defRPr/>
            </a:pPr>
            <a:endParaRPr lang="en-US" altLang="en-US" sz="1050" dirty="0">
              <a:solidFill>
                <a:prstClr val="black"/>
              </a:solidFill>
            </a:endParaRPr>
          </a:p>
        </p:txBody>
      </p:sp>
      <p:sp>
        <p:nvSpPr>
          <p:cNvPr id="77" name="Text Box 13">
            <a:extLst>
              <a:ext uri="{FF2B5EF4-FFF2-40B4-BE49-F238E27FC236}">
                <a16:creationId xmlns:a16="http://schemas.microsoft.com/office/drawing/2014/main" id="{85BB3488-0F19-2446-9F3D-0FF3F2E5F4DB}"/>
              </a:ext>
            </a:extLst>
          </p:cNvPr>
          <p:cNvSpPr txBox="1">
            <a:spLocks noChangeArrowheads="1"/>
          </p:cNvSpPr>
          <p:nvPr/>
        </p:nvSpPr>
        <p:spPr bwMode="auto">
          <a:xfrm>
            <a:off x="207407" y="2866833"/>
            <a:ext cx="3324933" cy="220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defTabSz="685800">
              <a:lnSpc>
                <a:spcPct val="90000"/>
              </a:lnSpc>
              <a:defRPr/>
            </a:pPr>
            <a:r>
              <a:rPr lang="en-US" altLang="en-US" sz="900" dirty="0">
                <a:solidFill>
                  <a:prstClr val="black"/>
                </a:solidFill>
                <a:latin typeface="Courier Std" panose="02070409020205020404" pitchFamily="49" charset="77"/>
              </a:rPr>
              <a:t>clientSocket.connect((serverName,serverPort))</a:t>
            </a:r>
          </a:p>
        </p:txBody>
      </p:sp>
    </p:spTree>
    <p:extLst>
      <p:ext uri="{BB962C8B-B14F-4D97-AF65-F5344CB8AC3E}">
        <p14:creationId xmlns:p14="http://schemas.microsoft.com/office/powerpoint/2010/main" val="104233165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dissolve">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wipe(up)">
                                      <p:cBhvr>
                                        <p:cTn id="18" dur="500"/>
                                        <p:tgtEl>
                                          <p:spTgt spid="240"/>
                                        </p:tgtEl>
                                      </p:cBhvr>
                                    </p:animEffect>
                                  </p:childTnLst>
                                </p:cTn>
                              </p:par>
                              <p:par>
                                <p:cTn id="19" presetID="22" presetClass="entr" presetSubtype="2" fill="hold" nodeType="withEffect">
                                  <p:stCondLst>
                                    <p:cond delay="0"/>
                                  </p:stCondLst>
                                  <p:childTnLst>
                                    <p:set>
                                      <p:cBhvr>
                                        <p:cTn id="20" dur="1" fill="hold">
                                          <p:stCondLst>
                                            <p:cond delay="0"/>
                                          </p:stCondLst>
                                        </p:cTn>
                                        <p:tgtEl>
                                          <p:spTgt spid="223"/>
                                        </p:tgtEl>
                                        <p:attrNameLst>
                                          <p:attrName>style.visibility</p:attrName>
                                        </p:attrNameLst>
                                      </p:cBhvr>
                                      <p:to>
                                        <p:strVal val="visible"/>
                                      </p:to>
                                    </p:set>
                                    <p:animEffect transition="in" filter="wipe(right)">
                                      <p:cBhvr>
                                        <p:cTn id="21" dur="5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8"/>
                                        </p:tgtEl>
                                        <p:attrNameLst>
                                          <p:attrName>style.visibility</p:attrName>
                                        </p:attrNameLst>
                                      </p:cBhvr>
                                      <p:to>
                                        <p:strVal val="visible"/>
                                      </p:to>
                                    </p:set>
                                    <p:animEffect transition="in" filter="wipe(left)">
                                      <p:cBhvr>
                                        <p:cTn id="26" dur="500"/>
                                        <p:tgtEl>
                                          <p:spTgt spid="228"/>
                                        </p:tgtEl>
                                      </p:cBhvr>
                                    </p:animEffect>
                                  </p:childTnLst>
                                </p:cTn>
                              </p:par>
                              <p:par>
                                <p:cTn id="27" presetID="22" presetClass="entr" presetSubtype="1"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animEffect transition="in" filter="wipe(up)">
                                      <p:cBhvr>
                                        <p:cTn id="29" dur="500"/>
                                        <p:tgtEl>
                                          <p:spTgt spid="237"/>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up)">
                                      <p:cBhvr>
                                        <p:cTn id="33" dur="500"/>
                                        <p:tgtEl>
                                          <p:spTgt spid="222"/>
                                        </p:tgtEl>
                                      </p:cBhvr>
                                    </p:animEffect>
                                  </p:childTnLst>
                                </p:cTn>
                              </p:par>
                              <p:par>
                                <p:cTn id="34" presetID="22" presetClass="entr" presetSubtype="1" fill="hold" nodeType="withEffect">
                                  <p:stCondLst>
                                    <p:cond delay="0"/>
                                  </p:stCondLst>
                                  <p:childTnLst>
                                    <p:set>
                                      <p:cBhvr>
                                        <p:cTn id="35" dur="1" fill="hold">
                                          <p:stCondLst>
                                            <p:cond delay="0"/>
                                          </p:stCondLst>
                                        </p:cTn>
                                        <p:tgtEl>
                                          <p:spTgt spid="243"/>
                                        </p:tgtEl>
                                        <p:attrNameLst>
                                          <p:attrName>style.visibility</p:attrName>
                                        </p:attrNameLst>
                                      </p:cBhvr>
                                      <p:to>
                                        <p:strVal val="visible"/>
                                      </p:to>
                                    </p:set>
                                    <p:animEffect transition="in" filter="wipe(up)">
                                      <p:cBhvr>
                                        <p:cTn id="36"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Closing a TCP connection</a:t>
            </a:r>
            <a:endParaRPr lang="en-US" sz="4400" b="0" dirty="0"/>
          </a:p>
        </p:txBody>
      </p:sp>
      <p:sp>
        <p:nvSpPr>
          <p:cNvPr id="4" name="Slide Number Placeholder 2">
            <a:extLst>
              <a:ext uri="{FF2B5EF4-FFF2-40B4-BE49-F238E27FC236}">
                <a16:creationId xmlns:a16="http://schemas.microsoft.com/office/drawing/2014/main" id="{E5549B3B-271C-C14B-9302-4D2CE7B4105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26</a:t>
            </a:fld>
            <a:endParaRPr lang="en-US" dirty="0">
              <a:solidFill>
                <a:prstClr val="white">
                  <a:lumMod val="50000"/>
                </a:prstClr>
              </a:solidFill>
              <a:latin typeface="Calibri" panose="020F0502020204030204"/>
            </a:endParaRPr>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599017" y="1938197"/>
            <a:ext cx="7273739" cy="313967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client, server each close their side of connection</a:t>
            </a:r>
          </a:p>
          <a:p>
            <a:pPr marL="521494" lvl="1" indent="-173831" defTabSz="685800">
              <a:spcBef>
                <a:spcPts val="375"/>
              </a:spcBef>
              <a:buFont typeface="Arial"/>
              <a:buChar char="•"/>
              <a:defRPr/>
            </a:pPr>
            <a:r>
              <a:rPr lang="en-US" sz="1800" dirty="0">
                <a:solidFill>
                  <a:prstClr val="black"/>
                </a:solidFill>
                <a:latin typeface="Calibri" panose="020F0502020204030204"/>
              </a:rPr>
              <a:t>send TCP segment with FIN bit = 1</a:t>
            </a:r>
          </a:p>
          <a:p>
            <a:pPr marL="264319" indent="-166688" defTabSz="685800">
              <a:spcBef>
                <a:spcPts val="750"/>
              </a:spcBef>
              <a:buFont typeface="Wingdings" charset="2"/>
              <a:buChar char="§"/>
              <a:defRPr/>
            </a:pPr>
            <a:r>
              <a:rPr lang="en-US" sz="2100" dirty="0">
                <a:solidFill>
                  <a:prstClr val="black"/>
                </a:solidFill>
                <a:latin typeface="Calibri" panose="020F0502020204030204"/>
              </a:rPr>
              <a:t>respond to received FIN with ACK</a:t>
            </a:r>
          </a:p>
          <a:p>
            <a:pPr marL="521494" lvl="1" indent="-173831" defTabSz="685800">
              <a:spcBef>
                <a:spcPts val="375"/>
              </a:spcBef>
              <a:buFont typeface="Arial"/>
              <a:buChar char="•"/>
              <a:defRPr/>
            </a:pPr>
            <a:r>
              <a:rPr lang="en-US" sz="1800" dirty="0">
                <a:solidFill>
                  <a:prstClr val="black"/>
                </a:solidFill>
                <a:latin typeface="Calibri" panose="020F0502020204030204"/>
              </a:rPr>
              <a:t>on receiving FIN, ACK can be combined with own FIN</a:t>
            </a:r>
          </a:p>
          <a:p>
            <a:pPr marL="264319" indent="-166688" defTabSz="685800">
              <a:spcBef>
                <a:spcPts val="750"/>
              </a:spcBef>
              <a:buFont typeface="Wingdings" charset="2"/>
              <a:buChar char="§"/>
              <a:defRPr/>
            </a:pPr>
            <a:r>
              <a:rPr lang="en-US" sz="2100" dirty="0">
                <a:solidFill>
                  <a:prstClr val="black"/>
                </a:solidFill>
                <a:latin typeface="Calibri" panose="020F0502020204030204"/>
              </a:rPr>
              <a:t>simultaneous FIN exchanges can be handled</a:t>
            </a:r>
          </a:p>
        </p:txBody>
      </p:sp>
    </p:spTree>
    <p:extLst>
      <p:ext uri="{BB962C8B-B14F-4D97-AF65-F5344CB8AC3E}">
        <p14:creationId xmlns:p14="http://schemas.microsoft.com/office/powerpoint/2010/main" val="2657671931"/>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E5DE9-7171-ABE8-14FC-CDF4D427C3E8}"/>
              </a:ext>
            </a:extLst>
          </p:cNvPr>
          <p:cNvSpPr>
            <a:spLocks noGrp="1"/>
          </p:cNvSpPr>
          <p:nvPr>
            <p:ph idx="1"/>
          </p:nvPr>
        </p:nvSpPr>
        <p:spPr>
          <a:xfrm>
            <a:off x="628650" y="1913469"/>
            <a:ext cx="7886700" cy="745065"/>
          </a:xfrm>
        </p:spPr>
        <p:txBody>
          <a:bodyPr/>
          <a:lstStyle/>
          <a:p>
            <a:pPr marL="0" indent="0">
              <a:buNone/>
            </a:pPr>
            <a:r>
              <a:rPr lang="en-US" altLang="zh-CN" dirty="0"/>
              <a:t>Thanks</a:t>
            </a:r>
            <a:endParaRPr lang="en-US" dirty="0"/>
          </a:p>
        </p:txBody>
      </p:sp>
      <p:sp>
        <p:nvSpPr>
          <p:cNvPr id="4" name="Slide Number Placeholder 3">
            <a:extLst>
              <a:ext uri="{FF2B5EF4-FFF2-40B4-BE49-F238E27FC236}">
                <a16:creationId xmlns:a16="http://schemas.microsoft.com/office/drawing/2014/main" id="{C6F5CF3F-2EF3-BC1A-AE92-1417AE1C23B4}"/>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BC41B36-6335-F546-90B9-E2121371E10D}" type="slidenum">
              <a:rPr lang="en-US" smtClean="0"/>
              <a:pPr/>
              <a:t>27</a:t>
            </a:fld>
            <a:endParaRPr lang="en-US" dirty="0"/>
          </a:p>
        </p:txBody>
      </p:sp>
      <p:sp>
        <p:nvSpPr>
          <p:cNvPr id="5" name="TextBox 4">
            <a:extLst>
              <a:ext uri="{FF2B5EF4-FFF2-40B4-BE49-F238E27FC236}">
                <a16:creationId xmlns:a16="http://schemas.microsoft.com/office/drawing/2014/main" id="{5C0DBBE3-FC6B-25D4-1813-2EBD68F50C41}"/>
              </a:ext>
            </a:extLst>
          </p:cNvPr>
          <p:cNvSpPr txBox="1"/>
          <p:nvPr/>
        </p:nvSpPr>
        <p:spPr>
          <a:xfrm>
            <a:off x="628651" y="4626393"/>
            <a:ext cx="7359650" cy="1569660"/>
          </a:xfrm>
          <a:prstGeom prst="rect">
            <a:avLst/>
          </a:prstGeom>
          <a:noFill/>
        </p:spPr>
        <p:txBody>
          <a:bodyPr wrap="square">
            <a:spAutoFit/>
          </a:bodyPr>
          <a:lstStyle/>
          <a:p>
            <a:r>
              <a:rPr lang="en-US" sz="1200" b="1" dirty="0"/>
              <a:t>Acknowledgment</a:t>
            </a:r>
          </a:p>
          <a:p>
            <a:endParaRPr lang="en-US" sz="1200" dirty="0"/>
          </a:p>
          <a:p>
            <a:r>
              <a:rPr lang="en-US" sz="1200" dirty="0"/>
              <a:t>The materials for this course are in part based upon the materials from a number of people/sources, including:</a:t>
            </a:r>
          </a:p>
          <a:p>
            <a:pPr marL="285750" indent="-285750">
              <a:buFont typeface="Arial" panose="020B0604020202020204" pitchFamily="34" charset="0"/>
              <a:buChar char="•"/>
            </a:pPr>
            <a:r>
              <a:rPr lang="en-US" sz="1200" dirty="0"/>
              <a:t>Official website of the Kurose and Ross text: Computer Networking: A Top-Down Approach</a:t>
            </a:r>
          </a:p>
          <a:p>
            <a:pPr marL="285750" indent="-285750">
              <a:buFont typeface="Arial" panose="020B0604020202020204" pitchFamily="34" charset="0"/>
              <a:buChar char="•"/>
            </a:pPr>
            <a:r>
              <a:rPr lang="en-US" sz="1200" dirty="0"/>
              <a:t>Official website of the Tanenbaum &amp; Wetherall text: Computer Networks</a:t>
            </a:r>
          </a:p>
          <a:p>
            <a:pPr marL="285750" indent="-285750">
              <a:buFont typeface="Arial" panose="020B0604020202020204" pitchFamily="34" charset="0"/>
              <a:buChar char="•"/>
            </a:pPr>
            <a:r>
              <a:rPr lang="en-US" sz="1200" dirty="0"/>
              <a:t>Dr. Murat Yuksel: </a:t>
            </a:r>
            <a:r>
              <a:rPr lang="en-US" sz="1200" dirty="0">
                <a:hlinkClick r:id="rId2"/>
              </a:rPr>
              <a:t>https://www.ece.ucf.edu/~yuksem/teaching/EEL-4781-Fall-2020.html</a:t>
            </a:r>
            <a:endParaRPr lang="en-US" sz="1200" dirty="0"/>
          </a:p>
          <a:p>
            <a:pPr marL="285750" indent="-285750">
              <a:buFont typeface="Arial" panose="020B0604020202020204" pitchFamily="34" charset="0"/>
              <a:buChar char="•"/>
            </a:pPr>
            <a:r>
              <a:rPr lang="en-US" sz="1200" dirty="0"/>
              <a:t>Dr. Raj Jain: </a:t>
            </a:r>
            <a:r>
              <a:rPr lang="en-US" sz="1200" dirty="0">
                <a:hlinkClick r:id="rId3"/>
              </a:rPr>
              <a:t>https://www.cse.wustl.edu/~jain/</a:t>
            </a:r>
            <a:endParaRPr lang="en-US" sz="1200" dirty="0"/>
          </a:p>
          <a:p>
            <a:endParaRPr lang="en-US" sz="1200" dirty="0"/>
          </a:p>
        </p:txBody>
      </p:sp>
    </p:spTree>
    <p:extLst>
      <p:ext uri="{BB962C8B-B14F-4D97-AF65-F5344CB8AC3E}">
        <p14:creationId xmlns:p14="http://schemas.microsoft.com/office/powerpoint/2010/main" val="36857955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29692</TotalTime>
  <Words>4021</Words>
  <Application>Microsoft Office PowerPoint</Application>
  <PresentationFormat>On-screen Show (4:3)</PresentationFormat>
  <Paragraphs>612</Paragraphs>
  <Slides>27</Slides>
  <Notes>26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Arial</vt:lpstr>
      <vt:lpstr>Arial Narrow</vt:lpstr>
      <vt:lpstr>Calibri</vt:lpstr>
      <vt:lpstr>Calibri Light</vt:lpstr>
      <vt:lpstr>Courier New</vt:lpstr>
      <vt:lpstr>Courier Std</vt:lpstr>
      <vt:lpstr>Tahoma</vt:lpstr>
      <vt:lpstr>Times New Roman</vt:lpstr>
      <vt:lpstr>Wingdings</vt:lpstr>
      <vt:lpstr>Office Theme</vt:lpstr>
      <vt:lpstr>2_Office Theme</vt:lpstr>
      <vt:lpstr>EEL 4781 Computer Communication Networks Chapter 3-3: Transport Layer</vt:lpstr>
      <vt:lpstr>Agenda </vt:lpstr>
      <vt:lpstr>TCP: overview</vt:lpstr>
      <vt:lpstr>TCP segment structure</vt:lpstr>
      <vt:lpstr>TCP sequence numbers, ACKs</vt:lpstr>
      <vt:lpstr>TCP sequence numbers, ACKs</vt:lpstr>
      <vt:lpstr>TCP round trip time, timeout</vt:lpstr>
      <vt:lpstr>TCP round trip time, timeout</vt:lpstr>
      <vt:lpstr>TCP Sender</vt:lpstr>
      <vt:lpstr>TCP Receiver: ACK generation</vt:lpstr>
      <vt:lpstr>TCP: retransmission scenarios</vt:lpstr>
      <vt:lpstr>TCP: retransmission scenarios</vt:lpstr>
      <vt:lpstr>TCP fast retransmit</vt:lpstr>
      <vt:lpstr>Agenda </vt:lpstr>
      <vt:lpstr>TCP flow control</vt:lpstr>
      <vt:lpstr>TCP flow control</vt:lpstr>
      <vt:lpstr>TCP flow control</vt:lpstr>
      <vt:lpstr>TCP flow control</vt:lpstr>
      <vt:lpstr>TCP flow control</vt:lpstr>
      <vt:lpstr>TCP connection management</vt:lpstr>
      <vt:lpstr>Agreeing to establish a connection</vt:lpstr>
      <vt:lpstr>2-way handshake scenarios</vt:lpstr>
      <vt:lpstr>2-way handshake scenarios</vt:lpstr>
      <vt:lpstr>2-way handshake scenarios</vt:lpstr>
      <vt:lpstr>TCP 3-way handshake</vt:lpstr>
      <vt:lpstr>Closing a TCP connection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Prolonged Restore Challenge in Further Scaling DRAMs</dc:title>
  <dc:creator>xw zhang</dc:creator>
  <cp:lastModifiedBy>Xin Xin</cp:lastModifiedBy>
  <cp:revision>616</cp:revision>
  <dcterms:created xsi:type="dcterms:W3CDTF">2017-06-28T02:53:02Z</dcterms:created>
  <dcterms:modified xsi:type="dcterms:W3CDTF">2026-02-20T16:33:04Z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1791174</vt:lpwstr>
  </property>
  <property fmtid="{D5CDD505-2E9C-101B-9397-08002B2CF9AE}" pid="3" name="NXPowerLiteSettings">
    <vt:lpwstr>B74006B004C800</vt:lpwstr>
  </property>
  <property fmtid="{D5CDD505-2E9C-101B-9397-08002B2CF9AE}" pid="4" name="NXPowerLiteVersion">
    <vt:lpwstr>D7.1.1</vt:lpwstr>
  </property>
</Properties>
</file>