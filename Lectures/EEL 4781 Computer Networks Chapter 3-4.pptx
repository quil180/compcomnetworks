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 bookmarkIdSeed="2">
  <p:sldMasterIdLst>
    <p:sldMasterId id="2147483851" r:id="rId1"/>
    <p:sldMasterId id="2147483868" r:id="rId2"/>
  </p:sldMasterIdLst>
  <p:notesMasterIdLst>
    <p:notesMasterId r:id="rId31"/>
  </p:notesMasterIdLst>
  <p:sldIdLst>
    <p:sldId id="256" r:id="rId3"/>
    <p:sldId id="1290" r:id="rId4"/>
    <p:sldId id="1123" r:id="rId5"/>
    <p:sldId id="1121" r:id="rId6"/>
    <p:sldId id="1195" r:id="rId7"/>
    <p:sldId id="1196" r:id="rId8"/>
    <p:sldId id="1126" r:id="rId9"/>
    <p:sldId id="1127" r:id="rId10"/>
    <p:sldId id="1128" r:id="rId11"/>
    <p:sldId id="1131" r:id="rId12"/>
    <p:sldId id="1129" r:id="rId13"/>
    <p:sldId id="1130" r:id="rId14"/>
    <p:sldId id="1197" r:id="rId15"/>
    <p:sldId id="340" r:id="rId16"/>
    <p:sldId id="1184" r:id="rId17"/>
    <p:sldId id="1291" r:id="rId18"/>
    <p:sldId id="1193" r:id="rId19"/>
    <p:sldId id="1194" r:id="rId20"/>
    <p:sldId id="1132" r:id="rId21"/>
    <p:sldId id="1133" r:id="rId22"/>
    <p:sldId id="1134" r:id="rId23"/>
    <p:sldId id="1135" r:id="rId24"/>
    <p:sldId id="1141" r:id="rId25"/>
    <p:sldId id="1138" r:id="rId26"/>
    <p:sldId id="1192" r:id="rId27"/>
    <p:sldId id="989" r:id="rId28"/>
    <p:sldId id="1140" r:id="rId29"/>
    <p:sldId id="1102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2826" userDrawn="1">
          <p15:clr>
            <a:srgbClr val="A4A3A4"/>
          </p15:clr>
        </p15:guide>
        <p15:guide id="3" orient="horz" pos="4128" userDrawn="1">
          <p15:clr>
            <a:srgbClr val="A4A3A4"/>
          </p15:clr>
        </p15:guide>
        <p15:guide id="4" orient="horz" pos="2856" userDrawn="1">
          <p15:clr>
            <a:srgbClr val="A4A3A4"/>
          </p15:clr>
        </p15:guide>
        <p15:guide id="5" pos="1152" userDrawn="1">
          <p15:clr>
            <a:srgbClr val="A4A3A4"/>
          </p15:clr>
        </p15:guide>
        <p15:guide id="6" pos="3780" userDrawn="1">
          <p15:clr>
            <a:srgbClr val="A4A3A4"/>
          </p15:clr>
        </p15:guide>
        <p15:guide id="7" pos="17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7128"/>
    <a:srgbClr val="BA9B37"/>
    <a:srgbClr val="FFC904"/>
    <a:srgbClr val="C95B00"/>
    <a:srgbClr val="FF7C00"/>
    <a:srgbClr val="7F7F7F"/>
    <a:srgbClr val="4472C4"/>
    <a:srgbClr val="027D02"/>
    <a:srgbClr val="CFD5EA"/>
    <a:srgbClr val="0077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5BBED2-94FA-419E-9D26-371FE89002A9}" v="3" dt="2025-02-26T00:45:56.7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6" autoAdjust="0"/>
    <p:restoredTop sz="96357" autoAdjust="0"/>
  </p:normalViewPr>
  <p:slideViewPr>
    <p:cSldViewPr snapToGrid="0" snapToObjects="1">
      <p:cViewPr varScale="1">
        <p:scale>
          <a:sx n="155" d="100"/>
          <a:sy n="155" d="100"/>
        </p:scale>
        <p:origin x="2036" y="88"/>
      </p:cViewPr>
      <p:guideLst>
        <p:guide orient="horz" pos="1440"/>
        <p:guide pos="2826"/>
        <p:guide orient="horz" pos="4128"/>
        <p:guide orient="horz" pos="2856"/>
        <p:guide pos="1152"/>
        <p:guide pos="3780"/>
        <p:guide pos="17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Xin" userId="9ff0c946-7f3c-4192-98c1-6be932ce2bce" providerId="ADAL" clId="{074D74E3-636C-4AD1-96C4-747270E8523C}"/>
    <pc:docChg chg="modSld">
      <pc:chgData name="Xin Xin" userId="9ff0c946-7f3c-4192-98c1-6be932ce2bce" providerId="ADAL" clId="{074D74E3-636C-4AD1-96C4-747270E8523C}" dt="2024-01-09T16:54:56.967" v="21" actId="20577"/>
      <pc:docMkLst>
        <pc:docMk/>
      </pc:docMkLst>
      <pc:sldChg chg="modSp mod">
        <pc:chgData name="Xin Xin" userId="9ff0c946-7f3c-4192-98c1-6be932ce2bce" providerId="ADAL" clId="{074D74E3-636C-4AD1-96C4-747270E8523C}" dt="2024-01-09T16:54:56.967" v="21" actId="20577"/>
        <pc:sldMkLst>
          <pc:docMk/>
          <pc:sldMk cId="962814019" sldId="561"/>
        </pc:sldMkLst>
      </pc:sldChg>
    </pc:docChg>
  </pc:docChgLst>
  <pc:docChgLst>
    <pc:chgData name="Xin Xin" userId="9ff0c946-7f3c-4192-98c1-6be932ce2bce" providerId="ADAL" clId="{355D1DE7-F3C4-4B24-94E7-BE24D41C5087}"/>
    <pc:docChg chg="undo redo custSel modSld">
      <pc:chgData name="Xin Xin" userId="9ff0c946-7f3c-4192-98c1-6be932ce2bce" providerId="ADAL" clId="{355D1DE7-F3C4-4B24-94E7-BE24D41C5087}" dt="2025-02-17T16:51:18.637" v="20" actId="478"/>
      <pc:docMkLst>
        <pc:docMk/>
      </pc:docMkLst>
      <pc:sldChg chg="delSp mod">
        <pc:chgData name="Xin Xin" userId="9ff0c946-7f3c-4192-98c1-6be932ce2bce" providerId="ADAL" clId="{355D1DE7-F3C4-4B24-94E7-BE24D41C5087}" dt="2025-02-17T16:26:45.525" v="2" actId="478"/>
        <pc:sldMkLst>
          <pc:docMk/>
          <pc:sldMk cId="1841747540" sldId="1121"/>
        </pc:sldMkLst>
      </pc:sldChg>
      <pc:sldChg chg="delSp mod">
        <pc:chgData name="Xin Xin" userId="9ff0c946-7f3c-4192-98c1-6be932ce2bce" providerId="ADAL" clId="{355D1DE7-F3C4-4B24-94E7-BE24D41C5087}" dt="2025-02-17T16:28:39.372" v="4" actId="478"/>
        <pc:sldMkLst>
          <pc:docMk/>
          <pc:sldMk cId="745262208" sldId="1126"/>
        </pc:sldMkLst>
      </pc:sldChg>
      <pc:sldChg chg="addSp delSp mod">
        <pc:chgData name="Xin Xin" userId="9ff0c946-7f3c-4192-98c1-6be932ce2bce" providerId="ADAL" clId="{355D1DE7-F3C4-4B24-94E7-BE24D41C5087}" dt="2025-02-17T16:29:01.674" v="9" actId="478"/>
        <pc:sldMkLst>
          <pc:docMk/>
          <pc:sldMk cId="849525817" sldId="1127"/>
        </pc:sldMkLst>
      </pc:sldChg>
      <pc:sldChg chg="addSp delSp mod">
        <pc:chgData name="Xin Xin" userId="9ff0c946-7f3c-4192-98c1-6be932ce2bce" providerId="ADAL" clId="{355D1DE7-F3C4-4B24-94E7-BE24D41C5087}" dt="2025-02-17T16:29:06.225" v="12" actId="478"/>
        <pc:sldMkLst>
          <pc:docMk/>
          <pc:sldMk cId="957395417" sldId="1128"/>
        </pc:sldMkLst>
      </pc:sldChg>
      <pc:sldChg chg="delSp mod">
        <pc:chgData name="Xin Xin" userId="9ff0c946-7f3c-4192-98c1-6be932ce2bce" providerId="ADAL" clId="{355D1DE7-F3C4-4B24-94E7-BE24D41C5087}" dt="2025-02-17T16:30:12.637" v="14" actId="478"/>
        <pc:sldMkLst>
          <pc:docMk/>
          <pc:sldMk cId="2067851660" sldId="1129"/>
        </pc:sldMkLst>
      </pc:sldChg>
      <pc:sldChg chg="delSp mod">
        <pc:chgData name="Xin Xin" userId="9ff0c946-7f3c-4192-98c1-6be932ce2bce" providerId="ADAL" clId="{355D1DE7-F3C4-4B24-94E7-BE24D41C5087}" dt="2025-02-17T16:36:18.686" v="18" actId="478"/>
        <pc:sldMkLst>
          <pc:docMk/>
          <pc:sldMk cId="4282205450" sldId="1130"/>
        </pc:sldMkLst>
      </pc:sldChg>
      <pc:sldChg chg="delSp mod">
        <pc:chgData name="Xin Xin" userId="9ff0c946-7f3c-4192-98c1-6be932ce2bce" providerId="ADAL" clId="{355D1DE7-F3C4-4B24-94E7-BE24D41C5087}" dt="2025-02-17T16:29:46.371" v="13" actId="478"/>
        <pc:sldMkLst>
          <pc:docMk/>
          <pc:sldMk cId="1053912845" sldId="1131"/>
        </pc:sldMkLst>
      </pc:sldChg>
      <pc:sldChg chg="delSp mod">
        <pc:chgData name="Xin Xin" userId="9ff0c946-7f3c-4192-98c1-6be932ce2bce" providerId="ADAL" clId="{355D1DE7-F3C4-4B24-94E7-BE24D41C5087}" dt="2025-02-17T16:35:34.747" v="17" actId="478"/>
        <pc:sldMkLst>
          <pc:docMk/>
          <pc:sldMk cId="2363823049" sldId="1132"/>
        </pc:sldMkLst>
      </pc:sldChg>
      <pc:sldChg chg="delSp mod">
        <pc:chgData name="Xin Xin" userId="9ff0c946-7f3c-4192-98c1-6be932ce2bce" providerId="ADAL" clId="{355D1DE7-F3C4-4B24-94E7-BE24D41C5087}" dt="2025-02-17T16:51:18.637" v="20" actId="478"/>
        <pc:sldMkLst>
          <pc:docMk/>
          <pc:sldMk cId="3454041378" sldId="1135"/>
        </pc:sldMkLst>
      </pc:sldChg>
      <pc:sldChg chg="delSp mod">
        <pc:chgData name="Xin Xin" userId="9ff0c946-7f3c-4192-98c1-6be932ce2bce" providerId="ADAL" clId="{355D1DE7-F3C4-4B24-94E7-BE24D41C5087}" dt="2025-02-17T16:51:11.022" v="19" actId="478"/>
        <pc:sldMkLst>
          <pc:docMk/>
          <pc:sldMk cId="2027059936" sldId="1141"/>
        </pc:sldMkLst>
      </pc:sldChg>
      <pc:sldChg chg="delSp mod">
        <pc:chgData name="Xin Xin" userId="9ff0c946-7f3c-4192-98c1-6be932ce2bce" providerId="ADAL" clId="{355D1DE7-F3C4-4B24-94E7-BE24D41C5087}" dt="2025-02-17T16:35:22.309" v="15" actId="478"/>
        <pc:sldMkLst>
          <pc:docMk/>
          <pc:sldMk cId="93898165" sldId="1193"/>
        </pc:sldMkLst>
      </pc:sldChg>
      <pc:sldChg chg="delSp mod">
        <pc:chgData name="Xin Xin" userId="9ff0c946-7f3c-4192-98c1-6be932ce2bce" providerId="ADAL" clId="{355D1DE7-F3C4-4B24-94E7-BE24D41C5087}" dt="2025-02-17T16:35:29.629" v="16" actId="478"/>
        <pc:sldMkLst>
          <pc:docMk/>
          <pc:sldMk cId="2130915203" sldId="1194"/>
        </pc:sldMkLst>
      </pc:sldChg>
      <pc:sldChg chg="delSp mod">
        <pc:chgData name="Xin Xin" userId="9ff0c946-7f3c-4192-98c1-6be932ce2bce" providerId="ADAL" clId="{355D1DE7-F3C4-4B24-94E7-BE24D41C5087}" dt="2025-02-17T16:26:02.997" v="0" actId="478"/>
        <pc:sldMkLst>
          <pc:docMk/>
          <pc:sldMk cId="3449018207" sldId="1195"/>
        </pc:sldMkLst>
      </pc:sldChg>
      <pc:sldChg chg="delSp mod">
        <pc:chgData name="Xin Xin" userId="9ff0c946-7f3c-4192-98c1-6be932ce2bce" providerId="ADAL" clId="{355D1DE7-F3C4-4B24-94E7-BE24D41C5087}" dt="2025-02-17T16:28:32.860" v="3" actId="478"/>
        <pc:sldMkLst>
          <pc:docMk/>
          <pc:sldMk cId="445098879" sldId="1196"/>
        </pc:sldMkLst>
      </pc:sldChg>
    </pc:docChg>
  </pc:docChgLst>
  <pc:docChgLst>
    <pc:chgData name="Xin Xin" userId="9ff0c946-7f3c-4192-98c1-6be932ce2bce" providerId="ADAL" clId="{EC370BB4-30E8-4AD9-890D-521920E8CA56}"/>
    <pc:docChg chg="undo redo custSel addSld delSld modSld sldOrd delMainMaster modMainMaster modNotesMaster">
      <pc:chgData name="Xin Xin" userId="9ff0c946-7f3c-4192-98c1-6be932ce2bce" providerId="ADAL" clId="{EC370BB4-30E8-4AD9-890D-521920E8CA56}" dt="2024-01-09T16:38:14.567" v="3218" actId="20577"/>
      <pc:docMkLst>
        <pc:docMk/>
      </pc:docMkLst>
      <pc:sldChg chg="addSp modSp mod modNotes">
        <pc:chgData name="Xin Xin" userId="9ff0c946-7f3c-4192-98c1-6be932ce2bce" providerId="ADAL" clId="{EC370BB4-30E8-4AD9-890D-521920E8CA56}" dt="2024-01-09T06:04:11.529" v="3169" actId="1076"/>
        <pc:sldMkLst>
          <pc:docMk/>
          <pc:sldMk cId="739737434" sldId="256"/>
        </pc:sldMkLst>
      </pc:sldChg>
      <pc:sldChg chg="addSp delSp modSp mod modNotes modNotesTx">
        <pc:chgData name="Xin Xin" userId="9ff0c946-7f3c-4192-98c1-6be932ce2bce" providerId="ADAL" clId="{EC370BB4-30E8-4AD9-890D-521920E8CA56}" dt="2024-01-09T16:38:08.626" v="3215" actId="21"/>
        <pc:sldMkLst>
          <pc:docMk/>
          <pc:sldMk cId="1954766533" sldId="257"/>
        </pc:sldMkLst>
      </pc:sldChg>
      <pc:sldChg chg="modSp del mod modNotes">
        <pc:chgData name="Xin Xin" userId="9ff0c946-7f3c-4192-98c1-6be932ce2bce" providerId="ADAL" clId="{EC370BB4-30E8-4AD9-890D-521920E8CA56}" dt="2024-01-08T07:21:24.237" v="1712" actId="47"/>
        <pc:sldMkLst>
          <pc:docMk/>
          <pc:sldMk cId="3664760038" sldId="547"/>
        </pc:sldMkLst>
      </pc:sldChg>
      <pc:sldChg chg="modSp add del mod">
        <pc:chgData name="Xin Xin" userId="9ff0c946-7f3c-4192-98c1-6be932ce2bce" providerId="ADAL" clId="{EC370BB4-30E8-4AD9-890D-521920E8CA56}" dt="2024-01-08T07:22:44.087" v="1769" actId="47"/>
        <pc:sldMkLst>
          <pc:docMk/>
          <pc:sldMk cId="255336568" sldId="548"/>
        </pc:sldMkLst>
      </pc:sldChg>
      <pc:sldChg chg="modSp del mod">
        <pc:chgData name="Xin Xin" userId="9ff0c946-7f3c-4192-98c1-6be932ce2bce" providerId="ADAL" clId="{EC370BB4-30E8-4AD9-890D-521920E8CA56}" dt="2024-01-08T07:21:57.517" v="1718" actId="47"/>
        <pc:sldMkLst>
          <pc:docMk/>
          <pc:sldMk cId="2247533387" sldId="549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1631818884" sldId="550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3166788806" sldId="551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680557119" sldId="552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1358710918" sldId="553"/>
        </pc:sldMkLst>
      </pc:sldChg>
      <pc:sldChg chg="addSp delSp modSp add del mod setBg">
        <pc:chgData name="Xin Xin" userId="9ff0c946-7f3c-4192-98c1-6be932ce2bce" providerId="ADAL" clId="{EC370BB4-30E8-4AD9-890D-521920E8CA56}" dt="2024-01-08T05:49:11.396" v="239" actId="47"/>
        <pc:sldMkLst>
          <pc:docMk/>
          <pc:sldMk cId="1799074194" sldId="554"/>
        </pc:sldMkLst>
      </pc:sldChg>
      <pc:sldChg chg="addSp delSp modSp mod modNotes modNotesTx">
        <pc:chgData name="Xin Xin" userId="9ff0c946-7f3c-4192-98c1-6be932ce2bce" providerId="ADAL" clId="{EC370BB4-30E8-4AD9-890D-521920E8CA56}" dt="2024-01-08T10:06:54.621" v="2701" actId="20577"/>
        <pc:sldMkLst>
          <pc:docMk/>
          <pc:sldMk cId="1500498090" sldId="555"/>
        </pc:sldMkLst>
      </pc:sldChg>
      <pc:sldChg chg="addSp delSp modSp mod modNotes modNotesTx">
        <pc:chgData name="Xin Xin" userId="9ff0c946-7f3c-4192-98c1-6be932ce2bce" providerId="ADAL" clId="{EC370BB4-30E8-4AD9-890D-521920E8CA56}" dt="2024-01-08T09:38:30.108" v="2676" actId="6549"/>
        <pc:sldMkLst>
          <pc:docMk/>
          <pc:sldMk cId="2191399085" sldId="556"/>
        </pc:sldMkLst>
      </pc:sldChg>
      <pc:sldChg chg="addSp delSp modSp mod setBg">
        <pc:chgData name="Xin Xin" userId="9ff0c946-7f3c-4192-98c1-6be932ce2bce" providerId="ADAL" clId="{EC370BB4-30E8-4AD9-890D-521920E8CA56}" dt="2024-01-08T09:09:41.385" v="2427" actId="554"/>
        <pc:sldMkLst>
          <pc:docMk/>
          <pc:sldMk cId="374124833" sldId="557"/>
        </pc:sldMkLst>
      </pc:sldChg>
      <pc:sldChg chg="addSp delSp modSp mod modAnim">
        <pc:chgData name="Xin Xin" userId="9ff0c946-7f3c-4192-98c1-6be932ce2bce" providerId="ADAL" clId="{EC370BB4-30E8-4AD9-890D-521920E8CA56}" dt="2024-01-08T07:28:05.140" v="1937" actId="1076"/>
        <pc:sldMkLst>
          <pc:docMk/>
          <pc:sldMk cId="1975299436" sldId="558"/>
        </pc:sldMkLst>
      </pc:sldChg>
      <pc:sldChg chg="modSp del mod modNotes">
        <pc:chgData name="Xin Xin" userId="9ff0c946-7f3c-4192-98c1-6be932ce2bce" providerId="ADAL" clId="{EC370BB4-30E8-4AD9-890D-521920E8CA56}" dt="2024-01-08T07:21:26.022" v="1713" actId="47"/>
        <pc:sldMkLst>
          <pc:docMk/>
          <pc:sldMk cId="1632253196" sldId="559"/>
        </pc:sldMkLst>
      </pc:sldChg>
      <pc:sldChg chg="modSp del mod">
        <pc:chgData name="Xin Xin" userId="9ff0c946-7f3c-4192-98c1-6be932ce2bce" providerId="ADAL" clId="{EC370BB4-30E8-4AD9-890D-521920E8CA56}" dt="2024-01-08T14:42:33.598" v="3088" actId="47"/>
        <pc:sldMkLst>
          <pc:docMk/>
          <pc:sldMk cId="886653827" sldId="560"/>
        </pc:sldMkLst>
      </pc:sldChg>
      <pc:sldChg chg="modSp new mod">
        <pc:chgData name="Xin Xin" userId="9ff0c946-7f3c-4192-98c1-6be932ce2bce" providerId="ADAL" clId="{EC370BB4-30E8-4AD9-890D-521920E8CA56}" dt="2024-01-08T10:31:03.105" v="2711"/>
        <pc:sldMkLst>
          <pc:docMk/>
          <pc:sldMk cId="962814019" sldId="561"/>
        </pc:sldMkLst>
      </pc:sldChg>
      <pc:sldChg chg="addSp delSp modSp add mod">
        <pc:chgData name="Xin Xin" userId="9ff0c946-7f3c-4192-98c1-6be932ce2bce" providerId="ADAL" clId="{EC370BB4-30E8-4AD9-890D-521920E8CA56}" dt="2024-01-08T06:24:12.033" v="871" actId="478"/>
        <pc:sldMkLst>
          <pc:docMk/>
          <pc:sldMk cId="548847966" sldId="562"/>
        </pc:sldMkLst>
      </pc:sldChg>
      <pc:sldChg chg="addSp modSp add mod">
        <pc:chgData name="Xin Xin" userId="9ff0c946-7f3c-4192-98c1-6be932ce2bce" providerId="ADAL" clId="{EC370BB4-30E8-4AD9-890D-521920E8CA56}" dt="2024-01-08T06:29:11.119" v="931" actId="14100"/>
        <pc:sldMkLst>
          <pc:docMk/>
          <pc:sldMk cId="3086478133" sldId="563"/>
        </pc:sldMkLst>
      </pc:sldChg>
      <pc:sldChg chg="addSp delSp modSp add mod modNotesTx">
        <pc:chgData name="Xin Xin" userId="9ff0c946-7f3c-4192-98c1-6be932ce2bce" providerId="ADAL" clId="{EC370BB4-30E8-4AD9-890D-521920E8CA56}" dt="2024-01-09T16:38:14.567" v="3218" actId="20577"/>
        <pc:sldMkLst>
          <pc:docMk/>
          <pc:sldMk cId="1864819173" sldId="564"/>
        </pc:sldMkLst>
      </pc:sldChg>
      <pc:sldChg chg="addSp delSp modSp add mod modNotesTx">
        <pc:chgData name="Xin Xin" userId="9ff0c946-7f3c-4192-98c1-6be932ce2bce" providerId="ADAL" clId="{EC370BB4-30E8-4AD9-890D-521920E8CA56}" dt="2024-01-08T09:38:45.145" v="2679" actId="6549"/>
        <pc:sldMkLst>
          <pc:docMk/>
          <pc:sldMk cId="4285583163" sldId="565"/>
        </pc:sldMkLst>
      </pc:sldChg>
      <pc:sldChg chg="new del">
        <pc:chgData name="Xin Xin" userId="9ff0c946-7f3c-4192-98c1-6be932ce2bce" providerId="ADAL" clId="{EC370BB4-30E8-4AD9-890D-521920E8CA56}" dt="2024-01-08T14:42:34.228" v="3089" actId="47"/>
        <pc:sldMkLst>
          <pc:docMk/>
          <pc:sldMk cId="1442343595" sldId="566"/>
        </pc:sldMkLst>
      </pc:sldChg>
      <pc:sldChg chg="modSp add del mod">
        <pc:chgData name="Xin Xin" userId="9ff0c946-7f3c-4192-98c1-6be932ce2bce" providerId="ADAL" clId="{EC370BB4-30E8-4AD9-890D-521920E8CA56}" dt="2024-01-08T07:25:40.919" v="1922" actId="47"/>
        <pc:sldMkLst>
          <pc:docMk/>
          <pc:sldMk cId="4215190468" sldId="956"/>
        </pc:sldMkLst>
      </pc:sldChg>
      <pc:sldChg chg="modSp add del mod">
        <pc:chgData name="Xin Xin" userId="9ff0c946-7f3c-4192-98c1-6be932ce2bce" providerId="ADAL" clId="{EC370BB4-30E8-4AD9-890D-521920E8CA56}" dt="2024-01-08T07:27:11.013" v="1931" actId="47"/>
        <pc:sldMkLst>
          <pc:docMk/>
          <pc:sldMk cId="2692581944" sldId="957"/>
        </pc:sldMkLst>
      </pc:sldChg>
      <pc:sldChg chg="modSp add del mod">
        <pc:chgData name="Xin Xin" userId="9ff0c946-7f3c-4192-98c1-6be932ce2bce" providerId="ADAL" clId="{EC370BB4-30E8-4AD9-890D-521920E8CA56}" dt="2024-01-08T07:27:19.684" v="1932" actId="47"/>
        <pc:sldMkLst>
          <pc:docMk/>
          <pc:sldMk cId="533023549" sldId="958"/>
        </pc:sldMkLst>
      </pc:sldChg>
      <pc:sldChg chg="modSp add del mod ord">
        <pc:chgData name="Xin Xin" userId="9ff0c946-7f3c-4192-98c1-6be932ce2bce" providerId="ADAL" clId="{EC370BB4-30E8-4AD9-890D-521920E8CA56}" dt="2024-01-08T14:42:31.718" v="3087" actId="47"/>
        <pc:sldMkLst>
          <pc:docMk/>
          <pc:sldMk cId="178774210" sldId="959"/>
        </pc:sldMkLst>
      </pc:sldChg>
      <pc:sldChg chg="modSp add del mod">
        <pc:chgData name="Xin Xin" userId="9ff0c946-7f3c-4192-98c1-6be932ce2bce" providerId="ADAL" clId="{EC370BB4-30E8-4AD9-890D-521920E8CA56}" dt="2024-01-08T07:31:26.416" v="1963" actId="47"/>
        <pc:sldMkLst>
          <pc:docMk/>
          <pc:sldMk cId="2955511339" sldId="961"/>
        </pc:sldMkLst>
      </pc:sldChg>
      <pc:sldChg chg="modSp add del mod">
        <pc:chgData name="Xin Xin" userId="9ff0c946-7f3c-4192-98c1-6be932ce2bce" providerId="ADAL" clId="{EC370BB4-30E8-4AD9-890D-521920E8CA56}" dt="2024-01-08T07:31:44.528" v="1964" actId="47"/>
        <pc:sldMkLst>
          <pc:docMk/>
          <pc:sldMk cId="2609794141" sldId="962"/>
        </pc:sldMkLst>
      </pc:sldChg>
      <pc:sldChg chg="modSp add del mod">
        <pc:chgData name="Xin Xin" userId="9ff0c946-7f3c-4192-98c1-6be932ce2bce" providerId="ADAL" clId="{EC370BB4-30E8-4AD9-890D-521920E8CA56}" dt="2024-01-08T07:31:44.528" v="1964" actId="47"/>
        <pc:sldMkLst>
          <pc:docMk/>
          <pc:sldMk cId="1958923006" sldId="963"/>
        </pc:sldMkLst>
      </pc:sldChg>
      <pc:sldChg chg="modSp add del mod">
        <pc:chgData name="Xin Xin" userId="9ff0c946-7f3c-4192-98c1-6be932ce2bce" providerId="ADAL" clId="{EC370BB4-30E8-4AD9-890D-521920E8CA56}" dt="2024-01-08T07:31:44.528" v="1964" actId="47"/>
        <pc:sldMkLst>
          <pc:docMk/>
          <pc:sldMk cId="2933442144" sldId="964"/>
        </pc:sldMkLst>
      </pc:sldChg>
      <pc:sldChg chg="modSp add mod modAnim">
        <pc:chgData name="Xin Xin" userId="9ff0c946-7f3c-4192-98c1-6be932ce2bce" providerId="ADAL" clId="{EC370BB4-30E8-4AD9-890D-521920E8CA56}" dt="2024-01-08T14:40:14.505" v="3080" actId="20577"/>
        <pc:sldMkLst>
          <pc:docMk/>
          <pc:sldMk cId="1246861303" sldId="965"/>
        </pc:sldMkLst>
      </pc:sldChg>
      <pc:sldChg chg="modSp add del">
        <pc:chgData name="Xin Xin" userId="9ff0c946-7f3c-4192-98c1-6be932ce2bce" providerId="ADAL" clId="{EC370BB4-30E8-4AD9-890D-521920E8CA56}" dt="2024-01-08T07:32:25.295" v="1965" actId="2696"/>
        <pc:sldMkLst>
          <pc:docMk/>
          <pc:sldMk cId="4133981228" sldId="965"/>
        </pc:sldMkLst>
      </pc:sldChg>
      <pc:sldChg chg="modSp add mod">
        <pc:chgData name="Xin Xin" userId="9ff0c946-7f3c-4192-98c1-6be932ce2bce" providerId="ADAL" clId="{EC370BB4-30E8-4AD9-890D-521920E8CA56}" dt="2024-01-08T09:40:37.055" v="2690" actId="14100"/>
        <pc:sldMkLst>
          <pc:docMk/>
          <pc:sldMk cId="107693820" sldId="966"/>
        </pc:sldMkLst>
      </pc:sldChg>
      <pc:sldChg chg="modSp add del mod">
        <pc:chgData name="Xin Xin" userId="9ff0c946-7f3c-4192-98c1-6be932ce2bce" providerId="ADAL" clId="{EC370BB4-30E8-4AD9-890D-521920E8CA56}" dt="2024-01-08T07:32:25.295" v="1965" actId="2696"/>
        <pc:sldMkLst>
          <pc:docMk/>
          <pc:sldMk cId="2647693326" sldId="966"/>
        </pc:sldMkLst>
      </pc:sldChg>
      <pc:sldChg chg="modSp add mod">
        <pc:chgData name="Xin Xin" userId="9ff0c946-7f3c-4192-98c1-6be932ce2bce" providerId="ADAL" clId="{EC370BB4-30E8-4AD9-890D-521920E8CA56}" dt="2024-01-08T07:32:28.388" v="1968" actId="27636"/>
        <pc:sldMkLst>
          <pc:docMk/>
          <pc:sldMk cId="1160441430" sldId="967"/>
        </pc:sldMkLst>
      </pc:sldChg>
      <pc:sldChg chg="modSp add del mod">
        <pc:chgData name="Xin Xin" userId="9ff0c946-7f3c-4192-98c1-6be932ce2bce" providerId="ADAL" clId="{EC370BB4-30E8-4AD9-890D-521920E8CA56}" dt="2024-01-08T07:32:25.295" v="1965" actId="2696"/>
        <pc:sldMkLst>
          <pc:docMk/>
          <pc:sldMk cId="2446553518" sldId="967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251227092" sldId="968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4154648514" sldId="969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346501482" sldId="970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767517223" sldId="973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067777870" sldId="974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686971569" sldId="975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576902241" sldId="976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86875326" sldId="977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008086356" sldId="978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227531169" sldId="979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4261154658" sldId="980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389753227" sldId="981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688356377" sldId="982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598388145" sldId="983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403095897" sldId="984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192521579" sldId="985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997576614" sldId="986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188746582" sldId="987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747047901" sldId="988"/>
        </pc:sldMkLst>
      </pc:sldChg>
      <pc:sldChg chg="addSp delSp modSp new add del mod">
        <pc:chgData name="Xin Xin" userId="9ff0c946-7f3c-4192-98c1-6be932ce2bce" providerId="ADAL" clId="{EC370BB4-30E8-4AD9-890D-521920E8CA56}" dt="2024-01-09T05:48:44.643" v="3158" actId="5793"/>
        <pc:sldMkLst>
          <pc:docMk/>
          <pc:sldMk cId="3052515236" sldId="989"/>
        </pc:sldMkLst>
      </pc:sldChg>
      <pc:sldChg chg="addSp delSp modSp add mod modAnim">
        <pc:chgData name="Xin Xin" userId="9ff0c946-7f3c-4192-98c1-6be932ce2bce" providerId="ADAL" clId="{EC370BB4-30E8-4AD9-890D-521920E8CA56}" dt="2024-01-08T07:31:18.893" v="1962"/>
        <pc:sldMkLst>
          <pc:docMk/>
          <pc:sldMk cId="2964609195" sldId="990"/>
        </pc:sldMkLst>
      </pc:sldChg>
      <pc:sldChg chg="modSp new del mod ord">
        <pc:chgData name="Xin Xin" userId="9ff0c946-7f3c-4192-98c1-6be932ce2bce" providerId="ADAL" clId="{EC370BB4-30E8-4AD9-890D-521920E8CA56}" dt="2024-01-08T14:42:35.678" v="3090" actId="47"/>
        <pc:sldMkLst>
          <pc:docMk/>
          <pc:sldMk cId="2746704462" sldId="991"/>
        </pc:sldMkLst>
      </pc:sldChg>
      <pc:sldChg chg="addSp delSp modSp add mod">
        <pc:chgData name="Xin Xin" userId="9ff0c946-7f3c-4192-98c1-6be932ce2bce" providerId="ADAL" clId="{EC370BB4-30E8-4AD9-890D-521920E8CA56}" dt="2024-01-08T09:33:30.974" v="2674" actId="1076"/>
        <pc:sldMkLst>
          <pc:docMk/>
          <pc:sldMk cId="2423250723" sldId="992"/>
        </pc:sldMkLst>
      </pc:sldChg>
      <pc:sldChg chg="addSp delSp add del setBg delDesignElem">
        <pc:chgData name="Xin Xin" userId="9ff0c946-7f3c-4192-98c1-6be932ce2bce" providerId="ADAL" clId="{EC370BB4-30E8-4AD9-890D-521920E8CA56}" dt="2024-01-08T09:09:54.362" v="2430"/>
        <pc:sldMkLst>
          <pc:docMk/>
          <pc:sldMk cId="3879548416" sldId="992"/>
        </pc:sldMkLst>
      </pc:sldChg>
      <pc:sldChg chg="addSp delSp modSp add del mod modAnim">
        <pc:chgData name="Xin Xin" userId="9ff0c946-7f3c-4192-98c1-6be932ce2bce" providerId="ADAL" clId="{EC370BB4-30E8-4AD9-890D-521920E8CA56}" dt="2024-01-08T14:35:34.723" v="2939" actId="47"/>
        <pc:sldMkLst>
          <pc:docMk/>
          <pc:sldMk cId="2796890472" sldId="993"/>
        </pc:sldMkLst>
      </pc:sldChg>
      <pc:sldChg chg="modSp add mod">
        <pc:chgData name="Xin Xin" userId="9ff0c946-7f3c-4192-98c1-6be932ce2bce" providerId="ADAL" clId="{EC370BB4-30E8-4AD9-890D-521920E8CA56}" dt="2024-01-08T14:41:08.409" v="3086" actId="20577"/>
        <pc:sldMkLst>
          <pc:docMk/>
          <pc:sldMk cId="1538176317" sldId="994"/>
        </pc:sldMkLst>
      </pc:sldChg>
      <pc:sldChg chg="modSp add del mod">
        <pc:chgData name="Xin Xin" userId="9ff0c946-7f3c-4192-98c1-6be932ce2bce" providerId="ADAL" clId="{EC370BB4-30E8-4AD9-890D-521920E8CA56}" dt="2024-01-08T14:30:55.789" v="2908" actId="47"/>
        <pc:sldMkLst>
          <pc:docMk/>
          <pc:sldMk cId="2980347387" sldId="995"/>
        </pc:sldMkLst>
      </pc:sldChg>
      <pc:sldChg chg="modSp add del mod">
        <pc:chgData name="Xin Xin" userId="9ff0c946-7f3c-4192-98c1-6be932ce2bce" providerId="ADAL" clId="{EC370BB4-30E8-4AD9-890D-521920E8CA56}" dt="2024-01-08T14:30:00.749" v="2905" actId="47"/>
        <pc:sldMkLst>
          <pc:docMk/>
          <pc:sldMk cId="2535701466" sldId="996"/>
        </pc:sldMkLst>
      </pc:sldChg>
      <pc:sldChg chg="delSp modSp add del mod ord">
        <pc:chgData name="Xin Xin" userId="9ff0c946-7f3c-4192-98c1-6be932ce2bce" providerId="ADAL" clId="{EC370BB4-30E8-4AD9-890D-521920E8CA56}" dt="2024-01-08T14:28:42.526" v="2892" actId="47"/>
        <pc:sldMkLst>
          <pc:docMk/>
          <pc:sldMk cId="2468515756" sldId="997"/>
        </pc:sldMkLst>
      </pc:sldChg>
      <pc:sldChg chg="delSp modSp add del mod modAnim">
        <pc:chgData name="Xin Xin" userId="9ff0c946-7f3c-4192-98c1-6be932ce2bce" providerId="ADAL" clId="{EC370BB4-30E8-4AD9-890D-521920E8CA56}" dt="2024-01-08T14:34:49.742" v="2932" actId="47"/>
        <pc:sldMkLst>
          <pc:docMk/>
          <pc:sldMk cId="344159879" sldId="998"/>
        </pc:sldMkLst>
      </pc:sldChg>
      <pc:sldChg chg="modSp add del mod">
        <pc:chgData name="Xin Xin" userId="9ff0c946-7f3c-4192-98c1-6be932ce2bce" providerId="ADAL" clId="{EC370BB4-30E8-4AD9-890D-521920E8CA56}" dt="2024-01-08T14:32:57.967" v="2914" actId="47"/>
        <pc:sldMkLst>
          <pc:docMk/>
          <pc:sldMk cId="1934115457" sldId="999"/>
        </pc:sldMkLst>
      </pc:sldChg>
      <pc:sldChg chg="delSp modSp add del mod">
        <pc:chgData name="Xin Xin" userId="9ff0c946-7f3c-4192-98c1-6be932ce2bce" providerId="ADAL" clId="{EC370BB4-30E8-4AD9-890D-521920E8CA56}" dt="2024-01-08T14:33:32.339" v="2918" actId="47"/>
        <pc:sldMkLst>
          <pc:docMk/>
          <pc:sldMk cId="103550941" sldId="1000"/>
        </pc:sldMkLst>
      </pc:sldChg>
      <pc:sldChg chg="delSp modSp add del mod ord modAnim">
        <pc:chgData name="Xin Xin" userId="9ff0c946-7f3c-4192-98c1-6be932ce2bce" providerId="ADAL" clId="{EC370BB4-30E8-4AD9-890D-521920E8CA56}" dt="2024-01-08T14:36:05.741" v="2947" actId="47"/>
        <pc:sldMkLst>
          <pc:docMk/>
          <pc:sldMk cId="1440061282" sldId="1001"/>
        </pc:sldMkLst>
      </pc:sldChg>
      <pc:sldChg chg="addSp delSp modSp new mod">
        <pc:chgData name="Xin Xin" userId="9ff0c946-7f3c-4192-98c1-6be932ce2bce" providerId="ADAL" clId="{EC370BB4-30E8-4AD9-890D-521920E8CA56}" dt="2024-01-08T14:28:33.969" v="2890" actId="1076"/>
        <pc:sldMkLst>
          <pc:docMk/>
          <pc:sldMk cId="3692251944" sldId="1002"/>
        </pc:sldMkLst>
      </pc:sldChg>
      <pc:sldChg chg="addSp delSp modSp add mod">
        <pc:chgData name="Xin Xin" userId="9ff0c946-7f3c-4192-98c1-6be932ce2bce" providerId="ADAL" clId="{EC370BB4-30E8-4AD9-890D-521920E8CA56}" dt="2024-01-08T14:29:52.802" v="2904" actId="1036"/>
        <pc:sldMkLst>
          <pc:docMk/>
          <pc:sldMk cId="1399360419" sldId="1003"/>
        </pc:sldMkLst>
      </pc:sldChg>
      <pc:sldChg chg="addSp delSp modSp add mod modAnim">
        <pc:chgData name="Xin Xin" userId="9ff0c946-7f3c-4192-98c1-6be932ce2bce" providerId="ADAL" clId="{EC370BB4-30E8-4AD9-890D-521920E8CA56}" dt="2024-01-08T14:33:03.364" v="2915"/>
        <pc:sldMkLst>
          <pc:docMk/>
          <pc:sldMk cId="1024578609" sldId="1004"/>
        </pc:sldMkLst>
      </pc:sldChg>
      <pc:sldChg chg="addSp delSp modSp add mod">
        <pc:chgData name="Xin Xin" userId="9ff0c946-7f3c-4192-98c1-6be932ce2bce" providerId="ADAL" clId="{EC370BB4-30E8-4AD9-890D-521920E8CA56}" dt="2024-01-08T14:33:46.135" v="2921" actId="1076"/>
        <pc:sldMkLst>
          <pc:docMk/>
          <pc:sldMk cId="647430869" sldId="1005"/>
        </pc:sldMkLst>
      </pc:sldChg>
      <pc:sldChg chg="addSp delSp modSp add mod ord modAnim">
        <pc:chgData name="Xin Xin" userId="9ff0c946-7f3c-4192-98c1-6be932ce2bce" providerId="ADAL" clId="{EC370BB4-30E8-4AD9-890D-521920E8CA56}" dt="2024-01-08T14:34:46.976" v="2931"/>
        <pc:sldMkLst>
          <pc:docMk/>
          <pc:sldMk cId="1030716104" sldId="1006"/>
        </pc:sldMkLst>
      </pc:sldChg>
      <pc:sldChg chg="addSp delSp modSp add del mod modAnim">
        <pc:chgData name="Xin Xin" userId="9ff0c946-7f3c-4192-98c1-6be932ce2bce" providerId="ADAL" clId="{EC370BB4-30E8-4AD9-890D-521920E8CA56}" dt="2024-01-08T14:36:12.930" v="2948" actId="2696"/>
        <pc:sldMkLst>
          <pc:docMk/>
          <pc:sldMk cId="3117008380" sldId="1007"/>
        </pc:sldMkLst>
      </pc:sldChg>
      <pc:sldChg chg="modSp add mod">
        <pc:chgData name="Xin Xin" userId="9ff0c946-7f3c-4192-98c1-6be932ce2bce" providerId="ADAL" clId="{EC370BB4-30E8-4AD9-890D-521920E8CA56}" dt="2024-01-08T14:36:41.487" v="2951"/>
        <pc:sldMkLst>
          <pc:docMk/>
          <pc:sldMk cId="3223531500" sldId="1007"/>
        </pc:sldMkLst>
      </pc:sldChg>
      <pc:sldChg chg="modSp add mod ord">
        <pc:chgData name="Xin Xin" userId="9ff0c946-7f3c-4192-98c1-6be932ce2bce" providerId="ADAL" clId="{EC370BB4-30E8-4AD9-890D-521920E8CA56}" dt="2024-01-08T14:36:56.759" v="2955"/>
        <pc:sldMkLst>
          <pc:docMk/>
          <pc:sldMk cId="2424516981" sldId="1008"/>
        </pc:sldMkLst>
      </pc:sldChg>
      <pc:sldChg chg="addSp delSp modSp add del mod modAnim">
        <pc:chgData name="Xin Xin" userId="9ff0c946-7f3c-4192-98c1-6be932ce2bce" providerId="ADAL" clId="{EC370BB4-30E8-4AD9-890D-521920E8CA56}" dt="2024-01-08T14:36:12.930" v="2948" actId="2696"/>
        <pc:sldMkLst>
          <pc:docMk/>
          <pc:sldMk cId="3444685122" sldId="1008"/>
        </pc:sldMkLst>
      </pc:sldChg>
      <pc:sldMasterChg chg="modSp modSldLayout">
        <pc:chgData name="Xin Xin" userId="9ff0c946-7f3c-4192-98c1-6be932ce2bce" providerId="ADAL" clId="{EC370BB4-30E8-4AD9-890D-521920E8CA56}" dt="2024-01-08T05:34:48.496" v="11"/>
        <pc:sldMasterMkLst>
          <pc:docMk/>
          <pc:sldMasterMk cId="1688907420" sldId="2147483839"/>
        </pc:sldMasterMkLst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0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1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2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3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4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7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8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50"/>
          </pc:sldLayoutMkLst>
        </pc:sldLayoutChg>
      </pc:sldMasterChg>
      <pc:sldMasterChg chg="modSldLayout">
        <pc:chgData name="Xin Xin" userId="9ff0c946-7f3c-4192-98c1-6be932ce2bce" providerId="ADAL" clId="{EC370BB4-30E8-4AD9-890D-521920E8CA56}" dt="2024-01-08T05:34:28.584" v="0"/>
        <pc:sldMasterMkLst>
          <pc:docMk/>
          <pc:sldMasterMk cId="637128036" sldId="2147483851"/>
        </pc:sldMasterMkLst>
        <pc:sldLayoutChg chg="addSp">
          <pc:chgData name="Xin Xin" userId="9ff0c946-7f3c-4192-98c1-6be932ce2bce" providerId="ADAL" clId="{EC370BB4-30E8-4AD9-890D-521920E8CA56}" dt="2024-01-08T05:34:28.584" v="0"/>
          <pc:sldLayoutMkLst>
            <pc:docMk/>
            <pc:sldMasterMk cId="637128036" sldId="2147483851"/>
            <pc:sldLayoutMk cId="1701856736" sldId="2147483853"/>
          </pc:sldLayoutMkLst>
        </pc:sldLayoutChg>
      </pc:sldMasterChg>
      <pc:sldMasterChg chg="modSldLayout">
        <pc:chgData name="Xin Xin" userId="9ff0c946-7f3c-4192-98c1-6be932ce2bce" providerId="ADAL" clId="{EC370BB4-30E8-4AD9-890D-521920E8CA56}" dt="2024-01-08T05:34:40.913" v="7"/>
        <pc:sldMasterMkLst>
          <pc:docMk/>
          <pc:sldMasterMk cId="1195836270" sldId="2147483851"/>
        </pc:sldMasterMkLst>
        <pc:sldLayoutChg chg="addSp">
          <pc:chgData name="Xin Xin" userId="9ff0c946-7f3c-4192-98c1-6be932ce2bce" providerId="ADAL" clId="{EC370BB4-30E8-4AD9-890D-521920E8CA56}" dt="2024-01-08T05:34:40.913" v="7"/>
          <pc:sldLayoutMkLst>
            <pc:docMk/>
            <pc:sldMasterMk cId="1195836270" sldId="2147483851"/>
            <pc:sldLayoutMk cId="3481299259" sldId="2147483853"/>
          </pc:sldLayoutMkLst>
        </pc:sldLayoutChg>
      </pc:sldMasterChg>
      <pc:sldMasterChg chg="modSldLayout">
        <pc:chgData name="Xin Xin" userId="9ff0c946-7f3c-4192-98c1-6be932ce2bce" providerId="ADAL" clId="{EC370BB4-30E8-4AD9-890D-521920E8CA56}" dt="2024-01-08T06:31:03.338" v="943" actId="14100"/>
        <pc:sldMasterMkLst>
          <pc:docMk/>
          <pc:sldMasterMk cId="3304735552" sldId="2147483851"/>
        </pc:sldMasterMkLst>
        <pc:sldLayoutChg chg="addSp modSp mod">
          <pc:chgData name="Xin Xin" userId="9ff0c946-7f3c-4192-98c1-6be932ce2bce" providerId="ADAL" clId="{EC370BB4-30E8-4AD9-890D-521920E8CA56}" dt="2024-01-08T06:31:03.338" v="943" actId="14100"/>
          <pc:sldLayoutMkLst>
            <pc:docMk/>
            <pc:sldMasterMk cId="3304735552" sldId="2147483851"/>
            <pc:sldLayoutMk cId="2121042803" sldId="2147483853"/>
          </pc:sldLayoutMkLst>
        </pc:sldLayoutChg>
      </pc:sldMasterChg>
      <pc:sldMasterChg chg="del delSldLayout">
        <pc:chgData name="Xin Xin" userId="9ff0c946-7f3c-4192-98c1-6be932ce2bce" providerId="ADAL" clId="{EC370BB4-30E8-4AD9-890D-521920E8CA56}" dt="2024-01-08T14:42:31.718" v="3087" actId="47"/>
        <pc:sldMasterMkLst>
          <pc:docMk/>
          <pc:sldMasterMk cId="132506679" sldId="2147483863"/>
        </pc:sldMasterMkLst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3353663624" sldId="2147483864"/>
          </pc:sldLayoutMkLst>
        </pc:sldLayoutChg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872515940" sldId="2147483865"/>
          </pc:sldLayoutMkLst>
        </pc:sldLayoutChg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4087818356" sldId="2147483866"/>
          </pc:sldLayoutMkLst>
        </pc:sldLayoutChg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424052134" sldId="2147483867"/>
          </pc:sldLayoutMkLst>
        </pc:sldLayoutChg>
      </pc:sldMasterChg>
    </pc:docChg>
  </pc:docChgLst>
  <pc:docChgLst>
    <pc:chgData name="Xin Xin" userId="9ff0c946-7f3c-4192-98c1-6be932ce2bce" providerId="ADAL" clId="{435BBED2-94FA-419E-9D26-371FE89002A9}"/>
    <pc:docChg chg="custSel modSld">
      <pc:chgData name="Xin Xin" userId="9ff0c946-7f3c-4192-98c1-6be932ce2bce" providerId="ADAL" clId="{435BBED2-94FA-419E-9D26-371FE89002A9}" dt="2025-02-26T00:52:27.538" v="12" actId="478"/>
      <pc:docMkLst>
        <pc:docMk/>
      </pc:docMkLst>
      <pc:sldChg chg="addSp delSp modSp mod">
        <pc:chgData name="Xin Xin" userId="9ff0c946-7f3c-4192-98c1-6be932ce2bce" providerId="ADAL" clId="{435BBED2-94FA-419E-9D26-371FE89002A9}" dt="2025-02-26T00:52:27.538" v="12" actId="478"/>
        <pc:sldMkLst>
          <pc:docMk/>
          <pc:sldMk cId="803740350" sldId="1197"/>
        </pc:sldMkLst>
        <pc:picChg chg="add del mod">
          <ac:chgData name="Xin Xin" userId="9ff0c946-7f3c-4192-98c1-6be932ce2bce" providerId="ADAL" clId="{435BBED2-94FA-419E-9D26-371FE89002A9}" dt="2025-02-26T00:52:27.538" v="12" actId="478"/>
          <ac:picMkLst>
            <pc:docMk/>
            <pc:sldMk cId="803740350" sldId="1197"/>
            <ac:picMk id="5" creationId="{9A67CF8F-ACB7-DD77-0B37-8F1A75DA7B24}"/>
          </ac:picMkLst>
        </pc:picChg>
        <pc:picChg chg="add del mod">
          <ac:chgData name="Xin Xin" userId="9ff0c946-7f3c-4192-98c1-6be932ce2bce" providerId="ADAL" clId="{435BBED2-94FA-419E-9D26-371FE89002A9}" dt="2025-02-26T00:52:25.716" v="10" actId="478"/>
          <ac:picMkLst>
            <pc:docMk/>
            <pc:sldMk cId="803740350" sldId="1197"/>
            <ac:picMk id="6" creationId="{C756889F-9CDB-BDA3-81C7-5EBE1D7C907D}"/>
          </ac:picMkLst>
        </pc:picChg>
        <pc:picChg chg="add del mod">
          <ac:chgData name="Xin Xin" userId="9ff0c946-7f3c-4192-98c1-6be932ce2bce" providerId="ADAL" clId="{435BBED2-94FA-419E-9D26-371FE89002A9}" dt="2025-02-26T00:52:26.436" v="11" actId="478"/>
          <ac:picMkLst>
            <pc:docMk/>
            <pc:sldMk cId="803740350" sldId="1197"/>
            <ac:picMk id="7" creationId="{58FEF642-351E-F6A5-8E6D-D687FF4FC58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F21601-8810-E544-9D11-46F00C4F0696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B5A7F-9579-BB49-881B-29290E497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84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59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294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1359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071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3345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8702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4577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8792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46518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44600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79711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56353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48438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C85D20-FC40-294D-80D2-53640716A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90355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C85D20-FC40-294D-80D2-53640716A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88600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1048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7696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42905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77316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18482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69560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92162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3316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12030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4086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48981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Given this value of the estimated RTT, TCP computes the timeout interval to be the estimated RTT plus a “safety margin”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And the intuition is that if we are seeing a large variation in SAMPLERTT – the RTT estimates are fluctuating a lot - then we’ll want a larger safety margin</a:t>
            </a:r>
          </a:p>
          <a:p>
            <a:endParaRPr lang="en-US" dirty="0"/>
          </a:p>
          <a:p>
            <a:r>
              <a:rPr lang="en-US" dirty="0"/>
              <a:t>So TCP computes the Timeout interval to be the Estimated RTT plus 4 times a measure of deviation in the RTT.</a:t>
            </a:r>
          </a:p>
          <a:p>
            <a:endParaRPr lang="en-US" dirty="0"/>
          </a:p>
          <a:p>
            <a:r>
              <a:rPr lang="en-US" dirty="0"/>
              <a:t>The deviation in the RTT is computed as the eWMA of the difference between the most recently measured SampleRTT from the Estimated RTT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007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32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6525"/>
            <a:ext cx="7250430" cy="772796"/>
          </a:xfrm>
        </p:spPr>
        <p:txBody>
          <a:bodyPr>
            <a:normAutofit/>
          </a:bodyPr>
          <a:lstStyle>
            <a:lvl1pPr>
              <a:defRPr sz="40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98603"/>
            <a:ext cx="7886700" cy="579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61E220-D336-D8EA-6239-8C05D2C08EBC}"/>
              </a:ext>
            </a:extLst>
          </p:cNvPr>
          <p:cNvCxnSpPr/>
          <p:nvPr userDrawn="1"/>
        </p:nvCxnSpPr>
        <p:spPr>
          <a:xfrm>
            <a:off x="9525" y="955002"/>
            <a:ext cx="9121140" cy="0"/>
          </a:xfrm>
          <a:prstGeom prst="line">
            <a:avLst/>
          </a:prstGeom>
          <a:ln w="38100">
            <a:solidFill>
              <a:srgbClr val="C95B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Home - UCF College of Engineering and Computer Science">
            <a:extLst>
              <a:ext uri="{FF2B5EF4-FFF2-40B4-BE49-F238E27FC236}">
                <a16:creationId xmlns:a16="http://schemas.microsoft.com/office/drawing/2014/main" id="{9F1B4091-87B5-7363-19C4-89F41293F64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252" b="28112"/>
          <a:stretch/>
        </p:blipFill>
        <p:spPr bwMode="auto">
          <a:xfrm>
            <a:off x="8238773" y="84380"/>
            <a:ext cx="707107" cy="77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042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70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395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58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9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2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57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90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077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37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38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24027"/>
            <a:ext cx="78867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626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904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61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35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1821"/>
            <a:ext cx="78867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68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264319" indent="-166688" algn="l" defTabSz="685800" rtl="0" eaLnBrk="1" latinLnBrk="0" hangingPunct="1">
        <a:lnSpc>
          <a:spcPct val="90000"/>
        </a:lnSpc>
        <a:spcBef>
          <a:spcPts val="750"/>
        </a:spcBef>
        <a:buClr>
          <a:srgbClr val="0000A3"/>
        </a:buClr>
        <a:buFont typeface="Wingdings" pitchFamily="2" charset="2"/>
        <a:buChar char="§"/>
        <a:tabLst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494" indent="-173831" algn="l" defTabSz="685800" rtl="0" eaLnBrk="1" latinLnBrk="0" hangingPunct="1">
        <a:lnSpc>
          <a:spcPct val="90000"/>
        </a:lnSpc>
        <a:spcBef>
          <a:spcPts val="375"/>
        </a:spcBef>
        <a:buClr>
          <a:srgbClr val="0000A8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1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wustl.edu/~jain/" TargetMode="External"/><Relationship Id="rId2" Type="http://schemas.openxmlformats.org/officeDocument/2006/relationships/hyperlink" Target="https://www.ece.ucf.edu/~yuksem/teaching/EEL-4781-Fall-2020.html" TargetMode="Externa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F67056-1534-47E2-83BE-08A2B9441FDC}"/>
              </a:ext>
            </a:extLst>
          </p:cNvPr>
          <p:cNvSpPr/>
          <p:nvPr/>
        </p:nvSpPr>
        <p:spPr>
          <a:xfrm>
            <a:off x="0" y="1951615"/>
            <a:ext cx="9144000" cy="1750979"/>
          </a:xfrm>
          <a:prstGeom prst="rect">
            <a:avLst/>
          </a:prstGeom>
          <a:solidFill>
            <a:srgbClr val="887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336103"/>
            <a:ext cx="9144000" cy="1014108"/>
          </a:xfrm>
        </p:spPr>
        <p:txBody>
          <a:bodyPr>
            <a:no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+mn-lt"/>
              </a:rPr>
              <a:t>EEL 4781 Computer Communication Networks</a:t>
            </a:r>
            <a:br>
              <a:rPr lang="en-US" altLang="zh-CN" sz="4800" dirty="0">
                <a:solidFill>
                  <a:schemeClr val="bg1"/>
                </a:solidFill>
                <a:latin typeface="+mn-lt"/>
              </a:rPr>
            </a:br>
            <a:r>
              <a:rPr lang="en-US" altLang="zh-CN" sz="3200" dirty="0">
                <a:solidFill>
                  <a:schemeClr val="bg1"/>
                </a:solidFill>
                <a:latin typeface="+mn-lt"/>
              </a:rPr>
              <a:t>Chapter 3-4: Transport Layer</a:t>
            </a:r>
            <a:endParaRPr lang="en-US" sz="4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7026" y="4647913"/>
            <a:ext cx="6858000" cy="581315"/>
          </a:xfrm>
        </p:spPr>
        <p:txBody>
          <a:bodyPr wrap="none">
            <a:noAutofit/>
          </a:bodyPr>
          <a:lstStyle/>
          <a:p>
            <a:r>
              <a:rPr lang="en-US" sz="2400" b="1" dirty="0"/>
              <a:t>Xin </a:t>
            </a:r>
            <a:r>
              <a:rPr lang="en-US" sz="2400" b="1" dirty="0" err="1"/>
              <a:t>Xin</a:t>
            </a:r>
            <a:endParaRPr lang="en-US" sz="2400" b="1" dirty="0"/>
          </a:p>
          <a:p>
            <a:r>
              <a:rPr lang="en-US" b="1" dirty="0"/>
              <a:t>Department of Electrical and </a:t>
            </a:r>
            <a:r>
              <a:rPr lang="en-US" altLang="zh-CN" b="1" dirty="0"/>
              <a:t>Computer Engineering</a:t>
            </a:r>
          </a:p>
          <a:p>
            <a:r>
              <a:rPr lang="en-US" sz="2400" b="1" dirty="0"/>
              <a:t>University of Central F</a:t>
            </a:r>
            <a:r>
              <a:rPr lang="en-US" b="1" dirty="0"/>
              <a:t>lorida</a:t>
            </a:r>
            <a:endParaRPr lang="en-US" sz="24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9DF276-5B0A-4972-9653-037F6D8B3C68}"/>
              </a:ext>
            </a:extLst>
          </p:cNvPr>
          <p:cNvSpPr/>
          <p:nvPr/>
        </p:nvSpPr>
        <p:spPr>
          <a:xfrm>
            <a:off x="1" y="3790141"/>
            <a:ext cx="6774656" cy="116732"/>
          </a:xfrm>
          <a:prstGeom prst="rect">
            <a:avLst/>
          </a:prstGeom>
          <a:gradFill flip="none" rotWithShape="1">
            <a:gsLst>
              <a:gs pos="69000">
                <a:srgbClr val="887128"/>
              </a:gs>
              <a:gs pos="47000">
                <a:srgbClr val="FFC904">
                  <a:alpha val="40784"/>
                </a:srgbClr>
              </a:gs>
              <a:gs pos="21000">
                <a:srgbClr val="887128"/>
              </a:gs>
              <a:gs pos="0">
                <a:srgbClr val="887128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1411FC-0199-4C18-B757-D96B9FBEC12C}"/>
              </a:ext>
            </a:extLst>
          </p:cNvPr>
          <p:cNvSpPr/>
          <p:nvPr/>
        </p:nvSpPr>
        <p:spPr>
          <a:xfrm>
            <a:off x="6880860" y="3790142"/>
            <a:ext cx="2263140" cy="116732"/>
          </a:xfrm>
          <a:prstGeom prst="rect">
            <a:avLst/>
          </a:prstGeom>
          <a:solidFill>
            <a:srgbClr val="887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ome - UCF College of Engineering and Computer Science">
            <a:extLst>
              <a:ext uri="{FF2B5EF4-FFF2-40B4-BE49-F238E27FC236}">
                <a16:creationId xmlns:a16="http://schemas.microsoft.com/office/drawing/2014/main" id="{8E0F3A9D-0085-8B62-1898-2721C3D1D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844" y="337185"/>
            <a:ext cx="2794835" cy="66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9737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719AE-B1B9-90B4-C7A9-C40C5C5D0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3"/>
            <a:ext cx="7886700" cy="4857748"/>
          </a:xfrm>
        </p:spPr>
        <p:txBody>
          <a:bodyPr>
            <a:normAutofit/>
          </a:bodyPr>
          <a:lstStyle/>
          <a:p>
            <a:r>
              <a:rPr lang="en-US" dirty="0"/>
              <a:t>Principles of congestion control</a:t>
            </a:r>
          </a:p>
          <a:p>
            <a:r>
              <a:rPr lang="en-US" dirty="0"/>
              <a:t>TCP congestion control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632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61C397FE-1DDC-5444-B79A-714CFC84F37C}"/>
              </a:ext>
            </a:extLst>
          </p:cNvPr>
          <p:cNvSpPr txBox="1">
            <a:spLocks noChangeArrowheads="1"/>
          </p:cNvSpPr>
          <p:nvPr/>
        </p:nvSpPr>
        <p:spPr>
          <a:xfrm>
            <a:off x="541245" y="1916206"/>
            <a:ext cx="8232962" cy="348615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 indent="0" defTabSz="685800">
              <a:spcBef>
                <a:spcPts val="750"/>
              </a:spcBef>
              <a:buNone/>
              <a:defRPr/>
            </a:pPr>
            <a:r>
              <a:rPr lang="en-US" altLang="en-US" sz="24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Congestion:</a:t>
            </a:r>
            <a:endParaRPr lang="en-US" altLang="en-US" sz="2100" dirty="0">
              <a:solidFill>
                <a:srgbClr val="CC0000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informally: “</a:t>
            </a:r>
            <a:r>
              <a:rPr lang="en-US" altLang="ja-JP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too many sources sending too much data too fast for </a:t>
            </a:r>
            <a:r>
              <a:rPr lang="en-US" altLang="ja-JP" sz="2100" i="1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network</a:t>
            </a:r>
            <a:r>
              <a:rPr lang="en-US" altLang="ja-JP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to handle”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manifestations: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long delays (queueing in router buffers)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packet loss (buffer overflow at routers)</a:t>
            </a:r>
          </a:p>
          <a:p>
            <a:pPr marL="264319" indent="-166688" defTabSz="685800">
              <a:spcBef>
                <a:spcPts val="750"/>
              </a:spcBef>
              <a:defRPr/>
            </a:pPr>
            <a:endParaRPr lang="en-US" altLang="en-US" sz="18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CFC6554-1CEB-8346-AF21-152FD0AE2BDD}"/>
              </a:ext>
            </a:extLst>
          </p:cNvPr>
          <p:cNvSpPr txBox="1">
            <a:spLocks noChangeArrowheads="1"/>
          </p:cNvSpPr>
          <p:nvPr/>
        </p:nvSpPr>
        <p:spPr>
          <a:xfrm>
            <a:off x="542004" y="3689700"/>
            <a:ext cx="8232962" cy="76247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 indent="0" defTabSz="685800">
              <a:spcBef>
                <a:spcPts val="750"/>
              </a:spcBef>
              <a:buNone/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different from flow control!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Principles of congestion control</a:t>
            </a:r>
            <a:endParaRPr lang="en-US" b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808C381-784D-3B93-1115-D289FD140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C3383268-A75C-1640-B637-852081D53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Transport Layer: 3-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3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01E622-8D2F-5C40-BD60-438B29523DDB}"/>
              </a:ext>
            </a:extLst>
          </p:cNvPr>
          <p:cNvGrpSpPr/>
          <p:nvPr/>
        </p:nvGrpSpPr>
        <p:grpSpPr>
          <a:xfrm>
            <a:off x="6515104" y="2910348"/>
            <a:ext cx="2079523" cy="2141492"/>
            <a:chOff x="8878529" y="2737463"/>
            <a:chExt cx="2772697" cy="2855323"/>
          </a:xfrm>
        </p:grpSpPr>
        <p:pic>
          <p:nvPicPr>
            <p:cNvPr id="1028" name="Picture 4" descr="Why traffic apps make congestion worse | Berkeley News">
              <a:extLst>
                <a:ext uri="{FF2B5EF4-FFF2-40B4-BE49-F238E27FC236}">
                  <a16:creationId xmlns:a16="http://schemas.microsoft.com/office/drawing/2014/main" id="{5A685C73-1A7D-7448-83D5-182E1DF289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78529" y="2737463"/>
              <a:ext cx="2595716" cy="17304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CEBCDC3-59AA-0043-9771-3FAB71AFCDB3}"/>
                </a:ext>
              </a:extLst>
            </p:cNvPr>
            <p:cNvSpPr txBox="1"/>
            <p:nvPr/>
          </p:nvSpPr>
          <p:spPr>
            <a:xfrm>
              <a:off x="9085008" y="4454013"/>
              <a:ext cx="2566218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685800">
                <a:defRPr/>
              </a:pPr>
              <a:r>
                <a:rPr lang="en-US" dirty="0">
                  <a:solidFill>
                    <a:srgbClr val="C00000"/>
                  </a:solidFill>
                  <a:latin typeface="Calibri"/>
                </a:rPr>
                <a:t>congestion control: </a:t>
              </a: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too many senders, sending too fast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40B5036-A83C-3D40-89CC-21D122E3DAA4}"/>
              </a:ext>
            </a:extLst>
          </p:cNvPr>
          <p:cNvGrpSpPr/>
          <p:nvPr/>
        </p:nvGrpSpPr>
        <p:grpSpPr>
          <a:xfrm>
            <a:off x="4302845" y="4175640"/>
            <a:ext cx="4395018" cy="1487793"/>
            <a:chOff x="5869858" y="4586748"/>
            <a:chExt cx="5860024" cy="198372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60EE1F0-777A-5549-B373-8500229D882B}"/>
                </a:ext>
              </a:extLst>
            </p:cNvPr>
            <p:cNvGrpSpPr/>
            <p:nvPr/>
          </p:nvGrpSpPr>
          <p:grpSpPr>
            <a:xfrm>
              <a:off x="5869858" y="4586748"/>
              <a:ext cx="2882176" cy="1915023"/>
              <a:chOff x="6998772" y="3064248"/>
              <a:chExt cx="4393223" cy="2995072"/>
            </a:xfrm>
          </p:grpSpPr>
          <p:pic>
            <p:nvPicPr>
              <p:cNvPr id="7" name="Picture 2" descr="Drinking from the Firehose: How VividCortex Compresses its Metrics">
                <a:extLst>
                  <a:ext uri="{FF2B5EF4-FFF2-40B4-BE49-F238E27FC236}">
                    <a16:creationId xmlns:a16="http://schemas.microsoft.com/office/drawing/2014/main" id="{93C006A2-5EEC-1743-AF87-E45D3E90A0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73303" y="4248105"/>
                <a:ext cx="3018692" cy="18112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4" descr="Drinking From the Information Firehose">
                <a:extLst>
                  <a:ext uri="{FF2B5EF4-FFF2-40B4-BE49-F238E27FC236}">
                    <a16:creationId xmlns:a16="http://schemas.microsoft.com/office/drawing/2014/main" id="{540A1142-4C15-BA4C-BA82-A4861EB7D4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98772" y="3064248"/>
                <a:ext cx="2699594" cy="17817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B5BA06D-3B74-5348-8D35-1DEBB37E8FA0}"/>
                </a:ext>
              </a:extLst>
            </p:cNvPr>
            <p:cNvSpPr txBox="1"/>
            <p:nvPr/>
          </p:nvSpPr>
          <p:spPr>
            <a:xfrm>
              <a:off x="8794953" y="5801032"/>
              <a:ext cx="293492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defRPr/>
              </a:pPr>
              <a:r>
                <a:rPr lang="en-US" dirty="0">
                  <a:solidFill>
                    <a:srgbClr val="C00000"/>
                  </a:solidFill>
                  <a:latin typeface="Calibri"/>
                </a:rPr>
                <a:t>flow control: </a:t>
              </a:r>
              <a:r>
                <a:rPr lang="en-US" sz="1350" dirty="0">
                  <a:solidFill>
                    <a:prstClr val="black"/>
                  </a:solidFill>
                  <a:latin typeface="Calibri"/>
                </a:rPr>
                <a:t>one sender too fast for one receiver</a:t>
              </a:r>
            </a:p>
          </p:txBody>
        </p:sp>
      </p:grpSp>
      <p:sp>
        <p:nvSpPr>
          <p:cNvPr id="12" name="Rectangle 3">
            <a:extLst>
              <a:ext uri="{FF2B5EF4-FFF2-40B4-BE49-F238E27FC236}">
                <a16:creationId xmlns:a16="http://schemas.microsoft.com/office/drawing/2014/main" id="{EAFB275C-622F-0342-A28A-15D9EA67D3AB}"/>
              </a:ext>
            </a:extLst>
          </p:cNvPr>
          <p:cNvSpPr txBox="1">
            <a:spLocks noChangeArrowheads="1"/>
          </p:cNvSpPr>
          <p:nvPr/>
        </p:nvSpPr>
        <p:spPr>
          <a:xfrm>
            <a:off x="545691" y="4496414"/>
            <a:ext cx="3569109" cy="43507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Clr>
                <a:srgbClr val="0013A3"/>
              </a:buClr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a top-10 problem!</a:t>
            </a:r>
          </a:p>
          <a:p>
            <a:pPr marL="264319" indent="-166688" defTabSz="685800">
              <a:spcBef>
                <a:spcPts val="750"/>
              </a:spcBef>
              <a:defRPr/>
            </a:pPr>
            <a:endParaRPr lang="en-US" altLang="en-US" sz="18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6513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Freeform 3">
            <a:extLst>
              <a:ext uri="{FF2B5EF4-FFF2-40B4-BE49-F238E27FC236}">
                <a16:creationId xmlns:a16="http://schemas.microsoft.com/office/drawing/2014/main" id="{28E26305-1B9C-8A47-B034-2E9BCCD87DED}"/>
              </a:ext>
            </a:extLst>
          </p:cNvPr>
          <p:cNvSpPr>
            <a:spLocks/>
          </p:cNvSpPr>
          <p:nvPr/>
        </p:nvSpPr>
        <p:spPr bwMode="auto">
          <a:xfrm>
            <a:off x="7504107" y="3023562"/>
            <a:ext cx="188119" cy="697706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3138E679-7A6F-3F4C-9CD4-1BC53C242F2F}"/>
              </a:ext>
            </a:extLst>
          </p:cNvPr>
          <p:cNvGrpSpPr/>
          <p:nvPr/>
        </p:nvGrpSpPr>
        <p:grpSpPr>
          <a:xfrm>
            <a:off x="7068738" y="3004408"/>
            <a:ext cx="440076" cy="678017"/>
            <a:chOff x="10910965" y="2513124"/>
            <a:chExt cx="586768" cy="904023"/>
          </a:xfrm>
        </p:grpSpPr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59524EB8-FD55-1D48-99F1-D1FB7A8F9D0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F1173737-3613-AA43-B1AC-4838A3EDB684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5C427322-6070-F549-83A0-B70739AD3320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9463F3C4-F379-1D41-902B-28BB5B0172CF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34B78D94-0CBB-174E-B3E9-C26DCE4669A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Freeform 9">
            <a:extLst>
              <a:ext uri="{FF2B5EF4-FFF2-40B4-BE49-F238E27FC236}">
                <a16:creationId xmlns:a16="http://schemas.microsoft.com/office/drawing/2014/main" id="{5547101E-4A79-584C-9989-5E85D28B6DAA}"/>
              </a:ext>
            </a:extLst>
          </p:cNvPr>
          <p:cNvSpPr>
            <a:spLocks/>
          </p:cNvSpPr>
          <p:nvPr/>
        </p:nvSpPr>
        <p:spPr bwMode="auto">
          <a:xfrm flipH="1">
            <a:off x="4388693" y="2167148"/>
            <a:ext cx="322607" cy="675352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B6427DD3-BCDC-1D47-B9EA-F052CBEE3779}"/>
              </a:ext>
            </a:extLst>
          </p:cNvPr>
          <p:cNvGrpSpPr/>
          <p:nvPr/>
        </p:nvGrpSpPr>
        <p:grpSpPr>
          <a:xfrm>
            <a:off x="4043069" y="2836642"/>
            <a:ext cx="440076" cy="678017"/>
            <a:chOff x="10910965" y="2513124"/>
            <a:chExt cx="586768" cy="904023"/>
          </a:xfrm>
        </p:grpSpPr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334B80B7-DAB2-0C45-A85B-02F9853489C8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9B105EEA-CD5C-4D41-AA8D-44A16BCD200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300FADAA-FF42-DC4F-B232-CEDC63569590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96243C39-7124-B447-92F8-07DFDCABC20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D2849888-7EC3-EB4C-8BC1-51F7CF36C2D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F01A9AD5-3D29-E044-89AB-2A8A2872A48C}"/>
              </a:ext>
            </a:extLst>
          </p:cNvPr>
          <p:cNvGrpSpPr/>
          <p:nvPr/>
        </p:nvGrpSpPr>
        <p:grpSpPr>
          <a:xfrm>
            <a:off x="4700294" y="2170273"/>
            <a:ext cx="440076" cy="678017"/>
            <a:chOff x="10910965" y="2513124"/>
            <a:chExt cx="586768" cy="904023"/>
          </a:xfrm>
        </p:grpSpPr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4FE038A7-CF8F-144F-89E6-58D5113323E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022D2CD4-E115-9446-9F3B-70153BE86FD0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8DA93D54-B8CD-E944-A9A0-CD19B3D9BEB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8C307284-45EC-EF40-B8C6-ACFAE3B84F26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A5E51FF6-6B9B-CB46-932F-6752F8BC41C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4" name="Freeform 6">
            <a:extLst>
              <a:ext uri="{FF2B5EF4-FFF2-40B4-BE49-F238E27FC236}">
                <a16:creationId xmlns:a16="http://schemas.microsoft.com/office/drawing/2014/main" id="{48AC5632-6C88-9B4F-8AC4-BA566F7E218B}"/>
              </a:ext>
            </a:extLst>
          </p:cNvPr>
          <p:cNvSpPr>
            <a:spLocks/>
          </p:cNvSpPr>
          <p:nvPr/>
        </p:nvSpPr>
        <p:spPr bwMode="auto">
          <a:xfrm>
            <a:off x="7786286" y="2272514"/>
            <a:ext cx="188119" cy="697706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395260E-0495-5549-B67B-D0932B2922A1}"/>
              </a:ext>
            </a:extLst>
          </p:cNvPr>
          <p:cNvGrpSpPr/>
          <p:nvPr/>
        </p:nvGrpSpPr>
        <p:grpSpPr>
          <a:xfrm>
            <a:off x="7352644" y="2254414"/>
            <a:ext cx="440076" cy="678017"/>
            <a:chOff x="10910965" y="2513124"/>
            <a:chExt cx="586768" cy="904023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F9C766A0-70B1-1B4B-AE37-4A6E9AF88F33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AC485D2E-710B-7446-BEF0-A9782257832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67BF4BF4-4371-1D47-B858-D6B04135BAE0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02AEE228-C85E-AC45-B2C5-C8182C643EF4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0353931E-8944-EF4A-9720-7519EA6C48F0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88E9FDF2-59AD-0849-94F0-90E7C39F4845}"/>
              </a:ext>
            </a:extLst>
          </p:cNvPr>
          <p:cNvGrpSpPr/>
          <p:nvPr/>
        </p:nvGrpSpPr>
        <p:grpSpPr>
          <a:xfrm>
            <a:off x="5564685" y="3037221"/>
            <a:ext cx="785758" cy="421237"/>
            <a:chOff x="7493876" y="2774731"/>
            <a:chExt cx="1481958" cy="894622"/>
          </a:xfrm>
        </p:grpSpPr>
        <p:sp>
          <p:nvSpPr>
            <p:cNvPr id="364" name="Freeform 363">
              <a:extLst>
                <a:ext uri="{FF2B5EF4-FFF2-40B4-BE49-F238E27FC236}">
                  <a16:creationId xmlns:a16="http://schemas.microsoft.com/office/drawing/2014/main" id="{43B8EDE0-230C-5542-B921-8F0ABAF1CB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A0803D89-4B4C-1B4A-BA1C-522F051281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366" name="Group 365">
              <a:extLst>
                <a:ext uri="{FF2B5EF4-FFF2-40B4-BE49-F238E27FC236}">
                  <a16:creationId xmlns:a16="http://schemas.microsoft.com/office/drawing/2014/main" id="{1101A5E5-CF40-804C-82BD-E8B63F1BC2A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67" name="Freeform 366">
                <a:extLst>
                  <a:ext uri="{FF2B5EF4-FFF2-40B4-BE49-F238E27FC236}">
                    <a16:creationId xmlns:a16="http://schemas.microsoft.com/office/drawing/2014/main" id="{A40BF2E1-9425-BF47-9B1B-8AE2332218C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68" name="Freeform 367">
                <a:extLst>
                  <a:ext uri="{FF2B5EF4-FFF2-40B4-BE49-F238E27FC236}">
                    <a16:creationId xmlns:a16="http://schemas.microsoft.com/office/drawing/2014/main" id="{024B7FE2-D299-5444-BD23-74A1953D9C1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69" name="Freeform 368">
                <a:extLst>
                  <a:ext uri="{FF2B5EF4-FFF2-40B4-BE49-F238E27FC236}">
                    <a16:creationId xmlns:a16="http://schemas.microsoft.com/office/drawing/2014/main" id="{51583098-B4D9-DC4A-AED4-1FAEFC9C7D2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70" name="Freeform 369">
                <a:extLst>
                  <a:ext uri="{FF2B5EF4-FFF2-40B4-BE49-F238E27FC236}">
                    <a16:creationId xmlns:a16="http://schemas.microsoft.com/office/drawing/2014/main" id="{4DE1CA49-F338-444B-BB9A-F2991CA7D73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Causes/costs of congestion: scenario 1 </a:t>
            </a:r>
            <a:endParaRPr lang="en-US" b="0" dirty="0"/>
          </a:p>
        </p:txBody>
      </p:sp>
      <p:sp>
        <p:nvSpPr>
          <p:cNvPr id="205" name="Slide Number Placeholder 2">
            <a:extLst>
              <a:ext uri="{FF2B5EF4-FFF2-40B4-BE49-F238E27FC236}">
                <a16:creationId xmlns:a16="http://schemas.microsoft.com/office/drawing/2014/main" id="{5938E394-4CEC-1949-BD3E-8B96E0964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Transport Layer: 3-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4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grpSp>
        <p:nvGrpSpPr>
          <p:cNvPr id="180" name="Group 124">
            <a:extLst>
              <a:ext uri="{FF2B5EF4-FFF2-40B4-BE49-F238E27FC236}">
                <a16:creationId xmlns:a16="http://schemas.microsoft.com/office/drawing/2014/main" id="{09EDE4D1-769E-664A-B492-F153D45C56DF}"/>
              </a:ext>
            </a:extLst>
          </p:cNvPr>
          <p:cNvGrpSpPr>
            <a:grpSpLocks/>
          </p:cNvGrpSpPr>
          <p:nvPr/>
        </p:nvGrpSpPr>
        <p:grpSpPr bwMode="auto">
          <a:xfrm>
            <a:off x="4066726" y="2374338"/>
            <a:ext cx="394097" cy="326231"/>
            <a:chOff x="-44" y="1473"/>
            <a:chExt cx="981" cy="1105"/>
          </a:xfrm>
        </p:grpSpPr>
        <p:pic>
          <p:nvPicPr>
            <p:cNvPr id="181" name="Picture 125" descr="desktop_computer_stylized_medium">
              <a:extLst>
                <a:ext uri="{FF2B5EF4-FFF2-40B4-BE49-F238E27FC236}">
                  <a16:creationId xmlns:a16="http://schemas.microsoft.com/office/drawing/2014/main" id="{BCF21B40-E1CC-014D-891D-609787EB16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" name="Freeform 126">
              <a:extLst>
                <a:ext uri="{FF2B5EF4-FFF2-40B4-BE49-F238E27FC236}">
                  <a16:creationId xmlns:a16="http://schemas.microsoft.com/office/drawing/2014/main" id="{083D804D-E191-C349-B559-AC9913D588A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185" name="Freeform 12">
            <a:extLst>
              <a:ext uri="{FF2B5EF4-FFF2-40B4-BE49-F238E27FC236}">
                <a16:creationId xmlns:a16="http://schemas.microsoft.com/office/drawing/2014/main" id="{AC913105-44C9-2F4B-B4CF-997DA724B11C}"/>
              </a:ext>
            </a:extLst>
          </p:cNvPr>
          <p:cNvSpPr>
            <a:spLocks/>
          </p:cNvSpPr>
          <p:nvPr/>
        </p:nvSpPr>
        <p:spPr bwMode="auto">
          <a:xfrm flipH="1">
            <a:off x="3859605" y="2835443"/>
            <a:ext cx="188119" cy="697706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6" name="Rectangle 15">
            <a:extLst>
              <a:ext uri="{FF2B5EF4-FFF2-40B4-BE49-F238E27FC236}">
                <a16:creationId xmlns:a16="http://schemas.microsoft.com/office/drawing/2014/main" id="{49269DA6-C1BF-794F-9EEA-0EFF8A8D2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696" y="1974860"/>
            <a:ext cx="2844137" cy="27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 defTabSz="685800">
              <a:buNone/>
              <a:defRPr/>
            </a:pPr>
            <a:r>
              <a:rPr lang="en-US" sz="21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Simplest scenario:</a:t>
            </a:r>
          </a:p>
          <a:p>
            <a:pPr marL="0" indent="0" defTabSz="685800">
              <a:buNone/>
              <a:defRPr/>
            </a:pPr>
            <a:endParaRPr lang="en-US" sz="2100" kern="0" dirty="0">
              <a:solidFill>
                <a:srgbClr val="000000"/>
              </a:solidFill>
              <a:latin typeface="Gill Sans MT"/>
              <a:cs typeface="+mn-cs"/>
            </a:endParaRPr>
          </a:p>
        </p:txBody>
      </p:sp>
      <p:sp>
        <p:nvSpPr>
          <p:cNvPr id="187" name="Rectangle 16">
            <a:extLst>
              <a:ext uri="{FF2B5EF4-FFF2-40B4-BE49-F238E27FC236}">
                <a16:creationId xmlns:a16="http://schemas.microsoft.com/office/drawing/2014/main" id="{F84F47E9-C6B6-224C-845B-E201FB286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46" y="5320354"/>
            <a:ext cx="2472928" cy="588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 defTabSz="685800">
              <a:buNone/>
              <a:defRPr/>
            </a:pPr>
            <a:r>
              <a:rPr lang="en-US" sz="1350" kern="0" dirty="0">
                <a:solidFill>
                  <a:srgbClr val="000000"/>
                </a:solidFill>
                <a:latin typeface="Calibri" panose="020F0502020204030204"/>
                <a:cs typeface="+mn-cs"/>
              </a:rPr>
              <a:t>maximum per-connection throughput: R/2</a:t>
            </a:r>
          </a:p>
        </p:txBody>
      </p:sp>
      <p:sp>
        <p:nvSpPr>
          <p:cNvPr id="203" name="Line 33">
            <a:extLst>
              <a:ext uri="{FF2B5EF4-FFF2-40B4-BE49-F238E27FC236}">
                <a16:creationId xmlns:a16="http://schemas.microsoft.com/office/drawing/2014/main" id="{A9B30674-B59F-1643-8F90-1D2641E210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31142" y="2935456"/>
            <a:ext cx="692944" cy="65008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12" name="Text Box 42">
            <a:extLst>
              <a:ext uri="{FF2B5EF4-FFF2-40B4-BE49-F238E27FC236}">
                <a16:creationId xmlns:a16="http://schemas.microsoft.com/office/drawing/2014/main" id="{45FD0EC2-A145-DC4A-9A60-DC5E453EC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7018" y="2175275"/>
            <a:ext cx="685396" cy="182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</a:rPr>
              <a:t>Host A</a:t>
            </a:r>
            <a:endParaRPr lang="en-US" altLang="en-US" sz="3000" dirty="0">
              <a:solidFill>
                <a:srgbClr val="C0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221" name="Text Box 52">
            <a:extLst>
              <a:ext uri="{FF2B5EF4-FFF2-40B4-BE49-F238E27FC236}">
                <a16:creationId xmlns:a16="http://schemas.microsoft.com/office/drawing/2014/main" id="{4BAC9BCC-8A73-B14B-8D28-0C77BB126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855" y="3621761"/>
            <a:ext cx="599347" cy="182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dirty="0">
                <a:solidFill>
                  <a:srgbClr val="0013A3"/>
                </a:solidFill>
                <a:latin typeface="Arial" panose="020B0604020202020204" pitchFamily="34" charset="0"/>
              </a:rPr>
              <a:t>Host B</a:t>
            </a:r>
            <a:endParaRPr lang="en-US" altLang="en-US" sz="3000" dirty="0">
              <a:solidFill>
                <a:srgbClr val="0013A3"/>
              </a:solidFill>
              <a:latin typeface="Comic Sans MS" panose="030F0902030302020204" pitchFamily="66" charset="0"/>
            </a:endParaRPr>
          </a:p>
        </p:txBody>
      </p:sp>
      <p:sp>
        <p:nvSpPr>
          <p:cNvPr id="222" name="Line 53">
            <a:extLst>
              <a:ext uri="{FF2B5EF4-FFF2-40B4-BE49-F238E27FC236}">
                <a16:creationId xmlns:a16="http://schemas.microsoft.com/office/drawing/2014/main" id="{8E626A5E-7769-D34B-B652-6F3C2A3740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95473" y="3235493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23" name="Line 54">
            <a:extLst>
              <a:ext uri="{FF2B5EF4-FFF2-40B4-BE49-F238E27FC236}">
                <a16:creationId xmlns:a16="http://schemas.microsoft.com/office/drawing/2014/main" id="{DFB6E6E2-8DA8-C549-8AC1-828F8F8284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09911" y="3235493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24" name="Line 55">
            <a:extLst>
              <a:ext uri="{FF2B5EF4-FFF2-40B4-BE49-F238E27FC236}">
                <a16:creationId xmlns:a16="http://schemas.microsoft.com/office/drawing/2014/main" id="{66F3E5E4-6136-594F-B2C6-BF81A4932B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02780" y="2935456"/>
            <a:ext cx="692944" cy="65008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25" name="Line 57">
            <a:extLst>
              <a:ext uri="{FF2B5EF4-FFF2-40B4-BE49-F238E27FC236}">
                <a16:creationId xmlns:a16="http://schemas.microsoft.com/office/drawing/2014/main" id="{3D95A033-C14C-3448-9016-0C9E6C4CF3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94201" y="2935565"/>
            <a:ext cx="32980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B231E2E-E647-0B43-8C18-43AC77EF0F75}"/>
              </a:ext>
            </a:extLst>
          </p:cNvPr>
          <p:cNvGrpSpPr/>
          <p:nvPr/>
        </p:nvGrpSpPr>
        <p:grpSpPr>
          <a:xfrm>
            <a:off x="6462311" y="1806743"/>
            <a:ext cx="1343025" cy="530392"/>
            <a:chOff x="8616414" y="1265990"/>
            <a:chExt cx="1790700" cy="707189"/>
          </a:xfrm>
        </p:grpSpPr>
        <p:sp>
          <p:nvSpPr>
            <p:cNvPr id="243" name="Text Box 75">
              <a:extLst>
                <a:ext uri="{FF2B5EF4-FFF2-40B4-BE49-F238E27FC236}">
                  <a16:creationId xmlns:a16="http://schemas.microsoft.com/office/drawing/2014/main" id="{CE7D4727-1265-8046-9D9E-99C60BC228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6414" y="1265990"/>
              <a:ext cx="17907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dirty="0">
                  <a:solidFill>
                    <a:srgbClr val="000000"/>
                  </a:solidFill>
                  <a:latin typeface="Arial" panose="020B0604020202020204" pitchFamily="34" charset="0"/>
                </a:rPr>
                <a:t>throughput:</a:t>
              </a:r>
              <a:r>
                <a:rPr lang="en-US" altLang="en-US" sz="1800" dirty="0">
                  <a:solidFill>
                    <a:srgbClr val="FF0000"/>
                  </a:solidFill>
                  <a:latin typeface="Symbol" pitchFamily="2" charset="2"/>
                </a:rPr>
                <a:t> </a:t>
              </a:r>
              <a:r>
                <a:rPr lang="en-US" altLang="en-US" sz="1800" dirty="0">
                  <a:solidFill>
                    <a:srgbClr val="CC0000"/>
                  </a:solidFill>
                  <a:latin typeface="Symbol" pitchFamily="2" charset="2"/>
                </a:rPr>
                <a:t>l</a:t>
              </a:r>
              <a:r>
                <a:rPr lang="en-US" altLang="en-US" sz="1800" baseline="-25000" dirty="0">
                  <a:solidFill>
                    <a:srgbClr val="CC0000"/>
                  </a:solidFill>
                  <a:latin typeface="Arial" panose="020B0604020202020204" pitchFamily="34" charset="0"/>
                </a:rPr>
                <a:t>out</a:t>
              </a:r>
              <a:endParaRPr lang="en-US" altLang="en-US" sz="1800" dirty="0">
                <a:solidFill>
                  <a:srgbClr val="CC0000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244" name="Line 76">
              <a:extLst>
                <a:ext uri="{FF2B5EF4-FFF2-40B4-BE49-F238E27FC236}">
                  <a16:creationId xmlns:a16="http://schemas.microsoft.com/office/drawing/2014/main" id="{C5D66868-B812-9443-B51A-0CEF4AACBD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60964" y="1675565"/>
              <a:ext cx="549310" cy="2976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281" name="Rectangle 121">
            <a:extLst>
              <a:ext uri="{FF2B5EF4-FFF2-40B4-BE49-F238E27FC236}">
                <a16:creationId xmlns:a16="http://schemas.microsoft.com/office/drawing/2014/main" id="{EBE3971E-D5ED-054F-AE0D-069A6E866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989" y="5322715"/>
            <a:ext cx="1953935" cy="588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r>
              <a:rPr lang="en-US" sz="1350" dirty="0">
                <a:solidFill>
                  <a:srgbClr val="000000"/>
                </a:solidFill>
                <a:latin typeface="Calibri" panose="020F0502020204030204"/>
                <a:ea typeface="ＭＳ Ｐゴシック" charset="0"/>
              </a:rPr>
              <a:t>large delays as arrival rate </a:t>
            </a:r>
            <a:r>
              <a:rPr lang="en-US" sz="1350" dirty="0">
                <a:solidFill>
                  <a:srgbClr val="000000"/>
                </a:solidFill>
                <a:latin typeface="Symbol" charset="0"/>
                <a:ea typeface="ＭＳ Ｐゴシック" charset="0"/>
              </a:rPr>
              <a:t>line</a:t>
            </a:r>
            <a:r>
              <a:rPr lang="en-US" sz="135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 </a:t>
            </a:r>
            <a:r>
              <a:rPr lang="en-US" sz="1350" dirty="0">
                <a:solidFill>
                  <a:srgbClr val="000000"/>
                </a:solidFill>
                <a:latin typeface="Calibri" panose="020F0502020204030204"/>
                <a:ea typeface="ＭＳ Ｐゴシック" charset="0"/>
              </a:rPr>
              <a:t>approaches capacity</a:t>
            </a:r>
          </a:p>
        </p:txBody>
      </p:sp>
      <p:grpSp>
        <p:nvGrpSpPr>
          <p:cNvPr id="282" name="Group 127">
            <a:extLst>
              <a:ext uri="{FF2B5EF4-FFF2-40B4-BE49-F238E27FC236}">
                <a16:creationId xmlns:a16="http://schemas.microsoft.com/office/drawing/2014/main" id="{879C5F16-9AAB-6840-B838-D482AFD339D0}"/>
              </a:ext>
            </a:extLst>
          </p:cNvPr>
          <p:cNvGrpSpPr>
            <a:grpSpLocks/>
          </p:cNvGrpSpPr>
          <p:nvPr/>
        </p:nvGrpSpPr>
        <p:grpSpPr bwMode="auto">
          <a:xfrm>
            <a:off x="7861295" y="2716380"/>
            <a:ext cx="173831" cy="330994"/>
            <a:chOff x="4140" y="429"/>
            <a:chExt cx="1425" cy="2396"/>
          </a:xfrm>
        </p:grpSpPr>
        <p:sp>
          <p:nvSpPr>
            <p:cNvPr id="283" name="Freeform 128">
              <a:extLst>
                <a:ext uri="{FF2B5EF4-FFF2-40B4-BE49-F238E27FC236}">
                  <a16:creationId xmlns:a16="http://schemas.microsoft.com/office/drawing/2014/main" id="{EEE9D070-85E1-B647-B7C8-1DB5376AB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84" name="Rectangle 129">
              <a:extLst>
                <a:ext uri="{FF2B5EF4-FFF2-40B4-BE49-F238E27FC236}">
                  <a16:creationId xmlns:a16="http://schemas.microsoft.com/office/drawing/2014/main" id="{E73B241F-DFB6-C64D-BF7F-84EE70317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85" name="Freeform 130">
              <a:extLst>
                <a:ext uri="{FF2B5EF4-FFF2-40B4-BE49-F238E27FC236}">
                  <a16:creationId xmlns:a16="http://schemas.microsoft.com/office/drawing/2014/main" id="{64CD10E5-9AA0-9F41-9104-ED6E9D5A2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86" name="Freeform 131">
              <a:extLst>
                <a:ext uri="{FF2B5EF4-FFF2-40B4-BE49-F238E27FC236}">
                  <a16:creationId xmlns:a16="http://schemas.microsoft.com/office/drawing/2014/main" id="{8E369838-B1C5-9B4A-8873-925C9867C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87" name="Rectangle 132">
              <a:extLst>
                <a:ext uri="{FF2B5EF4-FFF2-40B4-BE49-F238E27FC236}">
                  <a16:creationId xmlns:a16="http://schemas.microsoft.com/office/drawing/2014/main" id="{44FFFEBD-8F73-6E40-B407-310565525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88" name="Group 133">
              <a:extLst>
                <a:ext uri="{FF2B5EF4-FFF2-40B4-BE49-F238E27FC236}">
                  <a16:creationId xmlns:a16="http://schemas.microsoft.com/office/drawing/2014/main" id="{6C449BB4-7723-4842-B85A-6CD8ADE6EE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13" name="AutoShape 134">
                <a:extLst>
                  <a:ext uri="{FF2B5EF4-FFF2-40B4-BE49-F238E27FC236}">
                    <a16:creationId xmlns:a16="http://schemas.microsoft.com/office/drawing/2014/main" id="{580CA213-4512-FA45-88F9-266D674594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314" name="AutoShape 135">
                <a:extLst>
                  <a:ext uri="{FF2B5EF4-FFF2-40B4-BE49-F238E27FC236}">
                    <a16:creationId xmlns:a16="http://schemas.microsoft.com/office/drawing/2014/main" id="{7BFC849C-499A-0845-9AF3-BC589CDB0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89" name="Rectangle 136">
              <a:extLst>
                <a:ext uri="{FF2B5EF4-FFF2-40B4-BE49-F238E27FC236}">
                  <a16:creationId xmlns:a16="http://schemas.microsoft.com/office/drawing/2014/main" id="{B0208157-D9CE-EF44-A82A-B9CE3EFD6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90" name="Group 137">
              <a:extLst>
                <a:ext uri="{FF2B5EF4-FFF2-40B4-BE49-F238E27FC236}">
                  <a16:creationId xmlns:a16="http://schemas.microsoft.com/office/drawing/2014/main" id="{6411A460-4D2F-6042-B3FA-7877FC0854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11" name="AutoShape 138">
                <a:extLst>
                  <a:ext uri="{FF2B5EF4-FFF2-40B4-BE49-F238E27FC236}">
                    <a16:creationId xmlns:a16="http://schemas.microsoft.com/office/drawing/2014/main" id="{2528368F-0A05-EE46-8F4D-04BE346F7E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312" name="AutoShape 139">
                <a:extLst>
                  <a:ext uri="{FF2B5EF4-FFF2-40B4-BE49-F238E27FC236}">
                    <a16:creationId xmlns:a16="http://schemas.microsoft.com/office/drawing/2014/main" id="{3B97611D-398F-1A45-996D-38BD9822FA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91" name="Rectangle 140">
              <a:extLst>
                <a:ext uri="{FF2B5EF4-FFF2-40B4-BE49-F238E27FC236}">
                  <a16:creationId xmlns:a16="http://schemas.microsoft.com/office/drawing/2014/main" id="{4932601C-B73A-F24F-A7F0-F545FC9D8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92" name="Rectangle 141">
              <a:extLst>
                <a:ext uri="{FF2B5EF4-FFF2-40B4-BE49-F238E27FC236}">
                  <a16:creationId xmlns:a16="http://schemas.microsoft.com/office/drawing/2014/main" id="{2E798033-84E0-4046-8123-A3E022BD0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93" name="Group 142">
              <a:extLst>
                <a:ext uri="{FF2B5EF4-FFF2-40B4-BE49-F238E27FC236}">
                  <a16:creationId xmlns:a16="http://schemas.microsoft.com/office/drawing/2014/main" id="{CD337402-4020-0C40-A87E-04755B4A7E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09" name="AutoShape 143">
                <a:extLst>
                  <a:ext uri="{FF2B5EF4-FFF2-40B4-BE49-F238E27FC236}">
                    <a16:creationId xmlns:a16="http://schemas.microsoft.com/office/drawing/2014/main" id="{9BAD2454-875B-1040-9ABC-295C5238C7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310" name="AutoShape 144">
                <a:extLst>
                  <a:ext uri="{FF2B5EF4-FFF2-40B4-BE49-F238E27FC236}">
                    <a16:creationId xmlns:a16="http://schemas.microsoft.com/office/drawing/2014/main" id="{811AD1F7-D00A-2044-8EE8-E002D9859C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94" name="Freeform 145">
              <a:extLst>
                <a:ext uri="{FF2B5EF4-FFF2-40B4-BE49-F238E27FC236}">
                  <a16:creationId xmlns:a16="http://schemas.microsoft.com/office/drawing/2014/main" id="{A082C83D-EAED-5146-8038-BE6D0CD21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295" name="Group 146">
              <a:extLst>
                <a:ext uri="{FF2B5EF4-FFF2-40B4-BE49-F238E27FC236}">
                  <a16:creationId xmlns:a16="http://schemas.microsoft.com/office/drawing/2014/main" id="{F3E31BE7-8EE9-F941-912B-D2464A54CE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07" name="AutoShape 147">
                <a:extLst>
                  <a:ext uri="{FF2B5EF4-FFF2-40B4-BE49-F238E27FC236}">
                    <a16:creationId xmlns:a16="http://schemas.microsoft.com/office/drawing/2014/main" id="{732FE339-8FD2-B042-A014-EB19D7B67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308" name="AutoShape 148">
                <a:extLst>
                  <a:ext uri="{FF2B5EF4-FFF2-40B4-BE49-F238E27FC236}">
                    <a16:creationId xmlns:a16="http://schemas.microsoft.com/office/drawing/2014/main" id="{DB2D76FA-CDCC-F543-9A55-827409AD12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96" name="Rectangle 149">
              <a:extLst>
                <a:ext uri="{FF2B5EF4-FFF2-40B4-BE49-F238E27FC236}">
                  <a16:creationId xmlns:a16="http://schemas.microsoft.com/office/drawing/2014/main" id="{4AFD3D79-1011-034D-82FF-36956F3D9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97" name="Freeform 150">
              <a:extLst>
                <a:ext uri="{FF2B5EF4-FFF2-40B4-BE49-F238E27FC236}">
                  <a16:creationId xmlns:a16="http://schemas.microsoft.com/office/drawing/2014/main" id="{52F521AF-DEC9-9748-8982-D368DDC2B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98" name="Freeform 151">
              <a:extLst>
                <a:ext uri="{FF2B5EF4-FFF2-40B4-BE49-F238E27FC236}">
                  <a16:creationId xmlns:a16="http://schemas.microsoft.com/office/drawing/2014/main" id="{79F218C2-4B51-FB41-BB3E-2CB4FAE16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99" name="Oval 152">
              <a:extLst>
                <a:ext uri="{FF2B5EF4-FFF2-40B4-BE49-F238E27FC236}">
                  <a16:creationId xmlns:a16="http://schemas.microsoft.com/office/drawing/2014/main" id="{D16EE320-03FD-2743-B02B-D5E39593F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00" name="Freeform 153">
              <a:extLst>
                <a:ext uri="{FF2B5EF4-FFF2-40B4-BE49-F238E27FC236}">
                  <a16:creationId xmlns:a16="http://schemas.microsoft.com/office/drawing/2014/main" id="{325E7068-4B41-AE4C-965D-DA302E309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01" name="AutoShape 154">
              <a:extLst>
                <a:ext uri="{FF2B5EF4-FFF2-40B4-BE49-F238E27FC236}">
                  <a16:creationId xmlns:a16="http://schemas.microsoft.com/office/drawing/2014/main" id="{1527CD1D-4826-F249-8CC0-8D803950A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02" name="AutoShape 155">
              <a:extLst>
                <a:ext uri="{FF2B5EF4-FFF2-40B4-BE49-F238E27FC236}">
                  <a16:creationId xmlns:a16="http://schemas.microsoft.com/office/drawing/2014/main" id="{4137A0DF-EEBF-3340-81E2-30FAAE129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03" name="Oval 156">
              <a:extLst>
                <a:ext uri="{FF2B5EF4-FFF2-40B4-BE49-F238E27FC236}">
                  <a16:creationId xmlns:a16="http://schemas.microsoft.com/office/drawing/2014/main" id="{E1E6F14E-95D9-CC4D-BAB1-1C12B1C1A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04" name="Oval 157">
              <a:extLst>
                <a:ext uri="{FF2B5EF4-FFF2-40B4-BE49-F238E27FC236}">
                  <a16:creationId xmlns:a16="http://schemas.microsoft.com/office/drawing/2014/main" id="{6F01C793-1A32-CA48-99E6-4C06A214A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05" name="Oval 158">
              <a:extLst>
                <a:ext uri="{FF2B5EF4-FFF2-40B4-BE49-F238E27FC236}">
                  <a16:creationId xmlns:a16="http://schemas.microsoft.com/office/drawing/2014/main" id="{3B94657D-9B77-1941-9CBF-A2C7591AF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06" name="Rectangle 159">
              <a:extLst>
                <a:ext uri="{FF2B5EF4-FFF2-40B4-BE49-F238E27FC236}">
                  <a16:creationId xmlns:a16="http://schemas.microsoft.com/office/drawing/2014/main" id="{4C98791A-5A95-B940-9F34-EFDEF8150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315" name="Group 160">
            <a:extLst>
              <a:ext uri="{FF2B5EF4-FFF2-40B4-BE49-F238E27FC236}">
                <a16:creationId xmlns:a16="http://schemas.microsoft.com/office/drawing/2014/main" id="{AD8E3A61-2C5A-CC41-9933-891EC27B5015}"/>
              </a:ext>
            </a:extLst>
          </p:cNvPr>
          <p:cNvGrpSpPr>
            <a:grpSpLocks/>
          </p:cNvGrpSpPr>
          <p:nvPr/>
        </p:nvGrpSpPr>
        <p:grpSpPr bwMode="auto">
          <a:xfrm>
            <a:off x="3619693" y="3393520"/>
            <a:ext cx="394097" cy="326231"/>
            <a:chOff x="-44" y="1473"/>
            <a:chExt cx="981" cy="1105"/>
          </a:xfrm>
        </p:grpSpPr>
        <p:pic>
          <p:nvPicPr>
            <p:cNvPr id="316" name="Picture 161" descr="desktop_computer_stylized_medium">
              <a:extLst>
                <a:ext uri="{FF2B5EF4-FFF2-40B4-BE49-F238E27FC236}">
                  <a16:creationId xmlns:a16="http://schemas.microsoft.com/office/drawing/2014/main" id="{01E7AFB7-5DE3-CA4A-A50A-BEADA26B11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" name="Freeform 162">
              <a:extLst>
                <a:ext uri="{FF2B5EF4-FFF2-40B4-BE49-F238E27FC236}">
                  <a16:creationId xmlns:a16="http://schemas.microsoft.com/office/drawing/2014/main" id="{4E443E40-A128-4E43-A736-B0C7F3C2A94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18" name="Group 163">
            <a:extLst>
              <a:ext uri="{FF2B5EF4-FFF2-40B4-BE49-F238E27FC236}">
                <a16:creationId xmlns:a16="http://schemas.microsoft.com/office/drawing/2014/main" id="{C476CE94-C91A-0846-B6B7-05E77113879F}"/>
              </a:ext>
            </a:extLst>
          </p:cNvPr>
          <p:cNvGrpSpPr>
            <a:grpSpLocks/>
          </p:cNvGrpSpPr>
          <p:nvPr/>
        </p:nvGrpSpPr>
        <p:grpSpPr bwMode="auto">
          <a:xfrm>
            <a:off x="7623170" y="3440280"/>
            <a:ext cx="173831" cy="330994"/>
            <a:chOff x="4140" y="429"/>
            <a:chExt cx="1425" cy="2396"/>
          </a:xfrm>
        </p:grpSpPr>
        <p:sp>
          <p:nvSpPr>
            <p:cNvPr id="319" name="Freeform 164">
              <a:extLst>
                <a:ext uri="{FF2B5EF4-FFF2-40B4-BE49-F238E27FC236}">
                  <a16:creationId xmlns:a16="http://schemas.microsoft.com/office/drawing/2014/main" id="{7E23E3E7-6D0C-A747-B7EB-BCB232D56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20" name="Rectangle 165">
              <a:extLst>
                <a:ext uri="{FF2B5EF4-FFF2-40B4-BE49-F238E27FC236}">
                  <a16:creationId xmlns:a16="http://schemas.microsoft.com/office/drawing/2014/main" id="{814A29A9-35F7-F44A-86DF-9F21E4CCB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21" name="Freeform 166">
              <a:extLst>
                <a:ext uri="{FF2B5EF4-FFF2-40B4-BE49-F238E27FC236}">
                  <a16:creationId xmlns:a16="http://schemas.microsoft.com/office/drawing/2014/main" id="{B8E9398E-F70E-104C-BC4B-6FFD09F2B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22" name="Freeform 167">
              <a:extLst>
                <a:ext uri="{FF2B5EF4-FFF2-40B4-BE49-F238E27FC236}">
                  <a16:creationId xmlns:a16="http://schemas.microsoft.com/office/drawing/2014/main" id="{5AC97C88-7A57-AC44-A1DE-BDAB3D1F0E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23" name="Rectangle 168">
              <a:extLst>
                <a:ext uri="{FF2B5EF4-FFF2-40B4-BE49-F238E27FC236}">
                  <a16:creationId xmlns:a16="http://schemas.microsoft.com/office/drawing/2014/main" id="{229AF22C-8CDF-2B47-88DF-3B0B587AB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324" name="Group 169">
              <a:extLst>
                <a:ext uri="{FF2B5EF4-FFF2-40B4-BE49-F238E27FC236}">
                  <a16:creationId xmlns:a16="http://schemas.microsoft.com/office/drawing/2014/main" id="{0515312F-DE85-5641-B779-E8991ECBE8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49" name="AutoShape 170">
                <a:extLst>
                  <a:ext uri="{FF2B5EF4-FFF2-40B4-BE49-F238E27FC236}">
                    <a16:creationId xmlns:a16="http://schemas.microsoft.com/office/drawing/2014/main" id="{1534A008-335A-184E-AD46-396A2FE371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350" name="AutoShape 171">
                <a:extLst>
                  <a:ext uri="{FF2B5EF4-FFF2-40B4-BE49-F238E27FC236}">
                    <a16:creationId xmlns:a16="http://schemas.microsoft.com/office/drawing/2014/main" id="{7B78E6A8-DEDF-8144-B322-E4206C6E43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325" name="Rectangle 172">
              <a:extLst>
                <a:ext uri="{FF2B5EF4-FFF2-40B4-BE49-F238E27FC236}">
                  <a16:creationId xmlns:a16="http://schemas.microsoft.com/office/drawing/2014/main" id="{41B3D22D-F506-A448-A3D5-682181A47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326" name="Group 173">
              <a:extLst>
                <a:ext uri="{FF2B5EF4-FFF2-40B4-BE49-F238E27FC236}">
                  <a16:creationId xmlns:a16="http://schemas.microsoft.com/office/drawing/2014/main" id="{BAB53084-6436-7444-ACD5-5E7D01263E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47" name="AutoShape 174">
                <a:extLst>
                  <a:ext uri="{FF2B5EF4-FFF2-40B4-BE49-F238E27FC236}">
                    <a16:creationId xmlns:a16="http://schemas.microsoft.com/office/drawing/2014/main" id="{0369A39A-40F1-844B-BF97-43EE1A3A2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348" name="AutoShape 175">
                <a:extLst>
                  <a:ext uri="{FF2B5EF4-FFF2-40B4-BE49-F238E27FC236}">
                    <a16:creationId xmlns:a16="http://schemas.microsoft.com/office/drawing/2014/main" id="{D7484B32-60C3-FA43-A0AA-A0D628003D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327" name="Rectangle 176">
              <a:extLst>
                <a:ext uri="{FF2B5EF4-FFF2-40B4-BE49-F238E27FC236}">
                  <a16:creationId xmlns:a16="http://schemas.microsoft.com/office/drawing/2014/main" id="{47F75A27-CD31-C143-9419-3EFB25939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28" name="Rectangle 177">
              <a:extLst>
                <a:ext uri="{FF2B5EF4-FFF2-40B4-BE49-F238E27FC236}">
                  <a16:creationId xmlns:a16="http://schemas.microsoft.com/office/drawing/2014/main" id="{EBB2CB62-D2FD-C047-94B4-C2C954564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329" name="Group 178">
              <a:extLst>
                <a:ext uri="{FF2B5EF4-FFF2-40B4-BE49-F238E27FC236}">
                  <a16:creationId xmlns:a16="http://schemas.microsoft.com/office/drawing/2014/main" id="{E30BEF1D-E99C-EF4F-A2DE-968E737192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45" name="AutoShape 179">
                <a:extLst>
                  <a:ext uri="{FF2B5EF4-FFF2-40B4-BE49-F238E27FC236}">
                    <a16:creationId xmlns:a16="http://schemas.microsoft.com/office/drawing/2014/main" id="{F4DDADBC-B242-A44B-A408-F26BF5F850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346" name="AutoShape 180">
                <a:extLst>
                  <a:ext uri="{FF2B5EF4-FFF2-40B4-BE49-F238E27FC236}">
                    <a16:creationId xmlns:a16="http://schemas.microsoft.com/office/drawing/2014/main" id="{44C7D4E7-B87F-0F46-9357-55FA60430C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330" name="Freeform 181">
              <a:extLst>
                <a:ext uri="{FF2B5EF4-FFF2-40B4-BE49-F238E27FC236}">
                  <a16:creationId xmlns:a16="http://schemas.microsoft.com/office/drawing/2014/main" id="{06EF0D71-8E6B-284F-8EA0-661C36308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31" name="Group 182">
              <a:extLst>
                <a:ext uri="{FF2B5EF4-FFF2-40B4-BE49-F238E27FC236}">
                  <a16:creationId xmlns:a16="http://schemas.microsoft.com/office/drawing/2014/main" id="{6A155784-A945-0F47-A39B-31F367A22C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43" name="AutoShape 183">
                <a:extLst>
                  <a:ext uri="{FF2B5EF4-FFF2-40B4-BE49-F238E27FC236}">
                    <a16:creationId xmlns:a16="http://schemas.microsoft.com/office/drawing/2014/main" id="{22B4B462-8B3B-7C4D-A454-5B71818EB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344" name="AutoShape 184">
                <a:extLst>
                  <a:ext uri="{FF2B5EF4-FFF2-40B4-BE49-F238E27FC236}">
                    <a16:creationId xmlns:a16="http://schemas.microsoft.com/office/drawing/2014/main" id="{409F6314-B504-4546-8602-B7F2622A9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332" name="Rectangle 185">
              <a:extLst>
                <a:ext uri="{FF2B5EF4-FFF2-40B4-BE49-F238E27FC236}">
                  <a16:creationId xmlns:a16="http://schemas.microsoft.com/office/drawing/2014/main" id="{AF2779F2-42B0-3548-98BC-AAAD42547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33" name="Freeform 186">
              <a:extLst>
                <a:ext uri="{FF2B5EF4-FFF2-40B4-BE49-F238E27FC236}">
                  <a16:creationId xmlns:a16="http://schemas.microsoft.com/office/drawing/2014/main" id="{7820BB4F-C7CB-BA4F-BE2B-ACCFBB678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4" name="Freeform 187">
              <a:extLst>
                <a:ext uri="{FF2B5EF4-FFF2-40B4-BE49-F238E27FC236}">
                  <a16:creationId xmlns:a16="http://schemas.microsoft.com/office/drawing/2014/main" id="{A1A403FF-DEAA-3D46-A5ED-A9AF23D9C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5" name="Oval 188">
              <a:extLst>
                <a:ext uri="{FF2B5EF4-FFF2-40B4-BE49-F238E27FC236}">
                  <a16:creationId xmlns:a16="http://schemas.microsoft.com/office/drawing/2014/main" id="{F39A85A5-F2E7-8645-BCBC-3F68037F8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36" name="Freeform 189">
              <a:extLst>
                <a:ext uri="{FF2B5EF4-FFF2-40B4-BE49-F238E27FC236}">
                  <a16:creationId xmlns:a16="http://schemas.microsoft.com/office/drawing/2014/main" id="{0CB2E7B8-94AB-4F40-879D-C205945B4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37" name="AutoShape 190">
              <a:extLst>
                <a:ext uri="{FF2B5EF4-FFF2-40B4-BE49-F238E27FC236}">
                  <a16:creationId xmlns:a16="http://schemas.microsoft.com/office/drawing/2014/main" id="{B6C28932-399E-9147-AD60-584710E9C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38" name="AutoShape 191">
              <a:extLst>
                <a:ext uri="{FF2B5EF4-FFF2-40B4-BE49-F238E27FC236}">
                  <a16:creationId xmlns:a16="http://schemas.microsoft.com/office/drawing/2014/main" id="{F9F7B82B-B598-F440-A518-BFE64EF66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39" name="Oval 192">
              <a:extLst>
                <a:ext uri="{FF2B5EF4-FFF2-40B4-BE49-F238E27FC236}">
                  <a16:creationId xmlns:a16="http://schemas.microsoft.com/office/drawing/2014/main" id="{512A4325-4F66-844C-85B1-4C936DB52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40" name="Oval 193">
              <a:extLst>
                <a:ext uri="{FF2B5EF4-FFF2-40B4-BE49-F238E27FC236}">
                  <a16:creationId xmlns:a16="http://schemas.microsoft.com/office/drawing/2014/main" id="{42DC5D9A-8390-1D4A-A8C1-3C193D975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41" name="Oval 194">
              <a:extLst>
                <a:ext uri="{FF2B5EF4-FFF2-40B4-BE49-F238E27FC236}">
                  <a16:creationId xmlns:a16="http://schemas.microsoft.com/office/drawing/2014/main" id="{2D7703BC-D6FE-9D4A-BE5F-ACBE696F0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42" name="Rectangle 195">
              <a:extLst>
                <a:ext uri="{FF2B5EF4-FFF2-40B4-BE49-F238E27FC236}">
                  <a16:creationId xmlns:a16="http://schemas.microsoft.com/office/drawing/2014/main" id="{88471DD5-00EF-B34A-BAA1-AA8AE7CFB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6280C64-E9DA-2647-B08F-F808595E646B}"/>
              </a:ext>
            </a:extLst>
          </p:cNvPr>
          <p:cNvSpPr txBox="1"/>
          <p:nvPr/>
        </p:nvSpPr>
        <p:spPr>
          <a:xfrm>
            <a:off x="580696" y="4159046"/>
            <a:ext cx="2379551" cy="96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0038" indent="-300038" defTabSz="685800">
              <a:lnSpc>
                <a:spcPct val="90000"/>
              </a:lnSpc>
              <a:defRPr/>
            </a:pPr>
            <a:r>
              <a:rPr lang="en-US" sz="2100" i="1" dirty="0">
                <a:solidFill>
                  <a:srgbClr val="C00000"/>
                </a:solidFill>
                <a:latin typeface="Calibri" panose="020F0502020204030204"/>
              </a:rPr>
              <a:t>Q: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What happens as </a:t>
            </a:r>
            <a:r>
              <a:rPr lang="en-US" sz="2100" dirty="0">
                <a:solidFill>
                  <a:srgbClr val="000000"/>
                </a:solidFill>
                <a:latin typeface="Calibri" panose="020F0502020204030204"/>
                <a:ea typeface="ＭＳ Ｐゴシック" charset="0"/>
              </a:rPr>
              <a:t>arrival rate </a:t>
            </a:r>
            <a:r>
              <a:rPr lang="en-US" sz="2100" i="1" dirty="0">
                <a:solidFill>
                  <a:srgbClr val="C00000"/>
                </a:solidFill>
                <a:latin typeface="Symbol" charset="0"/>
                <a:ea typeface="ＭＳ Ｐゴシック" charset="0"/>
              </a:rPr>
              <a:t>l</a:t>
            </a:r>
            <a:r>
              <a:rPr lang="en-US" sz="2100" baseline="-25000" dirty="0">
                <a:solidFill>
                  <a:srgbClr val="C00000"/>
                </a:solidFill>
                <a:latin typeface="Calibri"/>
                <a:ea typeface="ＭＳ Ｐゴシック" charset="0"/>
              </a:rPr>
              <a:t>in</a:t>
            </a:r>
            <a:r>
              <a:rPr lang="en-US" sz="2100" i="1" dirty="0">
                <a:solidFill>
                  <a:srgbClr val="C00000"/>
                </a:solidFill>
                <a:latin typeface="Gill Sans MT" charset="0"/>
                <a:ea typeface="ＭＳ Ｐゴシック" charset="0"/>
              </a:rPr>
              <a:t> </a:t>
            </a:r>
            <a:r>
              <a:rPr lang="en-US" sz="2100" dirty="0">
                <a:solidFill>
                  <a:srgbClr val="000000"/>
                </a:solidFill>
                <a:latin typeface="Calibri" panose="020F0502020204030204"/>
                <a:ea typeface="ＭＳ Ｐゴシック" charset="0"/>
              </a:rPr>
              <a:t>approaches R/2?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3DE16E-F5B0-8243-9843-F4026E4132BD}"/>
              </a:ext>
            </a:extLst>
          </p:cNvPr>
          <p:cNvGrpSpPr/>
          <p:nvPr/>
        </p:nvGrpSpPr>
        <p:grpSpPr>
          <a:xfrm>
            <a:off x="3613524" y="1738634"/>
            <a:ext cx="1599010" cy="543168"/>
            <a:chOff x="4818031" y="1175178"/>
            <a:chExt cx="2132013" cy="724224"/>
          </a:xfrm>
        </p:grpSpPr>
        <p:sp>
          <p:nvSpPr>
            <p:cNvPr id="240" name="Oval 72">
              <a:extLst>
                <a:ext uri="{FF2B5EF4-FFF2-40B4-BE49-F238E27FC236}">
                  <a16:creationId xmlns:a16="http://schemas.microsoft.com/office/drawing/2014/main" id="{4B444E41-EF68-F94F-951A-91633B83D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4414" y="1808915"/>
              <a:ext cx="92075" cy="904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242" name="Line 74">
              <a:extLst>
                <a:ext uri="{FF2B5EF4-FFF2-40B4-BE49-F238E27FC236}">
                  <a16:creationId xmlns:a16="http://schemas.microsoft.com/office/drawing/2014/main" id="{5D48EDA9-2F95-5143-AF32-3BAD44F9D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58964" y="1588252"/>
              <a:ext cx="369887" cy="2524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51" name="Text Box 43">
              <a:extLst>
                <a:ext uri="{FF2B5EF4-FFF2-40B4-BE49-F238E27FC236}">
                  <a16:creationId xmlns:a16="http://schemas.microsoft.com/office/drawing/2014/main" id="{1C99CDFE-9298-BC49-916B-D28FBB5763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8031" y="1175178"/>
              <a:ext cx="213201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r>
                <a:rPr lang="en-US" altLang="en-US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original data: </a:t>
              </a:r>
              <a:r>
                <a:rPr lang="en-US" altLang="en-US" sz="1800" dirty="0">
                  <a:solidFill>
                    <a:srgbClr val="CC0000"/>
                  </a:solidFill>
                  <a:latin typeface="Symbol" pitchFamily="2" charset="2"/>
                </a:rPr>
                <a:t>l</a:t>
              </a:r>
              <a:r>
                <a:rPr lang="en-US" altLang="en-US" sz="1800" baseline="-25000" dirty="0">
                  <a:solidFill>
                    <a:srgbClr val="CC0000"/>
                  </a:solidFill>
                  <a:latin typeface="Arial" panose="020B0604020202020204" pitchFamily="34" charset="0"/>
                </a:rPr>
                <a:t>in</a:t>
              </a:r>
              <a:r>
                <a:rPr lang="en-US" altLang="en-US" sz="1200" baseline="-25000" dirty="0">
                  <a:solidFill>
                    <a:srgbClr val="CC0000"/>
                  </a:solidFill>
                  <a:latin typeface="Arial" panose="020B0604020202020204" pitchFamily="34" charset="0"/>
                </a:rPr>
                <a:t> </a:t>
              </a:r>
              <a:endParaRPr lang="en-US" altLang="en-US" sz="1200" dirty="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74" name="Line 57">
            <a:extLst>
              <a:ext uri="{FF2B5EF4-FFF2-40B4-BE49-F238E27FC236}">
                <a16:creationId xmlns:a16="http://schemas.microsoft.com/office/drawing/2014/main" id="{198CECD8-AC19-4441-B07E-D812C1E4B0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10160" y="3584438"/>
            <a:ext cx="61665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5" name="Line 57">
            <a:extLst>
              <a:ext uri="{FF2B5EF4-FFF2-40B4-BE49-F238E27FC236}">
                <a16:creationId xmlns:a16="http://schemas.microsoft.com/office/drawing/2014/main" id="{E3F52AFD-CA05-E145-A13D-BB73559D50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94831" y="2933807"/>
            <a:ext cx="32980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6" name="Line 57">
            <a:extLst>
              <a:ext uri="{FF2B5EF4-FFF2-40B4-BE49-F238E27FC236}">
                <a16:creationId xmlns:a16="http://schemas.microsoft.com/office/drawing/2014/main" id="{1C06B2BF-A77D-004B-A9F1-4A7417598B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03755" y="3586196"/>
            <a:ext cx="32980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8CA410-A84F-B34C-BD63-41722EE5FAA8}"/>
              </a:ext>
            </a:extLst>
          </p:cNvPr>
          <p:cNvSpPr txBox="1"/>
          <p:nvPr/>
        </p:nvSpPr>
        <p:spPr>
          <a:xfrm>
            <a:off x="6401976" y="2963887"/>
            <a:ext cx="309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685800"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R</a:t>
            </a:r>
          </a:p>
        </p:txBody>
      </p:sp>
      <p:sp>
        <p:nvSpPr>
          <p:cNvPr id="188" name="Rectangle 15">
            <a:extLst>
              <a:ext uri="{FF2B5EF4-FFF2-40B4-BE49-F238E27FC236}">
                <a16:creationId xmlns:a16="http://schemas.microsoft.com/office/drawing/2014/main" id="{623041CF-890D-E145-9016-1967AAC98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383" y="2871983"/>
            <a:ext cx="2844137" cy="30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167879" indent="-167879" defTabSz="685800">
              <a:buFont typeface="Wingdings" charset="2"/>
              <a:buChar char="§"/>
              <a:defRPr/>
            </a:pPr>
            <a:r>
              <a:rPr lang="en-US" sz="18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two flows</a:t>
            </a:r>
          </a:p>
        </p:txBody>
      </p:sp>
      <p:sp>
        <p:nvSpPr>
          <p:cNvPr id="189" name="Rectangle 15">
            <a:extLst>
              <a:ext uri="{FF2B5EF4-FFF2-40B4-BE49-F238E27FC236}">
                <a16:creationId xmlns:a16="http://schemas.microsoft.com/office/drawing/2014/main" id="{FF1255B8-CBCE-BA42-8BB2-AD361E914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025" y="2288265"/>
            <a:ext cx="3103701" cy="604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167879" indent="-167879" defTabSz="685800">
              <a:buFont typeface="Wingdings" charset="2"/>
              <a:buChar char="§"/>
              <a:defRPr/>
            </a:pPr>
            <a:r>
              <a:rPr lang="en-US" sz="18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one router, infinite buffers </a:t>
            </a:r>
          </a:p>
          <a:p>
            <a:pPr marL="167879" indent="-167879" defTabSz="685800">
              <a:buFont typeface="Wingdings" charset="2"/>
              <a:buChar char="§"/>
              <a:defRPr/>
            </a:pPr>
            <a:r>
              <a:rPr lang="en-US" sz="18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input, output link capacity: R</a:t>
            </a:r>
          </a:p>
          <a:p>
            <a:pPr marL="0" indent="0" defTabSz="685800">
              <a:buNone/>
              <a:defRPr/>
            </a:pPr>
            <a:endParaRPr lang="en-US" sz="2100" kern="0" dirty="0">
              <a:solidFill>
                <a:srgbClr val="000000"/>
              </a:solidFill>
              <a:latin typeface="Gill Sans MT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F0A3C67-BB73-4845-B5BC-A5FA51964D18}"/>
              </a:ext>
            </a:extLst>
          </p:cNvPr>
          <p:cNvGrpSpPr/>
          <p:nvPr/>
        </p:nvGrpSpPr>
        <p:grpSpPr>
          <a:xfrm>
            <a:off x="5648093" y="2527071"/>
            <a:ext cx="1172596" cy="813487"/>
            <a:chOff x="7530790" y="2226427"/>
            <a:chExt cx="1563461" cy="1084649"/>
          </a:xfrm>
        </p:grpSpPr>
        <p:sp>
          <p:nvSpPr>
            <p:cNvPr id="202" name="Text Box 32">
              <a:extLst>
                <a:ext uri="{FF2B5EF4-FFF2-40B4-BE49-F238E27FC236}">
                  <a16:creationId xmlns:a16="http://schemas.microsoft.com/office/drawing/2014/main" id="{67E5732D-E6EC-D241-A9B3-13D2E2E58D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70264" y="2226427"/>
              <a:ext cx="1423987" cy="395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050" b="1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infinite</a:t>
              </a:r>
              <a:r>
                <a:rPr lang="en-US" altLang="en-US" sz="900" dirty="0">
                  <a:solidFill>
                    <a:srgbClr val="000000"/>
                  </a:solidFill>
                  <a:latin typeface="Arial" panose="020B0604020202020204" pitchFamily="34" charset="0"/>
                </a:rPr>
                <a:t> shared output link buffers</a:t>
              </a:r>
            </a:p>
          </p:txBody>
        </p:sp>
        <p:sp>
          <p:nvSpPr>
            <p:cNvPr id="245" name="Line 77">
              <a:extLst>
                <a:ext uri="{FF2B5EF4-FFF2-40B4-BE49-F238E27FC236}">
                  <a16:creationId xmlns:a16="http://schemas.microsoft.com/office/drawing/2014/main" id="{CCE11A70-D909-BE48-AB8A-1428CFD4C5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08075" y="2647114"/>
              <a:ext cx="238488" cy="3758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87BD2B8-6069-9D4C-8D8B-41A687B641F2}"/>
                </a:ext>
              </a:extLst>
            </p:cNvPr>
            <p:cNvGrpSpPr/>
            <p:nvPr/>
          </p:nvGrpSpPr>
          <p:grpSpPr>
            <a:xfrm>
              <a:off x="7530790" y="3050726"/>
              <a:ext cx="899401" cy="260350"/>
              <a:chOff x="10436222" y="4555062"/>
              <a:chExt cx="899401" cy="260350"/>
            </a:xfrm>
          </p:grpSpPr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F30537BA-9247-BC42-BBD7-831810DD3EB0}"/>
                  </a:ext>
                </a:extLst>
              </p:cNvPr>
              <p:cNvSpPr/>
              <p:nvPr/>
            </p:nvSpPr>
            <p:spPr>
              <a:xfrm>
                <a:off x="10442522" y="4559486"/>
                <a:ext cx="891015" cy="254197"/>
              </a:xfrm>
              <a:prstGeom prst="rect">
                <a:avLst/>
              </a:prstGeom>
              <a:gradFill>
                <a:gsLst>
                  <a:gs pos="0">
                    <a:schemeClr val="bg2">
                      <a:lumMod val="50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grpSp>
            <p:nvGrpSpPr>
              <p:cNvPr id="385" name="Group 384">
                <a:extLst>
                  <a:ext uri="{FF2B5EF4-FFF2-40B4-BE49-F238E27FC236}">
                    <a16:creationId xmlns:a16="http://schemas.microsoft.com/office/drawing/2014/main" id="{2CC59C21-286F-834A-ABEB-23215F83C500}"/>
                  </a:ext>
                </a:extLst>
              </p:cNvPr>
              <p:cNvGrpSpPr/>
              <p:nvPr/>
            </p:nvGrpSpPr>
            <p:grpSpPr>
              <a:xfrm>
                <a:off x="10436222" y="4555062"/>
                <a:ext cx="899401" cy="260350"/>
                <a:chOff x="7488023" y="3444875"/>
                <a:chExt cx="947952" cy="260350"/>
              </a:xfrm>
            </p:grpSpPr>
            <p:grpSp>
              <p:nvGrpSpPr>
                <p:cNvPr id="386" name="Group 385">
                  <a:extLst>
                    <a:ext uri="{FF2B5EF4-FFF2-40B4-BE49-F238E27FC236}">
                      <a16:creationId xmlns:a16="http://schemas.microsoft.com/office/drawing/2014/main" id="{36049D02-069F-6C48-8DC5-99C6838DD8A5}"/>
                    </a:ext>
                  </a:extLst>
                </p:cNvPr>
                <p:cNvGrpSpPr/>
                <p:nvPr/>
              </p:nvGrpSpPr>
              <p:grpSpPr>
                <a:xfrm>
                  <a:off x="8025557" y="3487646"/>
                  <a:ext cx="327298" cy="173730"/>
                  <a:chOff x="8094529" y="3437940"/>
                  <a:chExt cx="307888" cy="155752"/>
                </a:xfrm>
              </p:grpSpPr>
              <p:cxnSp>
                <p:nvCxnSpPr>
                  <p:cNvPr id="395" name="Straight Connector 394">
                    <a:extLst>
                      <a:ext uri="{FF2B5EF4-FFF2-40B4-BE49-F238E27FC236}">
                        <a16:creationId xmlns:a16="http://schemas.microsoft.com/office/drawing/2014/main" id="{FF172DB4-2A00-6A46-8A16-C30786F979F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402417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6" name="Straight Connector 395">
                    <a:extLst>
                      <a:ext uri="{FF2B5EF4-FFF2-40B4-BE49-F238E27FC236}">
                        <a16:creationId xmlns:a16="http://schemas.microsoft.com/office/drawing/2014/main" id="{99BF623C-66BC-3245-B197-115199D1F5B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351102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7" name="Straight Connector 396">
                    <a:extLst>
                      <a:ext uri="{FF2B5EF4-FFF2-40B4-BE49-F238E27FC236}">
                        <a16:creationId xmlns:a16="http://schemas.microsoft.com/office/drawing/2014/main" id="{B4CE1C9F-BB23-484E-BA7E-95900D23BB4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299787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8" name="Straight Connector 397">
                    <a:extLst>
                      <a:ext uri="{FF2B5EF4-FFF2-40B4-BE49-F238E27FC236}">
                        <a16:creationId xmlns:a16="http://schemas.microsoft.com/office/drawing/2014/main" id="{1B65F295-34D5-B848-A55B-C87742C69F9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248473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9" name="Straight Connector 398">
                    <a:extLst>
                      <a:ext uri="{FF2B5EF4-FFF2-40B4-BE49-F238E27FC236}">
                        <a16:creationId xmlns:a16="http://schemas.microsoft.com/office/drawing/2014/main" id="{E821A5FD-1839-F841-8915-6982EB74072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197158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0" name="Straight Connector 399">
                    <a:extLst>
                      <a:ext uri="{FF2B5EF4-FFF2-40B4-BE49-F238E27FC236}">
                        <a16:creationId xmlns:a16="http://schemas.microsoft.com/office/drawing/2014/main" id="{133501AC-7C40-F74E-8B51-CD3FBFBAA6D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145843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1" name="Straight Connector 400">
                    <a:extLst>
                      <a:ext uri="{FF2B5EF4-FFF2-40B4-BE49-F238E27FC236}">
                        <a16:creationId xmlns:a16="http://schemas.microsoft.com/office/drawing/2014/main" id="{37CD78F7-3453-B544-9B8F-FEE9954DB3B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094529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87" name="Group 386">
                  <a:extLst>
                    <a:ext uri="{FF2B5EF4-FFF2-40B4-BE49-F238E27FC236}">
                      <a16:creationId xmlns:a16="http://schemas.microsoft.com/office/drawing/2014/main" id="{7B8129D5-9ED3-CA4A-A4D7-8B3E8421EE81}"/>
                    </a:ext>
                  </a:extLst>
                </p:cNvPr>
                <p:cNvGrpSpPr/>
                <p:nvPr/>
              </p:nvGrpSpPr>
              <p:grpSpPr>
                <a:xfrm>
                  <a:off x="7488023" y="3444875"/>
                  <a:ext cx="947952" cy="260350"/>
                  <a:chOff x="8103973" y="3803650"/>
                  <a:chExt cx="947952" cy="260350"/>
                </a:xfrm>
              </p:grpSpPr>
              <p:cxnSp>
                <p:nvCxnSpPr>
                  <p:cNvPr id="392" name="Straight Connector 391">
                    <a:extLst>
                      <a:ext uri="{FF2B5EF4-FFF2-40B4-BE49-F238E27FC236}">
                        <a16:creationId xmlns:a16="http://schemas.microsoft.com/office/drawing/2014/main" id="{872F3490-7E4D-8444-A669-531B26BEEF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10664" y="3810000"/>
                    <a:ext cx="941261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3" name="Straight Connector 392">
                    <a:extLst>
                      <a:ext uri="{FF2B5EF4-FFF2-40B4-BE49-F238E27FC236}">
                        <a16:creationId xmlns:a16="http://schemas.microsoft.com/office/drawing/2014/main" id="{9174BCA4-2936-E040-BF15-8E2726830E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03973" y="4060825"/>
                    <a:ext cx="94795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4" name="Straight Connector 393">
                    <a:extLst>
                      <a:ext uri="{FF2B5EF4-FFF2-40B4-BE49-F238E27FC236}">
                        <a16:creationId xmlns:a16="http://schemas.microsoft.com/office/drawing/2014/main" id="{F9385773-39F4-2545-BD87-40FD8C9F9C6F}"/>
                      </a:ext>
                    </a:extLst>
                  </p:cNvPr>
                  <p:cNvCxnSpPr/>
                  <p:nvPr/>
                </p:nvCxnSpPr>
                <p:spPr>
                  <a:xfrm>
                    <a:off x="9048750" y="3803650"/>
                    <a:ext cx="0" cy="26035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id="{688F0B57-026F-5344-8D43-0487FF117BFF}"/>
                    </a:ext>
                  </a:extLst>
                </p:cNvPr>
                <p:cNvSpPr/>
                <p:nvPr/>
              </p:nvSpPr>
              <p:spPr>
                <a:xfrm>
                  <a:off x="792480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8E4A8AF8-2EE5-E84B-833D-8A787630D598}"/>
                    </a:ext>
                  </a:extLst>
                </p:cNvPr>
                <p:cNvSpPr/>
                <p:nvPr/>
              </p:nvSpPr>
              <p:spPr>
                <a:xfrm>
                  <a:off x="784225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402477F2-C87F-B441-AD74-F56E96984F63}"/>
                    </a:ext>
                  </a:extLst>
                </p:cNvPr>
                <p:cNvSpPr/>
                <p:nvPr/>
              </p:nvSpPr>
              <p:spPr>
                <a:xfrm>
                  <a:off x="775970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F86B5FF7-41EE-5F45-8AAE-5330D16205CB}"/>
                    </a:ext>
                  </a:extLst>
                </p:cNvPr>
                <p:cNvSpPr/>
                <p:nvPr/>
              </p:nvSpPr>
              <p:spPr>
                <a:xfrm>
                  <a:off x="767715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</p:grpSp>
      </p:grpSp>
      <p:sp>
        <p:nvSpPr>
          <p:cNvPr id="259" name="Freeform 91">
            <a:extLst>
              <a:ext uri="{FF2B5EF4-FFF2-40B4-BE49-F238E27FC236}">
                <a16:creationId xmlns:a16="http://schemas.microsoft.com/office/drawing/2014/main" id="{DCEE1836-E089-0E43-AA83-3C4D23A24812}"/>
              </a:ext>
            </a:extLst>
          </p:cNvPr>
          <p:cNvSpPr>
            <a:spLocks/>
          </p:cNvSpPr>
          <p:nvPr/>
        </p:nvSpPr>
        <p:spPr bwMode="auto">
          <a:xfrm>
            <a:off x="4974029" y="2249655"/>
            <a:ext cx="2571750" cy="957263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7632497-C7A3-5D43-A16B-0B4F26B7ADF5}"/>
              </a:ext>
            </a:extLst>
          </p:cNvPr>
          <p:cNvGrpSpPr/>
          <p:nvPr/>
        </p:nvGrpSpPr>
        <p:grpSpPr>
          <a:xfrm>
            <a:off x="4231079" y="2871161"/>
            <a:ext cx="3000375" cy="771525"/>
            <a:chOff x="5641439" y="2685215"/>
            <a:chExt cx="4000500" cy="1028700"/>
          </a:xfrm>
        </p:grpSpPr>
        <p:sp>
          <p:nvSpPr>
            <p:cNvPr id="241" name="Oval 73">
              <a:extLst>
                <a:ext uri="{FF2B5EF4-FFF2-40B4-BE49-F238E27FC236}">
                  <a16:creationId xmlns:a16="http://schemas.microsoft.com/office/drawing/2014/main" id="{ED516131-17AE-C440-B198-2569A5BF2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258" name="Freeform 90">
              <a:extLst>
                <a:ext uri="{FF2B5EF4-FFF2-40B4-BE49-F238E27FC236}">
                  <a16:creationId xmlns:a16="http://schemas.microsoft.com/office/drawing/2014/main" id="{3B8EFAC6-AD78-9046-A67E-7BBA82E66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402" name="TextBox 401">
            <a:extLst>
              <a:ext uri="{FF2B5EF4-FFF2-40B4-BE49-F238E27FC236}">
                <a16:creationId xmlns:a16="http://schemas.microsoft.com/office/drawing/2014/main" id="{4CED69A2-36DA-634D-8A3B-DB1A142EB7BC}"/>
              </a:ext>
            </a:extLst>
          </p:cNvPr>
          <p:cNvSpPr txBox="1"/>
          <p:nvPr/>
        </p:nvSpPr>
        <p:spPr>
          <a:xfrm>
            <a:off x="5262242" y="2990012"/>
            <a:ext cx="309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685800"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R</a:t>
            </a:r>
          </a:p>
        </p:txBody>
      </p:sp>
      <p:sp>
        <p:nvSpPr>
          <p:cNvPr id="409" name="Rectangle 15">
            <a:extLst>
              <a:ext uri="{FF2B5EF4-FFF2-40B4-BE49-F238E27FC236}">
                <a16:creationId xmlns:a16="http://schemas.microsoft.com/office/drawing/2014/main" id="{6315C129-DEF5-A84E-932D-A6743A5F4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010" y="3163264"/>
            <a:ext cx="2844137" cy="315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167879" indent="-167879" defTabSz="685800">
              <a:buFont typeface="Wingdings" charset="2"/>
              <a:buChar char="§"/>
              <a:defRPr/>
            </a:pPr>
            <a:r>
              <a:rPr lang="en-US" sz="18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retransmissions needed</a:t>
            </a:r>
          </a:p>
          <a:p>
            <a:pPr marL="213122" indent="-213122" defTabSz="685800">
              <a:buFont typeface="Wingdings" charset="2"/>
              <a:buChar char="§"/>
              <a:defRPr/>
            </a:pPr>
            <a:endParaRPr lang="en-US" sz="2100" kern="0" dirty="0">
              <a:solidFill>
                <a:srgbClr val="000000"/>
              </a:solidFill>
              <a:latin typeface="Gill Sans MT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176CA8-B553-A348-A420-DCCEB21C31F8}"/>
              </a:ext>
            </a:extLst>
          </p:cNvPr>
          <p:cNvGrpSpPr/>
          <p:nvPr/>
        </p:nvGrpSpPr>
        <p:grpSpPr>
          <a:xfrm>
            <a:off x="5950887" y="4101390"/>
            <a:ext cx="1350266" cy="1251852"/>
            <a:chOff x="7934516" y="4325522"/>
            <a:chExt cx="1800355" cy="1669137"/>
          </a:xfrm>
        </p:grpSpPr>
        <p:sp>
          <p:nvSpPr>
            <p:cNvPr id="273" name="Line 109">
              <a:extLst>
                <a:ext uri="{FF2B5EF4-FFF2-40B4-BE49-F238E27FC236}">
                  <a16:creationId xmlns:a16="http://schemas.microsoft.com/office/drawing/2014/main" id="{9583C00B-D534-084D-8157-1CCEC25D6E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21896" y="4325522"/>
              <a:ext cx="0" cy="12763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75" name="Line 111">
              <a:extLst>
                <a:ext uri="{FF2B5EF4-FFF2-40B4-BE49-F238E27FC236}">
                  <a16:creationId xmlns:a16="http://schemas.microsoft.com/office/drawing/2014/main" id="{09BE50B8-B938-304E-AA75-9BE0DD3D3F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55371" y="4465222"/>
              <a:ext cx="0" cy="11049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76" name="Freeform 112">
              <a:extLst>
                <a:ext uri="{FF2B5EF4-FFF2-40B4-BE49-F238E27FC236}">
                  <a16:creationId xmlns:a16="http://schemas.microsoft.com/office/drawing/2014/main" id="{B4F837A8-9013-9E4D-BE0A-50904AB16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5546" y="4439822"/>
              <a:ext cx="1106488" cy="1152525"/>
            </a:xfrm>
            <a:custGeom>
              <a:avLst/>
              <a:gdLst>
                <a:gd name="T0" fmla="*/ 0 w 723"/>
                <a:gd name="T1" fmla="*/ 905 h 905"/>
                <a:gd name="T2" fmla="*/ 573 w 723"/>
                <a:gd name="T3" fmla="*/ 732 h 905"/>
                <a:gd name="T4" fmla="*/ 680 w 723"/>
                <a:gd name="T5" fmla="*/ 0 h 905"/>
                <a:gd name="T6" fmla="*/ 0 60000 65536"/>
                <a:gd name="T7" fmla="*/ 0 60000 65536"/>
                <a:gd name="T8" fmla="*/ 0 60000 65536"/>
                <a:gd name="connsiteX0" fmla="*/ 0 w 9642"/>
                <a:gd name="connsiteY0" fmla="*/ 8023 h 8023"/>
                <a:gd name="connsiteX1" fmla="*/ 7925 w 9642"/>
                <a:gd name="connsiteY1" fmla="*/ 6111 h 8023"/>
                <a:gd name="connsiteX2" fmla="*/ 9642 w 9642"/>
                <a:gd name="connsiteY2" fmla="*/ 0 h 8023"/>
                <a:gd name="connsiteX0" fmla="*/ 0 w 10000"/>
                <a:gd name="connsiteY0" fmla="*/ 10000 h 10000"/>
                <a:gd name="connsiteX1" fmla="*/ 8219 w 10000"/>
                <a:gd name="connsiteY1" fmla="*/ 7617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8219 w 10000"/>
                <a:gd name="connsiteY1" fmla="*/ 7617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1363" y="9601"/>
                    <a:pt x="6598" y="9697"/>
                    <a:pt x="8219" y="7617"/>
                  </a:cubicBezTo>
                  <a:cubicBezTo>
                    <a:pt x="9562" y="6715"/>
                    <a:pt x="9861" y="4761"/>
                    <a:pt x="10000" y="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77" name="Line 114">
              <a:extLst>
                <a:ext uri="{FF2B5EF4-FFF2-40B4-BE49-F238E27FC236}">
                  <a16:creationId xmlns:a16="http://schemas.microsoft.com/office/drawing/2014/main" id="{9E0B5DA0-C463-1949-8C79-0C8EA78D11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52196" y="5601872"/>
              <a:ext cx="0" cy="920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78" name="Text Box 116">
              <a:extLst>
                <a:ext uri="{FF2B5EF4-FFF2-40B4-BE49-F238E27FC236}">
                  <a16:creationId xmlns:a16="http://schemas.microsoft.com/office/drawing/2014/main" id="{D507FAE5-0060-B54B-B86B-D3BB4178E5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10796" y="5636797"/>
              <a:ext cx="524075" cy="3385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50" kern="0" dirty="0">
                  <a:solidFill>
                    <a:srgbClr val="000000"/>
                  </a:solidFill>
                </a:rPr>
                <a:t>R/2</a:t>
              </a:r>
            </a:p>
          </p:txBody>
        </p:sp>
        <p:sp>
          <p:nvSpPr>
            <p:cNvPr id="279" name="Text Box 117">
              <a:extLst>
                <a:ext uri="{FF2B5EF4-FFF2-40B4-BE49-F238E27FC236}">
                  <a16:creationId xmlns:a16="http://schemas.microsoft.com/office/drawing/2014/main" id="{B15ADD83-E850-F247-A96D-15A9484CF6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758185" y="4853337"/>
              <a:ext cx="752771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alibri" panose="020F0502020204030204"/>
                </a:rPr>
                <a:t>delay</a:t>
              </a:r>
              <a:endParaRPr lang="en-US" sz="1350" kern="0" baseline="-25000" dirty="0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280" name="Text Box 118">
              <a:extLst>
                <a:ext uri="{FF2B5EF4-FFF2-40B4-BE49-F238E27FC236}">
                  <a16:creationId xmlns:a16="http://schemas.microsoft.com/office/drawing/2014/main" id="{C47E14E2-29C5-9544-AE24-B08ECA6312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86677" y="5563772"/>
              <a:ext cx="519800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  <a:latin typeface="Symbol" charset="0"/>
                </a:rPr>
                <a:t>l</a:t>
              </a:r>
              <a:r>
                <a:rPr lang="en-US" sz="1500" kern="0" baseline="-25000" dirty="0">
                  <a:solidFill>
                    <a:srgbClr val="000000"/>
                  </a:solidFill>
                  <a:latin typeface="Arial" charset="0"/>
                </a:rPr>
                <a:t>in</a:t>
              </a:r>
            </a:p>
          </p:txBody>
        </p: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737FA933-6276-0141-AB98-5F328D89E5E6}"/>
                </a:ext>
              </a:extLst>
            </p:cNvPr>
            <p:cNvCxnSpPr/>
            <p:nvPr/>
          </p:nvCxnSpPr>
          <p:spPr>
            <a:xfrm>
              <a:off x="8312683" y="5594801"/>
              <a:ext cx="141584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0351EA60-E695-1A49-877E-C777EE27A7EF}"/>
              </a:ext>
            </a:extLst>
          </p:cNvPr>
          <p:cNvSpPr/>
          <p:nvPr/>
        </p:nvSpPr>
        <p:spPr>
          <a:xfrm>
            <a:off x="3573380" y="1687430"/>
            <a:ext cx="1443789" cy="519764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22D67963-A1D8-D745-B58E-B552013D436E}"/>
              </a:ext>
            </a:extLst>
          </p:cNvPr>
          <p:cNvSpPr/>
          <p:nvPr/>
        </p:nvSpPr>
        <p:spPr>
          <a:xfrm>
            <a:off x="6380347" y="1743979"/>
            <a:ext cx="1443789" cy="519764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52504F3-DA24-6D4D-AC29-260B2D78E924}"/>
              </a:ext>
            </a:extLst>
          </p:cNvPr>
          <p:cNvGrpSpPr/>
          <p:nvPr/>
        </p:nvGrpSpPr>
        <p:grpSpPr>
          <a:xfrm>
            <a:off x="3458782" y="4050194"/>
            <a:ext cx="1774107" cy="1301859"/>
            <a:chOff x="4611708" y="4257261"/>
            <a:chExt cx="2365475" cy="173581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B9E55DD-22D3-2C4D-96EC-2DA426511E2A}"/>
                </a:ext>
              </a:extLst>
            </p:cNvPr>
            <p:cNvGrpSpPr/>
            <p:nvPr/>
          </p:nvGrpSpPr>
          <p:grpSpPr>
            <a:xfrm>
              <a:off x="4611708" y="4257261"/>
              <a:ext cx="2365475" cy="1735812"/>
              <a:chOff x="4611708" y="4257261"/>
              <a:chExt cx="2365475" cy="1735812"/>
            </a:xfrm>
          </p:grpSpPr>
          <p:sp>
            <p:nvSpPr>
              <p:cNvPr id="261" name="Line 94">
                <a:extLst>
                  <a:ext uri="{FF2B5EF4-FFF2-40B4-BE49-F238E27FC236}">
                    <a16:creationId xmlns:a16="http://schemas.microsoft.com/office/drawing/2014/main" id="{7A0C5916-D5E3-FB42-83B7-2D47DCB343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26158" y="4323936"/>
                <a:ext cx="0" cy="127635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63" name="Line 96">
                <a:extLst>
                  <a:ext uri="{FF2B5EF4-FFF2-40B4-BE49-F238E27FC236}">
                    <a16:creationId xmlns:a16="http://schemas.microsoft.com/office/drawing/2014/main" id="{5174839E-5D4A-B04A-89C3-586EBCDEFC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59633" y="4463636"/>
                <a:ext cx="0" cy="11049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64" name="Freeform 97">
                <a:extLst>
                  <a:ext uri="{FF2B5EF4-FFF2-40B4-BE49-F238E27FC236}">
                    <a16:creationId xmlns:a16="http://schemas.microsoft.com/office/drawing/2014/main" id="{EC237386-8658-A949-B8C2-D9BA07511F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9808" y="4428711"/>
                <a:ext cx="1857375" cy="1162050"/>
              </a:xfrm>
              <a:custGeom>
                <a:avLst/>
                <a:gdLst>
                  <a:gd name="T0" fmla="*/ 0 w 1170"/>
                  <a:gd name="T1" fmla="*/ 732 h 732"/>
                  <a:gd name="T2" fmla="*/ 720 w 1170"/>
                  <a:gd name="T3" fmla="*/ 0 h 732"/>
                  <a:gd name="T4" fmla="*/ 1170 w 1170"/>
                  <a:gd name="T5" fmla="*/ 0 h 7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70" h="732">
                    <a:moveTo>
                      <a:pt x="0" y="732"/>
                    </a:moveTo>
                    <a:lnTo>
                      <a:pt x="720" y="0"/>
                    </a:lnTo>
                    <a:lnTo>
                      <a:pt x="1170" y="0"/>
                    </a:lnTo>
                  </a:path>
                </a:pathLst>
              </a:custGeom>
              <a:noFill/>
              <a:ln w="28575" cap="flat" cmpd="sng">
                <a:solidFill>
                  <a:srgbClr val="CC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65" name="Line 98">
                <a:extLst>
                  <a:ext uri="{FF2B5EF4-FFF2-40B4-BE49-F238E27FC236}">
                    <a16:creationId xmlns:a16="http://schemas.microsoft.com/office/drawing/2014/main" id="{72E41F27-B7FB-9D47-A225-27B5355D50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43608" y="4428711"/>
                <a:ext cx="7937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66" name="Line 99">
                <a:extLst>
                  <a:ext uri="{FF2B5EF4-FFF2-40B4-BE49-F238E27FC236}">
                    <a16:creationId xmlns:a16="http://schemas.microsoft.com/office/drawing/2014/main" id="{AC723AF5-64D6-5040-9235-C2B65B36A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56458" y="5600286"/>
                <a:ext cx="0" cy="920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67" name="Text Box 100">
                <a:extLst>
                  <a:ext uri="{FF2B5EF4-FFF2-40B4-BE49-F238E27FC236}">
                    <a16:creationId xmlns:a16="http://schemas.microsoft.com/office/drawing/2014/main" id="{B31E33C5-D8FD-9C45-A060-B1987EF562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11708" y="4257261"/>
                <a:ext cx="524075" cy="3385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050" kern="0" dirty="0">
                    <a:solidFill>
                      <a:srgbClr val="000000"/>
                    </a:solidFill>
                  </a:rPr>
                  <a:t>R/2</a:t>
                </a:r>
              </a:p>
            </p:txBody>
          </p:sp>
          <p:sp>
            <p:nvSpPr>
              <p:cNvPr id="268" name="Text Box 101">
                <a:extLst>
                  <a:ext uri="{FF2B5EF4-FFF2-40B4-BE49-F238E27FC236}">
                    <a16:creationId xmlns:a16="http://schemas.microsoft.com/office/drawing/2014/main" id="{F97C34ED-44A3-FE4E-8E35-B3DEC9ACCF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15058" y="5635211"/>
                <a:ext cx="524074" cy="3385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050" kern="0" dirty="0">
                    <a:solidFill>
                      <a:srgbClr val="000000"/>
                    </a:solidFill>
                  </a:rPr>
                  <a:t>R/2</a:t>
                </a:r>
              </a:p>
            </p:txBody>
          </p:sp>
          <p:sp>
            <p:nvSpPr>
              <p:cNvPr id="269" name="Text Box 102">
                <a:extLst>
                  <a:ext uri="{FF2B5EF4-FFF2-40B4-BE49-F238E27FC236}">
                    <a16:creationId xmlns:a16="http://schemas.microsoft.com/office/drawing/2014/main" id="{E1DFCD88-D6E7-3549-94E6-D1A194DCF2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4604620" y="4546812"/>
                <a:ext cx="622393" cy="4308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  <a:latin typeface="Symbol" charset="0"/>
                  </a:rPr>
                  <a:t>l</a:t>
                </a:r>
                <a:r>
                  <a:rPr lang="en-US" sz="1500" kern="0" baseline="-25000" dirty="0">
                    <a:solidFill>
                      <a:srgbClr val="000000"/>
                    </a:solidFill>
                    <a:latin typeface="Arial" charset="0"/>
                  </a:rPr>
                  <a:t>out</a:t>
                </a:r>
              </a:p>
            </p:txBody>
          </p:sp>
          <p:sp>
            <p:nvSpPr>
              <p:cNvPr id="270" name="Text Box 103">
                <a:extLst>
                  <a:ext uri="{FF2B5EF4-FFF2-40B4-BE49-F238E27FC236}">
                    <a16:creationId xmlns:a16="http://schemas.microsoft.com/office/drawing/2014/main" id="{18220D2D-CB70-5348-8CDA-AC8B2AE8FE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90941" y="5562186"/>
                <a:ext cx="51980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  <a:latin typeface="Symbol" charset="0"/>
                  </a:rPr>
                  <a:t>l</a:t>
                </a:r>
                <a:r>
                  <a:rPr lang="en-US" sz="1500" kern="0" baseline="-25000" dirty="0">
                    <a:solidFill>
                      <a:srgbClr val="000000"/>
                    </a:solidFill>
                    <a:latin typeface="Arial" charset="0"/>
                  </a:rPr>
                  <a:t>in</a:t>
                </a:r>
              </a:p>
            </p:txBody>
          </p:sp>
          <p:sp>
            <p:nvSpPr>
              <p:cNvPr id="271" name="Line 106">
                <a:extLst>
                  <a:ext uri="{FF2B5EF4-FFF2-40B4-BE49-F238E27FC236}">
                    <a16:creationId xmlns:a16="http://schemas.microsoft.com/office/drawing/2014/main" id="{319712D7-1AB2-9D4A-B08D-45AD00991E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45208" y="4430299"/>
                <a:ext cx="103981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0272A867-5F31-FC46-A882-A3E999CBA0F0}"/>
                  </a:ext>
                </a:extLst>
              </p:cNvPr>
              <p:cNvCxnSpPr/>
              <p:nvPr/>
            </p:nvCxnSpPr>
            <p:spPr>
              <a:xfrm>
                <a:off x="5119903" y="5598611"/>
                <a:ext cx="141584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265B06FE-7752-8942-9D69-AFB2C165CC35}"/>
                </a:ext>
              </a:extLst>
            </p:cNvPr>
            <p:cNvSpPr txBox="1"/>
            <p:nvPr/>
          </p:nvSpPr>
          <p:spPr>
            <a:xfrm rot="16200000">
              <a:off x="4401789" y="5161044"/>
              <a:ext cx="1037036" cy="307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900" dirty="0">
                  <a:solidFill>
                    <a:prstClr val="black"/>
                  </a:solidFill>
                  <a:latin typeface="Calibri"/>
                </a:rPr>
                <a:t>throughput: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1747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/>
      <p:bldP spid="281" grpId="0"/>
      <p:bldP spid="4" grpId="0"/>
      <p:bldP spid="8" grpId="0"/>
      <p:bldP spid="188" grpId="0"/>
      <p:bldP spid="189" grpId="0"/>
      <p:bldP spid="259" grpId="0" animBg="1"/>
      <p:bldP spid="402" grpId="0"/>
      <p:bldP spid="409" grpId="0"/>
      <p:bldP spid="14" grpId="0" animBg="1"/>
      <p:bldP spid="14" grpId="1" animBg="1"/>
      <p:bldP spid="204" grpId="0" animBg="1"/>
      <p:bldP spid="20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Freeform 3">
            <a:extLst>
              <a:ext uri="{FF2B5EF4-FFF2-40B4-BE49-F238E27FC236}">
                <a16:creationId xmlns:a16="http://schemas.microsoft.com/office/drawing/2014/main" id="{80D23465-6886-5547-A6E1-507D7810B0F6}"/>
              </a:ext>
            </a:extLst>
          </p:cNvPr>
          <p:cNvSpPr>
            <a:spLocks/>
          </p:cNvSpPr>
          <p:nvPr/>
        </p:nvSpPr>
        <p:spPr bwMode="auto">
          <a:xfrm>
            <a:off x="5210233" y="4614611"/>
            <a:ext cx="231068" cy="91296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464" name="Group 463">
            <a:extLst>
              <a:ext uri="{FF2B5EF4-FFF2-40B4-BE49-F238E27FC236}">
                <a16:creationId xmlns:a16="http://schemas.microsoft.com/office/drawing/2014/main" id="{ED623061-0BAD-094E-BE78-B8341568F372}"/>
              </a:ext>
            </a:extLst>
          </p:cNvPr>
          <p:cNvGrpSpPr/>
          <p:nvPr/>
        </p:nvGrpSpPr>
        <p:grpSpPr>
          <a:xfrm>
            <a:off x="4680385" y="4619699"/>
            <a:ext cx="540549" cy="887198"/>
            <a:chOff x="10910965" y="2513124"/>
            <a:chExt cx="586768" cy="904023"/>
          </a:xfrm>
        </p:grpSpPr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FF2C2633-7018-BA41-AB83-B819BB9A45E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302760D7-48DE-8A4B-ACF3-A7CD0B9C6468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CB159F5A-C0DA-EB4C-A34A-F001D131F1EA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AD2F7871-F8B6-2849-8DE5-284CB68B59A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8AE2A84E-B822-F046-878E-584B56EF1E30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Causes/costs of congestion: scenario 2</a:t>
            </a:r>
            <a:endParaRPr lang="en-US" b="0" dirty="0"/>
          </a:p>
        </p:txBody>
      </p:sp>
      <p:sp>
        <p:nvSpPr>
          <p:cNvPr id="168" name="Slide Number Placeholder 2">
            <a:extLst>
              <a:ext uri="{FF2B5EF4-FFF2-40B4-BE49-F238E27FC236}">
                <a16:creationId xmlns:a16="http://schemas.microsoft.com/office/drawing/2014/main" id="{EDF89B14-4877-B447-9EAB-EAB6735B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Transport Layer: 3-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5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909" name="Rectangle 2">
            <a:extLst>
              <a:ext uri="{FF2B5EF4-FFF2-40B4-BE49-F238E27FC236}">
                <a16:creationId xmlns:a16="http://schemas.microsoft.com/office/drawing/2014/main" id="{D810901F-4456-034F-A011-28193A3B4968}"/>
              </a:ext>
            </a:extLst>
          </p:cNvPr>
          <p:cNvSpPr txBox="1">
            <a:spLocks noChangeArrowheads="1"/>
          </p:cNvSpPr>
          <p:nvPr/>
        </p:nvSpPr>
        <p:spPr>
          <a:xfrm>
            <a:off x="476224" y="1744105"/>
            <a:ext cx="7283123" cy="37697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one router, </a:t>
            </a:r>
            <a:r>
              <a:rPr lang="en-US" sz="2100" i="1" dirty="0">
                <a:solidFill>
                  <a:srgbClr val="000099"/>
                </a:solidFill>
                <a:latin typeface="Calibri" panose="020F0502020204030204"/>
              </a:rPr>
              <a:t>finite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buffers </a:t>
            </a:r>
          </a:p>
          <a:p>
            <a:pPr marL="264319" indent="-166688" defTabSz="685800">
              <a:spcBef>
                <a:spcPts val="750"/>
              </a:spcBef>
              <a:buFont typeface="Wingdings" charset="2"/>
              <a:buChar char="§"/>
              <a:defRPr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marL="264319" indent="-166688" defTabSz="685800">
              <a:spcBef>
                <a:spcPts val="750"/>
              </a:spcBef>
              <a:buFont typeface="Wingdings" charset="2"/>
              <a:buChar char="§"/>
              <a:defRPr/>
            </a:pP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  <a:p>
            <a:pPr marL="264319" indent="-166688" defTabSz="685800">
              <a:spcBef>
                <a:spcPts val="750"/>
              </a:spcBef>
              <a:buFont typeface="Wingdings" charset="2"/>
              <a:buChar char="§"/>
              <a:defRPr/>
            </a:pP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2" name="Freeform 9">
            <a:extLst>
              <a:ext uri="{FF2B5EF4-FFF2-40B4-BE49-F238E27FC236}">
                <a16:creationId xmlns:a16="http://schemas.microsoft.com/office/drawing/2014/main" id="{31041B91-E0FC-7E47-86EF-C839592CEEF9}"/>
              </a:ext>
            </a:extLst>
          </p:cNvPr>
          <p:cNvSpPr>
            <a:spLocks/>
          </p:cNvSpPr>
          <p:nvPr/>
        </p:nvSpPr>
        <p:spPr bwMode="auto">
          <a:xfrm flipH="1">
            <a:off x="1383541" y="3493979"/>
            <a:ext cx="396261" cy="88370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C664E13D-A71D-7A41-9ED2-950A4602199F}"/>
              </a:ext>
            </a:extLst>
          </p:cNvPr>
          <p:cNvGrpSpPr/>
          <p:nvPr/>
        </p:nvGrpSpPr>
        <p:grpSpPr>
          <a:xfrm>
            <a:off x="959009" y="4370023"/>
            <a:ext cx="540549" cy="887198"/>
            <a:chOff x="10910965" y="2513124"/>
            <a:chExt cx="586768" cy="904023"/>
          </a:xfrm>
        </p:grpSpPr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E609789D-FAF9-5746-8CD2-A008EE6CECB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6D5231DA-8104-CB44-92A0-570084A4B42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76E0EC21-BE7F-C342-9CAD-4288FEF4BFA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DF9FAFCD-7CC5-104B-8E70-9A9A226394DD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C0759462-583F-5148-89B2-CAC38E98E11A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818064D3-1463-5B40-A9E3-050E65014C75}"/>
              </a:ext>
            </a:extLst>
          </p:cNvPr>
          <p:cNvGrpSpPr/>
          <p:nvPr/>
        </p:nvGrpSpPr>
        <p:grpSpPr>
          <a:xfrm>
            <a:off x="1766283" y="3498068"/>
            <a:ext cx="540549" cy="887198"/>
            <a:chOff x="10910965" y="2513124"/>
            <a:chExt cx="586768" cy="904023"/>
          </a:xfrm>
        </p:grpSpPr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8D19C0FC-E2FD-B34E-B3FB-BDFF7FD70A3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FB7598A7-2ED2-704C-A197-75E68BC404D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8240FCF7-9EBB-7C41-8D3A-965DA0A9761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0F40B610-359C-5A46-86F3-309280845EC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49FA9EB9-49D7-3F4E-9667-CD5C42ECC862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Freeform 6">
            <a:extLst>
              <a:ext uri="{FF2B5EF4-FFF2-40B4-BE49-F238E27FC236}">
                <a16:creationId xmlns:a16="http://schemas.microsoft.com/office/drawing/2014/main" id="{4DB18098-9AC8-F84F-9EFC-E14F468703DC}"/>
              </a:ext>
            </a:extLst>
          </p:cNvPr>
          <p:cNvSpPr>
            <a:spLocks/>
          </p:cNvSpPr>
          <p:nvPr/>
        </p:nvSpPr>
        <p:spPr bwMode="auto">
          <a:xfrm>
            <a:off x="5556835" y="3631852"/>
            <a:ext cx="231068" cy="91296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E49415B-7EB6-4743-B880-41FB066DB4B9}"/>
              </a:ext>
            </a:extLst>
          </p:cNvPr>
          <p:cNvGrpSpPr/>
          <p:nvPr/>
        </p:nvGrpSpPr>
        <p:grpSpPr>
          <a:xfrm>
            <a:off x="5024189" y="3608167"/>
            <a:ext cx="540549" cy="887198"/>
            <a:chOff x="10910965" y="2513124"/>
            <a:chExt cx="586768" cy="904023"/>
          </a:xfrm>
        </p:grpSpPr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0448B2D2-1A62-5C43-9150-A99468BAB68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940DD19D-B2AD-964D-83A9-82488AF7E0ED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1E98CF7C-ADBA-454F-9236-1C970C41D5B9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5343C97A-736C-CB4E-A0C3-58EA9178C035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95638F38-76DF-9646-AF7C-7B73311BC37D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E455C231-4F77-2943-A4A7-79D8A6F887B7}"/>
              </a:ext>
            </a:extLst>
          </p:cNvPr>
          <p:cNvGrpSpPr/>
          <p:nvPr/>
        </p:nvGrpSpPr>
        <p:grpSpPr>
          <a:xfrm>
            <a:off x="2828023" y="4632484"/>
            <a:ext cx="965153" cy="551195"/>
            <a:chOff x="7493876" y="2774731"/>
            <a:chExt cx="1481958" cy="894622"/>
          </a:xfrm>
        </p:grpSpPr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4D0698D9-69AC-074F-89C8-D8A88994A28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59DCF5EE-AB68-B240-BE5F-5203162A964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170C8D46-5FC3-C145-B11A-7CB2D312B36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id="{AF04230D-700C-C549-99E0-41EBB2B22DD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79" name="Freeform 278">
                <a:extLst>
                  <a:ext uri="{FF2B5EF4-FFF2-40B4-BE49-F238E27FC236}">
                    <a16:creationId xmlns:a16="http://schemas.microsoft.com/office/drawing/2014/main" id="{4D1E1E76-B8D0-7C4B-9A0D-667DF456C81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80" name="Freeform 279">
                <a:extLst>
                  <a:ext uri="{FF2B5EF4-FFF2-40B4-BE49-F238E27FC236}">
                    <a16:creationId xmlns:a16="http://schemas.microsoft.com/office/drawing/2014/main" id="{B9903FEA-8DB2-E54A-AD78-7A6E5A6847E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81" name="Freeform 280">
                <a:extLst>
                  <a:ext uri="{FF2B5EF4-FFF2-40B4-BE49-F238E27FC236}">
                    <a16:creationId xmlns:a16="http://schemas.microsoft.com/office/drawing/2014/main" id="{B092F8C6-79B6-BC42-B991-7922CC9AB62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58" name="Group 124">
            <a:extLst>
              <a:ext uri="{FF2B5EF4-FFF2-40B4-BE49-F238E27FC236}">
                <a16:creationId xmlns:a16="http://schemas.microsoft.com/office/drawing/2014/main" id="{BC5A178C-850C-0546-B828-A97A5F9A9008}"/>
              </a:ext>
            </a:extLst>
          </p:cNvPr>
          <p:cNvGrpSpPr>
            <a:grpSpLocks/>
          </p:cNvGrpSpPr>
          <p:nvPr/>
        </p:nvGrpSpPr>
        <p:grpSpPr bwMode="auto">
          <a:xfrm>
            <a:off x="988066" y="3765090"/>
            <a:ext cx="484073" cy="426879"/>
            <a:chOff x="-44" y="1473"/>
            <a:chExt cx="981" cy="1105"/>
          </a:xfrm>
        </p:grpSpPr>
        <p:pic>
          <p:nvPicPr>
            <p:cNvPr id="273" name="Picture 125" descr="desktop_computer_stylized_medium">
              <a:extLst>
                <a:ext uri="{FF2B5EF4-FFF2-40B4-BE49-F238E27FC236}">
                  <a16:creationId xmlns:a16="http://schemas.microsoft.com/office/drawing/2014/main" id="{8B5BD8CE-2A84-E846-817A-1550E18BFB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4" name="Freeform 126">
              <a:extLst>
                <a:ext uri="{FF2B5EF4-FFF2-40B4-BE49-F238E27FC236}">
                  <a16:creationId xmlns:a16="http://schemas.microsoft.com/office/drawing/2014/main" id="{56638146-3603-4B43-8C07-22A53DD29F7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160" name="Freeform 12">
            <a:extLst>
              <a:ext uri="{FF2B5EF4-FFF2-40B4-BE49-F238E27FC236}">
                <a16:creationId xmlns:a16="http://schemas.microsoft.com/office/drawing/2014/main" id="{B265A6FF-6F16-644A-A3DA-369A224CF48A}"/>
              </a:ext>
            </a:extLst>
          </p:cNvPr>
          <p:cNvSpPr>
            <a:spLocks/>
          </p:cNvSpPr>
          <p:nvPr/>
        </p:nvSpPr>
        <p:spPr bwMode="auto">
          <a:xfrm flipH="1">
            <a:off x="733658" y="4368455"/>
            <a:ext cx="231068" cy="91296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1" name="Line 33">
            <a:extLst>
              <a:ext uri="{FF2B5EF4-FFF2-40B4-BE49-F238E27FC236}">
                <a16:creationId xmlns:a16="http://schemas.microsoft.com/office/drawing/2014/main" id="{C878E23C-4C42-2D44-B41A-E547E44A04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04175" y="4499322"/>
            <a:ext cx="851149" cy="85064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2" name="Text Box 42">
            <a:extLst>
              <a:ext uri="{FF2B5EF4-FFF2-40B4-BE49-F238E27FC236}">
                <a16:creationId xmlns:a16="http://schemas.microsoft.com/office/drawing/2014/main" id="{DFAA6AE2-F5C0-4846-83FF-51CD9D343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463" y="3504613"/>
            <a:ext cx="841877" cy="23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</a:rPr>
              <a:t>Host A</a:t>
            </a:r>
            <a:endParaRPr lang="en-US" altLang="en-US" sz="3000" dirty="0">
              <a:solidFill>
                <a:srgbClr val="C0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163" name="Text Box 52">
            <a:extLst>
              <a:ext uri="{FF2B5EF4-FFF2-40B4-BE49-F238E27FC236}">
                <a16:creationId xmlns:a16="http://schemas.microsoft.com/office/drawing/2014/main" id="{697CE3BC-08E3-0743-B33B-A06D8A971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577" y="5397367"/>
            <a:ext cx="736183" cy="23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dirty="0">
                <a:solidFill>
                  <a:srgbClr val="0013A3"/>
                </a:solidFill>
                <a:latin typeface="Arial" panose="020B0604020202020204" pitchFamily="34" charset="0"/>
              </a:rPr>
              <a:t>Host B</a:t>
            </a:r>
            <a:endParaRPr lang="en-US" altLang="en-US" sz="3000" dirty="0">
              <a:solidFill>
                <a:srgbClr val="0013A3"/>
              </a:solidFill>
              <a:latin typeface="Comic Sans MS" panose="030F0902030302020204" pitchFamily="66" charset="0"/>
            </a:endParaRPr>
          </a:p>
        </p:txBody>
      </p:sp>
      <p:sp>
        <p:nvSpPr>
          <p:cNvPr id="164" name="Line 53">
            <a:extLst>
              <a:ext uri="{FF2B5EF4-FFF2-40B4-BE49-F238E27FC236}">
                <a16:creationId xmlns:a16="http://schemas.microsoft.com/office/drawing/2014/main" id="{66A4B303-46B3-9E4D-A4D5-76E1459758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51686" y="4891927"/>
            <a:ext cx="56158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5" name="Line 54">
            <a:extLst>
              <a:ext uri="{FF2B5EF4-FFF2-40B4-BE49-F238E27FC236}">
                <a16:creationId xmlns:a16="http://schemas.microsoft.com/office/drawing/2014/main" id="{17F5C019-D2C3-9C47-8837-56EB26DFF6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43391" y="4891927"/>
            <a:ext cx="56158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6" name="Line 55">
            <a:extLst>
              <a:ext uri="{FF2B5EF4-FFF2-40B4-BE49-F238E27FC236}">
                <a16:creationId xmlns:a16="http://schemas.microsoft.com/office/drawing/2014/main" id="{5B033825-3CFA-7B48-B2A8-5386F733A4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57462" y="4499322"/>
            <a:ext cx="851149" cy="85064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7" name="Line 57">
            <a:extLst>
              <a:ext uri="{FF2B5EF4-FFF2-40B4-BE49-F238E27FC236}">
                <a16:creationId xmlns:a16="http://schemas.microsoft.com/office/drawing/2014/main" id="{6C1DD6E4-4DE9-0F41-BF04-1F6DF97D23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06741" y="4499467"/>
            <a:ext cx="40510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73" name="Group 127">
            <a:extLst>
              <a:ext uri="{FF2B5EF4-FFF2-40B4-BE49-F238E27FC236}">
                <a16:creationId xmlns:a16="http://schemas.microsoft.com/office/drawing/2014/main" id="{3808CE02-5C3D-C346-BEE9-B6E121BF954D}"/>
              </a:ext>
            </a:extLst>
          </p:cNvPr>
          <p:cNvGrpSpPr>
            <a:grpSpLocks/>
          </p:cNvGrpSpPr>
          <p:nvPr/>
        </p:nvGrpSpPr>
        <p:grpSpPr bwMode="auto">
          <a:xfrm>
            <a:off x="5648969" y="4212659"/>
            <a:ext cx="213518" cy="433111"/>
            <a:chOff x="4140" y="429"/>
            <a:chExt cx="1425" cy="2396"/>
          </a:xfrm>
        </p:grpSpPr>
        <p:sp>
          <p:nvSpPr>
            <p:cNvPr id="233" name="Freeform 128">
              <a:extLst>
                <a:ext uri="{FF2B5EF4-FFF2-40B4-BE49-F238E27FC236}">
                  <a16:creationId xmlns:a16="http://schemas.microsoft.com/office/drawing/2014/main" id="{811C558B-4215-704B-94D0-E12304645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4" name="Rectangle 129">
              <a:extLst>
                <a:ext uri="{FF2B5EF4-FFF2-40B4-BE49-F238E27FC236}">
                  <a16:creationId xmlns:a16="http://schemas.microsoft.com/office/drawing/2014/main" id="{83BDE6F4-12C8-254F-99E6-1AC22AB23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35" name="Freeform 130">
              <a:extLst>
                <a:ext uri="{FF2B5EF4-FFF2-40B4-BE49-F238E27FC236}">
                  <a16:creationId xmlns:a16="http://schemas.microsoft.com/office/drawing/2014/main" id="{505E1BFF-3C9F-B243-B5B0-75BB0D03F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6" name="Freeform 131">
              <a:extLst>
                <a:ext uri="{FF2B5EF4-FFF2-40B4-BE49-F238E27FC236}">
                  <a16:creationId xmlns:a16="http://schemas.microsoft.com/office/drawing/2014/main" id="{6FA76602-7304-F042-9F0F-79DB3F9AF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7" name="Rectangle 132">
              <a:extLst>
                <a:ext uri="{FF2B5EF4-FFF2-40B4-BE49-F238E27FC236}">
                  <a16:creationId xmlns:a16="http://schemas.microsoft.com/office/drawing/2014/main" id="{FA53C885-D9E0-A545-8445-B2721091B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38" name="Group 133">
              <a:extLst>
                <a:ext uri="{FF2B5EF4-FFF2-40B4-BE49-F238E27FC236}">
                  <a16:creationId xmlns:a16="http://schemas.microsoft.com/office/drawing/2014/main" id="{3A3B6CB5-41F2-664A-A843-912B5DB61A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3" name="AutoShape 134">
                <a:extLst>
                  <a:ext uri="{FF2B5EF4-FFF2-40B4-BE49-F238E27FC236}">
                    <a16:creationId xmlns:a16="http://schemas.microsoft.com/office/drawing/2014/main" id="{BC9432EE-0011-9F4F-8687-4173A06D0F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64" name="AutoShape 135">
                <a:extLst>
                  <a:ext uri="{FF2B5EF4-FFF2-40B4-BE49-F238E27FC236}">
                    <a16:creationId xmlns:a16="http://schemas.microsoft.com/office/drawing/2014/main" id="{1850FFB1-810C-5D46-B468-F1377E8B8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39" name="Rectangle 136">
              <a:extLst>
                <a:ext uri="{FF2B5EF4-FFF2-40B4-BE49-F238E27FC236}">
                  <a16:creationId xmlns:a16="http://schemas.microsoft.com/office/drawing/2014/main" id="{E6E1815D-B0B7-C249-B837-587E975BE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40" name="Group 137">
              <a:extLst>
                <a:ext uri="{FF2B5EF4-FFF2-40B4-BE49-F238E27FC236}">
                  <a16:creationId xmlns:a16="http://schemas.microsoft.com/office/drawing/2014/main" id="{7F97E068-6BF9-8149-811C-00184DED14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1" name="AutoShape 138">
                <a:extLst>
                  <a:ext uri="{FF2B5EF4-FFF2-40B4-BE49-F238E27FC236}">
                    <a16:creationId xmlns:a16="http://schemas.microsoft.com/office/drawing/2014/main" id="{6649A030-733E-DB43-A4BD-D41A8DDFDF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62" name="AutoShape 139">
                <a:extLst>
                  <a:ext uri="{FF2B5EF4-FFF2-40B4-BE49-F238E27FC236}">
                    <a16:creationId xmlns:a16="http://schemas.microsoft.com/office/drawing/2014/main" id="{9E214A48-F0EF-174A-A6D2-127D876264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41" name="Rectangle 140">
              <a:extLst>
                <a:ext uri="{FF2B5EF4-FFF2-40B4-BE49-F238E27FC236}">
                  <a16:creationId xmlns:a16="http://schemas.microsoft.com/office/drawing/2014/main" id="{F4213574-ABC8-7F43-9C79-6E5C21165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2" name="Rectangle 141">
              <a:extLst>
                <a:ext uri="{FF2B5EF4-FFF2-40B4-BE49-F238E27FC236}">
                  <a16:creationId xmlns:a16="http://schemas.microsoft.com/office/drawing/2014/main" id="{6C7F02A7-1E6B-6744-BB83-50A5FD669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43" name="Group 142">
              <a:extLst>
                <a:ext uri="{FF2B5EF4-FFF2-40B4-BE49-F238E27FC236}">
                  <a16:creationId xmlns:a16="http://schemas.microsoft.com/office/drawing/2014/main" id="{8F919684-30D5-B14A-AB97-B5DFBEF530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9" name="AutoShape 143">
                <a:extLst>
                  <a:ext uri="{FF2B5EF4-FFF2-40B4-BE49-F238E27FC236}">
                    <a16:creationId xmlns:a16="http://schemas.microsoft.com/office/drawing/2014/main" id="{96D6248B-EAAA-2A4D-A4BD-1009D13EB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60" name="AutoShape 144">
                <a:extLst>
                  <a:ext uri="{FF2B5EF4-FFF2-40B4-BE49-F238E27FC236}">
                    <a16:creationId xmlns:a16="http://schemas.microsoft.com/office/drawing/2014/main" id="{B63C93F6-376E-2F42-8185-8FD1271480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44" name="Freeform 145">
              <a:extLst>
                <a:ext uri="{FF2B5EF4-FFF2-40B4-BE49-F238E27FC236}">
                  <a16:creationId xmlns:a16="http://schemas.microsoft.com/office/drawing/2014/main" id="{B5A663D7-E6EE-734B-9792-F536336D0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245" name="Group 146">
              <a:extLst>
                <a:ext uri="{FF2B5EF4-FFF2-40B4-BE49-F238E27FC236}">
                  <a16:creationId xmlns:a16="http://schemas.microsoft.com/office/drawing/2014/main" id="{C596A713-1C52-A34E-9381-F7F919A695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7" name="AutoShape 147">
                <a:extLst>
                  <a:ext uri="{FF2B5EF4-FFF2-40B4-BE49-F238E27FC236}">
                    <a16:creationId xmlns:a16="http://schemas.microsoft.com/office/drawing/2014/main" id="{A2AF9509-2E9C-F049-A69C-BC151ADB23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58" name="AutoShape 148">
                <a:extLst>
                  <a:ext uri="{FF2B5EF4-FFF2-40B4-BE49-F238E27FC236}">
                    <a16:creationId xmlns:a16="http://schemas.microsoft.com/office/drawing/2014/main" id="{C59B2148-A3C8-0841-87D7-7B5FBFD9C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46" name="Rectangle 149">
              <a:extLst>
                <a:ext uri="{FF2B5EF4-FFF2-40B4-BE49-F238E27FC236}">
                  <a16:creationId xmlns:a16="http://schemas.microsoft.com/office/drawing/2014/main" id="{B0F127BD-9A3A-EB41-A2E1-7CD4CC524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7" name="Freeform 150">
              <a:extLst>
                <a:ext uri="{FF2B5EF4-FFF2-40B4-BE49-F238E27FC236}">
                  <a16:creationId xmlns:a16="http://schemas.microsoft.com/office/drawing/2014/main" id="{3BBBB4B7-56DB-1D43-A6D4-1D492AE15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48" name="Freeform 151">
              <a:extLst>
                <a:ext uri="{FF2B5EF4-FFF2-40B4-BE49-F238E27FC236}">
                  <a16:creationId xmlns:a16="http://schemas.microsoft.com/office/drawing/2014/main" id="{591A95E8-6F86-8A42-A0C9-7487B89DA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49" name="Oval 152">
              <a:extLst>
                <a:ext uri="{FF2B5EF4-FFF2-40B4-BE49-F238E27FC236}">
                  <a16:creationId xmlns:a16="http://schemas.microsoft.com/office/drawing/2014/main" id="{7C866B93-DCBC-7749-9A90-2E6DF2E7A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50" name="Freeform 153">
              <a:extLst>
                <a:ext uri="{FF2B5EF4-FFF2-40B4-BE49-F238E27FC236}">
                  <a16:creationId xmlns:a16="http://schemas.microsoft.com/office/drawing/2014/main" id="{20096CEE-1D0A-DA4A-B4EA-CE851FB63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51" name="AutoShape 154">
              <a:extLst>
                <a:ext uri="{FF2B5EF4-FFF2-40B4-BE49-F238E27FC236}">
                  <a16:creationId xmlns:a16="http://schemas.microsoft.com/office/drawing/2014/main" id="{800A41D3-8C32-9540-A084-0538BB956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52" name="AutoShape 155">
              <a:extLst>
                <a:ext uri="{FF2B5EF4-FFF2-40B4-BE49-F238E27FC236}">
                  <a16:creationId xmlns:a16="http://schemas.microsoft.com/office/drawing/2014/main" id="{67F818BC-2518-4C4C-8597-C941419A4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53" name="Oval 156">
              <a:extLst>
                <a:ext uri="{FF2B5EF4-FFF2-40B4-BE49-F238E27FC236}">
                  <a16:creationId xmlns:a16="http://schemas.microsoft.com/office/drawing/2014/main" id="{80D903FF-E73B-D84D-B215-D7FB2AA30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54" name="Oval 157">
              <a:extLst>
                <a:ext uri="{FF2B5EF4-FFF2-40B4-BE49-F238E27FC236}">
                  <a16:creationId xmlns:a16="http://schemas.microsoft.com/office/drawing/2014/main" id="{CB203238-7D82-C747-B805-A2FDFABD1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55" name="Oval 158">
              <a:extLst>
                <a:ext uri="{FF2B5EF4-FFF2-40B4-BE49-F238E27FC236}">
                  <a16:creationId xmlns:a16="http://schemas.microsoft.com/office/drawing/2014/main" id="{963F0D1E-6FE3-8E42-B74D-4F2947878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56" name="Rectangle 159">
              <a:extLst>
                <a:ext uri="{FF2B5EF4-FFF2-40B4-BE49-F238E27FC236}">
                  <a16:creationId xmlns:a16="http://schemas.microsoft.com/office/drawing/2014/main" id="{3C003407-E16A-4B46-B1EA-E94247F746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74" name="Group 160">
            <a:extLst>
              <a:ext uri="{FF2B5EF4-FFF2-40B4-BE49-F238E27FC236}">
                <a16:creationId xmlns:a16="http://schemas.microsoft.com/office/drawing/2014/main" id="{0F097A1A-2185-F148-8F82-34ABB517D6AE}"/>
              </a:ext>
            </a:extLst>
          </p:cNvPr>
          <p:cNvGrpSpPr>
            <a:grpSpLocks/>
          </p:cNvGrpSpPr>
          <p:nvPr/>
        </p:nvGrpSpPr>
        <p:grpSpPr bwMode="auto">
          <a:xfrm>
            <a:off x="438973" y="5098707"/>
            <a:ext cx="484073" cy="426879"/>
            <a:chOff x="-44" y="1473"/>
            <a:chExt cx="981" cy="1105"/>
          </a:xfrm>
        </p:grpSpPr>
        <p:pic>
          <p:nvPicPr>
            <p:cNvPr id="231" name="Picture 161" descr="desktop_computer_stylized_medium">
              <a:extLst>
                <a:ext uri="{FF2B5EF4-FFF2-40B4-BE49-F238E27FC236}">
                  <a16:creationId xmlns:a16="http://schemas.microsoft.com/office/drawing/2014/main" id="{739E1A58-F96D-1345-AEAE-EA59CB2F60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2" name="Freeform 162">
              <a:extLst>
                <a:ext uri="{FF2B5EF4-FFF2-40B4-BE49-F238E27FC236}">
                  <a16:creationId xmlns:a16="http://schemas.microsoft.com/office/drawing/2014/main" id="{476098FC-333E-C14D-BD39-044AEB98AE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75" name="Group 163">
            <a:extLst>
              <a:ext uri="{FF2B5EF4-FFF2-40B4-BE49-F238E27FC236}">
                <a16:creationId xmlns:a16="http://schemas.microsoft.com/office/drawing/2014/main" id="{E2EFDB81-0D19-4A48-8538-D27C6B7F7D14}"/>
              </a:ext>
            </a:extLst>
          </p:cNvPr>
          <p:cNvGrpSpPr>
            <a:grpSpLocks/>
          </p:cNvGrpSpPr>
          <p:nvPr/>
        </p:nvGrpSpPr>
        <p:grpSpPr bwMode="auto">
          <a:xfrm>
            <a:off x="5356478" y="5159895"/>
            <a:ext cx="213518" cy="433111"/>
            <a:chOff x="4140" y="429"/>
            <a:chExt cx="1425" cy="2396"/>
          </a:xfrm>
        </p:grpSpPr>
        <p:sp>
          <p:nvSpPr>
            <p:cNvPr id="199" name="Freeform 164">
              <a:extLst>
                <a:ext uri="{FF2B5EF4-FFF2-40B4-BE49-F238E27FC236}">
                  <a16:creationId xmlns:a16="http://schemas.microsoft.com/office/drawing/2014/main" id="{BD6EFF4C-D844-414A-9756-E53717BA4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00" name="Rectangle 165">
              <a:extLst>
                <a:ext uri="{FF2B5EF4-FFF2-40B4-BE49-F238E27FC236}">
                  <a16:creationId xmlns:a16="http://schemas.microsoft.com/office/drawing/2014/main" id="{7CB552E3-C1C5-F942-A2D3-56184702A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01" name="Freeform 166">
              <a:extLst>
                <a:ext uri="{FF2B5EF4-FFF2-40B4-BE49-F238E27FC236}">
                  <a16:creationId xmlns:a16="http://schemas.microsoft.com/office/drawing/2014/main" id="{ADBEFE66-AA30-4B46-A1C5-46CBEA0C1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02" name="Freeform 167">
              <a:extLst>
                <a:ext uri="{FF2B5EF4-FFF2-40B4-BE49-F238E27FC236}">
                  <a16:creationId xmlns:a16="http://schemas.microsoft.com/office/drawing/2014/main" id="{02AE45A3-16A5-2145-B7BC-4400869B5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03" name="Rectangle 168">
              <a:extLst>
                <a:ext uri="{FF2B5EF4-FFF2-40B4-BE49-F238E27FC236}">
                  <a16:creationId xmlns:a16="http://schemas.microsoft.com/office/drawing/2014/main" id="{8CFC0F08-B9F2-1B47-BFD4-FF5DCA08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04" name="Group 169">
              <a:extLst>
                <a:ext uri="{FF2B5EF4-FFF2-40B4-BE49-F238E27FC236}">
                  <a16:creationId xmlns:a16="http://schemas.microsoft.com/office/drawing/2014/main" id="{13A37EEE-1891-1440-9CC9-602B2446BB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29" name="AutoShape 170">
                <a:extLst>
                  <a:ext uri="{FF2B5EF4-FFF2-40B4-BE49-F238E27FC236}">
                    <a16:creationId xmlns:a16="http://schemas.microsoft.com/office/drawing/2014/main" id="{0DE9F83D-BA7B-AB43-9A9D-4DC6E78250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30" name="AutoShape 171">
                <a:extLst>
                  <a:ext uri="{FF2B5EF4-FFF2-40B4-BE49-F238E27FC236}">
                    <a16:creationId xmlns:a16="http://schemas.microsoft.com/office/drawing/2014/main" id="{A22C12A6-C6AF-F645-B954-ECC93E01FA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05" name="Rectangle 172">
              <a:extLst>
                <a:ext uri="{FF2B5EF4-FFF2-40B4-BE49-F238E27FC236}">
                  <a16:creationId xmlns:a16="http://schemas.microsoft.com/office/drawing/2014/main" id="{E3DCF607-14CC-8F49-81D1-A0BB7C7DE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06" name="Group 173">
              <a:extLst>
                <a:ext uri="{FF2B5EF4-FFF2-40B4-BE49-F238E27FC236}">
                  <a16:creationId xmlns:a16="http://schemas.microsoft.com/office/drawing/2014/main" id="{86D015C1-5E8B-3F4F-82D3-56E79D5E82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27" name="AutoShape 174">
                <a:extLst>
                  <a:ext uri="{FF2B5EF4-FFF2-40B4-BE49-F238E27FC236}">
                    <a16:creationId xmlns:a16="http://schemas.microsoft.com/office/drawing/2014/main" id="{48620533-E7B5-AD47-9B24-98B7CD2770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28" name="AutoShape 175">
                <a:extLst>
                  <a:ext uri="{FF2B5EF4-FFF2-40B4-BE49-F238E27FC236}">
                    <a16:creationId xmlns:a16="http://schemas.microsoft.com/office/drawing/2014/main" id="{E12148F0-F22A-FE46-8240-0D9581F97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07" name="Rectangle 176">
              <a:extLst>
                <a:ext uri="{FF2B5EF4-FFF2-40B4-BE49-F238E27FC236}">
                  <a16:creationId xmlns:a16="http://schemas.microsoft.com/office/drawing/2014/main" id="{9AEDD470-9194-E749-BE81-8C84F3423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08" name="Rectangle 177">
              <a:extLst>
                <a:ext uri="{FF2B5EF4-FFF2-40B4-BE49-F238E27FC236}">
                  <a16:creationId xmlns:a16="http://schemas.microsoft.com/office/drawing/2014/main" id="{92944065-57F3-474C-B7C9-8C3EF2246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09" name="Group 178">
              <a:extLst>
                <a:ext uri="{FF2B5EF4-FFF2-40B4-BE49-F238E27FC236}">
                  <a16:creationId xmlns:a16="http://schemas.microsoft.com/office/drawing/2014/main" id="{F21A1F7B-AAFD-0B45-8D20-66719A131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5" name="AutoShape 179">
                <a:extLst>
                  <a:ext uri="{FF2B5EF4-FFF2-40B4-BE49-F238E27FC236}">
                    <a16:creationId xmlns:a16="http://schemas.microsoft.com/office/drawing/2014/main" id="{C1DDC539-D8AE-0F41-B3C6-7BDF3D7B6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26" name="AutoShape 180">
                <a:extLst>
                  <a:ext uri="{FF2B5EF4-FFF2-40B4-BE49-F238E27FC236}">
                    <a16:creationId xmlns:a16="http://schemas.microsoft.com/office/drawing/2014/main" id="{7BE912F4-6A13-C146-872D-5E728DEDB9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10" name="Freeform 181">
              <a:extLst>
                <a:ext uri="{FF2B5EF4-FFF2-40B4-BE49-F238E27FC236}">
                  <a16:creationId xmlns:a16="http://schemas.microsoft.com/office/drawing/2014/main" id="{2D115A2E-4180-8D4D-9CD8-D6CDE2038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211" name="Group 182">
              <a:extLst>
                <a:ext uri="{FF2B5EF4-FFF2-40B4-BE49-F238E27FC236}">
                  <a16:creationId xmlns:a16="http://schemas.microsoft.com/office/drawing/2014/main" id="{60622201-2E59-994D-AB7D-72EE5A9869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3" name="AutoShape 183">
                <a:extLst>
                  <a:ext uri="{FF2B5EF4-FFF2-40B4-BE49-F238E27FC236}">
                    <a16:creationId xmlns:a16="http://schemas.microsoft.com/office/drawing/2014/main" id="{4C230A94-BC0D-F34B-A373-92423746E1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24" name="AutoShape 184">
                <a:extLst>
                  <a:ext uri="{FF2B5EF4-FFF2-40B4-BE49-F238E27FC236}">
                    <a16:creationId xmlns:a16="http://schemas.microsoft.com/office/drawing/2014/main" id="{790B5D31-2480-4F41-8E42-1AF6E8FAD5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12" name="Rectangle 185">
              <a:extLst>
                <a:ext uri="{FF2B5EF4-FFF2-40B4-BE49-F238E27FC236}">
                  <a16:creationId xmlns:a16="http://schemas.microsoft.com/office/drawing/2014/main" id="{FDF61F85-9CD0-354B-947A-470245040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13" name="Freeform 186">
              <a:extLst>
                <a:ext uri="{FF2B5EF4-FFF2-40B4-BE49-F238E27FC236}">
                  <a16:creationId xmlns:a16="http://schemas.microsoft.com/office/drawing/2014/main" id="{611684CC-E72C-034A-A61A-6164A0BF85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14" name="Freeform 187">
              <a:extLst>
                <a:ext uri="{FF2B5EF4-FFF2-40B4-BE49-F238E27FC236}">
                  <a16:creationId xmlns:a16="http://schemas.microsoft.com/office/drawing/2014/main" id="{DBB964D6-CEE2-3241-BFDA-5DB20E159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15" name="Oval 188">
              <a:extLst>
                <a:ext uri="{FF2B5EF4-FFF2-40B4-BE49-F238E27FC236}">
                  <a16:creationId xmlns:a16="http://schemas.microsoft.com/office/drawing/2014/main" id="{27197FE3-A9C2-EE42-B3C2-C3A9CBF3D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16" name="Freeform 189">
              <a:extLst>
                <a:ext uri="{FF2B5EF4-FFF2-40B4-BE49-F238E27FC236}">
                  <a16:creationId xmlns:a16="http://schemas.microsoft.com/office/drawing/2014/main" id="{F3ED62CF-FC3D-8949-A608-5B7BFE69D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17" name="AutoShape 190">
              <a:extLst>
                <a:ext uri="{FF2B5EF4-FFF2-40B4-BE49-F238E27FC236}">
                  <a16:creationId xmlns:a16="http://schemas.microsoft.com/office/drawing/2014/main" id="{3091CE7F-A295-6F47-B397-614B62DF0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18" name="AutoShape 191">
              <a:extLst>
                <a:ext uri="{FF2B5EF4-FFF2-40B4-BE49-F238E27FC236}">
                  <a16:creationId xmlns:a16="http://schemas.microsoft.com/office/drawing/2014/main" id="{415A0F15-253E-F54D-B178-9525AED18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19" name="Oval 192">
              <a:extLst>
                <a:ext uri="{FF2B5EF4-FFF2-40B4-BE49-F238E27FC236}">
                  <a16:creationId xmlns:a16="http://schemas.microsoft.com/office/drawing/2014/main" id="{C2CD80B7-EEF4-014D-B5A6-EAE8E9D2D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20" name="Oval 193">
              <a:extLst>
                <a:ext uri="{FF2B5EF4-FFF2-40B4-BE49-F238E27FC236}">
                  <a16:creationId xmlns:a16="http://schemas.microsoft.com/office/drawing/2014/main" id="{36F54B23-051A-244E-98BA-0B1F8C402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21" name="Oval 194">
              <a:extLst>
                <a:ext uri="{FF2B5EF4-FFF2-40B4-BE49-F238E27FC236}">
                  <a16:creationId xmlns:a16="http://schemas.microsoft.com/office/drawing/2014/main" id="{9B7CB66A-4AB2-C249-9259-D8943EEC6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22" name="Rectangle 195">
              <a:extLst>
                <a:ext uri="{FF2B5EF4-FFF2-40B4-BE49-F238E27FC236}">
                  <a16:creationId xmlns:a16="http://schemas.microsoft.com/office/drawing/2014/main" id="{99EDA04F-76BC-A24E-994C-040F379BA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178" name="Line 57">
            <a:extLst>
              <a:ext uri="{FF2B5EF4-FFF2-40B4-BE49-F238E27FC236}">
                <a16:creationId xmlns:a16="http://schemas.microsoft.com/office/drawing/2014/main" id="{57E79EDF-A69C-7748-A8F5-A8D11C4169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66527" y="5348527"/>
            <a:ext cx="75743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9" name="Line 57">
            <a:extLst>
              <a:ext uri="{FF2B5EF4-FFF2-40B4-BE49-F238E27FC236}">
                <a16:creationId xmlns:a16="http://schemas.microsoft.com/office/drawing/2014/main" id="{F9B908EA-CCC5-9140-968E-E85601F061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50897" y="4497166"/>
            <a:ext cx="40510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0" name="Line 57">
            <a:extLst>
              <a:ext uri="{FF2B5EF4-FFF2-40B4-BE49-F238E27FC236}">
                <a16:creationId xmlns:a16="http://schemas.microsoft.com/office/drawing/2014/main" id="{B8DA85AE-A4EF-8949-A171-7D8A32E238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02043" y="5350829"/>
            <a:ext cx="40510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8B36FCA-98F2-334E-B745-8BE5CDDCBFB2}"/>
              </a:ext>
            </a:extLst>
          </p:cNvPr>
          <p:cNvGrpSpPr/>
          <p:nvPr/>
        </p:nvGrpSpPr>
        <p:grpSpPr>
          <a:xfrm>
            <a:off x="2061817" y="3427810"/>
            <a:ext cx="2138708" cy="709613"/>
            <a:chOff x="2749090" y="3427413"/>
            <a:chExt cx="2851610" cy="946150"/>
          </a:xfrm>
        </p:grpSpPr>
        <p:sp>
          <p:nvSpPr>
            <p:cNvPr id="297" name="Text Box 68">
              <a:extLst>
                <a:ext uri="{FF2B5EF4-FFF2-40B4-BE49-F238E27FC236}">
                  <a16:creationId xmlns:a16="http://schemas.microsoft.com/office/drawing/2014/main" id="{A106E788-CB34-784B-A7C6-28841DDC2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dirty="0">
                  <a:solidFill>
                    <a:srgbClr val="C00000"/>
                  </a:solidFill>
                  <a:latin typeface="Symbol" pitchFamily="2" charset="2"/>
                </a:rPr>
                <a:t>l</a:t>
              </a:r>
              <a:r>
                <a:rPr lang="en-US" altLang="en-US" sz="1500" baseline="-25000" dirty="0">
                  <a:solidFill>
                    <a:srgbClr val="C00000"/>
                  </a:solidFill>
                  <a:latin typeface="Arial" panose="020B0604020202020204" pitchFamily="34" charset="0"/>
                </a:rPr>
                <a:t>in</a:t>
              </a:r>
              <a:r>
                <a:rPr lang="en-US" altLang="en-US" sz="1200" baseline="-25000" dirty="0">
                  <a:solidFill>
                    <a:srgbClr val="C000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en-US" sz="1200" dirty="0">
                  <a:solidFill>
                    <a:srgbClr val="C00000"/>
                  </a:solidFill>
                  <a:latin typeface="Arial" panose="020B0604020202020204" pitchFamily="34" charset="0"/>
                </a:rPr>
                <a:t>: original data</a:t>
              </a:r>
              <a:endParaRPr lang="en-US" altLang="en-US" sz="1200" dirty="0">
                <a:solidFill>
                  <a:srgbClr val="C00000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298" name="Oval 217">
              <a:extLst>
                <a:ext uri="{FF2B5EF4-FFF2-40B4-BE49-F238E27FC236}">
                  <a16:creationId xmlns:a16="http://schemas.microsoft.com/office/drawing/2014/main" id="{CEE2DA5C-50A0-D742-A105-CCD7EE709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299" name="Line 229">
              <a:extLst>
                <a:ext uri="{FF2B5EF4-FFF2-40B4-BE49-F238E27FC236}">
                  <a16:creationId xmlns:a16="http://schemas.microsoft.com/office/drawing/2014/main" id="{255225C8-6B39-2541-95EB-F48A1F34A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00" name="Oval 232">
              <a:extLst>
                <a:ext uri="{FF2B5EF4-FFF2-40B4-BE49-F238E27FC236}">
                  <a16:creationId xmlns:a16="http://schemas.microsoft.com/office/drawing/2014/main" id="{43D2CE91-2B81-EF48-9C07-31413440C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301" name="Text Box 233">
              <a:extLst>
                <a:ext uri="{FF2B5EF4-FFF2-40B4-BE49-F238E27FC236}">
                  <a16:creationId xmlns:a16="http://schemas.microsoft.com/office/drawing/2014/main" id="{FE1C66F4-D8DA-494A-9A89-F8E745865F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dirty="0">
                  <a:solidFill>
                    <a:srgbClr val="C00000"/>
                  </a:solidFill>
                  <a:latin typeface="Symbol" pitchFamily="2" charset="2"/>
                </a:rPr>
                <a:t>l</a:t>
              </a:r>
              <a:r>
                <a:rPr lang="en-US" altLang="en-US" sz="1500" dirty="0">
                  <a:solidFill>
                    <a:srgbClr val="C00000"/>
                  </a:solidFill>
                  <a:latin typeface="Arial" panose="020B0604020202020204" pitchFamily="34" charset="0"/>
                </a:rPr>
                <a:t>'</a:t>
              </a:r>
              <a:r>
                <a:rPr lang="en-US" altLang="en-US" sz="1500" baseline="-25000" dirty="0">
                  <a:solidFill>
                    <a:srgbClr val="C00000"/>
                  </a:solidFill>
                  <a:latin typeface="Arial" panose="020B0604020202020204" pitchFamily="34" charset="0"/>
                </a:rPr>
                <a:t>in</a:t>
              </a:r>
              <a:r>
                <a:rPr lang="en-US" altLang="en-US" sz="1350" dirty="0">
                  <a:solidFill>
                    <a:srgbClr val="C00000"/>
                  </a:solidFill>
                  <a:latin typeface="Arial" panose="020B0604020202020204" pitchFamily="34" charset="0"/>
                </a:rPr>
                <a:t>:</a:t>
              </a:r>
              <a:r>
                <a:rPr lang="en-US" altLang="en-US" sz="1050" dirty="0">
                  <a:solidFill>
                    <a:srgbClr val="C000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en-US" sz="1200" dirty="0">
                  <a:solidFill>
                    <a:srgbClr val="C00000"/>
                  </a:solidFill>
                  <a:latin typeface="Arial" panose="020B0604020202020204" pitchFamily="34" charset="0"/>
                </a:rPr>
                <a:t>original data, </a:t>
              </a:r>
              <a:r>
                <a:rPr lang="en-US" altLang="en-US" sz="1200" i="1" dirty="0">
                  <a:solidFill>
                    <a:srgbClr val="C00000"/>
                  </a:solidFill>
                  <a:latin typeface="Arial" panose="020B0604020202020204" pitchFamily="34" charset="0"/>
                </a:rPr>
                <a:t>plus</a:t>
              </a:r>
              <a:r>
                <a:rPr lang="en-US" altLang="en-US" sz="1200" dirty="0">
                  <a:solidFill>
                    <a:srgbClr val="C00000"/>
                  </a:solidFill>
                  <a:latin typeface="Arial" panose="020B0604020202020204" pitchFamily="34" charset="0"/>
                </a:rPr>
                <a:t> retransmitted data</a:t>
              </a:r>
              <a:endParaRPr lang="en-US" altLang="en-US" sz="1200" dirty="0">
                <a:solidFill>
                  <a:srgbClr val="C00000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302" name="Line 234">
              <a:extLst>
                <a:ext uri="{FF2B5EF4-FFF2-40B4-BE49-F238E27FC236}">
                  <a16:creationId xmlns:a16="http://schemas.microsoft.com/office/drawing/2014/main" id="{63AF49C8-A0AA-624A-85D8-166B2AE497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03" name="Line 235">
              <a:extLst>
                <a:ext uri="{FF2B5EF4-FFF2-40B4-BE49-F238E27FC236}">
                  <a16:creationId xmlns:a16="http://schemas.microsoft.com/office/drawing/2014/main" id="{DB362CDB-1FF4-4C41-99F9-FAF1CC7CC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DD48FEE-9456-1B4E-84A7-B3ED91FFE8E0}"/>
              </a:ext>
            </a:extLst>
          </p:cNvPr>
          <p:cNvGrpSpPr/>
          <p:nvPr/>
        </p:nvGrpSpPr>
        <p:grpSpPr>
          <a:xfrm>
            <a:off x="2185117" y="4771465"/>
            <a:ext cx="1454048" cy="975136"/>
            <a:chOff x="2913490" y="5218953"/>
            <a:chExt cx="1938730" cy="1300181"/>
          </a:xfrm>
        </p:grpSpPr>
        <p:sp>
          <p:nvSpPr>
            <p:cNvPr id="182" name="Text Box 32">
              <a:extLst>
                <a:ext uri="{FF2B5EF4-FFF2-40B4-BE49-F238E27FC236}">
                  <a16:creationId xmlns:a16="http://schemas.microsoft.com/office/drawing/2014/main" id="{CF2B7F29-466D-FC4A-ACE7-BFBF267B0C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b="1" i="1" dirty="0">
                  <a:solidFill>
                    <a:srgbClr val="C00000"/>
                  </a:solidFill>
                  <a:latin typeface="Arial" panose="020B0604020202020204" pitchFamily="34" charset="0"/>
                </a:rPr>
                <a:t>finite</a:t>
              </a:r>
              <a:r>
                <a:rPr lang="en-US" altLang="en-US" sz="900" dirty="0">
                  <a:solidFill>
                    <a:srgbClr val="000000"/>
                  </a:solidFill>
                  <a:latin typeface="Arial" panose="020B0604020202020204" pitchFamily="34" charset="0"/>
                </a:rPr>
                <a:t> shared output link buffers</a:t>
              </a:r>
            </a:p>
          </p:txBody>
        </p:sp>
        <p:sp>
          <p:nvSpPr>
            <p:cNvPr id="184" name="Line 77">
              <a:extLst>
                <a:ext uri="{FF2B5EF4-FFF2-40B4-BE49-F238E27FC236}">
                  <a16:creationId xmlns:a16="http://schemas.microsoft.com/office/drawing/2014/main" id="{7E362826-A3B7-5941-AE9B-A10769F86A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F6512663-A281-404F-AF8E-A1DB8E5E7ECA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115AD671-DB74-444A-B48E-E8BEAB79A7D2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99DD12F9-E416-394B-8D63-40D48A708559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15780100-29B8-5C4F-93B7-5649208D6A95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Straight Connector 353">
                <a:extLst>
                  <a:ext uri="{FF2B5EF4-FFF2-40B4-BE49-F238E27FC236}">
                    <a16:creationId xmlns:a16="http://schemas.microsoft.com/office/drawing/2014/main" id="{202CCE17-CE75-B441-ADA2-F35E98844675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6" name="Straight Connector 455">
                <a:extLst>
                  <a:ext uri="{FF2B5EF4-FFF2-40B4-BE49-F238E27FC236}">
                    <a16:creationId xmlns:a16="http://schemas.microsoft.com/office/drawing/2014/main" id="{9471ACA7-44C6-004C-B2C2-7818A49BE16E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7" name="Straight Connector 456">
                <a:extLst>
                  <a:ext uri="{FF2B5EF4-FFF2-40B4-BE49-F238E27FC236}">
                    <a16:creationId xmlns:a16="http://schemas.microsoft.com/office/drawing/2014/main" id="{72FD74F9-7342-F046-8132-AF1193BA35CF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Straight Connector 457">
                <a:extLst>
                  <a:ext uri="{FF2B5EF4-FFF2-40B4-BE49-F238E27FC236}">
                    <a16:creationId xmlns:a16="http://schemas.microsoft.com/office/drawing/2014/main" id="{4E5C557C-7FBE-9746-A186-91684629902D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9B6FEECA-C37C-BB48-B144-6D6274CBC319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72" name="Freeform 91">
            <a:extLst>
              <a:ext uri="{FF2B5EF4-FFF2-40B4-BE49-F238E27FC236}">
                <a16:creationId xmlns:a16="http://schemas.microsoft.com/office/drawing/2014/main" id="{A9B480FF-21CF-FC44-9DF0-9C672684A517}"/>
              </a:ext>
            </a:extLst>
          </p:cNvPr>
          <p:cNvSpPr>
            <a:spLocks/>
          </p:cNvSpPr>
          <p:nvPr/>
        </p:nvSpPr>
        <p:spPr bwMode="auto">
          <a:xfrm>
            <a:off x="2102515" y="3601941"/>
            <a:ext cx="3158903" cy="1252595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FE72A71E-CC9B-AE4A-AE8F-124BCB210BCD}"/>
              </a:ext>
            </a:extLst>
          </p:cNvPr>
          <p:cNvGrpSpPr/>
          <p:nvPr/>
        </p:nvGrpSpPr>
        <p:grpSpPr>
          <a:xfrm>
            <a:off x="1189944" y="4415193"/>
            <a:ext cx="3685387" cy="1009554"/>
            <a:chOff x="5641439" y="2685215"/>
            <a:chExt cx="4000500" cy="1028700"/>
          </a:xfrm>
        </p:grpSpPr>
        <p:sp>
          <p:nvSpPr>
            <p:cNvPr id="265" name="Oval 73">
              <a:extLst>
                <a:ext uri="{FF2B5EF4-FFF2-40B4-BE49-F238E27FC236}">
                  <a16:creationId xmlns:a16="http://schemas.microsoft.com/office/drawing/2014/main" id="{CBF2A11D-CB4B-5047-8DCE-1CCA81F60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266" name="Freeform 90">
              <a:extLst>
                <a:ext uri="{FF2B5EF4-FFF2-40B4-BE49-F238E27FC236}">
                  <a16:creationId xmlns:a16="http://schemas.microsoft.com/office/drawing/2014/main" id="{A788A76C-C9BB-D246-93A9-CFA5F5F5A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A2C2F29-CDE1-7F43-8E31-AA4451365879}"/>
              </a:ext>
            </a:extLst>
          </p:cNvPr>
          <p:cNvGrpSpPr/>
          <p:nvPr/>
        </p:nvGrpSpPr>
        <p:grpSpPr>
          <a:xfrm>
            <a:off x="482755" y="2143204"/>
            <a:ext cx="7283123" cy="1428750"/>
            <a:chOff x="643673" y="1714605"/>
            <a:chExt cx="9710831" cy="1905000"/>
          </a:xfrm>
        </p:grpSpPr>
        <p:grpSp>
          <p:nvGrpSpPr>
            <p:cNvPr id="910" name="Group 237">
              <a:extLst>
                <a:ext uri="{FF2B5EF4-FFF2-40B4-BE49-F238E27FC236}">
                  <a16:creationId xmlns:a16="http://schemas.microsoft.com/office/drawing/2014/main" id="{EC72FC62-B230-A94B-A95E-6B7E5B9B9A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0739" y="2720058"/>
              <a:ext cx="195221" cy="142875"/>
              <a:chOff x="174" y="3986"/>
              <a:chExt cx="51" cy="62"/>
            </a:xfrm>
          </p:grpSpPr>
          <p:sp>
            <p:nvSpPr>
              <p:cNvPr id="911" name="Freeform 238">
                <a:extLst>
                  <a:ext uri="{FF2B5EF4-FFF2-40B4-BE49-F238E27FC236}">
                    <a16:creationId xmlns:a16="http://schemas.microsoft.com/office/drawing/2014/main" id="{8675489A-2D10-4445-84BB-BCD7F29CF9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" y="3986"/>
                <a:ext cx="49" cy="48"/>
              </a:xfrm>
              <a:custGeom>
                <a:avLst/>
                <a:gdLst>
                  <a:gd name="T0" fmla="*/ 0 w 49"/>
                  <a:gd name="T1" fmla="*/ 0 h 62"/>
                  <a:gd name="T2" fmla="*/ 49 w 49"/>
                  <a:gd name="T3" fmla="*/ 2 h 62"/>
                  <a:gd name="T4" fmla="*/ 4 w 49"/>
                  <a:gd name="T5" fmla="*/ 5 h 6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9" h="62">
                    <a:moveTo>
                      <a:pt x="0" y="0"/>
                    </a:moveTo>
                    <a:lnTo>
                      <a:pt x="49" y="32"/>
                    </a:lnTo>
                    <a:lnTo>
                      <a:pt x="4" y="62"/>
                    </a:lnTo>
                  </a:path>
                </a:pathLst>
              </a:custGeom>
              <a:solidFill>
                <a:schemeClr val="bg1"/>
              </a:solidFill>
              <a:ln w="222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12" name="Line 239">
                <a:extLst>
                  <a:ext uri="{FF2B5EF4-FFF2-40B4-BE49-F238E27FC236}">
                    <a16:creationId xmlns:a16="http://schemas.microsoft.com/office/drawing/2014/main" id="{6EE2EE7A-D9AA-9444-A38F-5ADDE6E80F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" y="4048"/>
                <a:ext cx="4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460" name="Rectangle 2">
              <a:extLst>
                <a:ext uri="{FF2B5EF4-FFF2-40B4-BE49-F238E27FC236}">
                  <a16:creationId xmlns:a16="http://schemas.microsoft.com/office/drawing/2014/main" id="{03320F89-A084-7B49-8A13-3CBCE2696C5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43673" y="1714605"/>
              <a:ext cx="9710831" cy="1905000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64319" indent="-166688" defTabSz="685800">
                <a:spcBef>
                  <a:spcPts val="750"/>
                </a:spcBef>
                <a:buFont typeface="Wingdings" charset="2"/>
                <a:buChar char="§"/>
                <a:defRPr/>
              </a:pPr>
              <a:r>
                <a:rPr lang="en-US" sz="2100" dirty="0">
                  <a:solidFill>
                    <a:prstClr val="black"/>
                  </a:solidFill>
                  <a:latin typeface="Calibri" panose="020F0502020204030204"/>
                </a:rPr>
                <a:t>sender retransmits lost, timed-out packet</a:t>
              </a:r>
            </a:p>
            <a:p>
              <a:pPr marL="521494" lvl="1" indent="-173831" defTabSz="685800">
                <a:spcBef>
                  <a:spcPts val="375"/>
                </a:spcBef>
                <a:buFont typeface="Arial"/>
                <a:buChar char="•"/>
                <a:defRPr/>
              </a:pP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application-layer input = application-layer output:</a:t>
              </a:r>
              <a:r>
                <a:rPr lang="en-US" sz="1800" dirty="0">
                  <a:solidFill>
                    <a:prstClr val="black"/>
                  </a:solidFill>
                  <a:latin typeface="Symbol" charset="0"/>
                </a:rPr>
                <a:t> l</a:t>
              </a:r>
              <a:r>
                <a:rPr lang="en-US" sz="1800" baseline="-25000" dirty="0">
                  <a:solidFill>
                    <a:prstClr val="black"/>
                  </a:solidFill>
                  <a:latin typeface="Arial" charset="0"/>
                </a:rPr>
                <a:t>in </a:t>
              </a:r>
              <a:r>
                <a:rPr lang="en-US" sz="1800" dirty="0">
                  <a:solidFill>
                    <a:prstClr val="black"/>
                  </a:solidFill>
                  <a:latin typeface="Arial" charset="0"/>
                </a:rPr>
                <a:t>= </a:t>
              </a:r>
              <a:r>
                <a:rPr lang="en-US" sz="1800" dirty="0">
                  <a:solidFill>
                    <a:prstClr val="black"/>
                  </a:solidFill>
                  <a:latin typeface="Symbol" charset="0"/>
                </a:rPr>
                <a:t>l</a:t>
              </a:r>
              <a:r>
                <a:rPr lang="en-US" sz="1800" baseline="-25000" dirty="0">
                  <a:solidFill>
                    <a:prstClr val="black"/>
                  </a:solidFill>
                  <a:latin typeface="Arial" charset="0"/>
                </a:rPr>
                <a:t>out</a:t>
              </a:r>
            </a:p>
            <a:p>
              <a:pPr marL="521494" lvl="1" indent="-173831" defTabSz="685800">
                <a:spcBef>
                  <a:spcPts val="375"/>
                </a:spcBef>
                <a:buFont typeface="Arial"/>
                <a:buChar char="•"/>
                <a:defRPr/>
              </a:pP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transport-layer input includes </a:t>
              </a:r>
              <a:r>
                <a:rPr lang="en-US" sz="1800" i="1" dirty="0">
                  <a:solidFill>
                    <a:prstClr val="black"/>
                  </a:solidFill>
                  <a:latin typeface="Calibri" panose="020F0502020204030204"/>
                </a:rPr>
                <a:t>retransmissions </a:t>
              </a: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:</a:t>
              </a:r>
              <a:r>
                <a:rPr lang="en-US" sz="1800" dirty="0">
                  <a:solidFill>
                    <a:prstClr val="black"/>
                  </a:solidFill>
                  <a:latin typeface="Symbol" charset="0"/>
                </a:rPr>
                <a:t> l</a:t>
              </a: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’</a:t>
              </a:r>
              <a:r>
                <a:rPr lang="en-US" sz="1800" baseline="-25000" dirty="0">
                  <a:solidFill>
                    <a:prstClr val="black"/>
                  </a:solidFill>
                  <a:latin typeface="Arial" charset="0"/>
                </a:rPr>
                <a:t>in </a:t>
              </a:r>
              <a:r>
                <a:rPr lang="en-US" sz="1800" dirty="0">
                  <a:solidFill>
                    <a:prstClr val="black"/>
                  </a:solidFill>
                  <a:latin typeface="Arial" charset="0"/>
                </a:rPr>
                <a:t>   </a:t>
              </a:r>
              <a:r>
                <a:rPr lang="en-US" sz="1800" dirty="0">
                  <a:solidFill>
                    <a:prstClr val="black"/>
                  </a:solidFill>
                  <a:latin typeface="Symbol" charset="0"/>
                </a:rPr>
                <a:t>l</a:t>
              </a:r>
              <a:r>
                <a:rPr lang="en-US" sz="1800" baseline="-25000" dirty="0">
                  <a:solidFill>
                    <a:prstClr val="black"/>
                  </a:solidFill>
                  <a:latin typeface="Arial" charset="0"/>
                </a:rPr>
                <a:t>in</a:t>
              </a:r>
              <a:endParaRPr lang="en-US" sz="1800" i="1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marL="264319" indent="-166688" defTabSz="685800">
                <a:spcBef>
                  <a:spcPts val="750"/>
                </a:spcBef>
                <a:buFont typeface="Wingdings" charset="2"/>
                <a:buChar char="§"/>
                <a:defRPr/>
              </a:pPr>
              <a:endParaRPr lang="en-US" sz="18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marL="264319" indent="-166688" defTabSz="685800">
                <a:spcBef>
                  <a:spcPts val="750"/>
                </a:spcBef>
                <a:buFont typeface="Wingdings" charset="2"/>
                <a:buChar char="§"/>
                <a:defRPr/>
              </a:pPr>
              <a:endParaRPr lang="en-US" sz="21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marL="264319" indent="-166688" defTabSz="685800">
                <a:spcBef>
                  <a:spcPts val="750"/>
                </a:spcBef>
                <a:buFont typeface="Wingdings" charset="2"/>
                <a:buChar char="§"/>
                <a:defRPr/>
              </a:pPr>
              <a:endParaRPr 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C232186-DB8B-EE41-ABB8-8C4434E748DD}"/>
              </a:ext>
            </a:extLst>
          </p:cNvPr>
          <p:cNvGrpSpPr/>
          <p:nvPr/>
        </p:nvGrpSpPr>
        <p:grpSpPr>
          <a:xfrm>
            <a:off x="5337573" y="3579019"/>
            <a:ext cx="792956" cy="354806"/>
            <a:chOff x="7116763" y="3629025"/>
            <a:chExt cx="1057275" cy="473075"/>
          </a:xfrm>
        </p:grpSpPr>
        <p:sp>
          <p:nvSpPr>
            <p:cNvPr id="461" name="Text Box 219">
              <a:extLst>
                <a:ext uri="{FF2B5EF4-FFF2-40B4-BE49-F238E27FC236}">
                  <a16:creationId xmlns:a16="http://schemas.microsoft.com/office/drawing/2014/main" id="{C648AB54-6598-DE46-92A6-D245E6D0B3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3488" y="3629025"/>
              <a:ext cx="590550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dirty="0">
                  <a:solidFill>
                    <a:srgbClr val="C00000"/>
                  </a:solidFill>
                  <a:latin typeface="Symbol" pitchFamily="2" charset="2"/>
                </a:rPr>
                <a:t>l</a:t>
              </a:r>
              <a:r>
                <a:rPr lang="en-US" altLang="en-US" sz="1500" baseline="-25000" dirty="0">
                  <a:solidFill>
                    <a:srgbClr val="C00000"/>
                  </a:solidFill>
                  <a:latin typeface="Arial" panose="020B0604020202020204" pitchFamily="34" charset="0"/>
                </a:rPr>
                <a:t>out</a:t>
              </a:r>
              <a:endParaRPr lang="en-US" altLang="en-US" sz="1500" dirty="0">
                <a:solidFill>
                  <a:srgbClr val="C00000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462" name="Line 236">
              <a:extLst>
                <a:ext uri="{FF2B5EF4-FFF2-40B4-BE49-F238E27FC236}">
                  <a16:creationId xmlns:a16="http://schemas.microsoft.com/office/drawing/2014/main" id="{1870B461-7B79-EB4C-840A-4B5BE77A4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16763" y="38354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5560666-FC53-B945-9620-BB2E2AE986CF}"/>
              </a:ext>
            </a:extLst>
          </p:cNvPr>
          <p:cNvGrpSpPr/>
          <p:nvPr/>
        </p:nvGrpSpPr>
        <p:grpSpPr>
          <a:xfrm>
            <a:off x="2421069" y="4859836"/>
            <a:ext cx="1639465" cy="380565"/>
            <a:chOff x="3228093" y="5336775"/>
            <a:chExt cx="2185953" cy="507419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8372AD6F-EEFC-914F-BE23-DE28BE98C152}"/>
                </a:ext>
              </a:extLst>
            </p:cNvPr>
            <p:cNvSpPr txBox="1"/>
            <p:nvPr/>
          </p:nvSpPr>
          <p:spPr>
            <a:xfrm>
              <a:off x="5001111" y="5336775"/>
              <a:ext cx="412935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 defTabSz="685800"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</a:rPr>
                <a:t>R</a:t>
              </a:r>
            </a:p>
          </p:txBody>
        </p:sp>
        <p:sp>
          <p:nvSpPr>
            <p:cNvPr id="463" name="TextBox 462">
              <a:extLst>
                <a:ext uri="{FF2B5EF4-FFF2-40B4-BE49-F238E27FC236}">
                  <a16:creationId xmlns:a16="http://schemas.microsoft.com/office/drawing/2014/main" id="{AECD2E0A-D6E2-2842-934A-3F651325C0C8}"/>
                </a:ext>
              </a:extLst>
            </p:cNvPr>
            <p:cNvSpPr txBox="1"/>
            <p:nvPr/>
          </p:nvSpPr>
          <p:spPr>
            <a:xfrm>
              <a:off x="3228093" y="5351752"/>
              <a:ext cx="412935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 defTabSz="685800"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</a:rPr>
                <a:t>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901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Freeform 3">
            <a:extLst>
              <a:ext uri="{FF2B5EF4-FFF2-40B4-BE49-F238E27FC236}">
                <a16:creationId xmlns:a16="http://schemas.microsoft.com/office/drawing/2014/main" id="{94850343-F164-9342-8172-492C44663F13}"/>
              </a:ext>
            </a:extLst>
          </p:cNvPr>
          <p:cNvSpPr>
            <a:spLocks/>
          </p:cNvSpPr>
          <p:nvPr/>
        </p:nvSpPr>
        <p:spPr bwMode="auto">
          <a:xfrm>
            <a:off x="5210233" y="4614611"/>
            <a:ext cx="231068" cy="91296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D7909E55-4569-0948-961D-43068CFC7348}"/>
              </a:ext>
            </a:extLst>
          </p:cNvPr>
          <p:cNvGrpSpPr/>
          <p:nvPr/>
        </p:nvGrpSpPr>
        <p:grpSpPr>
          <a:xfrm>
            <a:off x="4680385" y="4619699"/>
            <a:ext cx="540549" cy="887198"/>
            <a:chOff x="10910965" y="2513124"/>
            <a:chExt cx="586768" cy="904023"/>
          </a:xfrm>
        </p:grpSpPr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78B11350-9794-2342-B562-D5B69F60AC8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A2D0AADF-2038-FE4A-BA0E-1A216AAE2643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8A6F32B7-0022-B245-AE89-E8233E5F30D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F3C70DC5-A1ED-2147-9421-DD1A82216451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DCBAE229-1066-ED4A-BFB7-7DDF8153B5EC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Freeform 9">
            <a:extLst>
              <a:ext uri="{FF2B5EF4-FFF2-40B4-BE49-F238E27FC236}">
                <a16:creationId xmlns:a16="http://schemas.microsoft.com/office/drawing/2014/main" id="{6FAE0227-588C-3740-BD2A-167D60FE1374}"/>
              </a:ext>
            </a:extLst>
          </p:cNvPr>
          <p:cNvSpPr>
            <a:spLocks/>
          </p:cNvSpPr>
          <p:nvPr/>
        </p:nvSpPr>
        <p:spPr bwMode="auto">
          <a:xfrm flipH="1">
            <a:off x="1383541" y="3493979"/>
            <a:ext cx="396261" cy="88370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27FD24CC-8B00-1249-B3EA-B48ED9BD0C16}"/>
              </a:ext>
            </a:extLst>
          </p:cNvPr>
          <p:cNvGrpSpPr/>
          <p:nvPr/>
        </p:nvGrpSpPr>
        <p:grpSpPr>
          <a:xfrm>
            <a:off x="959009" y="4370023"/>
            <a:ext cx="540549" cy="887198"/>
            <a:chOff x="10910965" y="2513124"/>
            <a:chExt cx="586768" cy="904023"/>
          </a:xfrm>
        </p:grpSpPr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90C923E9-F601-6A4C-8C38-FACF63AC4DA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3B5A7695-AD4A-514E-8995-83287D6880D0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>
              <a:extLst>
                <a:ext uri="{FF2B5EF4-FFF2-40B4-BE49-F238E27FC236}">
                  <a16:creationId xmlns:a16="http://schemas.microsoft.com/office/drawing/2014/main" id="{E21D7D74-8D80-2446-BB07-DFA009FB035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863D0752-8B82-6B47-8C73-82CD069862DA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id="{14D54E01-67AD-BD41-8FC0-3607A456773F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BFD7089E-96E8-4D43-B449-4D5C177E9983}"/>
              </a:ext>
            </a:extLst>
          </p:cNvPr>
          <p:cNvGrpSpPr/>
          <p:nvPr/>
        </p:nvGrpSpPr>
        <p:grpSpPr>
          <a:xfrm>
            <a:off x="1766283" y="3498068"/>
            <a:ext cx="540549" cy="887198"/>
            <a:chOff x="10910965" y="2513124"/>
            <a:chExt cx="586768" cy="904023"/>
          </a:xfrm>
        </p:grpSpPr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2B9795D8-DE72-0E4D-B8D0-8A4FE22C6F3F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8DBB6C8D-4747-6047-8A27-F09F6A2E11DF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F78138AC-BB02-AA47-B525-8C0F524F4082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5263C1CB-C86A-1A4C-904B-C8D95F0C23F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id="{2EBC4991-6315-5645-9FFE-52CAD0CCC2F4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8" name="Freeform 6">
            <a:extLst>
              <a:ext uri="{FF2B5EF4-FFF2-40B4-BE49-F238E27FC236}">
                <a16:creationId xmlns:a16="http://schemas.microsoft.com/office/drawing/2014/main" id="{3F104274-9FA2-EA4D-8A30-E52A462F2052}"/>
              </a:ext>
            </a:extLst>
          </p:cNvPr>
          <p:cNvSpPr>
            <a:spLocks/>
          </p:cNvSpPr>
          <p:nvPr/>
        </p:nvSpPr>
        <p:spPr bwMode="auto">
          <a:xfrm>
            <a:off x="5556835" y="3631852"/>
            <a:ext cx="231068" cy="91296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0C5836F1-F171-8247-9890-0337498997A7}"/>
              </a:ext>
            </a:extLst>
          </p:cNvPr>
          <p:cNvGrpSpPr/>
          <p:nvPr/>
        </p:nvGrpSpPr>
        <p:grpSpPr>
          <a:xfrm>
            <a:off x="5024189" y="3608167"/>
            <a:ext cx="540549" cy="887198"/>
            <a:chOff x="10910965" y="2513124"/>
            <a:chExt cx="586768" cy="904023"/>
          </a:xfrm>
        </p:grpSpPr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C659B83A-9A86-D445-A5DC-64CCDEE48D8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6EBE406A-A87A-9E4C-85A9-355AAF8EA23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957A93EE-01C8-704A-ACA5-9A2DD1B94367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39523A07-6615-7940-9047-7059C0F0677B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6A1A35B4-82C9-A345-8F03-D2DFA4D94CF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44E2CB90-F397-AB48-B9D9-5B9B57BE257D}"/>
              </a:ext>
            </a:extLst>
          </p:cNvPr>
          <p:cNvGrpSpPr/>
          <p:nvPr/>
        </p:nvGrpSpPr>
        <p:grpSpPr>
          <a:xfrm>
            <a:off x="2828023" y="4632484"/>
            <a:ext cx="965153" cy="551195"/>
            <a:chOff x="7493876" y="2774731"/>
            <a:chExt cx="1481958" cy="894622"/>
          </a:xfrm>
        </p:grpSpPr>
        <p:sp>
          <p:nvSpPr>
            <p:cNvPr id="441" name="Freeform 440">
              <a:extLst>
                <a:ext uri="{FF2B5EF4-FFF2-40B4-BE49-F238E27FC236}">
                  <a16:creationId xmlns:a16="http://schemas.microsoft.com/office/drawing/2014/main" id="{75657808-7F9A-4548-9BE7-735D4EF9B5E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42" name="Oval 441">
              <a:extLst>
                <a:ext uri="{FF2B5EF4-FFF2-40B4-BE49-F238E27FC236}">
                  <a16:creationId xmlns:a16="http://schemas.microsoft.com/office/drawing/2014/main" id="{D4514D5D-3874-B943-8C94-3144D5AD3E8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43" name="Group 442">
              <a:extLst>
                <a:ext uri="{FF2B5EF4-FFF2-40B4-BE49-F238E27FC236}">
                  <a16:creationId xmlns:a16="http://schemas.microsoft.com/office/drawing/2014/main" id="{54922FA6-F0ED-144C-A4FA-75A78D9FC6B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44" name="Freeform 443">
                <a:extLst>
                  <a:ext uri="{FF2B5EF4-FFF2-40B4-BE49-F238E27FC236}">
                    <a16:creationId xmlns:a16="http://schemas.microsoft.com/office/drawing/2014/main" id="{707D05DA-BBC6-CB49-A557-5ADC3226F94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45" name="Freeform 444">
                <a:extLst>
                  <a:ext uri="{FF2B5EF4-FFF2-40B4-BE49-F238E27FC236}">
                    <a16:creationId xmlns:a16="http://schemas.microsoft.com/office/drawing/2014/main" id="{4C02C300-6C33-5F4F-839D-3428AD261D5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46" name="Freeform 445">
                <a:extLst>
                  <a:ext uri="{FF2B5EF4-FFF2-40B4-BE49-F238E27FC236}">
                    <a16:creationId xmlns:a16="http://schemas.microsoft.com/office/drawing/2014/main" id="{BC516460-C1B4-3B4A-8BA7-BE2B0D6B211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47" name="Freeform 446">
                <a:extLst>
                  <a:ext uri="{FF2B5EF4-FFF2-40B4-BE49-F238E27FC236}">
                    <a16:creationId xmlns:a16="http://schemas.microsoft.com/office/drawing/2014/main" id="{26184741-429A-0845-8EDF-E02659947DD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71" name="Group 124">
            <a:extLst>
              <a:ext uri="{FF2B5EF4-FFF2-40B4-BE49-F238E27FC236}">
                <a16:creationId xmlns:a16="http://schemas.microsoft.com/office/drawing/2014/main" id="{928D5C6C-2458-A340-B436-05E659095139}"/>
              </a:ext>
            </a:extLst>
          </p:cNvPr>
          <p:cNvGrpSpPr>
            <a:grpSpLocks/>
          </p:cNvGrpSpPr>
          <p:nvPr/>
        </p:nvGrpSpPr>
        <p:grpSpPr bwMode="auto">
          <a:xfrm>
            <a:off x="988066" y="3765090"/>
            <a:ext cx="484073" cy="426879"/>
            <a:chOff x="-44" y="1473"/>
            <a:chExt cx="981" cy="1105"/>
          </a:xfrm>
        </p:grpSpPr>
        <p:pic>
          <p:nvPicPr>
            <p:cNvPr id="439" name="Picture 125" descr="desktop_computer_stylized_medium">
              <a:extLst>
                <a:ext uri="{FF2B5EF4-FFF2-40B4-BE49-F238E27FC236}">
                  <a16:creationId xmlns:a16="http://schemas.microsoft.com/office/drawing/2014/main" id="{0FD471B6-3E5D-2949-BD49-9611B77F5E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0" name="Freeform 126">
              <a:extLst>
                <a:ext uri="{FF2B5EF4-FFF2-40B4-BE49-F238E27FC236}">
                  <a16:creationId xmlns:a16="http://schemas.microsoft.com/office/drawing/2014/main" id="{DC143BE7-08FC-9746-BAC8-890A432870E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173" name="Freeform 12">
            <a:extLst>
              <a:ext uri="{FF2B5EF4-FFF2-40B4-BE49-F238E27FC236}">
                <a16:creationId xmlns:a16="http://schemas.microsoft.com/office/drawing/2014/main" id="{3498F994-5BD8-E74A-A219-152CBAE8AB41}"/>
              </a:ext>
            </a:extLst>
          </p:cNvPr>
          <p:cNvSpPr>
            <a:spLocks/>
          </p:cNvSpPr>
          <p:nvPr/>
        </p:nvSpPr>
        <p:spPr bwMode="auto">
          <a:xfrm flipH="1">
            <a:off x="733658" y="4368455"/>
            <a:ext cx="231068" cy="91296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4" name="Line 33">
            <a:extLst>
              <a:ext uri="{FF2B5EF4-FFF2-40B4-BE49-F238E27FC236}">
                <a16:creationId xmlns:a16="http://schemas.microsoft.com/office/drawing/2014/main" id="{4EAD0965-6EDE-3044-BDA1-47195A36E4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04175" y="4499322"/>
            <a:ext cx="851149" cy="85064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5" name="Text Box 42">
            <a:extLst>
              <a:ext uri="{FF2B5EF4-FFF2-40B4-BE49-F238E27FC236}">
                <a16:creationId xmlns:a16="http://schemas.microsoft.com/office/drawing/2014/main" id="{A72787AC-48CD-E748-AFE1-B2DF4BC2F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463" y="3504613"/>
            <a:ext cx="841877" cy="23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</a:rPr>
              <a:t>Host A</a:t>
            </a:r>
            <a:endParaRPr lang="en-US" altLang="en-US" sz="3000" dirty="0">
              <a:solidFill>
                <a:srgbClr val="C0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176" name="Text Box 52">
            <a:extLst>
              <a:ext uri="{FF2B5EF4-FFF2-40B4-BE49-F238E27FC236}">
                <a16:creationId xmlns:a16="http://schemas.microsoft.com/office/drawing/2014/main" id="{A95B344E-5BB8-1A4C-96D5-1A5CCC9D8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577" y="5397367"/>
            <a:ext cx="736183" cy="23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dirty="0">
                <a:solidFill>
                  <a:srgbClr val="0013A3"/>
                </a:solidFill>
                <a:latin typeface="Arial" panose="020B0604020202020204" pitchFamily="34" charset="0"/>
              </a:rPr>
              <a:t>Host B</a:t>
            </a:r>
            <a:endParaRPr lang="en-US" altLang="en-US" sz="3000" dirty="0">
              <a:solidFill>
                <a:srgbClr val="0013A3"/>
              </a:solidFill>
              <a:latin typeface="Comic Sans MS" panose="030F0902030302020204" pitchFamily="66" charset="0"/>
            </a:endParaRPr>
          </a:p>
        </p:txBody>
      </p:sp>
      <p:sp>
        <p:nvSpPr>
          <p:cNvPr id="218" name="Line 53">
            <a:extLst>
              <a:ext uri="{FF2B5EF4-FFF2-40B4-BE49-F238E27FC236}">
                <a16:creationId xmlns:a16="http://schemas.microsoft.com/office/drawing/2014/main" id="{36BC3461-D266-FC4F-AC75-DCAB735675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51686" y="4891927"/>
            <a:ext cx="56158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32" name="Line 54">
            <a:extLst>
              <a:ext uri="{FF2B5EF4-FFF2-40B4-BE49-F238E27FC236}">
                <a16:creationId xmlns:a16="http://schemas.microsoft.com/office/drawing/2014/main" id="{0FD51E39-54E3-FC4B-8438-1DA851F5A2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43391" y="4891927"/>
            <a:ext cx="56158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33" name="Line 55">
            <a:extLst>
              <a:ext uri="{FF2B5EF4-FFF2-40B4-BE49-F238E27FC236}">
                <a16:creationId xmlns:a16="http://schemas.microsoft.com/office/drawing/2014/main" id="{C7D9A69E-6BD1-3F4C-A4E5-506632A254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57462" y="4499322"/>
            <a:ext cx="851149" cy="85064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34" name="Line 57">
            <a:extLst>
              <a:ext uri="{FF2B5EF4-FFF2-40B4-BE49-F238E27FC236}">
                <a16:creationId xmlns:a16="http://schemas.microsoft.com/office/drawing/2014/main" id="{6191562F-E046-7846-9AFD-82F26FA474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06741" y="4499467"/>
            <a:ext cx="40510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36" name="Group 127">
            <a:extLst>
              <a:ext uri="{FF2B5EF4-FFF2-40B4-BE49-F238E27FC236}">
                <a16:creationId xmlns:a16="http://schemas.microsoft.com/office/drawing/2014/main" id="{976B064D-F0CE-FD45-997B-82999C62D57F}"/>
              </a:ext>
            </a:extLst>
          </p:cNvPr>
          <p:cNvGrpSpPr>
            <a:grpSpLocks/>
          </p:cNvGrpSpPr>
          <p:nvPr/>
        </p:nvGrpSpPr>
        <p:grpSpPr bwMode="auto">
          <a:xfrm>
            <a:off x="5648969" y="4212659"/>
            <a:ext cx="213518" cy="433111"/>
            <a:chOff x="4140" y="429"/>
            <a:chExt cx="1425" cy="2396"/>
          </a:xfrm>
        </p:grpSpPr>
        <p:sp>
          <p:nvSpPr>
            <p:cNvPr id="401" name="Freeform 128">
              <a:extLst>
                <a:ext uri="{FF2B5EF4-FFF2-40B4-BE49-F238E27FC236}">
                  <a16:creationId xmlns:a16="http://schemas.microsoft.com/office/drawing/2014/main" id="{CDE4EA92-43F5-C648-9A6C-E9056B530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02" name="Rectangle 129">
              <a:extLst>
                <a:ext uri="{FF2B5EF4-FFF2-40B4-BE49-F238E27FC236}">
                  <a16:creationId xmlns:a16="http://schemas.microsoft.com/office/drawing/2014/main" id="{AA5B00D6-3312-7844-B058-10026A6BD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03" name="Freeform 130">
              <a:extLst>
                <a:ext uri="{FF2B5EF4-FFF2-40B4-BE49-F238E27FC236}">
                  <a16:creationId xmlns:a16="http://schemas.microsoft.com/office/drawing/2014/main" id="{027D1F88-5C4B-6F4F-B91D-DE0B9249D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04" name="Freeform 131">
              <a:extLst>
                <a:ext uri="{FF2B5EF4-FFF2-40B4-BE49-F238E27FC236}">
                  <a16:creationId xmlns:a16="http://schemas.microsoft.com/office/drawing/2014/main" id="{727D8677-A797-794C-AA30-D4400E7BEC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05" name="Rectangle 132">
              <a:extLst>
                <a:ext uri="{FF2B5EF4-FFF2-40B4-BE49-F238E27FC236}">
                  <a16:creationId xmlns:a16="http://schemas.microsoft.com/office/drawing/2014/main" id="{EB2FFBCE-C89F-BA45-B3E6-368DBC16E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406" name="Group 133">
              <a:extLst>
                <a:ext uri="{FF2B5EF4-FFF2-40B4-BE49-F238E27FC236}">
                  <a16:creationId xmlns:a16="http://schemas.microsoft.com/office/drawing/2014/main" id="{D9B4D6C3-55E2-914C-9392-B06DB43BF6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31" name="AutoShape 134">
                <a:extLst>
                  <a:ext uri="{FF2B5EF4-FFF2-40B4-BE49-F238E27FC236}">
                    <a16:creationId xmlns:a16="http://schemas.microsoft.com/office/drawing/2014/main" id="{C69DD16D-9B89-454E-86FE-146165B84F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32" name="AutoShape 135">
                <a:extLst>
                  <a:ext uri="{FF2B5EF4-FFF2-40B4-BE49-F238E27FC236}">
                    <a16:creationId xmlns:a16="http://schemas.microsoft.com/office/drawing/2014/main" id="{C5088E43-3534-E14E-B8F5-D6373D3DC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407" name="Rectangle 136">
              <a:extLst>
                <a:ext uri="{FF2B5EF4-FFF2-40B4-BE49-F238E27FC236}">
                  <a16:creationId xmlns:a16="http://schemas.microsoft.com/office/drawing/2014/main" id="{10AC52A8-0502-8D4A-AC13-7CB92F60C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408" name="Group 137">
              <a:extLst>
                <a:ext uri="{FF2B5EF4-FFF2-40B4-BE49-F238E27FC236}">
                  <a16:creationId xmlns:a16="http://schemas.microsoft.com/office/drawing/2014/main" id="{74705E03-7801-7B48-B480-350446C443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9" name="AutoShape 138">
                <a:extLst>
                  <a:ext uri="{FF2B5EF4-FFF2-40B4-BE49-F238E27FC236}">
                    <a16:creationId xmlns:a16="http://schemas.microsoft.com/office/drawing/2014/main" id="{99F3069A-6DD0-8644-9400-4D75C6E7A8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30" name="AutoShape 139">
                <a:extLst>
                  <a:ext uri="{FF2B5EF4-FFF2-40B4-BE49-F238E27FC236}">
                    <a16:creationId xmlns:a16="http://schemas.microsoft.com/office/drawing/2014/main" id="{5CD3DB9D-6837-A440-8052-1C258BC50C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409" name="Rectangle 140">
              <a:extLst>
                <a:ext uri="{FF2B5EF4-FFF2-40B4-BE49-F238E27FC236}">
                  <a16:creationId xmlns:a16="http://schemas.microsoft.com/office/drawing/2014/main" id="{5E25305B-0E4D-B64C-986D-5C8970801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10" name="Rectangle 141">
              <a:extLst>
                <a:ext uri="{FF2B5EF4-FFF2-40B4-BE49-F238E27FC236}">
                  <a16:creationId xmlns:a16="http://schemas.microsoft.com/office/drawing/2014/main" id="{9BE5A888-367B-F34A-89D6-EDE1723A2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411" name="Group 142">
              <a:extLst>
                <a:ext uri="{FF2B5EF4-FFF2-40B4-BE49-F238E27FC236}">
                  <a16:creationId xmlns:a16="http://schemas.microsoft.com/office/drawing/2014/main" id="{6A6FAD94-34FC-AE44-83CD-8483AEB15B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7" name="AutoShape 143">
                <a:extLst>
                  <a:ext uri="{FF2B5EF4-FFF2-40B4-BE49-F238E27FC236}">
                    <a16:creationId xmlns:a16="http://schemas.microsoft.com/office/drawing/2014/main" id="{FDB729FC-0BB7-714B-8CB7-04CEB3A7D6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28" name="AutoShape 144">
                <a:extLst>
                  <a:ext uri="{FF2B5EF4-FFF2-40B4-BE49-F238E27FC236}">
                    <a16:creationId xmlns:a16="http://schemas.microsoft.com/office/drawing/2014/main" id="{26E1758B-606B-A54A-B37B-4D5B7FB64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412" name="Freeform 145">
              <a:extLst>
                <a:ext uri="{FF2B5EF4-FFF2-40B4-BE49-F238E27FC236}">
                  <a16:creationId xmlns:a16="http://schemas.microsoft.com/office/drawing/2014/main" id="{CA66D6F4-6566-2346-AE37-5D4696803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413" name="Group 146">
              <a:extLst>
                <a:ext uri="{FF2B5EF4-FFF2-40B4-BE49-F238E27FC236}">
                  <a16:creationId xmlns:a16="http://schemas.microsoft.com/office/drawing/2014/main" id="{14E0B7CB-EDF8-5B41-B427-8AD65964DE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25" name="AutoShape 147">
                <a:extLst>
                  <a:ext uri="{FF2B5EF4-FFF2-40B4-BE49-F238E27FC236}">
                    <a16:creationId xmlns:a16="http://schemas.microsoft.com/office/drawing/2014/main" id="{467127AD-2CB0-8C45-8018-5848115D9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26" name="AutoShape 148">
                <a:extLst>
                  <a:ext uri="{FF2B5EF4-FFF2-40B4-BE49-F238E27FC236}">
                    <a16:creationId xmlns:a16="http://schemas.microsoft.com/office/drawing/2014/main" id="{0796E888-44D7-9F44-8AFE-FED1CF4EB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414" name="Rectangle 149">
              <a:extLst>
                <a:ext uri="{FF2B5EF4-FFF2-40B4-BE49-F238E27FC236}">
                  <a16:creationId xmlns:a16="http://schemas.microsoft.com/office/drawing/2014/main" id="{4E54C520-F74E-674F-A888-F85B55FA5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15" name="Freeform 150">
              <a:extLst>
                <a:ext uri="{FF2B5EF4-FFF2-40B4-BE49-F238E27FC236}">
                  <a16:creationId xmlns:a16="http://schemas.microsoft.com/office/drawing/2014/main" id="{0B18E885-C455-204F-9F4D-7CADCD00C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16" name="Freeform 151">
              <a:extLst>
                <a:ext uri="{FF2B5EF4-FFF2-40B4-BE49-F238E27FC236}">
                  <a16:creationId xmlns:a16="http://schemas.microsoft.com/office/drawing/2014/main" id="{2B747C07-7872-A24D-BBEF-F9E8EAAF1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17" name="Oval 152">
              <a:extLst>
                <a:ext uri="{FF2B5EF4-FFF2-40B4-BE49-F238E27FC236}">
                  <a16:creationId xmlns:a16="http://schemas.microsoft.com/office/drawing/2014/main" id="{AD0A4401-053C-AC45-9D2C-65FFC62C7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18" name="Freeform 153">
              <a:extLst>
                <a:ext uri="{FF2B5EF4-FFF2-40B4-BE49-F238E27FC236}">
                  <a16:creationId xmlns:a16="http://schemas.microsoft.com/office/drawing/2014/main" id="{89E1D87C-2C15-6646-AFDC-9A1416DDE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19" name="AutoShape 154">
              <a:extLst>
                <a:ext uri="{FF2B5EF4-FFF2-40B4-BE49-F238E27FC236}">
                  <a16:creationId xmlns:a16="http://schemas.microsoft.com/office/drawing/2014/main" id="{66C645BA-D886-044E-8239-D4BE8DA9A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20" name="AutoShape 155">
              <a:extLst>
                <a:ext uri="{FF2B5EF4-FFF2-40B4-BE49-F238E27FC236}">
                  <a16:creationId xmlns:a16="http://schemas.microsoft.com/office/drawing/2014/main" id="{5747D9F6-ED38-1747-B38A-3A0F3326F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21" name="Oval 156">
              <a:extLst>
                <a:ext uri="{FF2B5EF4-FFF2-40B4-BE49-F238E27FC236}">
                  <a16:creationId xmlns:a16="http://schemas.microsoft.com/office/drawing/2014/main" id="{0317D36C-EC57-0840-A957-CE85B2AD9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22" name="Oval 157">
              <a:extLst>
                <a:ext uri="{FF2B5EF4-FFF2-40B4-BE49-F238E27FC236}">
                  <a16:creationId xmlns:a16="http://schemas.microsoft.com/office/drawing/2014/main" id="{540537FD-C807-3D49-8566-6C4A55E3A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23" name="Oval 158">
              <a:extLst>
                <a:ext uri="{FF2B5EF4-FFF2-40B4-BE49-F238E27FC236}">
                  <a16:creationId xmlns:a16="http://schemas.microsoft.com/office/drawing/2014/main" id="{23CFD8C3-6E99-8C40-806D-0A745B836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24" name="Rectangle 159">
              <a:extLst>
                <a:ext uri="{FF2B5EF4-FFF2-40B4-BE49-F238E27FC236}">
                  <a16:creationId xmlns:a16="http://schemas.microsoft.com/office/drawing/2014/main" id="{8A5D6DAA-891A-F544-9751-D8BAAF267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337" name="Group 160">
            <a:extLst>
              <a:ext uri="{FF2B5EF4-FFF2-40B4-BE49-F238E27FC236}">
                <a16:creationId xmlns:a16="http://schemas.microsoft.com/office/drawing/2014/main" id="{4D8A606A-8EFC-7640-A900-5D4C81F03937}"/>
              </a:ext>
            </a:extLst>
          </p:cNvPr>
          <p:cNvGrpSpPr>
            <a:grpSpLocks/>
          </p:cNvGrpSpPr>
          <p:nvPr/>
        </p:nvGrpSpPr>
        <p:grpSpPr bwMode="auto">
          <a:xfrm>
            <a:off x="438973" y="5098707"/>
            <a:ext cx="484073" cy="426879"/>
            <a:chOff x="-44" y="1473"/>
            <a:chExt cx="981" cy="1105"/>
          </a:xfrm>
        </p:grpSpPr>
        <p:pic>
          <p:nvPicPr>
            <p:cNvPr id="399" name="Picture 161" descr="desktop_computer_stylized_medium">
              <a:extLst>
                <a:ext uri="{FF2B5EF4-FFF2-40B4-BE49-F238E27FC236}">
                  <a16:creationId xmlns:a16="http://schemas.microsoft.com/office/drawing/2014/main" id="{F51E3138-EF14-9E48-9BD4-406B983C41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0" name="Freeform 162">
              <a:extLst>
                <a:ext uri="{FF2B5EF4-FFF2-40B4-BE49-F238E27FC236}">
                  <a16:creationId xmlns:a16="http://schemas.microsoft.com/office/drawing/2014/main" id="{1256EDE8-FC43-7540-94FC-794D24BB662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8" name="Group 163">
            <a:extLst>
              <a:ext uri="{FF2B5EF4-FFF2-40B4-BE49-F238E27FC236}">
                <a16:creationId xmlns:a16="http://schemas.microsoft.com/office/drawing/2014/main" id="{0E7884E3-4890-9244-AEB3-FF8C9DC515D6}"/>
              </a:ext>
            </a:extLst>
          </p:cNvPr>
          <p:cNvGrpSpPr>
            <a:grpSpLocks/>
          </p:cNvGrpSpPr>
          <p:nvPr/>
        </p:nvGrpSpPr>
        <p:grpSpPr bwMode="auto">
          <a:xfrm>
            <a:off x="5356478" y="5159895"/>
            <a:ext cx="213518" cy="433111"/>
            <a:chOff x="4140" y="429"/>
            <a:chExt cx="1425" cy="2396"/>
          </a:xfrm>
        </p:grpSpPr>
        <p:sp>
          <p:nvSpPr>
            <p:cNvPr id="367" name="Freeform 164">
              <a:extLst>
                <a:ext uri="{FF2B5EF4-FFF2-40B4-BE49-F238E27FC236}">
                  <a16:creationId xmlns:a16="http://schemas.microsoft.com/office/drawing/2014/main" id="{3564F793-BB5B-2049-A377-2092094C0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68" name="Rectangle 165">
              <a:extLst>
                <a:ext uri="{FF2B5EF4-FFF2-40B4-BE49-F238E27FC236}">
                  <a16:creationId xmlns:a16="http://schemas.microsoft.com/office/drawing/2014/main" id="{EF360F4F-5495-6B4D-B6E0-552EB9DCA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69" name="Freeform 166">
              <a:extLst>
                <a:ext uri="{FF2B5EF4-FFF2-40B4-BE49-F238E27FC236}">
                  <a16:creationId xmlns:a16="http://schemas.microsoft.com/office/drawing/2014/main" id="{49576006-660E-9B47-AFBF-364EFC883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70" name="Freeform 167">
              <a:extLst>
                <a:ext uri="{FF2B5EF4-FFF2-40B4-BE49-F238E27FC236}">
                  <a16:creationId xmlns:a16="http://schemas.microsoft.com/office/drawing/2014/main" id="{8EB33FC8-E304-CE41-9CD6-0AD73C996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71" name="Rectangle 168">
              <a:extLst>
                <a:ext uri="{FF2B5EF4-FFF2-40B4-BE49-F238E27FC236}">
                  <a16:creationId xmlns:a16="http://schemas.microsoft.com/office/drawing/2014/main" id="{6C778B32-41A0-8244-BBE2-93B6E1761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372" name="Group 169">
              <a:extLst>
                <a:ext uri="{FF2B5EF4-FFF2-40B4-BE49-F238E27FC236}">
                  <a16:creationId xmlns:a16="http://schemas.microsoft.com/office/drawing/2014/main" id="{7BA4195B-DEBE-4B4C-9882-FED7243E72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7" name="AutoShape 170">
                <a:extLst>
                  <a:ext uri="{FF2B5EF4-FFF2-40B4-BE49-F238E27FC236}">
                    <a16:creationId xmlns:a16="http://schemas.microsoft.com/office/drawing/2014/main" id="{C3147CE6-9A26-0846-A572-5121F21F6C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398" name="AutoShape 171">
                <a:extLst>
                  <a:ext uri="{FF2B5EF4-FFF2-40B4-BE49-F238E27FC236}">
                    <a16:creationId xmlns:a16="http://schemas.microsoft.com/office/drawing/2014/main" id="{E60D0823-A680-E749-BF37-E473D78B1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373" name="Rectangle 172">
              <a:extLst>
                <a:ext uri="{FF2B5EF4-FFF2-40B4-BE49-F238E27FC236}">
                  <a16:creationId xmlns:a16="http://schemas.microsoft.com/office/drawing/2014/main" id="{FC18395B-F97E-B149-8E05-15194860B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374" name="Group 173">
              <a:extLst>
                <a:ext uri="{FF2B5EF4-FFF2-40B4-BE49-F238E27FC236}">
                  <a16:creationId xmlns:a16="http://schemas.microsoft.com/office/drawing/2014/main" id="{2BA003D7-82C2-B445-B5A2-C950E112D3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5" name="AutoShape 174">
                <a:extLst>
                  <a:ext uri="{FF2B5EF4-FFF2-40B4-BE49-F238E27FC236}">
                    <a16:creationId xmlns:a16="http://schemas.microsoft.com/office/drawing/2014/main" id="{FAC3334E-F98D-3143-8A22-9FBE215555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396" name="AutoShape 175">
                <a:extLst>
                  <a:ext uri="{FF2B5EF4-FFF2-40B4-BE49-F238E27FC236}">
                    <a16:creationId xmlns:a16="http://schemas.microsoft.com/office/drawing/2014/main" id="{E2C9795D-E16D-BA42-A574-5505AF7645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375" name="Rectangle 176">
              <a:extLst>
                <a:ext uri="{FF2B5EF4-FFF2-40B4-BE49-F238E27FC236}">
                  <a16:creationId xmlns:a16="http://schemas.microsoft.com/office/drawing/2014/main" id="{E8ADCEF9-A7C3-1346-9F35-EAE9DE327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76" name="Rectangle 177">
              <a:extLst>
                <a:ext uri="{FF2B5EF4-FFF2-40B4-BE49-F238E27FC236}">
                  <a16:creationId xmlns:a16="http://schemas.microsoft.com/office/drawing/2014/main" id="{04D364FF-2C20-5C4D-B865-EF176AD2D2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377" name="Group 178">
              <a:extLst>
                <a:ext uri="{FF2B5EF4-FFF2-40B4-BE49-F238E27FC236}">
                  <a16:creationId xmlns:a16="http://schemas.microsoft.com/office/drawing/2014/main" id="{62CBF903-6CC6-274F-B178-5CF7DFE4E8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93" name="AutoShape 179">
                <a:extLst>
                  <a:ext uri="{FF2B5EF4-FFF2-40B4-BE49-F238E27FC236}">
                    <a16:creationId xmlns:a16="http://schemas.microsoft.com/office/drawing/2014/main" id="{204B8DDB-66CE-734E-B5AA-D99AAFCB5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394" name="AutoShape 180">
                <a:extLst>
                  <a:ext uri="{FF2B5EF4-FFF2-40B4-BE49-F238E27FC236}">
                    <a16:creationId xmlns:a16="http://schemas.microsoft.com/office/drawing/2014/main" id="{1C725834-7BCF-624D-ADAE-62F2539CDD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378" name="Freeform 181">
              <a:extLst>
                <a:ext uri="{FF2B5EF4-FFF2-40B4-BE49-F238E27FC236}">
                  <a16:creationId xmlns:a16="http://schemas.microsoft.com/office/drawing/2014/main" id="{98340748-8514-DB48-90DD-355362472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79" name="Group 182">
              <a:extLst>
                <a:ext uri="{FF2B5EF4-FFF2-40B4-BE49-F238E27FC236}">
                  <a16:creationId xmlns:a16="http://schemas.microsoft.com/office/drawing/2014/main" id="{F9562A1A-DA6F-9849-AC85-D69A990FF6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1" name="AutoShape 183">
                <a:extLst>
                  <a:ext uri="{FF2B5EF4-FFF2-40B4-BE49-F238E27FC236}">
                    <a16:creationId xmlns:a16="http://schemas.microsoft.com/office/drawing/2014/main" id="{A670CFDF-AFF7-A547-9CF4-9F926AE4D4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392" name="AutoShape 184">
                <a:extLst>
                  <a:ext uri="{FF2B5EF4-FFF2-40B4-BE49-F238E27FC236}">
                    <a16:creationId xmlns:a16="http://schemas.microsoft.com/office/drawing/2014/main" id="{8B989888-AABB-1E49-9382-C06BFA14B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380" name="Rectangle 185">
              <a:extLst>
                <a:ext uri="{FF2B5EF4-FFF2-40B4-BE49-F238E27FC236}">
                  <a16:creationId xmlns:a16="http://schemas.microsoft.com/office/drawing/2014/main" id="{BB8DEF06-6B12-6A43-8D15-89B827E3F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81" name="Freeform 186">
              <a:extLst>
                <a:ext uri="{FF2B5EF4-FFF2-40B4-BE49-F238E27FC236}">
                  <a16:creationId xmlns:a16="http://schemas.microsoft.com/office/drawing/2014/main" id="{D46CBF71-1AA1-1848-B7FE-0B5B429E7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82" name="Freeform 187">
              <a:extLst>
                <a:ext uri="{FF2B5EF4-FFF2-40B4-BE49-F238E27FC236}">
                  <a16:creationId xmlns:a16="http://schemas.microsoft.com/office/drawing/2014/main" id="{E33DBEE9-2A43-1846-9129-67A75C2B4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83" name="Oval 188">
              <a:extLst>
                <a:ext uri="{FF2B5EF4-FFF2-40B4-BE49-F238E27FC236}">
                  <a16:creationId xmlns:a16="http://schemas.microsoft.com/office/drawing/2014/main" id="{4184AD3D-A3AA-D744-B0D4-86BC19CF8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84" name="Freeform 189">
              <a:extLst>
                <a:ext uri="{FF2B5EF4-FFF2-40B4-BE49-F238E27FC236}">
                  <a16:creationId xmlns:a16="http://schemas.microsoft.com/office/drawing/2014/main" id="{30BD63BA-1E7E-5543-8241-5EE587F00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85" name="AutoShape 190">
              <a:extLst>
                <a:ext uri="{FF2B5EF4-FFF2-40B4-BE49-F238E27FC236}">
                  <a16:creationId xmlns:a16="http://schemas.microsoft.com/office/drawing/2014/main" id="{221FD49B-FBB4-D44C-A5B9-40C856B44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86" name="AutoShape 191">
              <a:extLst>
                <a:ext uri="{FF2B5EF4-FFF2-40B4-BE49-F238E27FC236}">
                  <a16:creationId xmlns:a16="http://schemas.microsoft.com/office/drawing/2014/main" id="{E02AA9C5-4176-1C44-A6F0-A95EC3240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87" name="Oval 192">
              <a:extLst>
                <a:ext uri="{FF2B5EF4-FFF2-40B4-BE49-F238E27FC236}">
                  <a16:creationId xmlns:a16="http://schemas.microsoft.com/office/drawing/2014/main" id="{DB848E75-06E4-9845-A916-4E09A522E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88" name="Oval 193">
              <a:extLst>
                <a:ext uri="{FF2B5EF4-FFF2-40B4-BE49-F238E27FC236}">
                  <a16:creationId xmlns:a16="http://schemas.microsoft.com/office/drawing/2014/main" id="{E1CC4DA0-CE21-7849-ADF5-B8258F6A7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89" name="Oval 194">
              <a:extLst>
                <a:ext uri="{FF2B5EF4-FFF2-40B4-BE49-F238E27FC236}">
                  <a16:creationId xmlns:a16="http://schemas.microsoft.com/office/drawing/2014/main" id="{FB60D991-801A-5D49-A562-F17DB7672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90" name="Rectangle 195">
              <a:extLst>
                <a:ext uri="{FF2B5EF4-FFF2-40B4-BE49-F238E27FC236}">
                  <a16:creationId xmlns:a16="http://schemas.microsoft.com/office/drawing/2014/main" id="{E71FA6D2-7AE4-AB49-97A1-DC456EBD0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339" name="Line 57">
            <a:extLst>
              <a:ext uri="{FF2B5EF4-FFF2-40B4-BE49-F238E27FC236}">
                <a16:creationId xmlns:a16="http://schemas.microsoft.com/office/drawing/2014/main" id="{249CC5AB-AB21-0542-9359-82773A70F7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66527" y="5348527"/>
            <a:ext cx="75743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40" name="Line 57">
            <a:extLst>
              <a:ext uri="{FF2B5EF4-FFF2-40B4-BE49-F238E27FC236}">
                <a16:creationId xmlns:a16="http://schemas.microsoft.com/office/drawing/2014/main" id="{D195CB72-88E8-C440-A559-6FA4F63B94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50897" y="4497166"/>
            <a:ext cx="40510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41" name="Line 57">
            <a:extLst>
              <a:ext uri="{FF2B5EF4-FFF2-40B4-BE49-F238E27FC236}">
                <a16:creationId xmlns:a16="http://schemas.microsoft.com/office/drawing/2014/main" id="{4BEB9C9E-14C1-E440-B93B-C474D1D307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02043" y="5350829"/>
            <a:ext cx="40510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406EC58A-B6EC-4447-9E97-40F524DE60FB}"/>
              </a:ext>
            </a:extLst>
          </p:cNvPr>
          <p:cNvGrpSpPr/>
          <p:nvPr/>
        </p:nvGrpSpPr>
        <p:grpSpPr>
          <a:xfrm>
            <a:off x="2061817" y="3427810"/>
            <a:ext cx="2138708" cy="709613"/>
            <a:chOff x="2749090" y="3427413"/>
            <a:chExt cx="2851610" cy="946150"/>
          </a:xfrm>
        </p:grpSpPr>
        <p:sp>
          <p:nvSpPr>
            <p:cNvPr id="360" name="Text Box 68">
              <a:extLst>
                <a:ext uri="{FF2B5EF4-FFF2-40B4-BE49-F238E27FC236}">
                  <a16:creationId xmlns:a16="http://schemas.microsoft.com/office/drawing/2014/main" id="{FA375BE1-B3E2-C94A-A758-A65780134E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dirty="0">
                  <a:solidFill>
                    <a:srgbClr val="C00000"/>
                  </a:solidFill>
                  <a:latin typeface="Symbol" pitchFamily="2" charset="2"/>
                </a:rPr>
                <a:t>l</a:t>
              </a:r>
              <a:r>
                <a:rPr lang="en-US" altLang="en-US" sz="1500" baseline="-25000" dirty="0">
                  <a:solidFill>
                    <a:srgbClr val="C00000"/>
                  </a:solidFill>
                  <a:latin typeface="Arial" panose="020B0604020202020204" pitchFamily="34" charset="0"/>
                </a:rPr>
                <a:t>in</a:t>
              </a:r>
              <a:r>
                <a:rPr lang="en-US" altLang="en-US" sz="1200" baseline="-25000" dirty="0">
                  <a:solidFill>
                    <a:srgbClr val="C000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en-US" sz="1200" dirty="0">
                  <a:solidFill>
                    <a:srgbClr val="C00000"/>
                  </a:solidFill>
                  <a:latin typeface="Arial" panose="020B0604020202020204" pitchFamily="34" charset="0"/>
                </a:rPr>
                <a:t>: original data</a:t>
              </a:r>
              <a:endParaRPr lang="en-US" altLang="en-US" sz="1200" dirty="0">
                <a:solidFill>
                  <a:srgbClr val="C00000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361" name="Oval 217">
              <a:extLst>
                <a:ext uri="{FF2B5EF4-FFF2-40B4-BE49-F238E27FC236}">
                  <a16:creationId xmlns:a16="http://schemas.microsoft.com/office/drawing/2014/main" id="{D579EE0C-24C1-7F4B-B6EE-A5D60E6E72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362" name="Line 229">
              <a:extLst>
                <a:ext uri="{FF2B5EF4-FFF2-40B4-BE49-F238E27FC236}">
                  <a16:creationId xmlns:a16="http://schemas.microsoft.com/office/drawing/2014/main" id="{7DFBE726-798B-1140-8F3C-66C3B37C2B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63" name="Oval 232">
              <a:extLst>
                <a:ext uri="{FF2B5EF4-FFF2-40B4-BE49-F238E27FC236}">
                  <a16:creationId xmlns:a16="http://schemas.microsoft.com/office/drawing/2014/main" id="{41ED5C42-E6DE-0444-B4F1-99DA159AB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364" name="Text Box 233">
              <a:extLst>
                <a:ext uri="{FF2B5EF4-FFF2-40B4-BE49-F238E27FC236}">
                  <a16:creationId xmlns:a16="http://schemas.microsoft.com/office/drawing/2014/main" id="{B7139E43-D720-7844-9069-FE79DA74AC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dirty="0">
                  <a:solidFill>
                    <a:srgbClr val="C00000"/>
                  </a:solidFill>
                  <a:latin typeface="Symbol" pitchFamily="2" charset="2"/>
                </a:rPr>
                <a:t>l</a:t>
              </a:r>
              <a:r>
                <a:rPr lang="en-US" altLang="en-US" sz="1500" dirty="0">
                  <a:solidFill>
                    <a:srgbClr val="C00000"/>
                  </a:solidFill>
                  <a:latin typeface="Arial" panose="020B0604020202020204" pitchFamily="34" charset="0"/>
                </a:rPr>
                <a:t>'</a:t>
              </a:r>
              <a:r>
                <a:rPr lang="en-US" altLang="en-US" sz="1500" baseline="-25000" dirty="0">
                  <a:solidFill>
                    <a:srgbClr val="C00000"/>
                  </a:solidFill>
                  <a:latin typeface="Arial" panose="020B0604020202020204" pitchFamily="34" charset="0"/>
                </a:rPr>
                <a:t>in</a:t>
              </a:r>
              <a:r>
                <a:rPr lang="en-US" altLang="en-US" sz="1350" dirty="0">
                  <a:solidFill>
                    <a:srgbClr val="C00000"/>
                  </a:solidFill>
                  <a:latin typeface="Arial" panose="020B0604020202020204" pitchFamily="34" charset="0"/>
                </a:rPr>
                <a:t>:</a:t>
              </a:r>
              <a:r>
                <a:rPr lang="en-US" altLang="en-US" sz="1050" dirty="0">
                  <a:solidFill>
                    <a:srgbClr val="C000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en-US" sz="1200" dirty="0">
                  <a:solidFill>
                    <a:srgbClr val="C00000"/>
                  </a:solidFill>
                  <a:latin typeface="Arial" panose="020B0604020202020204" pitchFamily="34" charset="0"/>
                </a:rPr>
                <a:t>original data, </a:t>
              </a:r>
              <a:r>
                <a:rPr lang="en-US" altLang="en-US" sz="1200" i="1" dirty="0">
                  <a:solidFill>
                    <a:srgbClr val="C00000"/>
                  </a:solidFill>
                  <a:latin typeface="Arial" panose="020B0604020202020204" pitchFamily="34" charset="0"/>
                </a:rPr>
                <a:t>plus</a:t>
              </a:r>
              <a:r>
                <a:rPr lang="en-US" altLang="en-US" sz="1200" dirty="0">
                  <a:solidFill>
                    <a:srgbClr val="C00000"/>
                  </a:solidFill>
                  <a:latin typeface="Arial" panose="020B0604020202020204" pitchFamily="34" charset="0"/>
                </a:rPr>
                <a:t> retransmitted data</a:t>
              </a:r>
              <a:endParaRPr lang="en-US" altLang="en-US" sz="1200" dirty="0">
                <a:solidFill>
                  <a:srgbClr val="C00000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365" name="Line 234">
              <a:extLst>
                <a:ext uri="{FF2B5EF4-FFF2-40B4-BE49-F238E27FC236}">
                  <a16:creationId xmlns:a16="http://schemas.microsoft.com/office/drawing/2014/main" id="{0082E09C-2174-3D43-877E-80509AB6F4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66" name="Line 235">
              <a:extLst>
                <a:ext uri="{FF2B5EF4-FFF2-40B4-BE49-F238E27FC236}">
                  <a16:creationId xmlns:a16="http://schemas.microsoft.com/office/drawing/2014/main" id="{D509C4AE-0768-3A40-9EEC-F41827CED3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D2E444DF-6D2A-054F-ACC0-9BC78029DB62}"/>
              </a:ext>
            </a:extLst>
          </p:cNvPr>
          <p:cNvGrpSpPr/>
          <p:nvPr/>
        </p:nvGrpSpPr>
        <p:grpSpPr>
          <a:xfrm>
            <a:off x="2185117" y="4771465"/>
            <a:ext cx="1454048" cy="975136"/>
            <a:chOff x="2913490" y="5218953"/>
            <a:chExt cx="1938730" cy="1300181"/>
          </a:xfrm>
        </p:grpSpPr>
        <p:sp>
          <p:nvSpPr>
            <p:cNvPr id="349" name="Text Box 32">
              <a:extLst>
                <a:ext uri="{FF2B5EF4-FFF2-40B4-BE49-F238E27FC236}">
                  <a16:creationId xmlns:a16="http://schemas.microsoft.com/office/drawing/2014/main" id="{568EB7D0-7CC1-B447-B931-1708DD0E5D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b="1" i="1" dirty="0">
                  <a:solidFill>
                    <a:srgbClr val="C00000"/>
                  </a:solidFill>
                  <a:latin typeface="Arial" panose="020B0604020202020204" pitchFamily="34" charset="0"/>
                </a:rPr>
                <a:t>finite</a:t>
              </a:r>
              <a:r>
                <a:rPr lang="en-US" altLang="en-US" sz="900" dirty="0">
                  <a:solidFill>
                    <a:srgbClr val="000000"/>
                  </a:solidFill>
                  <a:latin typeface="Arial" panose="020B0604020202020204" pitchFamily="34" charset="0"/>
                </a:rPr>
                <a:t> shared output link buffers</a:t>
              </a:r>
            </a:p>
          </p:txBody>
        </p:sp>
        <p:sp>
          <p:nvSpPr>
            <p:cNvPr id="350" name="Line 77">
              <a:extLst>
                <a:ext uri="{FF2B5EF4-FFF2-40B4-BE49-F238E27FC236}">
                  <a16:creationId xmlns:a16="http://schemas.microsoft.com/office/drawing/2014/main" id="{2609129D-FECD-5541-8755-40B9535EF2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51" name="Group 350">
              <a:extLst>
                <a:ext uri="{FF2B5EF4-FFF2-40B4-BE49-F238E27FC236}">
                  <a16:creationId xmlns:a16="http://schemas.microsoft.com/office/drawing/2014/main" id="{DC9E0C42-D0D0-C642-A75B-D2B504E09F89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52" name="Rectangle 351">
                <a:extLst>
                  <a:ext uri="{FF2B5EF4-FFF2-40B4-BE49-F238E27FC236}">
                    <a16:creationId xmlns:a16="http://schemas.microsoft.com/office/drawing/2014/main" id="{E85536C7-7667-104C-AC53-1ACBD3293324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0F6C01FB-9ABA-2B44-8CD3-912673CE784D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Straight Connector 353">
                <a:extLst>
                  <a:ext uri="{FF2B5EF4-FFF2-40B4-BE49-F238E27FC236}">
                    <a16:creationId xmlns:a16="http://schemas.microsoft.com/office/drawing/2014/main" id="{3479AC20-C321-4140-9DF7-DAE3A82CAFBF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Straight Connector 354">
                <a:extLst>
                  <a:ext uri="{FF2B5EF4-FFF2-40B4-BE49-F238E27FC236}">
                    <a16:creationId xmlns:a16="http://schemas.microsoft.com/office/drawing/2014/main" id="{5D7A5D36-0D51-274E-BD57-89216EE3D0ED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Straight Connector 355">
                <a:extLst>
                  <a:ext uri="{FF2B5EF4-FFF2-40B4-BE49-F238E27FC236}">
                    <a16:creationId xmlns:a16="http://schemas.microsoft.com/office/drawing/2014/main" id="{8C56DC83-453E-884E-88C0-5F16F3D2F239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Straight Connector 356">
                <a:extLst>
                  <a:ext uri="{FF2B5EF4-FFF2-40B4-BE49-F238E27FC236}">
                    <a16:creationId xmlns:a16="http://schemas.microsoft.com/office/drawing/2014/main" id="{F486F91F-497E-4840-99FF-2F6E93438A65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Straight Connector 357">
                <a:extLst>
                  <a:ext uri="{FF2B5EF4-FFF2-40B4-BE49-F238E27FC236}">
                    <a16:creationId xmlns:a16="http://schemas.microsoft.com/office/drawing/2014/main" id="{F367282B-BA64-9F40-80F4-FC127E0FBA3C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Straight Connector 358">
                <a:extLst>
                  <a:ext uri="{FF2B5EF4-FFF2-40B4-BE49-F238E27FC236}">
                    <a16:creationId xmlns:a16="http://schemas.microsoft.com/office/drawing/2014/main" id="{B165A859-F8AA-894A-AA38-F397DF087DF1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5" name="Freeform 91">
            <a:extLst>
              <a:ext uri="{FF2B5EF4-FFF2-40B4-BE49-F238E27FC236}">
                <a16:creationId xmlns:a16="http://schemas.microsoft.com/office/drawing/2014/main" id="{FE9A735A-D29D-5048-9B95-09DCFCC19EE5}"/>
              </a:ext>
            </a:extLst>
          </p:cNvPr>
          <p:cNvSpPr>
            <a:spLocks/>
          </p:cNvSpPr>
          <p:nvPr/>
        </p:nvSpPr>
        <p:spPr bwMode="auto">
          <a:xfrm>
            <a:off x="2102515" y="3601941"/>
            <a:ext cx="3158903" cy="1252595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D2EA7F33-E890-F044-9EFA-B51D448A85C4}"/>
              </a:ext>
            </a:extLst>
          </p:cNvPr>
          <p:cNvGrpSpPr/>
          <p:nvPr/>
        </p:nvGrpSpPr>
        <p:grpSpPr>
          <a:xfrm>
            <a:off x="1189944" y="4415193"/>
            <a:ext cx="3685387" cy="1009554"/>
            <a:chOff x="5641439" y="2685215"/>
            <a:chExt cx="4000500" cy="1028700"/>
          </a:xfrm>
        </p:grpSpPr>
        <p:sp>
          <p:nvSpPr>
            <p:cNvPr id="347" name="Oval 73">
              <a:extLst>
                <a:ext uri="{FF2B5EF4-FFF2-40B4-BE49-F238E27FC236}">
                  <a16:creationId xmlns:a16="http://schemas.microsoft.com/office/drawing/2014/main" id="{3265C07F-8CC7-8143-AF1A-B97C285AC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348" name="Freeform 90">
              <a:extLst>
                <a:ext uri="{FF2B5EF4-FFF2-40B4-BE49-F238E27FC236}">
                  <a16:creationId xmlns:a16="http://schemas.microsoft.com/office/drawing/2014/main" id="{342C12D1-D3C0-854C-B5E9-1645E78B3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Causes/costs of congestion: scenario 2</a:t>
            </a:r>
            <a:endParaRPr lang="en-US" b="0" dirty="0"/>
          </a:p>
        </p:txBody>
      </p:sp>
      <p:sp>
        <p:nvSpPr>
          <p:cNvPr id="177" name="Slide Number Placeholder 2">
            <a:extLst>
              <a:ext uri="{FF2B5EF4-FFF2-40B4-BE49-F238E27FC236}">
                <a16:creationId xmlns:a16="http://schemas.microsoft.com/office/drawing/2014/main" id="{20FB35DE-567D-2248-A135-547303EA8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Transport Layer: 3-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6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215" name="Oval 217">
            <a:extLst>
              <a:ext uri="{FF2B5EF4-FFF2-40B4-BE49-F238E27FC236}">
                <a16:creationId xmlns:a16="http://schemas.microsoft.com/office/drawing/2014/main" id="{E8380F29-F9DD-FD41-A743-32A2D2C03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2879" y="3569494"/>
            <a:ext cx="84534" cy="8691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200" kern="0" dirty="0">
              <a:solidFill>
                <a:srgbClr val="000000"/>
              </a:solidFill>
            </a:endParaRPr>
          </a:p>
        </p:txBody>
      </p:sp>
      <p:sp>
        <p:nvSpPr>
          <p:cNvPr id="230" name="Oval 232">
            <a:extLst>
              <a:ext uri="{FF2B5EF4-FFF2-40B4-BE49-F238E27FC236}">
                <a16:creationId xmlns:a16="http://schemas.microsoft.com/office/drawing/2014/main" id="{6F587E7E-71AC-E54E-91B9-31091ED34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2879" y="3744517"/>
            <a:ext cx="84534" cy="8691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200" kern="0" dirty="0">
              <a:solidFill>
                <a:srgbClr val="000000"/>
              </a:solidFill>
            </a:endParaRPr>
          </a:p>
        </p:txBody>
      </p:sp>
      <p:sp>
        <p:nvSpPr>
          <p:cNvPr id="235" name="Rectangle 241">
            <a:extLst>
              <a:ext uri="{FF2B5EF4-FFF2-40B4-BE49-F238E27FC236}">
                <a16:creationId xmlns:a16="http://schemas.microsoft.com/office/drawing/2014/main" id="{17406B91-ED98-7540-A5E7-482325DFD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3588" y="3550444"/>
            <a:ext cx="183356" cy="116681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36" name="Rectangle 242">
            <a:extLst>
              <a:ext uri="{FF2B5EF4-FFF2-40B4-BE49-F238E27FC236}">
                <a16:creationId xmlns:a16="http://schemas.microsoft.com/office/drawing/2014/main" id="{16D1BB3A-2730-5542-A67A-DC96F7F3C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5938" y="3725467"/>
            <a:ext cx="183356" cy="116681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37" name="Text Box 243">
            <a:extLst>
              <a:ext uri="{FF2B5EF4-FFF2-40B4-BE49-F238E27FC236}">
                <a16:creationId xmlns:a16="http://schemas.microsoft.com/office/drawing/2014/main" id="{0D22406C-BED1-1A4C-A523-FB8EDCECF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3577" y="3643313"/>
            <a:ext cx="50847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6600"/>
                </a:solidFill>
                <a:latin typeface="Arial" charset="0"/>
              </a:rPr>
              <a:t>copy</a:t>
            </a:r>
          </a:p>
        </p:txBody>
      </p:sp>
      <p:sp>
        <p:nvSpPr>
          <p:cNvPr id="238" name="Text Box 259">
            <a:extLst>
              <a:ext uri="{FF2B5EF4-FFF2-40B4-BE49-F238E27FC236}">
                <a16:creationId xmlns:a16="http://schemas.microsoft.com/office/drawing/2014/main" id="{586FFC28-194B-2246-81D3-22BA6BAE9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4941" y="4411421"/>
            <a:ext cx="138050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i="1" dirty="0">
                <a:solidFill>
                  <a:srgbClr val="006600"/>
                </a:solidFill>
                <a:latin typeface="Arial" charset="0"/>
              </a:rPr>
              <a:t>free buffer space!</a:t>
            </a:r>
          </a:p>
        </p:txBody>
      </p:sp>
      <p:sp>
        <p:nvSpPr>
          <p:cNvPr id="319" name="Rectangle 3">
            <a:extLst>
              <a:ext uri="{FF2B5EF4-FFF2-40B4-BE49-F238E27FC236}">
                <a16:creationId xmlns:a16="http://schemas.microsoft.com/office/drawing/2014/main" id="{E5E65C79-ACE3-1743-A76E-FFA95B9A44A1}"/>
              </a:ext>
            </a:extLst>
          </p:cNvPr>
          <p:cNvSpPr txBox="1">
            <a:spLocks noChangeArrowheads="1"/>
          </p:cNvSpPr>
          <p:nvPr/>
        </p:nvSpPr>
        <p:spPr>
          <a:xfrm>
            <a:off x="444353" y="1823072"/>
            <a:ext cx="5717382" cy="107275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lnSpc>
                <a:spcPct val="80000"/>
              </a:lnSpc>
              <a:spcBef>
                <a:spcPts val="750"/>
              </a:spcBef>
              <a:buNone/>
              <a:defRPr/>
            </a:pPr>
            <a:r>
              <a:rPr lang="en-US" sz="2100" dirty="0">
                <a:solidFill>
                  <a:srgbClr val="000099"/>
                </a:solidFill>
                <a:latin typeface="Calibri" panose="020F0502020204030204"/>
              </a:rPr>
              <a:t>Idealization: </a:t>
            </a:r>
            <a:r>
              <a:rPr lang="en-US" sz="2100" dirty="0">
                <a:solidFill>
                  <a:srgbClr val="C00000"/>
                </a:solidFill>
                <a:latin typeface="Calibri" panose="020F0502020204030204"/>
              </a:rPr>
              <a:t>perfect knowledge</a:t>
            </a:r>
          </a:p>
          <a:p>
            <a:pPr marL="350044" indent="-170260" defTabSz="685800">
              <a:lnSpc>
                <a:spcPct val="80000"/>
              </a:lnSpc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sender sends only when router buffers available </a:t>
            </a:r>
          </a:p>
          <a:p>
            <a:pPr marL="264319" indent="-166688" defTabSz="685800">
              <a:lnSpc>
                <a:spcPct val="80000"/>
              </a:lnSpc>
              <a:spcBef>
                <a:spcPts val="750"/>
              </a:spcBef>
              <a:buFont typeface="Wingdings" charset="2"/>
              <a:buChar char="§"/>
              <a:defRPr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marL="264319" indent="-166688" defTabSz="685800">
              <a:spcBef>
                <a:spcPts val="750"/>
              </a:spcBef>
              <a:buFont typeface="Wingdings" charset="2"/>
              <a:buChar char="§"/>
              <a:defRPr/>
            </a:pP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3" name="Text Box 219">
            <a:extLst>
              <a:ext uri="{FF2B5EF4-FFF2-40B4-BE49-F238E27FC236}">
                <a16:creationId xmlns:a16="http://schemas.microsoft.com/office/drawing/2014/main" id="{52831C5B-CB06-DA40-A231-55AF76B69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7616" y="3579019"/>
            <a:ext cx="442913" cy="354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500" dirty="0">
                <a:solidFill>
                  <a:srgbClr val="C00000"/>
                </a:solidFill>
                <a:latin typeface="Symbol" pitchFamily="2" charset="2"/>
              </a:rPr>
              <a:t>l</a:t>
            </a:r>
            <a:r>
              <a:rPr lang="en-US" altLang="en-US" sz="1500" baseline="-25000" dirty="0">
                <a:solidFill>
                  <a:srgbClr val="C00000"/>
                </a:solidFill>
                <a:latin typeface="Arial" panose="020B0604020202020204" pitchFamily="34" charset="0"/>
              </a:rPr>
              <a:t>out</a:t>
            </a:r>
            <a:endParaRPr lang="en-US" altLang="en-US" sz="1500" dirty="0">
              <a:solidFill>
                <a:srgbClr val="C0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464" name="Line 236">
            <a:extLst>
              <a:ext uri="{FF2B5EF4-FFF2-40B4-BE49-F238E27FC236}">
                <a16:creationId xmlns:a16="http://schemas.microsoft.com/office/drawing/2014/main" id="{AFF1C7E6-124D-294E-B63A-863323A2A9B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7572" y="3733800"/>
            <a:ext cx="385763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B447B17F-F2FC-BA4D-B4F5-E4177AE17CB6}"/>
              </a:ext>
            </a:extLst>
          </p:cNvPr>
          <p:cNvGrpSpPr/>
          <p:nvPr/>
        </p:nvGrpSpPr>
        <p:grpSpPr>
          <a:xfrm>
            <a:off x="2421069" y="4859836"/>
            <a:ext cx="1639465" cy="380565"/>
            <a:chOff x="3228093" y="5336775"/>
            <a:chExt cx="2185953" cy="507419"/>
          </a:xfrm>
        </p:grpSpPr>
        <p:sp>
          <p:nvSpPr>
            <p:cNvPr id="467" name="TextBox 466">
              <a:extLst>
                <a:ext uri="{FF2B5EF4-FFF2-40B4-BE49-F238E27FC236}">
                  <a16:creationId xmlns:a16="http://schemas.microsoft.com/office/drawing/2014/main" id="{047AB416-0A13-7F45-9060-405793255F64}"/>
                </a:ext>
              </a:extLst>
            </p:cNvPr>
            <p:cNvSpPr txBox="1"/>
            <p:nvPr/>
          </p:nvSpPr>
          <p:spPr>
            <a:xfrm>
              <a:off x="5001111" y="5336775"/>
              <a:ext cx="412935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 defTabSz="685800"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</a:rPr>
                <a:t>R</a:t>
              </a:r>
            </a:p>
          </p:txBody>
        </p:sp>
        <p:sp>
          <p:nvSpPr>
            <p:cNvPr id="468" name="TextBox 467">
              <a:extLst>
                <a:ext uri="{FF2B5EF4-FFF2-40B4-BE49-F238E27FC236}">
                  <a16:creationId xmlns:a16="http://schemas.microsoft.com/office/drawing/2014/main" id="{E0E6E743-A4D4-5C4F-827B-4DB74EAE48CD}"/>
                </a:ext>
              </a:extLst>
            </p:cNvPr>
            <p:cNvSpPr txBox="1"/>
            <p:nvPr/>
          </p:nvSpPr>
          <p:spPr>
            <a:xfrm>
              <a:off x="3228093" y="5351752"/>
              <a:ext cx="412935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 defTabSz="685800"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</a:rPr>
                <a:t>R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52758C3-5717-F349-9801-53D0A9A63540}"/>
              </a:ext>
            </a:extLst>
          </p:cNvPr>
          <p:cNvGrpSpPr/>
          <p:nvPr/>
        </p:nvGrpSpPr>
        <p:grpSpPr>
          <a:xfrm>
            <a:off x="6144325" y="1925226"/>
            <a:ext cx="2169966" cy="1960824"/>
            <a:chOff x="7614918" y="1260338"/>
            <a:chExt cx="2893289" cy="2614432"/>
          </a:xfrm>
        </p:grpSpPr>
        <p:sp>
          <p:nvSpPr>
            <p:cNvPr id="328" name="Text Box 285">
              <a:extLst>
                <a:ext uri="{FF2B5EF4-FFF2-40B4-BE49-F238E27FC236}">
                  <a16:creationId xmlns:a16="http://schemas.microsoft.com/office/drawing/2014/main" id="{6552704E-18C8-1F45-B183-35CF584169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84132" y="3536215"/>
              <a:ext cx="524075" cy="3385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050" dirty="0">
                  <a:solidFill>
                    <a:prstClr val="black"/>
                  </a:solidFill>
                </a:rPr>
                <a:t>R/2</a:t>
              </a:r>
            </a:p>
          </p:txBody>
        </p:sp>
        <p:sp>
          <p:nvSpPr>
            <p:cNvPr id="330" name="Text Box 287">
              <a:extLst>
                <a:ext uri="{FF2B5EF4-FFF2-40B4-BE49-F238E27FC236}">
                  <a16:creationId xmlns:a16="http://schemas.microsoft.com/office/drawing/2014/main" id="{D3FBF239-D37F-BE46-A593-750EEE535A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24637" y="3354937"/>
              <a:ext cx="519800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500" dirty="0">
                  <a:solidFill>
                    <a:prstClr val="black"/>
                  </a:solidFill>
                  <a:latin typeface="Symbol" charset="0"/>
                </a:rPr>
                <a:t>l</a:t>
              </a:r>
              <a:r>
                <a:rPr lang="en-US" sz="1500" baseline="-25000" dirty="0">
                  <a:solidFill>
                    <a:prstClr val="black"/>
                  </a:solidFill>
                  <a:latin typeface="Arial" charset="0"/>
                </a:rPr>
                <a:t>in</a:t>
              </a:r>
            </a:p>
          </p:txBody>
        </p:sp>
        <p:sp>
          <p:nvSpPr>
            <p:cNvPr id="321" name="Line 278">
              <a:extLst>
                <a:ext uri="{FF2B5EF4-FFF2-40B4-BE49-F238E27FC236}">
                  <a16:creationId xmlns:a16="http://schemas.microsoft.com/office/drawing/2014/main" id="{8D1C7E69-8607-034F-9010-2F675295D4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9134" y="1260338"/>
              <a:ext cx="0" cy="21590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23" name="Line 280">
              <a:extLst>
                <a:ext uri="{FF2B5EF4-FFF2-40B4-BE49-F238E27FC236}">
                  <a16:creationId xmlns:a16="http://schemas.microsoft.com/office/drawing/2014/main" id="{7BEEB8CF-6CB9-6340-9F43-F3E16379CE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26022" y="1496652"/>
              <a:ext cx="0" cy="18690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24" name="Freeform 281">
              <a:extLst>
                <a:ext uri="{FF2B5EF4-FFF2-40B4-BE49-F238E27FC236}">
                  <a16:creationId xmlns:a16="http://schemas.microsoft.com/office/drawing/2014/main" id="{8E4BA303-1A21-0447-B1FD-7D49AEC15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7891" y="1437573"/>
              <a:ext cx="2023753" cy="1965701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5" name="Line 282">
              <a:extLst>
                <a:ext uri="{FF2B5EF4-FFF2-40B4-BE49-F238E27FC236}">
                  <a16:creationId xmlns:a16="http://schemas.microsoft.com/office/drawing/2014/main" id="{0C4AD16F-1863-314E-9708-694B5FDAA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2974" y="1437573"/>
              <a:ext cx="140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26" name="Line 283">
              <a:extLst>
                <a:ext uri="{FF2B5EF4-FFF2-40B4-BE49-F238E27FC236}">
                  <a16:creationId xmlns:a16="http://schemas.microsoft.com/office/drawing/2014/main" id="{9408EF0E-6715-C947-964B-F65207653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20401" y="3419386"/>
              <a:ext cx="0" cy="155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27" name="Text Box 284">
              <a:extLst>
                <a:ext uri="{FF2B5EF4-FFF2-40B4-BE49-F238E27FC236}">
                  <a16:creationId xmlns:a16="http://schemas.microsoft.com/office/drawing/2014/main" id="{DA7FA505-87D5-134C-A7F4-6FFBF2A5BA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14918" y="1263053"/>
              <a:ext cx="524075" cy="3385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050" dirty="0">
                  <a:solidFill>
                    <a:prstClr val="black"/>
                  </a:solidFill>
                </a:rPr>
                <a:t>R/2</a:t>
              </a:r>
            </a:p>
          </p:txBody>
        </p:sp>
        <p:sp>
          <p:nvSpPr>
            <p:cNvPr id="329" name="Text Box 286">
              <a:extLst>
                <a:ext uri="{FF2B5EF4-FFF2-40B4-BE49-F238E27FC236}">
                  <a16:creationId xmlns:a16="http://schemas.microsoft.com/office/drawing/2014/main" id="{F49DCA20-B1B5-E041-9E16-56DEDA3D0B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802534" y="1528265"/>
              <a:ext cx="622392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500" dirty="0">
                  <a:solidFill>
                    <a:prstClr val="black"/>
                  </a:solidFill>
                  <a:latin typeface="Symbol" charset="0"/>
                </a:rPr>
                <a:t>l</a:t>
              </a:r>
              <a:r>
                <a:rPr lang="en-US" sz="1500" baseline="-25000" dirty="0">
                  <a:solidFill>
                    <a:prstClr val="black"/>
                  </a:solidFill>
                  <a:latin typeface="Arial" charset="0"/>
                </a:rPr>
                <a:t>out</a:t>
              </a:r>
            </a:p>
          </p:txBody>
        </p:sp>
        <p:sp>
          <p:nvSpPr>
            <p:cNvPr id="331" name="Line 288">
              <a:extLst>
                <a:ext uri="{FF2B5EF4-FFF2-40B4-BE49-F238E27FC236}">
                  <a16:creationId xmlns:a16="http://schemas.microsoft.com/office/drawing/2014/main" id="{91CAA45D-D9D4-7D43-8A3C-E896823A07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52864" y="1440259"/>
              <a:ext cx="184105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424D221-E335-BE44-90B5-F02D72533E0A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1" y="3397718"/>
              <a:ext cx="21656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378D6D1-AFF2-2349-B28A-F078B72C27EA}"/>
                </a:ext>
              </a:extLst>
            </p:cNvPr>
            <p:cNvSpPr txBox="1"/>
            <p:nvPr/>
          </p:nvSpPr>
          <p:spPr>
            <a:xfrm rot="16200000">
              <a:off x="7363855" y="2464069"/>
              <a:ext cx="1292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Calibri"/>
                </a:rPr>
                <a:t>throughput: 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C0BD9B2-FF07-7748-9C3C-FBC864C16D93}"/>
                </a:ext>
              </a:extLst>
            </p:cNvPr>
            <p:cNvSpPr/>
            <p:nvPr/>
          </p:nvSpPr>
          <p:spPr>
            <a:xfrm>
              <a:off x="10147300" y="1397000"/>
              <a:ext cx="127000" cy="127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509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255 L -5.55556E-7 0.0354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0.03542 L 0.00026 0.17778 L 0.06537 0.17871 L 0.03542 0.24167 L 0.14753 0.24167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70" y="1030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753 0.24167 L 0.17917 0.24167 " pathEditMode="relative" rAng="0" ptsTypes="AA">
                                      <p:cBhvr>
                                        <p:cTn id="30" dur="3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500"/>
                            </p:stCondLst>
                            <p:childTnLst>
                              <p:par>
                                <p:cTn id="32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9000"/>
                            </p:stCondLst>
                            <p:childTnLst>
                              <p:par>
                                <p:cTn id="36" presetID="0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917 0.24167 L 0.22526 0.24167 L 0.27005 0.15278 L 0.33347 0.15278 L 0.33177 0.01297 " pathEditMode="relative" rAng="0" ptsTypes="AAAAA">
                                      <p:cBhvr>
                                        <p:cTn id="37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08" y="-114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1000"/>
                            </p:stCondLst>
                            <p:childTnLst>
                              <p:par>
                                <p:cTn id="39" presetID="9" presetClass="exit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" grpId="0" animBg="1"/>
      <p:bldP spid="235" grpId="1" animBg="1"/>
      <p:bldP spid="235" grpId="2" animBg="1"/>
      <p:bldP spid="235" grpId="3" animBg="1"/>
      <p:bldP spid="235" grpId="4" animBg="1"/>
      <p:bldP spid="235" grpId="5" animBg="1"/>
      <p:bldP spid="236" grpId="0" animBg="1"/>
      <p:bldP spid="236" grpId="1" animBg="1"/>
      <p:bldP spid="237" grpId="0"/>
      <p:bldP spid="237" grpId="1"/>
      <p:bldP spid="238" grpId="0"/>
      <p:bldP spid="238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icture 2" descr="garbage_can">
            <a:extLst>
              <a:ext uri="{FF2B5EF4-FFF2-40B4-BE49-F238E27FC236}">
                <a16:creationId xmlns:a16="http://schemas.microsoft.com/office/drawing/2014/main" id="{584AA802-2B1D-9B45-90AF-1F6B78CA9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935" y="5188744"/>
            <a:ext cx="365522" cy="486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5" name="Freeform 3">
            <a:extLst>
              <a:ext uri="{FF2B5EF4-FFF2-40B4-BE49-F238E27FC236}">
                <a16:creationId xmlns:a16="http://schemas.microsoft.com/office/drawing/2014/main" id="{56CD104B-8E67-7142-9E50-DB57D15E8A76}"/>
              </a:ext>
            </a:extLst>
          </p:cNvPr>
          <p:cNvSpPr>
            <a:spLocks/>
          </p:cNvSpPr>
          <p:nvPr/>
        </p:nvSpPr>
        <p:spPr bwMode="auto">
          <a:xfrm>
            <a:off x="5210233" y="4614611"/>
            <a:ext cx="231068" cy="91296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E3154B3D-EA89-ED49-9BDD-71ADB5CBED52}"/>
              </a:ext>
            </a:extLst>
          </p:cNvPr>
          <p:cNvGrpSpPr/>
          <p:nvPr/>
        </p:nvGrpSpPr>
        <p:grpSpPr>
          <a:xfrm>
            <a:off x="4680385" y="4619699"/>
            <a:ext cx="540549" cy="887198"/>
            <a:chOff x="10910965" y="2513124"/>
            <a:chExt cx="586768" cy="904023"/>
          </a:xfrm>
        </p:grpSpPr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C20196EC-5C9D-244E-A054-231C07CB12EB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20DAC0A1-5E9E-9342-8773-AC28BFF1C79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B9D8B51B-4873-D441-BBAD-7FC691EBDD5D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3C668D72-9BBE-1141-800B-852CFD5E677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1EAA48DB-862D-C446-8306-33815B191079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3" name="Freeform 9">
            <a:extLst>
              <a:ext uri="{FF2B5EF4-FFF2-40B4-BE49-F238E27FC236}">
                <a16:creationId xmlns:a16="http://schemas.microsoft.com/office/drawing/2014/main" id="{259E0A94-54BE-7245-80CC-030B9BD2E052}"/>
              </a:ext>
            </a:extLst>
          </p:cNvPr>
          <p:cNvSpPr>
            <a:spLocks/>
          </p:cNvSpPr>
          <p:nvPr/>
        </p:nvSpPr>
        <p:spPr bwMode="auto">
          <a:xfrm flipH="1">
            <a:off x="1383541" y="3493979"/>
            <a:ext cx="396261" cy="88370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746745B0-4450-AC42-B8BD-FE92C0ADE9D4}"/>
              </a:ext>
            </a:extLst>
          </p:cNvPr>
          <p:cNvGrpSpPr/>
          <p:nvPr/>
        </p:nvGrpSpPr>
        <p:grpSpPr>
          <a:xfrm>
            <a:off x="959009" y="4370023"/>
            <a:ext cx="540549" cy="887198"/>
            <a:chOff x="10910965" y="2513124"/>
            <a:chExt cx="586768" cy="904023"/>
          </a:xfrm>
        </p:grpSpPr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95C531B4-14C6-CF42-8F62-ECB0746666C0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31B59911-BB8F-554E-A3ED-D3BD4296D93A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7535AE79-BB12-7844-B2DA-41BDECE3CD4A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0B14C542-C613-7E4B-9B5A-53DE92065BB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04BDA539-80EE-F64B-81C9-754C3FD32FF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4879B8F7-8950-1649-8D37-378ECBBFDB62}"/>
              </a:ext>
            </a:extLst>
          </p:cNvPr>
          <p:cNvGrpSpPr/>
          <p:nvPr/>
        </p:nvGrpSpPr>
        <p:grpSpPr>
          <a:xfrm>
            <a:off x="1766283" y="3498068"/>
            <a:ext cx="540549" cy="887198"/>
            <a:chOff x="10910965" y="2513124"/>
            <a:chExt cx="586768" cy="904023"/>
          </a:xfrm>
        </p:grpSpPr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4E1426E7-23EC-AF46-8C8F-112D49CD5E79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20090985-59C2-BD4B-855E-827534772F4D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5F629929-45C7-FC4C-A84E-2FD6FDD93F4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B8ED8CF2-A42B-EE49-9744-A4C7F576E88D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635F92FB-5801-1845-9FAD-2C2BFB02757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Freeform 6">
            <a:extLst>
              <a:ext uri="{FF2B5EF4-FFF2-40B4-BE49-F238E27FC236}">
                <a16:creationId xmlns:a16="http://schemas.microsoft.com/office/drawing/2014/main" id="{E2AF8D49-A0C7-EC4A-803B-E7B675E9573F}"/>
              </a:ext>
            </a:extLst>
          </p:cNvPr>
          <p:cNvSpPr>
            <a:spLocks/>
          </p:cNvSpPr>
          <p:nvPr/>
        </p:nvSpPr>
        <p:spPr bwMode="auto">
          <a:xfrm>
            <a:off x="5556835" y="3631852"/>
            <a:ext cx="231068" cy="91296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C7D5A1E-3514-C947-B273-F2E0678C33D3}"/>
              </a:ext>
            </a:extLst>
          </p:cNvPr>
          <p:cNvGrpSpPr/>
          <p:nvPr/>
        </p:nvGrpSpPr>
        <p:grpSpPr>
          <a:xfrm>
            <a:off x="5024189" y="3608167"/>
            <a:ext cx="540549" cy="887198"/>
            <a:chOff x="10910965" y="2513124"/>
            <a:chExt cx="586768" cy="904023"/>
          </a:xfrm>
        </p:grpSpPr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E1244AFB-0325-244E-A9B8-C17FA4F7C011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A4F86619-DC06-F44A-B7E8-F853FF0B8F13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58D6F3BD-6F9A-CE4C-A9E8-F1527ABCD406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A7318AF6-6AC3-FD4C-9C9B-6AEF838CD717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D496FD87-9FA2-E348-8DF6-0A2ED6851CEA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357E12A1-9668-9B42-B100-34C1DE0591E4}"/>
              </a:ext>
            </a:extLst>
          </p:cNvPr>
          <p:cNvGrpSpPr/>
          <p:nvPr/>
        </p:nvGrpSpPr>
        <p:grpSpPr>
          <a:xfrm>
            <a:off x="2828023" y="4632484"/>
            <a:ext cx="965153" cy="551195"/>
            <a:chOff x="7493876" y="2774731"/>
            <a:chExt cx="1481958" cy="894622"/>
          </a:xfrm>
        </p:grpSpPr>
        <p:sp>
          <p:nvSpPr>
            <p:cNvPr id="422" name="Freeform 421">
              <a:extLst>
                <a:ext uri="{FF2B5EF4-FFF2-40B4-BE49-F238E27FC236}">
                  <a16:creationId xmlns:a16="http://schemas.microsoft.com/office/drawing/2014/main" id="{F56C0630-709C-2843-A3DC-28B191A54AB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23" name="Oval 422">
              <a:extLst>
                <a:ext uri="{FF2B5EF4-FFF2-40B4-BE49-F238E27FC236}">
                  <a16:creationId xmlns:a16="http://schemas.microsoft.com/office/drawing/2014/main" id="{295F088B-9D9D-964F-AA6D-D5327CE0C3A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24" name="Group 423">
              <a:extLst>
                <a:ext uri="{FF2B5EF4-FFF2-40B4-BE49-F238E27FC236}">
                  <a16:creationId xmlns:a16="http://schemas.microsoft.com/office/drawing/2014/main" id="{B1CAB28B-358E-AA46-BD50-E34CAAEF8E8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25" name="Freeform 424">
                <a:extLst>
                  <a:ext uri="{FF2B5EF4-FFF2-40B4-BE49-F238E27FC236}">
                    <a16:creationId xmlns:a16="http://schemas.microsoft.com/office/drawing/2014/main" id="{01DD581A-A88A-A243-9941-2CA12F31E1D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26" name="Freeform 425">
                <a:extLst>
                  <a:ext uri="{FF2B5EF4-FFF2-40B4-BE49-F238E27FC236}">
                    <a16:creationId xmlns:a16="http://schemas.microsoft.com/office/drawing/2014/main" id="{DC80F0DF-8C07-9F4B-A91E-B69266F157E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27" name="Freeform 426">
                <a:extLst>
                  <a:ext uri="{FF2B5EF4-FFF2-40B4-BE49-F238E27FC236}">
                    <a16:creationId xmlns:a16="http://schemas.microsoft.com/office/drawing/2014/main" id="{F8E66F3B-2637-A747-9C24-85B20184E64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28" name="Freeform 427">
                <a:extLst>
                  <a:ext uri="{FF2B5EF4-FFF2-40B4-BE49-F238E27FC236}">
                    <a16:creationId xmlns:a16="http://schemas.microsoft.com/office/drawing/2014/main" id="{3334DF4C-51D1-1941-B531-C15B374AB0E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64" name="Group 124">
            <a:extLst>
              <a:ext uri="{FF2B5EF4-FFF2-40B4-BE49-F238E27FC236}">
                <a16:creationId xmlns:a16="http://schemas.microsoft.com/office/drawing/2014/main" id="{FC5EB0EE-47AC-FF4C-AF7B-EEF579419908}"/>
              </a:ext>
            </a:extLst>
          </p:cNvPr>
          <p:cNvGrpSpPr>
            <a:grpSpLocks/>
          </p:cNvGrpSpPr>
          <p:nvPr/>
        </p:nvGrpSpPr>
        <p:grpSpPr bwMode="auto">
          <a:xfrm>
            <a:off x="988066" y="3765090"/>
            <a:ext cx="484073" cy="426879"/>
            <a:chOff x="-44" y="1473"/>
            <a:chExt cx="981" cy="1105"/>
          </a:xfrm>
        </p:grpSpPr>
        <p:pic>
          <p:nvPicPr>
            <p:cNvPr id="420" name="Picture 125" descr="desktop_computer_stylized_medium">
              <a:extLst>
                <a:ext uri="{FF2B5EF4-FFF2-40B4-BE49-F238E27FC236}">
                  <a16:creationId xmlns:a16="http://schemas.microsoft.com/office/drawing/2014/main" id="{DCB34079-A6E3-9D4A-BE16-E82BDFE7BE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1" name="Freeform 126">
              <a:extLst>
                <a:ext uri="{FF2B5EF4-FFF2-40B4-BE49-F238E27FC236}">
                  <a16:creationId xmlns:a16="http://schemas.microsoft.com/office/drawing/2014/main" id="{B18A6DB4-0DA7-0441-9809-42625EC3D67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166" name="Freeform 12">
            <a:extLst>
              <a:ext uri="{FF2B5EF4-FFF2-40B4-BE49-F238E27FC236}">
                <a16:creationId xmlns:a16="http://schemas.microsoft.com/office/drawing/2014/main" id="{3953C5E3-1C88-7F42-A861-A35744860036}"/>
              </a:ext>
            </a:extLst>
          </p:cNvPr>
          <p:cNvSpPr>
            <a:spLocks/>
          </p:cNvSpPr>
          <p:nvPr/>
        </p:nvSpPr>
        <p:spPr bwMode="auto">
          <a:xfrm flipH="1">
            <a:off x="733658" y="4368455"/>
            <a:ext cx="231068" cy="91296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7" name="Line 33">
            <a:extLst>
              <a:ext uri="{FF2B5EF4-FFF2-40B4-BE49-F238E27FC236}">
                <a16:creationId xmlns:a16="http://schemas.microsoft.com/office/drawing/2014/main" id="{6B880909-138C-864F-A544-21462FBDBD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04175" y="4499322"/>
            <a:ext cx="851149" cy="85064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8" name="Text Box 42">
            <a:extLst>
              <a:ext uri="{FF2B5EF4-FFF2-40B4-BE49-F238E27FC236}">
                <a16:creationId xmlns:a16="http://schemas.microsoft.com/office/drawing/2014/main" id="{C12F884F-8B3B-254B-979E-446A00E57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463" y="3504613"/>
            <a:ext cx="841877" cy="23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</a:rPr>
              <a:t>Host A</a:t>
            </a:r>
            <a:endParaRPr lang="en-US" altLang="en-US" sz="3000" dirty="0">
              <a:solidFill>
                <a:srgbClr val="C0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169" name="Text Box 52">
            <a:extLst>
              <a:ext uri="{FF2B5EF4-FFF2-40B4-BE49-F238E27FC236}">
                <a16:creationId xmlns:a16="http://schemas.microsoft.com/office/drawing/2014/main" id="{7B14A372-36AF-7943-B01F-CCDE7A3DF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577" y="5397367"/>
            <a:ext cx="736183" cy="23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dirty="0">
                <a:solidFill>
                  <a:srgbClr val="0013A3"/>
                </a:solidFill>
                <a:latin typeface="Arial" panose="020B0604020202020204" pitchFamily="34" charset="0"/>
              </a:rPr>
              <a:t>Host B</a:t>
            </a:r>
            <a:endParaRPr lang="en-US" altLang="en-US" sz="3000" dirty="0">
              <a:solidFill>
                <a:srgbClr val="0013A3"/>
              </a:solidFill>
              <a:latin typeface="Comic Sans MS" panose="030F0902030302020204" pitchFamily="66" charset="0"/>
            </a:endParaRPr>
          </a:p>
        </p:txBody>
      </p:sp>
      <p:sp>
        <p:nvSpPr>
          <p:cNvPr id="170" name="Line 53">
            <a:extLst>
              <a:ext uri="{FF2B5EF4-FFF2-40B4-BE49-F238E27FC236}">
                <a16:creationId xmlns:a16="http://schemas.microsoft.com/office/drawing/2014/main" id="{E766E562-5368-124F-9601-7FDC892627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51686" y="4891927"/>
            <a:ext cx="56158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1" name="Line 54">
            <a:extLst>
              <a:ext uri="{FF2B5EF4-FFF2-40B4-BE49-F238E27FC236}">
                <a16:creationId xmlns:a16="http://schemas.microsoft.com/office/drawing/2014/main" id="{5217D62B-C74B-E74F-A167-EAC133435E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43391" y="4891927"/>
            <a:ext cx="56158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2" name="Line 55">
            <a:extLst>
              <a:ext uri="{FF2B5EF4-FFF2-40B4-BE49-F238E27FC236}">
                <a16:creationId xmlns:a16="http://schemas.microsoft.com/office/drawing/2014/main" id="{13864E4D-0C95-B848-9A1E-13BC902446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57462" y="4499322"/>
            <a:ext cx="851149" cy="85064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3" name="Line 57">
            <a:extLst>
              <a:ext uri="{FF2B5EF4-FFF2-40B4-BE49-F238E27FC236}">
                <a16:creationId xmlns:a16="http://schemas.microsoft.com/office/drawing/2014/main" id="{BF96F5E7-6F33-8C4E-8B93-288BD347F4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06741" y="4499467"/>
            <a:ext cx="40510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08" name="Group 127">
            <a:extLst>
              <a:ext uri="{FF2B5EF4-FFF2-40B4-BE49-F238E27FC236}">
                <a16:creationId xmlns:a16="http://schemas.microsoft.com/office/drawing/2014/main" id="{5A859FBC-BCA2-C842-8621-8728D6AA737D}"/>
              </a:ext>
            </a:extLst>
          </p:cNvPr>
          <p:cNvGrpSpPr>
            <a:grpSpLocks/>
          </p:cNvGrpSpPr>
          <p:nvPr/>
        </p:nvGrpSpPr>
        <p:grpSpPr bwMode="auto">
          <a:xfrm>
            <a:off x="5648969" y="4212659"/>
            <a:ext cx="213518" cy="433111"/>
            <a:chOff x="4140" y="429"/>
            <a:chExt cx="1425" cy="2396"/>
          </a:xfrm>
        </p:grpSpPr>
        <p:sp>
          <p:nvSpPr>
            <p:cNvPr id="382" name="Freeform 128">
              <a:extLst>
                <a:ext uri="{FF2B5EF4-FFF2-40B4-BE49-F238E27FC236}">
                  <a16:creationId xmlns:a16="http://schemas.microsoft.com/office/drawing/2014/main" id="{53E7DA9C-A2FB-2A47-9F85-7E7A65DE8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83" name="Rectangle 129">
              <a:extLst>
                <a:ext uri="{FF2B5EF4-FFF2-40B4-BE49-F238E27FC236}">
                  <a16:creationId xmlns:a16="http://schemas.microsoft.com/office/drawing/2014/main" id="{3AF5C3FC-49CB-F149-8EC4-D3CE93FBD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84" name="Freeform 130">
              <a:extLst>
                <a:ext uri="{FF2B5EF4-FFF2-40B4-BE49-F238E27FC236}">
                  <a16:creationId xmlns:a16="http://schemas.microsoft.com/office/drawing/2014/main" id="{7C42DC53-39FF-5A49-8C4F-6C40C63A2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85" name="Freeform 131">
              <a:extLst>
                <a:ext uri="{FF2B5EF4-FFF2-40B4-BE49-F238E27FC236}">
                  <a16:creationId xmlns:a16="http://schemas.microsoft.com/office/drawing/2014/main" id="{904C6061-3C0D-024D-9392-F0BBD56C7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86" name="Rectangle 132">
              <a:extLst>
                <a:ext uri="{FF2B5EF4-FFF2-40B4-BE49-F238E27FC236}">
                  <a16:creationId xmlns:a16="http://schemas.microsoft.com/office/drawing/2014/main" id="{CBF7762D-B9E1-3F42-8A5B-2FD716C9E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387" name="Group 133">
              <a:extLst>
                <a:ext uri="{FF2B5EF4-FFF2-40B4-BE49-F238E27FC236}">
                  <a16:creationId xmlns:a16="http://schemas.microsoft.com/office/drawing/2014/main" id="{37F59F7C-B64B-B948-AF1B-7F3AF02075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12" name="AutoShape 134">
                <a:extLst>
                  <a:ext uri="{FF2B5EF4-FFF2-40B4-BE49-F238E27FC236}">
                    <a16:creationId xmlns:a16="http://schemas.microsoft.com/office/drawing/2014/main" id="{DC9F766E-CCD1-BE4A-94CB-63A12C7B94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13" name="AutoShape 135">
                <a:extLst>
                  <a:ext uri="{FF2B5EF4-FFF2-40B4-BE49-F238E27FC236}">
                    <a16:creationId xmlns:a16="http://schemas.microsoft.com/office/drawing/2014/main" id="{DD08DC7B-FBF1-C548-A5EC-8949A2770A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388" name="Rectangle 136">
              <a:extLst>
                <a:ext uri="{FF2B5EF4-FFF2-40B4-BE49-F238E27FC236}">
                  <a16:creationId xmlns:a16="http://schemas.microsoft.com/office/drawing/2014/main" id="{C3C4DB9B-2C11-974B-AE3D-EEE3882C2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389" name="Group 137">
              <a:extLst>
                <a:ext uri="{FF2B5EF4-FFF2-40B4-BE49-F238E27FC236}">
                  <a16:creationId xmlns:a16="http://schemas.microsoft.com/office/drawing/2014/main" id="{EC619C0F-379A-2342-B3D5-485A8C9E40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10" name="AutoShape 138">
                <a:extLst>
                  <a:ext uri="{FF2B5EF4-FFF2-40B4-BE49-F238E27FC236}">
                    <a16:creationId xmlns:a16="http://schemas.microsoft.com/office/drawing/2014/main" id="{2F03F1AA-B144-6441-82E1-7E7D399D40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11" name="AutoShape 139">
                <a:extLst>
                  <a:ext uri="{FF2B5EF4-FFF2-40B4-BE49-F238E27FC236}">
                    <a16:creationId xmlns:a16="http://schemas.microsoft.com/office/drawing/2014/main" id="{F6577811-E5CB-A24A-9C7F-8DD1CEEA40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390" name="Rectangle 140">
              <a:extLst>
                <a:ext uri="{FF2B5EF4-FFF2-40B4-BE49-F238E27FC236}">
                  <a16:creationId xmlns:a16="http://schemas.microsoft.com/office/drawing/2014/main" id="{905394A9-0D77-834D-B74B-528F8F2CC8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91" name="Rectangle 141">
              <a:extLst>
                <a:ext uri="{FF2B5EF4-FFF2-40B4-BE49-F238E27FC236}">
                  <a16:creationId xmlns:a16="http://schemas.microsoft.com/office/drawing/2014/main" id="{54E45B44-7162-414B-951E-CC6695CB2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392" name="Group 142">
              <a:extLst>
                <a:ext uri="{FF2B5EF4-FFF2-40B4-BE49-F238E27FC236}">
                  <a16:creationId xmlns:a16="http://schemas.microsoft.com/office/drawing/2014/main" id="{AD966B92-0483-3941-BD39-3D5F6359C8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08" name="AutoShape 143">
                <a:extLst>
                  <a:ext uri="{FF2B5EF4-FFF2-40B4-BE49-F238E27FC236}">
                    <a16:creationId xmlns:a16="http://schemas.microsoft.com/office/drawing/2014/main" id="{632896F6-0B90-8F4D-96AE-09DA88C7C8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09" name="AutoShape 144">
                <a:extLst>
                  <a:ext uri="{FF2B5EF4-FFF2-40B4-BE49-F238E27FC236}">
                    <a16:creationId xmlns:a16="http://schemas.microsoft.com/office/drawing/2014/main" id="{AFD82636-77B9-2B47-8699-D3BF427B3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393" name="Freeform 145">
              <a:extLst>
                <a:ext uri="{FF2B5EF4-FFF2-40B4-BE49-F238E27FC236}">
                  <a16:creationId xmlns:a16="http://schemas.microsoft.com/office/drawing/2014/main" id="{35166E21-5125-774B-9623-4EF221B04D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94" name="Group 146">
              <a:extLst>
                <a:ext uri="{FF2B5EF4-FFF2-40B4-BE49-F238E27FC236}">
                  <a16:creationId xmlns:a16="http://schemas.microsoft.com/office/drawing/2014/main" id="{6C8DAE71-3F1C-904C-85C2-214CB59E70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06" name="AutoShape 147">
                <a:extLst>
                  <a:ext uri="{FF2B5EF4-FFF2-40B4-BE49-F238E27FC236}">
                    <a16:creationId xmlns:a16="http://schemas.microsoft.com/office/drawing/2014/main" id="{87A402FD-47EE-FD44-AD9E-357434560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07" name="AutoShape 148">
                <a:extLst>
                  <a:ext uri="{FF2B5EF4-FFF2-40B4-BE49-F238E27FC236}">
                    <a16:creationId xmlns:a16="http://schemas.microsoft.com/office/drawing/2014/main" id="{D38CC5CC-31DB-F84B-B60C-A5487B93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395" name="Rectangle 149">
              <a:extLst>
                <a:ext uri="{FF2B5EF4-FFF2-40B4-BE49-F238E27FC236}">
                  <a16:creationId xmlns:a16="http://schemas.microsoft.com/office/drawing/2014/main" id="{0FDFE2FA-B251-B04D-9A87-9FA1DEE27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96" name="Freeform 150">
              <a:extLst>
                <a:ext uri="{FF2B5EF4-FFF2-40B4-BE49-F238E27FC236}">
                  <a16:creationId xmlns:a16="http://schemas.microsoft.com/office/drawing/2014/main" id="{861A3A88-011C-1648-B5E0-F5583D0CB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97" name="Freeform 151">
              <a:extLst>
                <a:ext uri="{FF2B5EF4-FFF2-40B4-BE49-F238E27FC236}">
                  <a16:creationId xmlns:a16="http://schemas.microsoft.com/office/drawing/2014/main" id="{FF9AD10E-0B20-D549-B4F4-E090093215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98" name="Oval 152">
              <a:extLst>
                <a:ext uri="{FF2B5EF4-FFF2-40B4-BE49-F238E27FC236}">
                  <a16:creationId xmlns:a16="http://schemas.microsoft.com/office/drawing/2014/main" id="{7FC6D115-11CC-8C42-84FB-F9380DF79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99" name="Freeform 153">
              <a:extLst>
                <a:ext uri="{FF2B5EF4-FFF2-40B4-BE49-F238E27FC236}">
                  <a16:creationId xmlns:a16="http://schemas.microsoft.com/office/drawing/2014/main" id="{FA893A70-E205-C74B-B0B1-F0BE1C537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00" name="AutoShape 154">
              <a:extLst>
                <a:ext uri="{FF2B5EF4-FFF2-40B4-BE49-F238E27FC236}">
                  <a16:creationId xmlns:a16="http://schemas.microsoft.com/office/drawing/2014/main" id="{CA3DE6E4-EC59-C54E-A06D-302F82AD7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01" name="AutoShape 155">
              <a:extLst>
                <a:ext uri="{FF2B5EF4-FFF2-40B4-BE49-F238E27FC236}">
                  <a16:creationId xmlns:a16="http://schemas.microsoft.com/office/drawing/2014/main" id="{D5954570-3A29-A04C-A694-89339B8CA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02" name="Oval 156">
              <a:extLst>
                <a:ext uri="{FF2B5EF4-FFF2-40B4-BE49-F238E27FC236}">
                  <a16:creationId xmlns:a16="http://schemas.microsoft.com/office/drawing/2014/main" id="{6D15A2AA-735B-1540-83A7-0CF4980B6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03" name="Oval 157">
              <a:extLst>
                <a:ext uri="{FF2B5EF4-FFF2-40B4-BE49-F238E27FC236}">
                  <a16:creationId xmlns:a16="http://schemas.microsoft.com/office/drawing/2014/main" id="{DBA0EFAE-DA9A-C341-9586-349045E9E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04" name="Oval 158">
              <a:extLst>
                <a:ext uri="{FF2B5EF4-FFF2-40B4-BE49-F238E27FC236}">
                  <a16:creationId xmlns:a16="http://schemas.microsoft.com/office/drawing/2014/main" id="{419BE2D4-504A-B24C-9BA2-88012DDF9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05" name="Rectangle 159">
              <a:extLst>
                <a:ext uri="{FF2B5EF4-FFF2-40B4-BE49-F238E27FC236}">
                  <a16:creationId xmlns:a16="http://schemas.microsoft.com/office/drawing/2014/main" id="{12323152-8DFE-D54A-8022-8B7157278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317" name="Group 160">
            <a:extLst>
              <a:ext uri="{FF2B5EF4-FFF2-40B4-BE49-F238E27FC236}">
                <a16:creationId xmlns:a16="http://schemas.microsoft.com/office/drawing/2014/main" id="{FA087400-17DC-374A-8B3D-047A843A930C}"/>
              </a:ext>
            </a:extLst>
          </p:cNvPr>
          <p:cNvGrpSpPr>
            <a:grpSpLocks/>
          </p:cNvGrpSpPr>
          <p:nvPr/>
        </p:nvGrpSpPr>
        <p:grpSpPr bwMode="auto">
          <a:xfrm>
            <a:off x="438973" y="5098707"/>
            <a:ext cx="484073" cy="426879"/>
            <a:chOff x="-44" y="1473"/>
            <a:chExt cx="981" cy="1105"/>
          </a:xfrm>
        </p:grpSpPr>
        <p:pic>
          <p:nvPicPr>
            <p:cNvPr id="380" name="Picture 161" descr="desktop_computer_stylized_medium">
              <a:extLst>
                <a:ext uri="{FF2B5EF4-FFF2-40B4-BE49-F238E27FC236}">
                  <a16:creationId xmlns:a16="http://schemas.microsoft.com/office/drawing/2014/main" id="{3EA6EC22-E034-D743-91DD-5D279096F0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1" name="Freeform 162">
              <a:extLst>
                <a:ext uri="{FF2B5EF4-FFF2-40B4-BE49-F238E27FC236}">
                  <a16:creationId xmlns:a16="http://schemas.microsoft.com/office/drawing/2014/main" id="{3DE644EB-7288-364C-85AD-A0B8C3C2737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20" name="Group 163">
            <a:extLst>
              <a:ext uri="{FF2B5EF4-FFF2-40B4-BE49-F238E27FC236}">
                <a16:creationId xmlns:a16="http://schemas.microsoft.com/office/drawing/2014/main" id="{C67AA62F-6B41-6E41-82AB-388CDEBE1BF4}"/>
              </a:ext>
            </a:extLst>
          </p:cNvPr>
          <p:cNvGrpSpPr>
            <a:grpSpLocks/>
          </p:cNvGrpSpPr>
          <p:nvPr/>
        </p:nvGrpSpPr>
        <p:grpSpPr bwMode="auto">
          <a:xfrm>
            <a:off x="5356478" y="5159895"/>
            <a:ext cx="213518" cy="433111"/>
            <a:chOff x="4140" y="429"/>
            <a:chExt cx="1425" cy="2396"/>
          </a:xfrm>
        </p:grpSpPr>
        <p:sp>
          <p:nvSpPr>
            <p:cNvPr id="348" name="Freeform 164">
              <a:extLst>
                <a:ext uri="{FF2B5EF4-FFF2-40B4-BE49-F238E27FC236}">
                  <a16:creationId xmlns:a16="http://schemas.microsoft.com/office/drawing/2014/main" id="{D195FCDA-1D6E-A14F-813E-82BA881BA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49" name="Rectangle 165">
              <a:extLst>
                <a:ext uri="{FF2B5EF4-FFF2-40B4-BE49-F238E27FC236}">
                  <a16:creationId xmlns:a16="http://schemas.microsoft.com/office/drawing/2014/main" id="{08336962-E72A-234B-AE02-13BF68CF9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50" name="Freeform 166">
              <a:extLst>
                <a:ext uri="{FF2B5EF4-FFF2-40B4-BE49-F238E27FC236}">
                  <a16:creationId xmlns:a16="http://schemas.microsoft.com/office/drawing/2014/main" id="{9CC8CF3D-B0E5-DF41-A2B1-CB1448401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51" name="Freeform 167">
              <a:extLst>
                <a:ext uri="{FF2B5EF4-FFF2-40B4-BE49-F238E27FC236}">
                  <a16:creationId xmlns:a16="http://schemas.microsoft.com/office/drawing/2014/main" id="{A62F35DC-6D41-2C46-9982-EC06FA2C3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52" name="Rectangle 168">
              <a:extLst>
                <a:ext uri="{FF2B5EF4-FFF2-40B4-BE49-F238E27FC236}">
                  <a16:creationId xmlns:a16="http://schemas.microsoft.com/office/drawing/2014/main" id="{41008D83-EBD9-A042-BDC0-CCFD7F0B7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353" name="Group 169">
              <a:extLst>
                <a:ext uri="{FF2B5EF4-FFF2-40B4-BE49-F238E27FC236}">
                  <a16:creationId xmlns:a16="http://schemas.microsoft.com/office/drawing/2014/main" id="{D5C2A6D0-2900-374F-8B47-7CAC43E5EA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78" name="AutoShape 170">
                <a:extLst>
                  <a:ext uri="{FF2B5EF4-FFF2-40B4-BE49-F238E27FC236}">
                    <a16:creationId xmlns:a16="http://schemas.microsoft.com/office/drawing/2014/main" id="{316161F8-F72E-8842-A7EA-ACD5553EBA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379" name="AutoShape 171">
                <a:extLst>
                  <a:ext uri="{FF2B5EF4-FFF2-40B4-BE49-F238E27FC236}">
                    <a16:creationId xmlns:a16="http://schemas.microsoft.com/office/drawing/2014/main" id="{65D8DF1E-DC5A-4048-8F8A-B22E7446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354" name="Rectangle 172">
              <a:extLst>
                <a:ext uri="{FF2B5EF4-FFF2-40B4-BE49-F238E27FC236}">
                  <a16:creationId xmlns:a16="http://schemas.microsoft.com/office/drawing/2014/main" id="{F0278590-CB35-2B4C-8960-A8E639AE0B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355" name="Group 173">
              <a:extLst>
                <a:ext uri="{FF2B5EF4-FFF2-40B4-BE49-F238E27FC236}">
                  <a16:creationId xmlns:a16="http://schemas.microsoft.com/office/drawing/2014/main" id="{6B7EAD7C-E09C-8C45-93EA-4861697FBB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76" name="AutoShape 174">
                <a:extLst>
                  <a:ext uri="{FF2B5EF4-FFF2-40B4-BE49-F238E27FC236}">
                    <a16:creationId xmlns:a16="http://schemas.microsoft.com/office/drawing/2014/main" id="{B100E59C-193E-F74A-9B2F-64705FC8DC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377" name="AutoShape 175">
                <a:extLst>
                  <a:ext uri="{FF2B5EF4-FFF2-40B4-BE49-F238E27FC236}">
                    <a16:creationId xmlns:a16="http://schemas.microsoft.com/office/drawing/2014/main" id="{C5CAF38F-0311-FF44-974E-7B3A277A86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356" name="Rectangle 176">
              <a:extLst>
                <a:ext uri="{FF2B5EF4-FFF2-40B4-BE49-F238E27FC236}">
                  <a16:creationId xmlns:a16="http://schemas.microsoft.com/office/drawing/2014/main" id="{950C602D-D3E9-9D49-95E7-FEAA72A87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57" name="Rectangle 177">
              <a:extLst>
                <a:ext uri="{FF2B5EF4-FFF2-40B4-BE49-F238E27FC236}">
                  <a16:creationId xmlns:a16="http://schemas.microsoft.com/office/drawing/2014/main" id="{08A4D495-7D7A-BC4E-B504-63349FFAA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358" name="Group 178">
              <a:extLst>
                <a:ext uri="{FF2B5EF4-FFF2-40B4-BE49-F238E27FC236}">
                  <a16:creationId xmlns:a16="http://schemas.microsoft.com/office/drawing/2014/main" id="{F305A5C0-33C8-774E-A415-F8DB363892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74" name="AutoShape 179">
                <a:extLst>
                  <a:ext uri="{FF2B5EF4-FFF2-40B4-BE49-F238E27FC236}">
                    <a16:creationId xmlns:a16="http://schemas.microsoft.com/office/drawing/2014/main" id="{1D60B3F0-C96C-CF4F-AE8E-9DFC4AC8DC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375" name="AutoShape 180">
                <a:extLst>
                  <a:ext uri="{FF2B5EF4-FFF2-40B4-BE49-F238E27FC236}">
                    <a16:creationId xmlns:a16="http://schemas.microsoft.com/office/drawing/2014/main" id="{59F17474-B1E9-5A4A-95BC-0FFA152A6A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359" name="Freeform 181">
              <a:extLst>
                <a:ext uri="{FF2B5EF4-FFF2-40B4-BE49-F238E27FC236}">
                  <a16:creationId xmlns:a16="http://schemas.microsoft.com/office/drawing/2014/main" id="{4D4849DA-5BB5-194F-B347-D9C0FD3BC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60" name="Group 182">
              <a:extLst>
                <a:ext uri="{FF2B5EF4-FFF2-40B4-BE49-F238E27FC236}">
                  <a16:creationId xmlns:a16="http://schemas.microsoft.com/office/drawing/2014/main" id="{387B571D-6B5A-D54A-893E-26AE853164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72" name="AutoShape 183">
                <a:extLst>
                  <a:ext uri="{FF2B5EF4-FFF2-40B4-BE49-F238E27FC236}">
                    <a16:creationId xmlns:a16="http://schemas.microsoft.com/office/drawing/2014/main" id="{5B2C6A46-36B9-A645-9C38-687443126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373" name="AutoShape 184">
                <a:extLst>
                  <a:ext uri="{FF2B5EF4-FFF2-40B4-BE49-F238E27FC236}">
                    <a16:creationId xmlns:a16="http://schemas.microsoft.com/office/drawing/2014/main" id="{02DF9FD3-61E5-B44A-9E31-BCF57F474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361" name="Rectangle 185">
              <a:extLst>
                <a:ext uri="{FF2B5EF4-FFF2-40B4-BE49-F238E27FC236}">
                  <a16:creationId xmlns:a16="http://schemas.microsoft.com/office/drawing/2014/main" id="{F669C71A-A324-3F42-B2FE-2FE5DA2A8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62" name="Freeform 186">
              <a:extLst>
                <a:ext uri="{FF2B5EF4-FFF2-40B4-BE49-F238E27FC236}">
                  <a16:creationId xmlns:a16="http://schemas.microsoft.com/office/drawing/2014/main" id="{1BE5E4D2-2391-A140-B438-A2BFAB94D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63" name="Freeform 187">
              <a:extLst>
                <a:ext uri="{FF2B5EF4-FFF2-40B4-BE49-F238E27FC236}">
                  <a16:creationId xmlns:a16="http://schemas.microsoft.com/office/drawing/2014/main" id="{F61AA69B-2497-BB41-84E6-2379E99BE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64" name="Oval 188">
              <a:extLst>
                <a:ext uri="{FF2B5EF4-FFF2-40B4-BE49-F238E27FC236}">
                  <a16:creationId xmlns:a16="http://schemas.microsoft.com/office/drawing/2014/main" id="{E5FC988D-0562-6D4B-B677-9976C97CC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65" name="Freeform 189">
              <a:extLst>
                <a:ext uri="{FF2B5EF4-FFF2-40B4-BE49-F238E27FC236}">
                  <a16:creationId xmlns:a16="http://schemas.microsoft.com/office/drawing/2014/main" id="{5F9AF67B-EB16-1940-9E54-CD01DD73D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66" name="AutoShape 190">
              <a:extLst>
                <a:ext uri="{FF2B5EF4-FFF2-40B4-BE49-F238E27FC236}">
                  <a16:creationId xmlns:a16="http://schemas.microsoft.com/office/drawing/2014/main" id="{425C5A13-F083-B641-AE96-394F4EC8B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67" name="AutoShape 191">
              <a:extLst>
                <a:ext uri="{FF2B5EF4-FFF2-40B4-BE49-F238E27FC236}">
                  <a16:creationId xmlns:a16="http://schemas.microsoft.com/office/drawing/2014/main" id="{6A53B106-9919-0D42-AB27-C542B277A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68" name="Oval 192">
              <a:extLst>
                <a:ext uri="{FF2B5EF4-FFF2-40B4-BE49-F238E27FC236}">
                  <a16:creationId xmlns:a16="http://schemas.microsoft.com/office/drawing/2014/main" id="{20C525CE-1753-F641-9DA5-9A348D00F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69" name="Oval 193">
              <a:extLst>
                <a:ext uri="{FF2B5EF4-FFF2-40B4-BE49-F238E27FC236}">
                  <a16:creationId xmlns:a16="http://schemas.microsoft.com/office/drawing/2014/main" id="{98E2DDA5-BB4C-C44C-94CB-E3E75C14A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70" name="Oval 194">
              <a:extLst>
                <a:ext uri="{FF2B5EF4-FFF2-40B4-BE49-F238E27FC236}">
                  <a16:creationId xmlns:a16="http://schemas.microsoft.com/office/drawing/2014/main" id="{BE983F88-4E1D-8D4F-BAE7-B4FF6986B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71" name="Rectangle 195">
              <a:extLst>
                <a:ext uri="{FF2B5EF4-FFF2-40B4-BE49-F238E27FC236}">
                  <a16:creationId xmlns:a16="http://schemas.microsoft.com/office/drawing/2014/main" id="{6517F9BF-0412-704A-8CF4-5197BADDB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321" name="Line 57">
            <a:extLst>
              <a:ext uri="{FF2B5EF4-FFF2-40B4-BE49-F238E27FC236}">
                <a16:creationId xmlns:a16="http://schemas.microsoft.com/office/drawing/2014/main" id="{68763ED6-942C-0F41-AD7D-01D0E5880E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66527" y="5348527"/>
            <a:ext cx="75743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22" name="Line 57">
            <a:extLst>
              <a:ext uri="{FF2B5EF4-FFF2-40B4-BE49-F238E27FC236}">
                <a16:creationId xmlns:a16="http://schemas.microsoft.com/office/drawing/2014/main" id="{F860BD77-FEC3-1440-9C5F-412C1944CF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50897" y="4497166"/>
            <a:ext cx="40510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23" name="Line 57">
            <a:extLst>
              <a:ext uri="{FF2B5EF4-FFF2-40B4-BE49-F238E27FC236}">
                <a16:creationId xmlns:a16="http://schemas.microsoft.com/office/drawing/2014/main" id="{27B00412-D610-DE4A-846E-7A4177E41E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02043" y="5350829"/>
            <a:ext cx="40510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E8361AD1-D10B-914D-B557-ED00BB81668B}"/>
              </a:ext>
            </a:extLst>
          </p:cNvPr>
          <p:cNvGrpSpPr/>
          <p:nvPr/>
        </p:nvGrpSpPr>
        <p:grpSpPr>
          <a:xfrm>
            <a:off x="2061817" y="3427810"/>
            <a:ext cx="2138708" cy="709613"/>
            <a:chOff x="2749090" y="3427413"/>
            <a:chExt cx="2851610" cy="946150"/>
          </a:xfrm>
        </p:grpSpPr>
        <p:sp>
          <p:nvSpPr>
            <p:cNvPr id="341" name="Text Box 68">
              <a:extLst>
                <a:ext uri="{FF2B5EF4-FFF2-40B4-BE49-F238E27FC236}">
                  <a16:creationId xmlns:a16="http://schemas.microsoft.com/office/drawing/2014/main" id="{3B9B04FF-F305-1B42-B32C-BD98A3457B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dirty="0">
                  <a:solidFill>
                    <a:srgbClr val="C00000"/>
                  </a:solidFill>
                  <a:latin typeface="Symbol" pitchFamily="2" charset="2"/>
                </a:rPr>
                <a:t>l</a:t>
              </a:r>
              <a:r>
                <a:rPr lang="en-US" altLang="en-US" sz="1500" baseline="-25000" dirty="0">
                  <a:solidFill>
                    <a:srgbClr val="C00000"/>
                  </a:solidFill>
                  <a:latin typeface="Arial" panose="020B0604020202020204" pitchFamily="34" charset="0"/>
                </a:rPr>
                <a:t>in</a:t>
              </a:r>
              <a:r>
                <a:rPr lang="en-US" altLang="en-US" sz="1200" baseline="-25000" dirty="0">
                  <a:solidFill>
                    <a:srgbClr val="C000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en-US" sz="1200" dirty="0">
                  <a:solidFill>
                    <a:srgbClr val="C00000"/>
                  </a:solidFill>
                  <a:latin typeface="Arial" panose="020B0604020202020204" pitchFamily="34" charset="0"/>
                </a:rPr>
                <a:t>: original data</a:t>
              </a:r>
              <a:endParaRPr lang="en-US" altLang="en-US" sz="1200" dirty="0">
                <a:solidFill>
                  <a:srgbClr val="C00000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342" name="Oval 217">
              <a:extLst>
                <a:ext uri="{FF2B5EF4-FFF2-40B4-BE49-F238E27FC236}">
                  <a16:creationId xmlns:a16="http://schemas.microsoft.com/office/drawing/2014/main" id="{EDF2431F-1AB1-4C49-A181-71EBA9C9A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343" name="Line 229">
              <a:extLst>
                <a:ext uri="{FF2B5EF4-FFF2-40B4-BE49-F238E27FC236}">
                  <a16:creationId xmlns:a16="http://schemas.microsoft.com/office/drawing/2014/main" id="{B59B3A23-BDBB-ED4B-90A7-F3F3742615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44" name="Oval 232">
              <a:extLst>
                <a:ext uri="{FF2B5EF4-FFF2-40B4-BE49-F238E27FC236}">
                  <a16:creationId xmlns:a16="http://schemas.microsoft.com/office/drawing/2014/main" id="{A0D84490-063F-6249-A3C3-EBD662E3F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345" name="Text Box 233">
              <a:extLst>
                <a:ext uri="{FF2B5EF4-FFF2-40B4-BE49-F238E27FC236}">
                  <a16:creationId xmlns:a16="http://schemas.microsoft.com/office/drawing/2014/main" id="{8B358585-163D-654F-995A-9C22E22B5C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dirty="0">
                  <a:solidFill>
                    <a:srgbClr val="C00000"/>
                  </a:solidFill>
                  <a:latin typeface="Symbol" pitchFamily="2" charset="2"/>
                </a:rPr>
                <a:t>l</a:t>
              </a:r>
              <a:r>
                <a:rPr lang="en-US" altLang="en-US" sz="1500" dirty="0">
                  <a:solidFill>
                    <a:srgbClr val="C00000"/>
                  </a:solidFill>
                  <a:latin typeface="Arial" panose="020B0604020202020204" pitchFamily="34" charset="0"/>
                </a:rPr>
                <a:t>'</a:t>
              </a:r>
              <a:r>
                <a:rPr lang="en-US" altLang="en-US" sz="1500" baseline="-25000" dirty="0">
                  <a:solidFill>
                    <a:srgbClr val="C00000"/>
                  </a:solidFill>
                  <a:latin typeface="Arial" panose="020B0604020202020204" pitchFamily="34" charset="0"/>
                </a:rPr>
                <a:t>in</a:t>
              </a:r>
              <a:r>
                <a:rPr lang="en-US" altLang="en-US" sz="1350" dirty="0">
                  <a:solidFill>
                    <a:srgbClr val="C00000"/>
                  </a:solidFill>
                  <a:latin typeface="Arial" panose="020B0604020202020204" pitchFamily="34" charset="0"/>
                </a:rPr>
                <a:t>:</a:t>
              </a:r>
              <a:r>
                <a:rPr lang="en-US" altLang="en-US" sz="1050" dirty="0">
                  <a:solidFill>
                    <a:srgbClr val="C000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en-US" sz="1200" dirty="0">
                  <a:solidFill>
                    <a:srgbClr val="C00000"/>
                  </a:solidFill>
                  <a:latin typeface="Arial" panose="020B0604020202020204" pitchFamily="34" charset="0"/>
                </a:rPr>
                <a:t>original data, </a:t>
              </a:r>
              <a:r>
                <a:rPr lang="en-US" altLang="en-US" sz="1200" i="1" dirty="0">
                  <a:solidFill>
                    <a:srgbClr val="C00000"/>
                  </a:solidFill>
                  <a:latin typeface="Arial" panose="020B0604020202020204" pitchFamily="34" charset="0"/>
                </a:rPr>
                <a:t>plus</a:t>
              </a:r>
              <a:r>
                <a:rPr lang="en-US" altLang="en-US" sz="1200" dirty="0">
                  <a:solidFill>
                    <a:srgbClr val="C00000"/>
                  </a:solidFill>
                  <a:latin typeface="Arial" panose="020B0604020202020204" pitchFamily="34" charset="0"/>
                </a:rPr>
                <a:t> retransmitted data</a:t>
              </a:r>
              <a:endParaRPr lang="en-US" altLang="en-US" sz="1200" dirty="0">
                <a:solidFill>
                  <a:srgbClr val="C00000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346" name="Line 234">
              <a:extLst>
                <a:ext uri="{FF2B5EF4-FFF2-40B4-BE49-F238E27FC236}">
                  <a16:creationId xmlns:a16="http://schemas.microsoft.com/office/drawing/2014/main" id="{1E1EF6EB-75EA-3840-81BD-7EFEF38544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47" name="Line 235">
              <a:extLst>
                <a:ext uri="{FF2B5EF4-FFF2-40B4-BE49-F238E27FC236}">
                  <a16:creationId xmlns:a16="http://schemas.microsoft.com/office/drawing/2014/main" id="{B9666650-75BE-044C-8E55-D19782D17F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E0A0DEBB-1942-DF47-BE8F-4DC1FAAF267D}"/>
              </a:ext>
            </a:extLst>
          </p:cNvPr>
          <p:cNvGrpSpPr/>
          <p:nvPr/>
        </p:nvGrpSpPr>
        <p:grpSpPr>
          <a:xfrm>
            <a:off x="2185117" y="4771465"/>
            <a:ext cx="1454048" cy="975136"/>
            <a:chOff x="2913490" y="5218953"/>
            <a:chExt cx="1938730" cy="1300181"/>
          </a:xfrm>
        </p:grpSpPr>
        <p:sp>
          <p:nvSpPr>
            <p:cNvPr id="330" name="Text Box 32">
              <a:extLst>
                <a:ext uri="{FF2B5EF4-FFF2-40B4-BE49-F238E27FC236}">
                  <a16:creationId xmlns:a16="http://schemas.microsoft.com/office/drawing/2014/main" id="{2BE67432-4EDA-2144-971A-97E31C21C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b="1" i="1" dirty="0">
                  <a:solidFill>
                    <a:srgbClr val="C00000"/>
                  </a:solidFill>
                  <a:latin typeface="Arial" panose="020B0604020202020204" pitchFamily="34" charset="0"/>
                </a:rPr>
                <a:t>finite</a:t>
              </a:r>
              <a:r>
                <a:rPr lang="en-US" altLang="en-US" sz="900" dirty="0">
                  <a:solidFill>
                    <a:srgbClr val="000000"/>
                  </a:solidFill>
                  <a:latin typeface="Arial" panose="020B0604020202020204" pitchFamily="34" charset="0"/>
                </a:rPr>
                <a:t> shared output link buffers</a:t>
              </a:r>
            </a:p>
          </p:txBody>
        </p:sp>
        <p:sp>
          <p:nvSpPr>
            <p:cNvPr id="331" name="Line 77">
              <a:extLst>
                <a:ext uri="{FF2B5EF4-FFF2-40B4-BE49-F238E27FC236}">
                  <a16:creationId xmlns:a16="http://schemas.microsoft.com/office/drawing/2014/main" id="{0FD3A7D1-0F64-3E4F-9EFC-3E9B5C3CB4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129E87F1-D0EC-544C-AAD3-67A4ADC56ED1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420EF065-0C5B-3C42-9309-A54EAD48FE41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E69DAA66-53B2-484A-8CE4-893106A81F71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0115558E-B280-5645-9FB4-A4EBF6BE1E2B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7ED04A48-0229-FC4F-821B-EB6EAD1E0728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771E9A5B-C688-D540-9A52-AD683DD66EBA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ED4DD7E1-448A-8143-9791-173C9F59FF70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F553CB64-B4A4-2C41-8D54-9660CE27A4FE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C11E0997-AC70-934E-899D-8D26941865C9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26" name="Freeform 91">
            <a:extLst>
              <a:ext uri="{FF2B5EF4-FFF2-40B4-BE49-F238E27FC236}">
                <a16:creationId xmlns:a16="http://schemas.microsoft.com/office/drawing/2014/main" id="{2AB634B7-7E1A-2F49-BD94-F471CBAAAB57}"/>
              </a:ext>
            </a:extLst>
          </p:cNvPr>
          <p:cNvSpPr>
            <a:spLocks/>
          </p:cNvSpPr>
          <p:nvPr/>
        </p:nvSpPr>
        <p:spPr bwMode="auto">
          <a:xfrm>
            <a:off x="2102515" y="3601941"/>
            <a:ext cx="3158903" cy="1252595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E2437294-F0A6-B64F-9701-980D73E181E5}"/>
              </a:ext>
            </a:extLst>
          </p:cNvPr>
          <p:cNvGrpSpPr/>
          <p:nvPr/>
        </p:nvGrpSpPr>
        <p:grpSpPr>
          <a:xfrm>
            <a:off x="1189944" y="4415193"/>
            <a:ext cx="3685387" cy="1009554"/>
            <a:chOff x="5641439" y="2685215"/>
            <a:chExt cx="4000500" cy="1028700"/>
          </a:xfrm>
        </p:grpSpPr>
        <p:sp>
          <p:nvSpPr>
            <p:cNvPr id="328" name="Oval 73">
              <a:extLst>
                <a:ext uri="{FF2B5EF4-FFF2-40B4-BE49-F238E27FC236}">
                  <a16:creationId xmlns:a16="http://schemas.microsoft.com/office/drawing/2014/main" id="{A5E7C6D8-EF6B-FD4F-B4BF-AB9BD2FC0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329" name="Freeform 90">
              <a:extLst>
                <a:ext uri="{FF2B5EF4-FFF2-40B4-BE49-F238E27FC236}">
                  <a16:creationId xmlns:a16="http://schemas.microsoft.com/office/drawing/2014/main" id="{E290CF0B-A025-EA42-80CC-B9295A473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444" name="Group 443">
            <a:extLst>
              <a:ext uri="{FF2B5EF4-FFF2-40B4-BE49-F238E27FC236}">
                <a16:creationId xmlns:a16="http://schemas.microsoft.com/office/drawing/2014/main" id="{1EA2D756-F337-784D-91E9-D0329FAA029D}"/>
              </a:ext>
            </a:extLst>
          </p:cNvPr>
          <p:cNvGrpSpPr/>
          <p:nvPr/>
        </p:nvGrpSpPr>
        <p:grpSpPr>
          <a:xfrm>
            <a:off x="2421069" y="4859836"/>
            <a:ext cx="1639465" cy="380565"/>
            <a:chOff x="3228093" y="5336775"/>
            <a:chExt cx="2185953" cy="507419"/>
          </a:xfrm>
        </p:grpSpPr>
        <p:sp>
          <p:nvSpPr>
            <p:cNvPr id="445" name="TextBox 444">
              <a:extLst>
                <a:ext uri="{FF2B5EF4-FFF2-40B4-BE49-F238E27FC236}">
                  <a16:creationId xmlns:a16="http://schemas.microsoft.com/office/drawing/2014/main" id="{1CF86E91-20B2-AA40-ADE7-23C1A4B452F5}"/>
                </a:ext>
              </a:extLst>
            </p:cNvPr>
            <p:cNvSpPr txBox="1"/>
            <p:nvPr/>
          </p:nvSpPr>
          <p:spPr>
            <a:xfrm>
              <a:off x="5001111" y="5336775"/>
              <a:ext cx="412935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 defTabSz="685800"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</a:rPr>
                <a:t>R</a:t>
              </a:r>
            </a:p>
          </p:txBody>
        </p:sp>
        <p:sp>
          <p:nvSpPr>
            <p:cNvPr id="446" name="TextBox 445">
              <a:extLst>
                <a:ext uri="{FF2B5EF4-FFF2-40B4-BE49-F238E27FC236}">
                  <a16:creationId xmlns:a16="http://schemas.microsoft.com/office/drawing/2014/main" id="{4B4D0976-F981-B64D-A7D0-EC08D7AD5DE8}"/>
                </a:ext>
              </a:extLst>
            </p:cNvPr>
            <p:cNvSpPr txBox="1"/>
            <p:nvPr/>
          </p:nvSpPr>
          <p:spPr>
            <a:xfrm>
              <a:off x="3228093" y="5351752"/>
              <a:ext cx="412935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 defTabSz="685800"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</a:rPr>
                <a:t>R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Causes/costs of congestion: scenario 2</a:t>
            </a:r>
            <a:endParaRPr lang="en-US" b="0" dirty="0"/>
          </a:p>
        </p:txBody>
      </p:sp>
      <p:sp>
        <p:nvSpPr>
          <p:cNvPr id="156" name="Slide Number Placeholder 2">
            <a:extLst>
              <a:ext uri="{FF2B5EF4-FFF2-40B4-BE49-F238E27FC236}">
                <a16:creationId xmlns:a16="http://schemas.microsoft.com/office/drawing/2014/main" id="{D2612AFA-2896-BE40-9DDD-29726BDC2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Transport Layer: 3-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7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230" name="Rectangle 234">
            <a:extLst>
              <a:ext uri="{FF2B5EF4-FFF2-40B4-BE49-F238E27FC236}">
                <a16:creationId xmlns:a16="http://schemas.microsoft.com/office/drawing/2014/main" id="{6E45144B-BF92-9A47-94FD-F52064FD0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3588" y="3567113"/>
            <a:ext cx="183356" cy="116681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31" name="Rectangle 235">
            <a:extLst>
              <a:ext uri="{FF2B5EF4-FFF2-40B4-BE49-F238E27FC236}">
                <a16:creationId xmlns:a16="http://schemas.microsoft.com/office/drawing/2014/main" id="{F4772420-2FB1-314B-A194-38B964C76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5938" y="3742135"/>
            <a:ext cx="183356" cy="116681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32" name="Text Box 236">
            <a:extLst>
              <a:ext uri="{FF2B5EF4-FFF2-40B4-BE49-F238E27FC236}">
                <a16:creationId xmlns:a16="http://schemas.microsoft.com/office/drawing/2014/main" id="{11E59F0D-C317-314F-8F6B-B5D0BED05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3577" y="3659982"/>
            <a:ext cx="50847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6600"/>
                </a:solidFill>
                <a:latin typeface="Arial" charset="0"/>
              </a:rPr>
              <a:t>copy</a:t>
            </a:r>
          </a:p>
        </p:txBody>
      </p:sp>
      <p:sp>
        <p:nvSpPr>
          <p:cNvPr id="233" name="Text Box 237">
            <a:extLst>
              <a:ext uri="{FF2B5EF4-FFF2-40B4-BE49-F238E27FC236}">
                <a16:creationId xmlns:a16="http://schemas.microsoft.com/office/drawing/2014/main" id="{EAD9B395-E752-6A49-A4A1-C7F6E1FAF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2825" y="4428090"/>
            <a:ext cx="128592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i="1" dirty="0">
                <a:solidFill>
                  <a:srgbClr val="006600"/>
                </a:solidFill>
                <a:latin typeface="Arial" charset="0"/>
              </a:rPr>
              <a:t>no buffer space!</a:t>
            </a:r>
          </a:p>
        </p:txBody>
      </p:sp>
      <p:sp>
        <p:nvSpPr>
          <p:cNvPr id="318" name="Rectangle 264">
            <a:extLst>
              <a:ext uri="{FF2B5EF4-FFF2-40B4-BE49-F238E27FC236}">
                <a16:creationId xmlns:a16="http://schemas.microsoft.com/office/drawing/2014/main" id="{D09A7464-92EB-C943-B1B0-D7DED6B7F590}"/>
              </a:ext>
            </a:extLst>
          </p:cNvPr>
          <p:cNvSpPr txBox="1">
            <a:spLocks noChangeArrowheads="1"/>
          </p:cNvSpPr>
          <p:nvPr/>
        </p:nvSpPr>
        <p:spPr>
          <a:xfrm>
            <a:off x="450235" y="1774545"/>
            <a:ext cx="4573954" cy="1423617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sz="2250" dirty="0">
                <a:solidFill>
                  <a:srgbClr val="000099"/>
                </a:solidFill>
                <a:latin typeface="Calibri" panose="020F0502020204030204"/>
              </a:rPr>
              <a:t>Idealization: </a:t>
            </a:r>
            <a:r>
              <a:rPr lang="en-US" sz="2250" i="1" dirty="0">
                <a:solidFill>
                  <a:srgbClr val="C00000"/>
                </a:solidFill>
                <a:latin typeface="Calibri" panose="020F0502020204030204"/>
              </a:rPr>
              <a:t>some </a:t>
            </a:r>
            <a:r>
              <a:rPr lang="en-US" sz="2250" dirty="0">
                <a:solidFill>
                  <a:prstClr val="black"/>
                </a:solidFill>
                <a:latin typeface="Calibri" panose="020F0502020204030204"/>
              </a:rPr>
              <a:t>perfect knowledge</a:t>
            </a:r>
          </a:p>
          <a:p>
            <a:pPr marL="342900" indent="-161925" defTabSz="685800">
              <a:spcBef>
                <a:spcPts val="750"/>
              </a:spcBef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packets can be lost (dropped at router) due  to full buffers</a:t>
            </a:r>
          </a:p>
          <a:p>
            <a:pPr marL="342900" indent="-161925" defTabSz="685800">
              <a:spcBef>
                <a:spcPts val="750"/>
              </a:spcBef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sender knows when packet has been dropped: only resends if packet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known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to be lost</a:t>
            </a: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45262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255 L -5.55556E-7 0.0354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0.03542 L 0.00026 0.17778 L 0.06328 0.17871 L 0.03451 0.24167 L 0.14323 0.24167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61" y="1030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323 0.24167 L 0.14544 0.3511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5463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0"/>
                            </p:stCondLst>
                            <p:childTnLst>
                              <p:par>
                                <p:cTn id="39" presetID="9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" grpId="0" animBg="1"/>
      <p:bldP spid="230" grpId="1" animBg="1"/>
      <p:bldP spid="230" grpId="2" animBg="1"/>
      <p:bldP spid="230" grpId="3" animBg="1"/>
      <p:bldP spid="230" grpId="4" animBg="1"/>
      <p:bldP spid="231" grpId="0" animBg="1"/>
      <p:bldP spid="232" grpId="0"/>
      <p:bldP spid="232" grpId="1"/>
      <p:bldP spid="233" grpId="0"/>
      <p:bldP spid="23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Freeform 3">
            <a:extLst>
              <a:ext uri="{FF2B5EF4-FFF2-40B4-BE49-F238E27FC236}">
                <a16:creationId xmlns:a16="http://schemas.microsoft.com/office/drawing/2014/main" id="{78DA0B54-F98B-BB46-88B3-CE41F122DE26}"/>
              </a:ext>
            </a:extLst>
          </p:cNvPr>
          <p:cNvSpPr>
            <a:spLocks/>
          </p:cNvSpPr>
          <p:nvPr/>
        </p:nvSpPr>
        <p:spPr bwMode="auto">
          <a:xfrm>
            <a:off x="5210233" y="4614611"/>
            <a:ext cx="231068" cy="91296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B7831227-C019-F54D-8486-90C2641B233E}"/>
              </a:ext>
            </a:extLst>
          </p:cNvPr>
          <p:cNvGrpSpPr/>
          <p:nvPr/>
        </p:nvGrpSpPr>
        <p:grpSpPr>
          <a:xfrm>
            <a:off x="4687076" y="4625292"/>
            <a:ext cx="540549" cy="887198"/>
            <a:chOff x="10910965" y="2513124"/>
            <a:chExt cx="586768" cy="904023"/>
          </a:xfrm>
        </p:grpSpPr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1F86B744-C8BE-A248-B391-C1A1E47E0A0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900566A3-5320-FA4C-ABD1-930C515C0C89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93B54A25-2EFC-2B49-BB5B-BE990ACB6E19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A6538998-BDBF-DF4C-B2EC-77F281D72F0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968272CD-399F-264B-A633-827064A7E41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9" name="Freeform 9">
            <a:extLst>
              <a:ext uri="{FF2B5EF4-FFF2-40B4-BE49-F238E27FC236}">
                <a16:creationId xmlns:a16="http://schemas.microsoft.com/office/drawing/2014/main" id="{3605A7CD-486E-374E-857B-A5FED463149A}"/>
              </a:ext>
            </a:extLst>
          </p:cNvPr>
          <p:cNvSpPr>
            <a:spLocks/>
          </p:cNvSpPr>
          <p:nvPr/>
        </p:nvSpPr>
        <p:spPr bwMode="auto">
          <a:xfrm flipH="1">
            <a:off x="1383541" y="3493979"/>
            <a:ext cx="396261" cy="88370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6BAE210C-B315-BF49-9E14-832C803385C1}"/>
              </a:ext>
            </a:extLst>
          </p:cNvPr>
          <p:cNvGrpSpPr/>
          <p:nvPr/>
        </p:nvGrpSpPr>
        <p:grpSpPr>
          <a:xfrm>
            <a:off x="959009" y="4370023"/>
            <a:ext cx="540549" cy="887198"/>
            <a:chOff x="10910965" y="2513124"/>
            <a:chExt cx="586768" cy="904023"/>
          </a:xfrm>
        </p:grpSpPr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782DF269-B22E-124D-A8AB-1B45AC4017FB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A7812E96-3B07-D348-AB53-B122DAB4E6B2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2B399334-1A8E-134C-B4FC-1DADB2572F96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2A8D4057-50A8-0C4E-B3DB-41EF5AA29419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303C7848-D36A-834E-9516-64CE78236EDC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584477B2-231F-6342-BB1B-FEE6C59ECF52}"/>
              </a:ext>
            </a:extLst>
          </p:cNvPr>
          <p:cNvGrpSpPr/>
          <p:nvPr/>
        </p:nvGrpSpPr>
        <p:grpSpPr>
          <a:xfrm>
            <a:off x="1766283" y="3498068"/>
            <a:ext cx="540549" cy="887198"/>
            <a:chOff x="10910965" y="2513124"/>
            <a:chExt cx="586768" cy="904023"/>
          </a:xfrm>
        </p:grpSpPr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6809513A-96B2-F747-B5DE-AE92732DF736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id="{12D921D5-B6BF-A24C-8002-5AB6451D58B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Straight Connector 462">
              <a:extLst>
                <a:ext uri="{FF2B5EF4-FFF2-40B4-BE49-F238E27FC236}">
                  <a16:creationId xmlns:a16="http://schemas.microsoft.com/office/drawing/2014/main" id="{8E7AFE4F-E85D-E74E-9028-EA5E47E1FC08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63">
              <a:extLst>
                <a:ext uri="{FF2B5EF4-FFF2-40B4-BE49-F238E27FC236}">
                  <a16:creationId xmlns:a16="http://schemas.microsoft.com/office/drawing/2014/main" id="{A7E6CF1A-5E38-FC4A-91EC-B6B52C3CCCC0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64">
              <a:extLst>
                <a:ext uri="{FF2B5EF4-FFF2-40B4-BE49-F238E27FC236}">
                  <a16:creationId xmlns:a16="http://schemas.microsoft.com/office/drawing/2014/main" id="{C7013E7D-279D-3441-A1FC-72573517FCAA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2" name="Freeform 6">
            <a:extLst>
              <a:ext uri="{FF2B5EF4-FFF2-40B4-BE49-F238E27FC236}">
                <a16:creationId xmlns:a16="http://schemas.microsoft.com/office/drawing/2014/main" id="{206261C0-C19D-5445-B1A1-7208FAA9D5C0}"/>
              </a:ext>
            </a:extLst>
          </p:cNvPr>
          <p:cNvSpPr>
            <a:spLocks/>
          </p:cNvSpPr>
          <p:nvPr/>
        </p:nvSpPr>
        <p:spPr bwMode="auto">
          <a:xfrm>
            <a:off x="5556835" y="3631852"/>
            <a:ext cx="231068" cy="91296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2D5D8D25-47D7-4247-93AC-740845C8F29F}"/>
              </a:ext>
            </a:extLst>
          </p:cNvPr>
          <p:cNvGrpSpPr/>
          <p:nvPr/>
        </p:nvGrpSpPr>
        <p:grpSpPr>
          <a:xfrm>
            <a:off x="5024189" y="3608167"/>
            <a:ext cx="540549" cy="887198"/>
            <a:chOff x="10910965" y="2513124"/>
            <a:chExt cx="586768" cy="904023"/>
          </a:xfrm>
        </p:grpSpPr>
        <p:sp>
          <p:nvSpPr>
            <p:cNvPr id="456" name="Rectangle 455">
              <a:extLst>
                <a:ext uri="{FF2B5EF4-FFF2-40B4-BE49-F238E27FC236}">
                  <a16:creationId xmlns:a16="http://schemas.microsoft.com/office/drawing/2014/main" id="{23DA77B2-BEC2-8945-AF87-82BF78DFEBDC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id="{5E0EB13A-C315-4845-B3CA-9996078979F7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7">
              <a:extLst>
                <a:ext uri="{FF2B5EF4-FFF2-40B4-BE49-F238E27FC236}">
                  <a16:creationId xmlns:a16="http://schemas.microsoft.com/office/drawing/2014/main" id="{77FF2C2F-77E2-114D-A87A-BE0DC6998087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215BACD8-AE1A-024C-8113-15D983544269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>
              <a:extLst>
                <a:ext uri="{FF2B5EF4-FFF2-40B4-BE49-F238E27FC236}">
                  <a16:creationId xmlns:a16="http://schemas.microsoft.com/office/drawing/2014/main" id="{4A77BC0A-EA01-7445-AAE0-B8E8936A6672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FFA35F8C-504E-E740-B268-F48CB484744A}"/>
              </a:ext>
            </a:extLst>
          </p:cNvPr>
          <p:cNvGrpSpPr/>
          <p:nvPr/>
        </p:nvGrpSpPr>
        <p:grpSpPr>
          <a:xfrm>
            <a:off x="2828023" y="4632484"/>
            <a:ext cx="965153" cy="551195"/>
            <a:chOff x="7493876" y="2774731"/>
            <a:chExt cx="1481958" cy="894622"/>
          </a:xfrm>
        </p:grpSpPr>
        <p:sp>
          <p:nvSpPr>
            <p:cNvPr id="449" name="Freeform 448">
              <a:extLst>
                <a:ext uri="{FF2B5EF4-FFF2-40B4-BE49-F238E27FC236}">
                  <a16:creationId xmlns:a16="http://schemas.microsoft.com/office/drawing/2014/main" id="{0C5B982F-8D0D-5E4B-A5F4-51D4EACABD7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50" name="Oval 449">
              <a:extLst>
                <a:ext uri="{FF2B5EF4-FFF2-40B4-BE49-F238E27FC236}">
                  <a16:creationId xmlns:a16="http://schemas.microsoft.com/office/drawing/2014/main" id="{486B86C4-CAB3-2943-9DDD-58492CC7335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2DD189E4-73DE-594A-9971-497300D8C42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id="{E85CF2D0-3CFC-5E43-B858-03D42C9110A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id="{EC9DAD17-F992-4F48-8267-9058E7CD27F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id="{E710E015-BE76-AE4B-81F6-34C170D7132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55" name="Freeform 454">
                <a:extLst>
                  <a:ext uri="{FF2B5EF4-FFF2-40B4-BE49-F238E27FC236}">
                    <a16:creationId xmlns:a16="http://schemas.microsoft.com/office/drawing/2014/main" id="{E6F85A0B-00CE-6D4F-A4FF-FFB7E1C2F76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334" name="Group 124">
            <a:extLst>
              <a:ext uri="{FF2B5EF4-FFF2-40B4-BE49-F238E27FC236}">
                <a16:creationId xmlns:a16="http://schemas.microsoft.com/office/drawing/2014/main" id="{9BF07229-A6A4-AD45-97F8-02F77949015D}"/>
              </a:ext>
            </a:extLst>
          </p:cNvPr>
          <p:cNvGrpSpPr>
            <a:grpSpLocks/>
          </p:cNvGrpSpPr>
          <p:nvPr/>
        </p:nvGrpSpPr>
        <p:grpSpPr bwMode="auto">
          <a:xfrm>
            <a:off x="988066" y="3765090"/>
            <a:ext cx="484073" cy="426879"/>
            <a:chOff x="-44" y="1473"/>
            <a:chExt cx="981" cy="1105"/>
          </a:xfrm>
        </p:grpSpPr>
        <p:pic>
          <p:nvPicPr>
            <p:cNvPr id="447" name="Picture 125" descr="desktop_computer_stylized_medium">
              <a:extLst>
                <a:ext uri="{FF2B5EF4-FFF2-40B4-BE49-F238E27FC236}">
                  <a16:creationId xmlns:a16="http://schemas.microsoft.com/office/drawing/2014/main" id="{7307EF69-0AD9-7347-B5CF-13B9A3CE2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8" name="Freeform 126">
              <a:extLst>
                <a:ext uri="{FF2B5EF4-FFF2-40B4-BE49-F238E27FC236}">
                  <a16:creationId xmlns:a16="http://schemas.microsoft.com/office/drawing/2014/main" id="{70150EB8-302C-104D-A225-CB59DD73AD6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336" name="Freeform 12">
            <a:extLst>
              <a:ext uri="{FF2B5EF4-FFF2-40B4-BE49-F238E27FC236}">
                <a16:creationId xmlns:a16="http://schemas.microsoft.com/office/drawing/2014/main" id="{0457B109-DCF7-7B48-990C-188E960DA7E2}"/>
              </a:ext>
            </a:extLst>
          </p:cNvPr>
          <p:cNvSpPr>
            <a:spLocks/>
          </p:cNvSpPr>
          <p:nvPr/>
        </p:nvSpPr>
        <p:spPr bwMode="auto">
          <a:xfrm flipH="1">
            <a:off x="733658" y="4368455"/>
            <a:ext cx="231068" cy="91296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37" name="Line 33">
            <a:extLst>
              <a:ext uri="{FF2B5EF4-FFF2-40B4-BE49-F238E27FC236}">
                <a16:creationId xmlns:a16="http://schemas.microsoft.com/office/drawing/2014/main" id="{378BB6D2-BFAA-E544-BB30-E3BAC64FEF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04175" y="4499322"/>
            <a:ext cx="851149" cy="85064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38" name="Text Box 42">
            <a:extLst>
              <a:ext uri="{FF2B5EF4-FFF2-40B4-BE49-F238E27FC236}">
                <a16:creationId xmlns:a16="http://schemas.microsoft.com/office/drawing/2014/main" id="{E22D8322-6AC1-024E-A7E0-7FB476A5F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463" y="3504613"/>
            <a:ext cx="841877" cy="23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</a:rPr>
              <a:t>Host A</a:t>
            </a:r>
            <a:endParaRPr lang="en-US" altLang="en-US" sz="3000" dirty="0">
              <a:solidFill>
                <a:srgbClr val="C0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339" name="Text Box 52">
            <a:extLst>
              <a:ext uri="{FF2B5EF4-FFF2-40B4-BE49-F238E27FC236}">
                <a16:creationId xmlns:a16="http://schemas.microsoft.com/office/drawing/2014/main" id="{C9BA4092-FFBC-344B-B0CD-5F77B5C37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577" y="5397367"/>
            <a:ext cx="736183" cy="23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dirty="0">
                <a:solidFill>
                  <a:srgbClr val="0013A3"/>
                </a:solidFill>
                <a:latin typeface="Arial" panose="020B0604020202020204" pitchFamily="34" charset="0"/>
              </a:rPr>
              <a:t>Host B</a:t>
            </a:r>
            <a:endParaRPr lang="en-US" altLang="en-US" sz="3000" dirty="0">
              <a:solidFill>
                <a:srgbClr val="0013A3"/>
              </a:solidFill>
              <a:latin typeface="Comic Sans MS" panose="030F0902030302020204" pitchFamily="66" charset="0"/>
            </a:endParaRPr>
          </a:p>
        </p:txBody>
      </p:sp>
      <p:sp>
        <p:nvSpPr>
          <p:cNvPr id="340" name="Line 53">
            <a:extLst>
              <a:ext uri="{FF2B5EF4-FFF2-40B4-BE49-F238E27FC236}">
                <a16:creationId xmlns:a16="http://schemas.microsoft.com/office/drawing/2014/main" id="{D40AEB36-CE2F-6240-A4C3-F1CF224B99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51686" y="4891927"/>
            <a:ext cx="56158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41" name="Line 54">
            <a:extLst>
              <a:ext uri="{FF2B5EF4-FFF2-40B4-BE49-F238E27FC236}">
                <a16:creationId xmlns:a16="http://schemas.microsoft.com/office/drawing/2014/main" id="{495C95A8-89BF-AD47-9100-5231A4D8B0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43391" y="4891927"/>
            <a:ext cx="56158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42" name="Line 55">
            <a:extLst>
              <a:ext uri="{FF2B5EF4-FFF2-40B4-BE49-F238E27FC236}">
                <a16:creationId xmlns:a16="http://schemas.microsoft.com/office/drawing/2014/main" id="{120B847C-F27F-494F-8014-E8B621196D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57462" y="4499322"/>
            <a:ext cx="851149" cy="85064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43" name="Line 57">
            <a:extLst>
              <a:ext uri="{FF2B5EF4-FFF2-40B4-BE49-F238E27FC236}">
                <a16:creationId xmlns:a16="http://schemas.microsoft.com/office/drawing/2014/main" id="{960F0352-E2A3-DE4C-9E29-AD02BDE1E6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06741" y="4499467"/>
            <a:ext cx="40510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45" name="Group 127">
            <a:extLst>
              <a:ext uri="{FF2B5EF4-FFF2-40B4-BE49-F238E27FC236}">
                <a16:creationId xmlns:a16="http://schemas.microsoft.com/office/drawing/2014/main" id="{3AD20F85-F9D5-B241-A4C0-83AA3C7AFA1C}"/>
              </a:ext>
            </a:extLst>
          </p:cNvPr>
          <p:cNvGrpSpPr>
            <a:grpSpLocks/>
          </p:cNvGrpSpPr>
          <p:nvPr/>
        </p:nvGrpSpPr>
        <p:grpSpPr bwMode="auto">
          <a:xfrm>
            <a:off x="5648969" y="4212659"/>
            <a:ext cx="213518" cy="433111"/>
            <a:chOff x="4140" y="429"/>
            <a:chExt cx="1425" cy="2396"/>
          </a:xfrm>
        </p:grpSpPr>
        <p:sp>
          <p:nvSpPr>
            <p:cNvPr id="409" name="Freeform 128">
              <a:extLst>
                <a:ext uri="{FF2B5EF4-FFF2-40B4-BE49-F238E27FC236}">
                  <a16:creationId xmlns:a16="http://schemas.microsoft.com/office/drawing/2014/main" id="{0B4C7EC1-ADAA-B244-8CDF-3FEFCFF9F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10" name="Rectangle 129">
              <a:extLst>
                <a:ext uri="{FF2B5EF4-FFF2-40B4-BE49-F238E27FC236}">
                  <a16:creationId xmlns:a16="http://schemas.microsoft.com/office/drawing/2014/main" id="{A0FF8C35-B0F8-A74B-9E6E-A21B68AFB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11" name="Freeform 130">
              <a:extLst>
                <a:ext uri="{FF2B5EF4-FFF2-40B4-BE49-F238E27FC236}">
                  <a16:creationId xmlns:a16="http://schemas.microsoft.com/office/drawing/2014/main" id="{B8A6A9CE-AE19-9646-8506-8FABE2397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12" name="Freeform 131">
              <a:extLst>
                <a:ext uri="{FF2B5EF4-FFF2-40B4-BE49-F238E27FC236}">
                  <a16:creationId xmlns:a16="http://schemas.microsoft.com/office/drawing/2014/main" id="{920D5DF8-F10D-784B-A501-18ADE5587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13" name="Rectangle 132">
              <a:extLst>
                <a:ext uri="{FF2B5EF4-FFF2-40B4-BE49-F238E27FC236}">
                  <a16:creationId xmlns:a16="http://schemas.microsoft.com/office/drawing/2014/main" id="{158A36BE-3875-984B-860D-8A0FE086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414" name="Group 133">
              <a:extLst>
                <a:ext uri="{FF2B5EF4-FFF2-40B4-BE49-F238E27FC236}">
                  <a16:creationId xmlns:a16="http://schemas.microsoft.com/office/drawing/2014/main" id="{E5497F18-12AE-964F-A3C6-A90B513556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39" name="AutoShape 134">
                <a:extLst>
                  <a:ext uri="{FF2B5EF4-FFF2-40B4-BE49-F238E27FC236}">
                    <a16:creationId xmlns:a16="http://schemas.microsoft.com/office/drawing/2014/main" id="{44D06AC1-BE64-AD44-B78A-06EA07426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40" name="AutoShape 135">
                <a:extLst>
                  <a:ext uri="{FF2B5EF4-FFF2-40B4-BE49-F238E27FC236}">
                    <a16:creationId xmlns:a16="http://schemas.microsoft.com/office/drawing/2014/main" id="{AB2F27B0-5EAD-DE4F-BB61-62C23D5FBC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415" name="Rectangle 136">
              <a:extLst>
                <a:ext uri="{FF2B5EF4-FFF2-40B4-BE49-F238E27FC236}">
                  <a16:creationId xmlns:a16="http://schemas.microsoft.com/office/drawing/2014/main" id="{497EAA10-56C6-FF48-9B71-8DD4C9104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416" name="Group 137">
              <a:extLst>
                <a:ext uri="{FF2B5EF4-FFF2-40B4-BE49-F238E27FC236}">
                  <a16:creationId xmlns:a16="http://schemas.microsoft.com/office/drawing/2014/main" id="{C3283769-C067-6D49-911F-DE095B9010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37" name="AutoShape 138">
                <a:extLst>
                  <a:ext uri="{FF2B5EF4-FFF2-40B4-BE49-F238E27FC236}">
                    <a16:creationId xmlns:a16="http://schemas.microsoft.com/office/drawing/2014/main" id="{AB151B02-EE9D-8247-BD54-A32913D967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38" name="AutoShape 139">
                <a:extLst>
                  <a:ext uri="{FF2B5EF4-FFF2-40B4-BE49-F238E27FC236}">
                    <a16:creationId xmlns:a16="http://schemas.microsoft.com/office/drawing/2014/main" id="{FEF7F223-DA6D-0843-95D8-3849E23750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417" name="Rectangle 140">
              <a:extLst>
                <a:ext uri="{FF2B5EF4-FFF2-40B4-BE49-F238E27FC236}">
                  <a16:creationId xmlns:a16="http://schemas.microsoft.com/office/drawing/2014/main" id="{7E6BEA62-9B73-F64A-AD66-03070B268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18" name="Rectangle 141">
              <a:extLst>
                <a:ext uri="{FF2B5EF4-FFF2-40B4-BE49-F238E27FC236}">
                  <a16:creationId xmlns:a16="http://schemas.microsoft.com/office/drawing/2014/main" id="{B703598A-F43E-8F44-AA55-32B934E36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419" name="Group 142">
              <a:extLst>
                <a:ext uri="{FF2B5EF4-FFF2-40B4-BE49-F238E27FC236}">
                  <a16:creationId xmlns:a16="http://schemas.microsoft.com/office/drawing/2014/main" id="{37E008B5-DF9F-4741-9481-59DB934698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35" name="AutoShape 143">
                <a:extLst>
                  <a:ext uri="{FF2B5EF4-FFF2-40B4-BE49-F238E27FC236}">
                    <a16:creationId xmlns:a16="http://schemas.microsoft.com/office/drawing/2014/main" id="{4DFCD725-D192-594A-9091-58E3EB174C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36" name="AutoShape 144">
                <a:extLst>
                  <a:ext uri="{FF2B5EF4-FFF2-40B4-BE49-F238E27FC236}">
                    <a16:creationId xmlns:a16="http://schemas.microsoft.com/office/drawing/2014/main" id="{E1E81217-E6F8-7E4C-83BD-39023D5FF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420" name="Freeform 145">
              <a:extLst>
                <a:ext uri="{FF2B5EF4-FFF2-40B4-BE49-F238E27FC236}">
                  <a16:creationId xmlns:a16="http://schemas.microsoft.com/office/drawing/2014/main" id="{C9C21037-BEFA-DF45-969E-77E95675D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421" name="Group 146">
              <a:extLst>
                <a:ext uri="{FF2B5EF4-FFF2-40B4-BE49-F238E27FC236}">
                  <a16:creationId xmlns:a16="http://schemas.microsoft.com/office/drawing/2014/main" id="{8C21E2FB-1E40-4E43-8A6F-A77D3B5377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33" name="AutoShape 147">
                <a:extLst>
                  <a:ext uri="{FF2B5EF4-FFF2-40B4-BE49-F238E27FC236}">
                    <a16:creationId xmlns:a16="http://schemas.microsoft.com/office/drawing/2014/main" id="{3FB07F3E-B384-BA42-B9DC-3F347F445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34" name="AutoShape 148">
                <a:extLst>
                  <a:ext uri="{FF2B5EF4-FFF2-40B4-BE49-F238E27FC236}">
                    <a16:creationId xmlns:a16="http://schemas.microsoft.com/office/drawing/2014/main" id="{53CFABFE-9ECC-654C-A26F-077B10C41C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422" name="Rectangle 149">
              <a:extLst>
                <a:ext uri="{FF2B5EF4-FFF2-40B4-BE49-F238E27FC236}">
                  <a16:creationId xmlns:a16="http://schemas.microsoft.com/office/drawing/2014/main" id="{2ADBFF81-E61D-BD42-A5DA-C6C72A45B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23" name="Freeform 150">
              <a:extLst>
                <a:ext uri="{FF2B5EF4-FFF2-40B4-BE49-F238E27FC236}">
                  <a16:creationId xmlns:a16="http://schemas.microsoft.com/office/drawing/2014/main" id="{B801D18D-12AF-604B-826B-87612B4BE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24" name="Freeform 151">
              <a:extLst>
                <a:ext uri="{FF2B5EF4-FFF2-40B4-BE49-F238E27FC236}">
                  <a16:creationId xmlns:a16="http://schemas.microsoft.com/office/drawing/2014/main" id="{E0D76583-E225-D143-AD69-86F926011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25" name="Oval 152">
              <a:extLst>
                <a:ext uri="{FF2B5EF4-FFF2-40B4-BE49-F238E27FC236}">
                  <a16:creationId xmlns:a16="http://schemas.microsoft.com/office/drawing/2014/main" id="{B87BD5BD-84ED-1A45-B304-E70CB3327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26" name="Freeform 153">
              <a:extLst>
                <a:ext uri="{FF2B5EF4-FFF2-40B4-BE49-F238E27FC236}">
                  <a16:creationId xmlns:a16="http://schemas.microsoft.com/office/drawing/2014/main" id="{AC83A214-EE2C-7D46-A95B-93B9ECF97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27" name="AutoShape 154">
              <a:extLst>
                <a:ext uri="{FF2B5EF4-FFF2-40B4-BE49-F238E27FC236}">
                  <a16:creationId xmlns:a16="http://schemas.microsoft.com/office/drawing/2014/main" id="{E7B0CC33-9743-9840-8876-CD696FD46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28" name="AutoShape 155">
              <a:extLst>
                <a:ext uri="{FF2B5EF4-FFF2-40B4-BE49-F238E27FC236}">
                  <a16:creationId xmlns:a16="http://schemas.microsoft.com/office/drawing/2014/main" id="{90FDCD67-DF9D-014D-94A7-D70073231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29" name="Oval 156">
              <a:extLst>
                <a:ext uri="{FF2B5EF4-FFF2-40B4-BE49-F238E27FC236}">
                  <a16:creationId xmlns:a16="http://schemas.microsoft.com/office/drawing/2014/main" id="{B70C62CF-87D8-BD4F-8287-EAFAD6879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30" name="Oval 157">
              <a:extLst>
                <a:ext uri="{FF2B5EF4-FFF2-40B4-BE49-F238E27FC236}">
                  <a16:creationId xmlns:a16="http://schemas.microsoft.com/office/drawing/2014/main" id="{9CB3EBC8-732C-2243-9992-39D2F18B4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31" name="Oval 158">
              <a:extLst>
                <a:ext uri="{FF2B5EF4-FFF2-40B4-BE49-F238E27FC236}">
                  <a16:creationId xmlns:a16="http://schemas.microsoft.com/office/drawing/2014/main" id="{F6C1B254-B4D2-D447-9853-48F46447F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32" name="Rectangle 159">
              <a:extLst>
                <a:ext uri="{FF2B5EF4-FFF2-40B4-BE49-F238E27FC236}">
                  <a16:creationId xmlns:a16="http://schemas.microsoft.com/office/drawing/2014/main" id="{0ACFD0C6-117A-4E4E-ABC4-5883C7B0E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346" name="Group 160">
            <a:extLst>
              <a:ext uri="{FF2B5EF4-FFF2-40B4-BE49-F238E27FC236}">
                <a16:creationId xmlns:a16="http://schemas.microsoft.com/office/drawing/2014/main" id="{C6CE532B-F6A8-1F45-B978-5D94FE3A17B7}"/>
              </a:ext>
            </a:extLst>
          </p:cNvPr>
          <p:cNvGrpSpPr>
            <a:grpSpLocks/>
          </p:cNvGrpSpPr>
          <p:nvPr/>
        </p:nvGrpSpPr>
        <p:grpSpPr bwMode="auto">
          <a:xfrm>
            <a:off x="438973" y="5098707"/>
            <a:ext cx="484073" cy="426879"/>
            <a:chOff x="-44" y="1473"/>
            <a:chExt cx="981" cy="1105"/>
          </a:xfrm>
        </p:grpSpPr>
        <p:pic>
          <p:nvPicPr>
            <p:cNvPr id="407" name="Picture 161" descr="desktop_computer_stylized_medium">
              <a:extLst>
                <a:ext uri="{FF2B5EF4-FFF2-40B4-BE49-F238E27FC236}">
                  <a16:creationId xmlns:a16="http://schemas.microsoft.com/office/drawing/2014/main" id="{3D454C67-648C-464C-9348-5D5073002B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8" name="Freeform 162">
              <a:extLst>
                <a:ext uri="{FF2B5EF4-FFF2-40B4-BE49-F238E27FC236}">
                  <a16:creationId xmlns:a16="http://schemas.microsoft.com/office/drawing/2014/main" id="{AF9C0563-4685-1D4B-BCCD-35AFDE3FA6D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47" name="Group 163">
            <a:extLst>
              <a:ext uri="{FF2B5EF4-FFF2-40B4-BE49-F238E27FC236}">
                <a16:creationId xmlns:a16="http://schemas.microsoft.com/office/drawing/2014/main" id="{B6D845CD-0E90-2A48-9E39-CEAB78AAF9D3}"/>
              </a:ext>
            </a:extLst>
          </p:cNvPr>
          <p:cNvGrpSpPr>
            <a:grpSpLocks/>
          </p:cNvGrpSpPr>
          <p:nvPr/>
        </p:nvGrpSpPr>
        <p:grpSpPr bwMode="auto">
          <a:xfrm>
            <a:off x="5356478" y="5159895"/>
            <a:ext cx="213518" cy="433111"/>
            <a:chOff x="4140" y="429"/>
            <a:chExt cx="1425" cy="2396"/>
          </a:xfrm>
        </p:grpSpPr>
        <p:sp>
          <p:nvSpPr>
            <p:cNvPr id="375" name="Freeform 164">
              <a:extLst>
                <a:ext uri="{FF2B5EF4-FFF2-40B4-BE49-F238E27FC236}">
                  <a16:creationId xmlns:a16="http://schemas.microsoft.com/office/drawing/2014/main" id="{AC1944D9-AB2D-A840-B696-F06D81AC9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76" name="Rectangle 165">
              <a:extLst>
                <a:ext uri="{FF2B5EF4-FFF2-40B4-BE49-F238E27FC236}">
                  <a16:creationId xmlns:a16="http://schemas.microsoft.com/office/drawing/2014/main" id="{FE3F2702-7FD8-D84F-B02B-60338FAC6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77" name="Freeform 166">
              <a:extLst>
                <a:ext uri="{FF2B5EF4-FFF2-40B4-BE49-F238E27FC236}">
                  <a16:creationId xmlns:a16="http://schemas.microsoft.com/office/drawing/2014/main" id="{AE3945C7-89B6-AE48-8EE1-FAE01D503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78" name="Freeform 167">
              <a:extLst>
                <a:ext uri="{FF2B5EF4-FFF2-40B4-BE49-F238E27FC236}">
                  <a16:creationId xmlns:a16="http://schemas.microsoft.com/office/drawing/2014/main" id="{8B262BBF-D0A1-384E-849C-4C274B7FE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79" name="Rectangle 168">
              <a:extLst>
                <a:ext uri="{FF2B5EF4-FFF2-40B4-BE49-F238E27FC236}">
                  <a16:creationId xmlns:a16="http://schemas.microsoft.com/office/drawing/2014/main" id="{B21054BF-A0F7-5548-9EE7-4534695D1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380" name="Group 169">
              <a:extLst>
                <a:ext uri="{FF2B5EF4-FFF2-40B4-BE49-F238E27FC236}">
                  <a16:creationId xmlns:a16="http://schemas.microsoft.com/office/drawing/2014/main" id="{2C63B899-F37C-2843-B0E4-6A8FD67FEB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05" name="AutoShape 170">
                <a:extLst>
                  <a:ext uri="{FF2B5EF4-FFF2-40B4-BE49-F238E27FC236}">
                    <a16:creationId xmlns:a16="http://schemas.microsoft.com/office/drawing/2014/main" id="{94C05A2E-6617-C343-8F01-95B4E8D0C0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06" name="AutoShape 171">
                <a:extLst>
                  <a:ext uri="{FF2B5EF4-FFF2-40B4-BE49-F238E27FC236}">
                    <a16:creationId xmlns:a16="http://schemas.microsoft.com/office/drawing/2014/main" id="{881D794E-FF34-414B-ABDF-C5EFE31412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381" name="Rectangle 172">
              <a:extLst>
                <a:ext uri="{FF2B5EF4-FFF2-40B4-BE49-F238E27FC236}">
                  <a16:creationId xmlns:a16="http://schemas.microsoft.com/office/drawing/2014/main" id="{1248FF3D-9E05-3A40-AB88-FD1C22C30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382" name="Group 173">
              <a:extLst>
                <a:ext uri="{FF2B5EF4-FFF2-40B4-BE49-F238E27FC236}">
                  <a16:creationId xmlns:a16="http://schemas.microsoft.com/office/drawing/2014/main" id="{AEA37B61-C679-BD4C-946C-0850A830FE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03" name="AutoShape 174">
                <a:extLst>
                  <a:ext uri="{FF2B5EF4-FFF2-40B4-BE49-F238E27FC236}">
                    <a16:creationId xmlns:a16="http://schemas.microsoft.com/office/drawing/2014/main" id="{E18E671A-3A85-AB40-A9A6-C1676123E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04" name="AutoShape 175">
                <a:extLst>
                  <a:ext uri="{FF2B5EF4-FFF2-40B4-BE49-F238E27FC236}">
                    <a16:creationId xmlns:a16="http://schemas.microsoft.com/office/drawing/2014/main" id="{091465B3-523F-F74A-848E-134B2B0365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383" name="Rectangle 176">
              <a:extLst>
                <a:ext uri="{FF2B5EF4-FFF2-40B4-BE49-F238E27FC236}">
                  <a16:creationId xmlns:a16="http://schemas.microsoft.com/office/drawing/2014/main" id="{9F161249-61DD-1645-8787-2796E69D4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84" name="Rectangle 177">
              <a:extLst>
                <a:ext uri="{FF2B5EF4-FFF2-40B4-BE49-F238E27FC236}">
                  <a16:creationId xmlns:a16="http://schemas.microsoft.com/office/drawing/2014/main" id="{AA505E39-11E3-4D49-96C3-80F10D41D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385" name="Group 178">
              <a:extLst>
                <a:ext uri="{FF2B5EF4-FFF2-40B4-BE49-F238E27FC236}">
                  <a16:creationId xmlns:a16="http://schemas.microsoft.com/office/drawing/2014/main" id="{A3C57DB1-4919-604C-A319-3C717B7661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01" name="AutoShape 179">
                <a:extLst>
                  <a:ext uri="{FF2B5EF4-FFF2-40B4-BE49-F238E27FC236}">
                    <a16:creationId xmlns:a16="http://schemas.microsoft.com/office/drawing/2014/main" id="{5E8B2822-F633-304D-B3EE-0E72DDC60D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02" name="AutoShape 180">
                <a:extLst>
                  <a:ext uri="{FF2B5EF4-FFF2-40B4-BE49-F238E27FC236}">
                    <a16:creationId xmlns:a16="http://schemas.microsoft.com/office/drawing/2014/main" id="{05C20314-621B-134F-97EA-D4A0DDECDD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386" name="Freeform 181">
              <a:extLst>
                <a:ext uri="{FF2B5EF4-FFF2-40B4-BE49-F238E27FC236}">
                  <a16:creationId xmlns:a16="http://schemas.microsoft.com/office/drawing/2014/main" id="{BD2DBEB0-3968-0649-BC9B-64EA7317E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87" name="Group 182">
              <a:extLst>
                <a:ext uri="{FF2B5EF4-FFF2-40B4-BE49-F238E27FC236}">
                  <a16:creationId xmlns:a16="http://schemas.microsoft.com/office/drawing/2014/main" id="{BFC44DA6-F534-CD44-A919-BDA60B7938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9" name="AutoShape 183">
                <a:extLst>
                  <a:ext uri="{FF2B5EF4-FFF2-40B4-BE49-F238E27FC236}">
                    <a16:creationId xmlns:a16="http://schemas.microsoft.com/office/drawing/2014/main" id="{E60E8D05-3918-B747-A606-FC0E1386C1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00" name="AutoShape 184">
                <a:extLst>
                  <a:ext uri="{FF2B5EF4-FFF2-40B4-BE49-F238E27FC236}">
                    <a16:creationId xmlns:a16="http://schemas.microsoft.com/office/drawing/2014/main" id="{8735D17B-A685-3648-8255-F30DD55695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388" name="Rectangle 185">
              <a:extLst>
                <a:ext uri="{FF2B5EF4-FFF2-40B4-BE49-F238E27FC236}">
                  <a16:creationId xmlns:a16="http://schemas.microsoft.com/office/drawing/2014/main" id="{B66C501C-7D5B-8E4B-B068-5CCE73A04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89" name="Freeform 186">
              <a:extLst>
                <a:ext uri="{FF2B5EF4-FFF2-40B4-BE49-F238E27FC236}">
                  <a16:creationId xmlns:a16="http://schemas.microsoft.com/office/drawing/2014/main" id="{33C62712-7A81-4F41-B474-B9218B7AF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90" name="Freeform 187">
              <a:extLst>
                <a:ext uri="{FF2B5EF4-FFF2-40B4-BE49-F238E27FC236}">
                  <a16:creationId xmlns:a16="http://schemas.microsoft.com/office/drawing/2014/main" id="{E4B6BE7D-DBBB-B44D-A0F9-E40A81D7F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91" name="Oval 188">
              <a:extLst>
                <a:ext uri="{FF2B5EF4-FFF2-40B4-BE49-F238E27FC236}">
                  <a16:creationId xmlns:a16="http://schemas.microsoft.com/office/drawing/2014/main" id="{6D17DB9A-DA87-3640-89B5-EA939BE73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92" name="Freeform 189">
              <a:extLst>
                <a:ext uri="{FF2B5EF4-FFF2-40B4-BE49-F238E27FC236}">
                  <a16:creationId xmlns:a16="http://schemas.microsoft.com/office/drawing/2014/main" id="{2DE874C4-BF52-8245-9555-CA025B392D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93" name="AutoShape 190">
              <a:extLst>
                <a:ext uri="{FF2B5EF4-FFF2-40B4-BE49-F238E27FC236}">
                  <a16:creationId xmlns:a16="http://schemas.microsoft.com/office/drawing/2014/main" id="{D15AD96A-57FC-B240-8995-DEDB6B8C4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94" name="AutoShape 191">
              <a:extLst>
                <a:ext uri="{FF2B5EF4-FFF2-40B4-BE49-F238E27FC236}">
                  <a16:creationId xmlns:a16="http://schemas.microsoft.com/office/drawing/2014/main" id="{9B662CF9-5E9F-EE42-826A-BA11CF393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95" name="Oval 192">
              <a:extLst>
                <a:ext uri="{FF2B5EF4-FFF2-40B4-BE49-F238E27FC236}">
                  <a16:creationId xmlns:a16="http://schemas.microsoft.com/office/drawing/2014/main" id="{F2A6059E-C073-154E-9CDE-85E284A9C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96" name="Oval 193">
              <a:extLst>
                <a:ext uri="{FF2B5EF4-FFF2-40B4-BE49-F238E27FC236}">
                  <a16:creationId xmlns:a16="http://schemas.microsoft.com/office/drawing/2014/main" id="{55ECAC8A-9EEB-3F47-B474-796C5779F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97" name="Oval 194">
              <a:extLst>
                <a:ext uri="{FF2B5EF4-FFF2-40B4-BE49-F238E27FC236}">
                  <a16:creationId xmlns:a16="http://schemas.microsoft.com/office/drawing/2014/main" id="{F009E702-300F-2245-8184-904D723EC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98" name="Rectangle 195">
              <a:extLst>
                <a:ext uri="{FF2B5EF4-FFF2-40B4-BE49-F238E27FC236}">
                  <a16:creationId xmlns:a16="http://schemas.microsoft.com/office/drawing/2014/main" id="{E1220E42-05A2-224A-AF06-8BC122552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348" name="Line 57">
            <a:extLst>
              <a:ext uri="{FF2B5EF4-FFF2-40B4-BE49-F238E27FC236}">
                <a16:creationId xmlns:a16="http://schemas.microsoft.com/office/drawing/2014/main" id="{BE19B1CA-E01A-2D4A-A501-25E01C74D0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66527" y="5348527"/>
            <a:ext cx="75743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49" name="Line 57">
            <a:extLst>
              <a:ext uri="{FF2B5EF4-FFF2-40B4-BE49-F238E27FC236}">
                <a16:creationId xmlns:a16="http://schemas.microsoft.com/office/drawing/2014/main" id="{CDD86028-5E0B-1E49-A327-7BF095EF01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50897" y="4497166"/>
            <a:ext cx="40510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50" name="Line 57">
            <a:extLst>
              <a:ext uri="{FF2B5EF4-FFF2-40B4-BE49-F238E27FC236}">
                <a16:creationId xmlns:a16="http://schemas.microsoft.com/office/drawing/2014/main" id="{456364AC-0294-B946-BA06-B02AD7C148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02043" y="5350829"/>
            <a:ext cx="40510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7AD5920F-E18F-2E4A-8BAE-ACFA2B9B05A4}"/>
              </a:ext>
            </a:extLst>
          </p:cNvPr>
          <p:cNvGrpSpPr/>
          <p:nvPr/>
        </p:nvGrpSpPr>
        <p:grpSpPr>
          <a:xfrm>
            <a:off x="2061817" y="3427810"/>
            <a:ext cx="2138708" cy="709613"/>
            <a:chOff x="2749090" y="3427413"/>
            <a:chExt cx="2851610" cy="946150"/>
          </a:xfrm>
        </p:grpSpPr>
        <p:sp>
          <p:nvSpPr>
            <p:cNvPr id="368" name="Text Box 68">
              <a:extLst>
                <a:ext uri="{FF2B5EF4-FFF2-40B4-BE49-F238E27FC236}">
                  <a16:creationId xmlns:a16="http://schemas.microsoft.com/office/drawing/2014/main" id="{859A744D-4964-E049-B851-169F4C802B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dirty="0">
                  <a:solidFill>
                    <a:srgbClr val="C00000"/>
                  </a:solidFill>
                  <a:latin typeface="Symbol" pitchFamily="2" charset="2"/>
                </a:rPr>
                <a:t>l</a:t>
              </a:r>
              <a:r>
                <a:rPr lang="en-US" altLang="en-US" sz="1500" baseline="-25000" dirty="0">
                  <a:solidFill>
                    <a:srgbClr val="C00000"/>
                  </a:solidFill>
                  <a:latin typeface="Arial" panose="020B0604020202020204" pitchFamily="34" charset="0"/>
                </a:rPr>
                <a:t>in</a:t>
              </a:r>
              <a:r>
                <a:rPr lang="en-US" altLang="en-US" sz="1200" baseline="-25000" dirty="0">
                  <a:solidFill>
                    <a:srgbClr val="C000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en-US" sz="1200" dirty="0">
                  <a:solidFill>
                    <a:srgbClr val="C00000"/>
                  </a:solidFill>
                  <a:latin typeface="Arial" panose="020B0604020202020204" pitchFamily="34" charset="0"/>
                </a:rPr>
                <a:t>: original data</a:t>
              </a:r>
              <a:endParaRPr lang="en-US" altLang="en-US" sz="1200" dirty="0">
                <a:solidFill>
                  <a:srgbClr val="C00000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369" name="Oval 217">
              <a:extLst>
                <a:ext uri="{FF2B5EF4-FFF2-40B4-BE49-F238E27FC236}">
                  <a16:creationId xmlns:a16="http://schemas.microsoft.com/office/drawing/2014/main" id="{46259149-BCE0-B941-AA71-927BC7C2E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370" name="Line 229">
              <a:extLst>
                <a:ext uri="{FF2B5EF4-FFF2-40B4-BE49-F238E27FC236}">
                  <a16:creationId xmlns:a16="http://schemas.microsoft.com/office/drawing/2014/main" id="{9CBDE0F7-AD5A-7847-A00B-C9BE940895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71" name="Oval 232">
              <a:extLst>
                <a:ext uri="{FF2B5EF4-FFF2-40B4-BE49-F238E27FC236}">
                  <a16:creationId xmlns:a16="http://schemas.microsoft.com/office/drawing/2014/main" id="{50F84776-27DA-5E43-BACA-DB1E88488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372" name="Text Box 233">
              <a:extLst>
                <a:ext uri="{FF2B5EF4-FFF2-40B4-BE49-F238E27FC236}">
                  <a16:creationId xmlns:a16="http://schemas.microsoft.com/office/drawing/2014/main" id="{CD7720D4-A07A-DB4C-A9C9-DFD5FF905D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dirty="0">
                  <a:solidFill>
                    <a:srgbClr val="C00000"/>
                  </a:solidFill>
                  <a:latin typeface="Symbol" pitchFamily="2" charset="2"/>
                </a:rPr>
                <a:t>l</a:t>
              </a:r>
              <a:r>
                <a:rPr lang="en-US" altLang="en-US" sz="1500" dirty="0">
                  <a:solidFill>
                    <a:srgbClr val="C00000"/>
                  </a:solidFill>
                  <a:latin typeface="Arial" panose="020B0604020202020204" pitchFamily="34" charset="0"/>
                </a:rPr>
                <a:t>'</a:t>
              </a:r>
              <a:r>
                <a:rPr lang="en-US" altLang="en-US" sz="1500" baseline="-25000" dirty="0">
                  <a:solidFill>
                    <a:srgbClr val="C00000"/>
                  </a:solidFill>
                  <a:latin typeface="Arial" panose="020B0604020202020204" pitchFamily="34" charset="0"/>
                </a:rPr>
                <a:t>in</a:t>
              </a:r>
              <a:r>
                <a:rPr lang="en-US" altLang="en-US" sz="1350" dirty="0">
                  <a:solidFill>
                    <a:srgbClr val="C00000"/>
                  </a:solidFill>
                  <a:latin typeface="Arial" panose="020B0604020202020204" pitchFamily="34" charset="0"/>
                </a:rPr>
                <a:t>:</a:t>
              </a:r>
              <a:r>
                <a:rPr lang="en-US" altLang="en-US" sz="1050" dirty="0">
                  <a:solidFill>
                    <a:srgbClr val="C000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en-US" sz="1200" dirty="0">
                  <a:solidFill>
                    <a:srgbClr val="C00000"/>
                  </a:solidFill>
                  <a:latin typeface="Arial" panose="020B0604020202020204" pitchFamily="34" charset="0"/>
                </a:rPr>
                <a:t>original data, </a:t>
              </a:r>
              <a:r>
                <a:rPr lang="en-US" altLang="en-US" sz="1200" i="1" dirty="0">
                  <a:solidFill>
                    <a:srgbClr val="C00000"/>
                  </a:solidFill>
                  <a:latin typeface="Arial" panose="020B0604020202020204" pitchFamily="34" charset="0"/>
                </a:rPr>
                <a:t>plus</a:t>
              </a:r>
              <a:r>
                <a:rPr lang="en-US" altLang="en-US" sz="1200" dirty="0">
                  <a:solidFill>
                    <a:srgbClr val="C00000"/>
                  </a:solidFill>
                  <a:latin typeface="Arial" panose="020B0604020202020204" pitchFamily="34" charset="0"/>
                </a:rPr>
                <a:t> retransmitted data</a:t>
              </a:r>
              <a:endParaRPr lang="en-US" altLang="en-US" sz="1200" dirty="0">
                <a:solidFill>
                  <a:srgbClr val="C00000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373" name="Line 234">
              <a:extLst>
                <a:ext uri="{FF2B5EF4-FFF2-40B4-BE49-F238E27FC236}">
                  <a16:creationId xmlns:a16="http://schemas.microsoft.com/office/drawing/2014/main" id="{E5F71B29-0A2A-964A-BC39-E82168AE5B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74" name="Line 235">
              <a:extLst>
                <a:ext uri="{FF2B5EF4-FFF2-40B4-BE49-F238E27FC236}">
                  <a16:creationId xmlns:a16="http://schemas.microsoft.com/office/drawing/2014/main" id="{2CB87FE3-B426-7646-85C8-A92260133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F6D1D3E8-6407-F347-8471-50418E5DB3B6}"/>
              </a:ext>
            </a:extLst>
          </p:cNvPr>
          <p:cNvGrpSpPr/>
          <p:nvPr/>
        </p:nvGrpSpPr>
        <p:grpSpPr>
          <a:xfrm>
            <a:off x="2185117" y="4771465"/>
            <a:ext cx="1454048" cy="975136"/>
            <a:chOff x="2913490" y="5218953"/>
            <a:chExt cx="1938730" cy="1300181"/>
          </a:xfrm>
        </p:grpSpPr>
        <p:sp>
          <p:nvSpPr>
            <p:cNvPr id="357" name="Text Box 32">
              <a:extLst>
                <a:ext uri="{FF2B5EF4-FFF2-40B4-BE49-F238E27FC236}">
                  <a16:creationId xmlns:a16="http://schemas.microsoft.com/office/drawing/2014/main" id="{1A4AA4F8-0231-2B46-803C-7155B2F012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b="1" i="1" dirty="0">
                  <a:solidFill>
                    <a:srgbClr val="C00000"/>
                  </a:solidFill>
                  <a:latin typeface="Arial" panose="020B0604020202020204" pitchFamily="34" charset="0"/>
                </a:rPr>
                <a:t>finite</a:t>
              </a:r>
              <a:r>
                <a:rPr lang="en-US" altLang="en-US" sz="900" dirty="0">
                  <a:solidFill>
                    <a:srgbClr val="000000"/>
                  </a:solidFill>
                  <a:latin typeface="Arial" panose="020B0604020202020204" pitchFamily="34" charset="0"/>
                </a:rPr>
                <a:t> shared output link buffers</a:t>
              </a:r>
            </a:p>
          </p:txBody>
        </p:sp>
        <p:sp>
          <p:nvSpPr>
            <p:cNvPr id="358" name="Line 77">
              <a:extLst>
                <a:ext uri="{FF2B5EF4-FFF2-40B4-BE49-F238E27FC236}">
                  <a16:creationId xmlns:a16="http://schemas.microsoft.com/office/drawing/2014/main" id="{89EEFCE7-B693-DF47-A9C3-7974FB2172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59" name="Group 358">
              <a:extLst>
                <a:ext uri="{FF2B5EF4-FFF2-40B4-BE49-F238E27FC236}">
                  <a16:creationId xmlns:a16="http://schemas.microsoft.com/office/drawing/2014/main" id="{D0C09238-8174-BB4A-8E90-44FDE9970486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id="{92A586BF-DE6F-8C4B-AE2F-F0967D2E3721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361" name="Straight Connector 360">
                <a:extLst>
                  <a:ext uri="{FF2B5EF4-FFF2-40B4-BE49-F238E27FC236}">
                    <a16:creationId xmlns:a16="http://schemas.microsoft.com/office/drawing/2014/main" id="{0E592EE8-BB64-8D4B-9345-8DEFE71B26CD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Straight Connector 361">
                <a:extLst>
                  <a:ext uri="{FF2B5EF4-FFF2-40B4-BE49-F238E27FC236}">
                    <a16:creationId xmlns:a16="http://schemas.microsoft.com/office/drawing/2014/main" id="{D5F79093-B2D3-DA49-86C9-324E48C7FA3A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EE578935-8319-0640-AF1D-F33CFCCD6D7E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Straight Connector 363">
                <a:extLst>
                  <a:ext uri="{FF2B5EF4-FFF2-40B4-BE49-F238E27FC236}">
                    <a16:creationId xmlns:a16="http://schemas.microsoft.com/office/drawing/2014/main" id="{1A169DC6-020D-CF4C-944B-35A60B7E9A3E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Straight Connector 364">
                <a:extLst>
                  <a:ext uri="{FF2B5EF4-FFF2-40B4-BE49-F238E27FC236}">
                    <a16:creationId xmlns:a16="http://schemas.microsoft.com/office/drawing/2014/main" id="{3FE5D615-EDCC-3D44-B201-E215C2A51C14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Straight Connector 365">
                <a:extLst>
                  <a:ext uri="{FF2B5EF4-FFF2-40B4-BE49-F238E27FC236}">
                    <a16:creationId xmlns:a16="http://schemas.microsoft.com/office/drawing/2014/main" id="{F42D5131-B17F-3447-A42A-972810DE3D7C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Straight Connector 366">
                <a:extLst>
                  <a:ext uri="{FF2B5EF4-FFF2-40B4-BE49-F238E27FC236}">
                    <a16:creationId xmlns:a16="http://schemas.microsoft.com/office/drawing/2014/main" id="{B1CCBEF8-F4EA-4348-968D-DFF086EA12A7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53" name="Freeform 91">
            <a:extLst>
              <a:ext uri="{FF2B5EF4-FFF2-40B4-BE49-F238E27FC236}">
                <a16:creationId xmlns:a16="http://schemas.microsoft.com/office/drawing/2014/main" id="{74B53B18-9053-AB4D-AAB3-9A2A8C61C05F}"/>
              </a:ext>
            </a:extLst>
          </p:cNvPr>
          <p:cNvSpPr>
            <a:spLocks/>
          </p:cNvSpPr>
          <p:nvPr/>
        </p:nvSpPr>
        <p:spPr bwMode="auto">
          <a:xfrm>
            <a:off x="2102515" y="3601941"/>
            <a:ext cx="3158903" cy="1252595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FC27C661-ABA7-0F42-9E2F-25607CCF3F4D}"/>
              </a:ext>
            </a:extLst>
          </p:cNvPr>
          <p:cNvGrpSpPr/>
          <p:nvPr/>
        </p:nvGrpSpPr>
        <p:grpSpPr>
          <a:xfrm>
            <a:off x="1189944" y="4415193"/>
            <a:ext cx="3685387" cy="1009554"/>
            <a:chOff x="5641439" y="2685215"/>
            <a:chExt cx="4000500" cy="1028700"/>
          </a:xfrm>
        </p:grpSpPr>
        <p:sp>
          <p:nvSpPr>
            <p:cNvPr id="355" name="Oval 73">
              <a:extLst>
                <a:ext uri="{FF2B5EF4-FFF2-40B4-BE49-F238E27FC236}">
                  <a16:creationId xmlns:a16="http://schemas.microsoft.com/office/drawing/2014/main" id="{E72E301D-F1BA-6444-B895-0B1F08803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356" name="Freeform 90">
              <a:extLst>
                <a:ext uri="{FF2B5EF4-FFF2-40B4-BE49-F238E27FC236}">
                  <a16:creationId xmlns:a16="http://schemas.microsoft.com/office/drawing/2014/main" id="{13DADEF9-AF21-FF44-BE17-072235C1A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C0C36A94-589E-A54C-A4A3-B52075E06328}"/>
              </a:ext>
            </a:extLst>
          </p:cNvPr>
          <p:cNvGrpSpPr/>
          <p:nvPr/>
        </p:nvGrpSpPr>
        <p:grpSpPr>
          <a:xfrm>
            <a:off x="2421069" y="4859836"/>
            <a:ext cx="1639465" cy="380565"/>
            <a:chOff x="3228093" y="5336775"/>
            <a:chExt cx="2185953" cy="507419"/>
          </a:xfrm>
        </p:grpSpPr>
        <p:sp>
          <p:nvSpPr>
            <p:cNvPr id="472" name="TextBox 471">
              <a:extLst>
                <a:ext uri="{FF2B5EF4-FFF2-40B4-BE49-F238E27FC236}">
                  <a16:creationId xmlns:a16="http://schemas.microsoft.com/office/drawing/2014/main" id="{A9A4B8BA-23AF-5649-A3E6-D2BC9304C809}"/>
                </a:ext>
              </a:extLst>
            </p:cNvPr>
            <p:cNvSpPr txBox="1"/>
            <p:nvPr/>
          </p:nvSpPr>
          <p:spPr>
            <a:xfrm>
              <a:off x="5001111" y="5336775"/>
              <a:ext cx="412935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 defTabSz="685800"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</a:rPr>
                <a:t>R</a:t>
              </a:r>
            </a:p>
          </p:txBody>
        </p:sp>
        <p:sp>
          <p:nvSpPr>
            <p:cNvPr id="473" name="TextBox 472">
              <a:extLst>
                <a:ext uri="{FF2B5EF4-FFF2-40B4-BE49-F238E27FC236}">
                  <a16:creationId xmlns:a16="http://schemas.microsoft.com/office/drawing/2014/main" id="{1F06564D-8518-8D42-A177-6D185E9763E0}"/>
                </a:ext>
              </a:extLst>
            </p:cNvPr>
            <p:cNvSpPr txBox="1"/>
            <p:nvPr/>
          </p:nvSpPr>
          <p:spPr>
            <a:xfrm>
              <a:off x="3228093" y="5351752"/>
              <a:ext cx="412935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 defTabSz="685800"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</a:rPr>
                <a:t>R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Causes/costs of congestion: scenario 2</a:t>
            </a:r>
            <a:endParaRPr lang="en-US" b="0" dirty="0"/>
          </a:p>
        </p:txBody>
      </p:sp>
      <p:sp>
        <p:nvSpPr>
          <p:cNvPr id="195" name="Slide Number Placeholder 2">
            <a:extLst>
              <a:ext uri="{FF2B5EF4-FFF2-40B4-BE49-F238E27FC236}">
                <a16:creationId xmlns:a16="http://schemas.microsoft.com/office/drawing/2014/main" id="{D20A324A-9052-8641-896E-6CAFE6700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Transport Layer: 3-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8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229" name="Rectangle 235">
            <a:extLst>
              <a:ext uri="{FF2B5EF4-FFF2-40B4-BE49-F238E27FC236}">
                <a16:creationId xmlns:a16="http://schemas.microsoft.com/office/drawing/2014/main" id="{3A9A156B-19A0-8342-AF04-25615D3C7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5938" y="3742135"/>
            <a:ext cx="183356" cy="116681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30" name="Text Box 236">
            <a:extLst>
              <a:ext uri="{FF2B5EF4-FFF2-40B4-BE49-F238E27FC236}">
                <a16:creationId xmlns:a16="http://schemas.microsoft.com/office/drawing/2014/main" id="{E294DDA8-9BC1-2C4F-AB17-AAF3914D9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7322" y="4428090"/>
            <a:ext cx="138050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i="1" dirty="0">
                <a:solidFill>
                  <a:srgbClr val="006600"/>
                </a:solidFill>
                <a:latin typeface="Arial" charset="0"/>
              </a:rPr>
              <a:t>free buffer space!</a:t>
            </a:r>
          </a:p>
        </p:txBody>
      </p:sp>
      <p:sp>
        <p:nvSpPr>
          <p:cNvPr id="231" name="Rectangle 237">
            <a:extLst>
              <a:ext uri="{FF2B5EF4-FFF2-40B4-BE49-F238E27FC236}">
                <a16:creationId xmlns:a16="http://schemas.microsoft.com/office/drawing/2014/main" id="{360D339D-2CD2-AD42-920B-3E6688F70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5938" y="3740944"/>
            <a:ext cx="183356" cy="116681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332" name="Rectangle 264">
            <a:extLst>
              <a:ext uri="{FF2B5EF4-FFF2-40B4-BE49-F238E27FC236}">
                <a16:creationId xmlns:a16="http://schemas.microsoft.com/office/drawing/2014/main" id="{BB519C3C-C510-F944-9E31-54655082190E}"/>
              </a:ext>
            </a:extLst>
          </p:cNvPr>
          <p:cNvSpPr txBox="1">
            <a:spLocks noChangeArrowheads="1"/>
          </p:cNvSpPr>
          <p:nvPr/>
        </p:nvSpPr>
        <p:spPr>
          <a:xfrm>
            <a:off x="450235" y="1774545"/>
            <a:ext cx="4573954" cy="1405438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sz="2250" dirty="0">
                <a:solidFill>
                  <a:srgbClr val="000099"/>
                </a:solidFill>
                <a:latin typeface="Calibri" panose="020F0502020204030204"/>
              </a:rPr>
              <a:t>Idealization: </a:t>
            </a:r>
            <a:r>
              <a:rPr lang="en-US" sz="2250" i="1" dirty="0">
                <a:solidFill>
                  <a:srgbClr val="C00000"/>
                </a:solidFill>
                <a:latin typeface="Calibri" panose="020F0502020204030204"/>
              </a:rPr>
              <a:t>some </a:t>
            </a:r>
            <a:r>
              <a:rPr lang="en-US" sz="2250" dirty="0">
                <a:solidFill>
                  <a:srgbClr val="C00000"/>
                </a:solidFill>
                <a:latin typeface="Calibri" panose="020F0502020204030204"/>
              </a:rPr>
              <a:t>perfect knowledge</a:t>
            </a:r>
          </a:p>
          <a:p>
            <a:pPr marL="342900" indent="-161925" defTabSz="685800">
              <a:spcBef>
                <a:spcPts val="750"/>
              </a:spcBef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packets can be lost (dropped at router) due  to full buffers</a:t>
            </a:r>
          </a:p>
          <a:p>
            <a:pPr marL="342900" indent="-161925" defTabSz="685800">
              <a:spcBef>
                <a:spcPts val="750"/>
              </a:spcBef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sender knows when packet has been dropped: only resends if packet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known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to be lost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126E605-68BC-EB43-9DDC-7055194378DF}"/>
              </a:ext>
            </a:extLst>
          </p:cNvPr>
          <p:cNvGrpSpPr/>
          <p:nvPr/>
        </p:nvGrpSpPr>
        <p:grpSpPr>
          <a:xfrm>
            <a:off x="7529709" y="2352305"/>
            <a:ext cx="1400128" cy="1147407"/>
            <a:chOff x="10039611" y="1800903"/>
            <a:chExt cx="1866837" cy="1529876"/>
          </a:xfrm>
        </p:grpSpPr>
        <p:sp>
          <p:nvSpPr>
            <p:cNvPr id="174" name="Text Box 252">
              <a:extLst>
                <a:ext uri="{FF2B5EF4-FFF2-40B4-BE49-F238E27FC236}">
                  <a16:creationId xmlns:a16="http://schemas.microsoft.com/office/drawing/2014/main" id="{01A1C74C-CAF4-D343-928F-0A92D0818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88718" y="2099672"/>
              <a:ext cx="1717730" cy="1231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lnSpc>
                  <a:spcPct val="90000"/>
                </a:lnSpc>
                <a:defRPr/>
              </a:pPr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when sending at R/2, some packets are needed retransmissions</a:t>
              </a:r>
            </a:p>
          </p:txBody>
        </p:sp>
        <p:sp>
          <p:nvSpPr>
            <p:cNvPr id="175" name="Line 253">
              <a:extLst>
                <a:ext uri="{FF2B5EF4-FFF2-40B4-BE49-F238E27FC236}">
                  <a16:creationId xmlns:a16="http://schemas.microsoft.com/office/drawing/2014/main" id="{08A19883-389A-0744-90AC-A2F43EE860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039611" y="1800903"/>
              <a:ext cx="423050" cy="355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926AA148-B0D7-CC4E-9816-B84A671E16CE}"/>
              </a:ext>
            </a:extLst>
          </p:cNvPr>
          <p:cNvGrpSpPr/>
          <p:nvPr/>
        </p:nvGrpSpPr>
        <p:grpSpPr>
          <a:xfrm>
            <a:off x="5521089" y="1901763"/>
            <a:ext cx="2107003" cy="1960824"/>
            <a:chOff x="10662918" y="1488938"/>
            <a:chExt cx="2809338" cy="2614432"/>
          </a:xfrm>
        </p:grpSpPr>
        <p:sp>
          <p:nvSpPr>
            <p:cNvPr id="177" name="Freeform 245">
              <a:extLst>
                <a:ext uri="{FF2B5EF4-FFF2-40B4-BE49-F238E27FC236}">
                  <a16:creationId xmlns:a16="http://schemas.microsoft.com/office/drawing/2014/main" id="{F3B393A3-F432-5143-B5C5-92241ECA3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0180" y="2035401"/>
              <a:ext cx="2024019" cy="1604948"/>
            </a:xfrm>
            <a:custGeom>
              <a:avLst/>
              <a:gdLst>
                <a:gd name="T0" fmla="*/ 0 w 1636"/>
                <a:gd name="T1" fmla="*/ 955 h 955"/>
                <a:gd name="T2" fmla="*/ 758 w 1636"/>
                <a:gd name="T3" fmla="*/ 246 h 955"/>
                <a:gd name="T4" fmla="*/ 1636 w 1636"/>
                <a:gd name="T5" fmla="*/ 7 h 955"/>
                <a:gd name="T6" fmla="*/ 0 60000 65536"/>
                <a:gd name="T7" fmla="*/ 0 60000 65536"/>
                <a:gd name="T8" fmla="*/ 0 60000 65536"/>
                <a:gd name="connsiteX0" fmla="*/ 0 w 6072"/>
                <a:gd name="connsiteY0" fmla="*/ 8862 h 8862"/>
                <a:gd name="connsiteX1" fmla="*/ 4633 w 6072"/>
                <a:gd name="connsiteY1" fmla="*/ 1438 h 8862"/>
                <a:gd name="connsiteX2" fmla="*/ 6072 w 6072"/>
                <a:gd name="connsiteY2" fmla="*/ 120 h 8862"/>
                <a:gd name="connsiteX0" fmla="*/ 0 w 10000"/>
                <a:gd name="connsiteY0" fmla="*/ 9865 h 9865"/>
                <a:gd name="connsiteX1" fmla="*/ 7630 w 10000"/>
                <a:gd name="connsiteY1" fmla="*/ 1488 h 9865"/>
                <a:gd name="connsiteX2" fmla="*/ 10000 w 10000"/>
                <a:gd name="connsiteY2" fmla="*/ 0 h 9865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1268" y="8586"/>
                    <a:pt x="-125" y="9688"/>
                    <a:pt x="7233" y="1532"/>
                  </a:cubicBezTo>
                  <a:cubicBezTo>
                    <a:pt x="7865" y="929"/>
                    <a:pt x="8381" y="338"/>
                    <a:pt x="10000" y="0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178" name="Group 246">
              <a:extLst>
                <a:ext uri="{FF2B5EF4-FFF2-40B4-BE49-F238E27FC236}">
                  <a16:creationId xmlns:a16="http://schemas.microsoft.com/office/drawing/2014/main" id="{AAE2772B-88A3-794C-B173-B78F63EB26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77699" y="3606749"/>
              <a:ext cx="519113" cy="430214"/>
              <a:chOff x="3583" y="1761"/>
              <a:chExt cx="327" cy="271"/>
            </a:xfrm>
          </p:grpSpPr>
          <p:sp>
            <p:nvSpPr>
              <p:cNvPr id="192" name="Text Box 247">
                <a:extLst>
                  <a:ext uri="{FF2B5EF4-FFF2-40B4-BE49-F238E27FC236}">
                    <a16:creationId xmlns:a16="http://schemas.microsoft.com/office/drawing/2014/main" id="{0CD967AF-AE53-0141-B763-822463304C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3" y="1761"/>
                <a:ext cx="327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defTabSz="685800">
                  <a:defRPr/>
                </a:pPr>
                <a:r>
                  <a:rPr lang="en-US" sz="1500" dirty="0">
                    <a:solidFill>
                      <a:prstClr val="black"/>
                    </a:solidFill>
                    <a:latin typeface="Symbol" charset="0"/>
                    <a:cs typeface="Arial" charset="0"/>
                  </a:rPr>
                  <a:t>l</a:t>
                </a:r>
                <a:r>
                  <a:rPr lang="en-US" sz="1500" baseline="-25000" dirty="0">
                    <a:solidFill>
                      <a:prstClr val="black"/>
                    </a:solidFill>
                    <a:latin typeface="Arial" charset="0"/>
                    <a:cs typeface="Arial" charset="0"/>
                  </a:rPr>
                  <a:t>in</a:t>
                </a:r>
              </a:p>
            </p:txBody>
          </p:sp>
          <p:sp>
            <p:nvSpPr>
              <p:cNvPr id="193" name="Line 248">
                <a:extLst>
                  <a:ext uri="{FF2B5EF4-FFF2-40B4-BE49-F238E27FC236}">
                    <a16:creationId xmlns:a16="http://schemas.microsoft.com/office/drawing/2014/main" id="{8D1623B3-54DC-FF40-A9ED-596362BD7E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26" y="1834"/>
                <a:ext cx="24" cy="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79" name="Line 278">
              <a:extLst>
                <a:ext uri="{FF2B5EF4-FFF2-40B4-BE49-F238E27FC236}">
                  <a16:creationId xmlns:a16="http://schemas.microsoft.com/office/drawing/2014/main" id="{2DAB427C-45D4-6A41-80B1-CB2A86EFD9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67134" y="1488938"/>
              <a:ext cx="0" cy="21590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80" name="Line 280">
              <a:extLst>
                <a:ext uri="{FF2B5EF4-FFF2-40B4-BE49-F238E27FC236}">
                  <a16:creationId xmlns:a16="http://schemas.microsoft.com/office/drawing/2014/main" id="{76DB589D-7977-134C-A4C6-CBB66786BD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74022" y="1725252"/>
              <a:ext cx="0" cy="18690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81" name="Freeform 281">
              <a:extLst>
                <a:ext uri="{FF2B5EF4-FFF2-40B4-BE49-F238E27FC236}">
                  <a16:creationId xmlns:a16="http://schemas.microsoft.com/office/drawing/2014/main" id="{4582F97F-DEC6-1042-84F8-230A0E725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5891" y="1666173"/>
              <a:ext cx="2023753" cy="1965701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2" name="Line 282">
              <a:extLst>
                <a:ext uri="{FF2B5EF4-FFF2-40B4-BE49-F238E27FC236}">
                  <a16:creationId xmlns:a16="http://schemas.microsoft.com/office/drawing/2014/main" id="{E27607A2-A55D-1E4E-A7DC-D02F627E8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20974" y="1666173"/>
              <a:ext cx="140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83" name="Line 283">
              <a:extLst>
                <a:ext uri="{FF2B5EF4-FFF2-40B4-BE49-F238E27FC236}">
                  <a16:creationId xmlns:a16="http://schemas.microsoft.com/office/drawing/2014/main" id="{8DD37E8C-1915-D049-AB47-171918ED1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68401" y="3647986"/>
              <a:ext cx="0" cy="155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84" name="Text Box 284">
              <a:extLst>
                <a:ext uri="{FF2B5EF4-FFF2-40B4-BE49-F238E27FC236}">
                  <a16:creationId xmlns:a16="http://schemas.microsoft.com/office/drawing/2014/main" id="{373B57A0-6A99-7640-8562-A14FEDE2B5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2918" y="1491653"/>
              <a:ext cx="524075" cy="3385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050" dirty="0">
                  <a:solidFill>
                    <a:prstClr val="black"/>
                  </a:solidFill>
                </a:rPr>
                <a:t>R/2</a:t>
              </a:r>
            </a:p>
          </p:txBody>
        </p:sp>
        <p:sp>
          <p:nvSpPr>
            <p:cNvPr id="185" name="Text Box 286">
              <a:extLst>
                <a:ext uri="{FF2B5EF4-FFF2-40B4-BE49-F238E27FC236}">
                  <a16:creationId xmlns:a16="http://schemas.microsoft.com/office/drawing/2014/main" id="{A39B50BF-5EFF-0045-ADB3-B4F28E92E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0850534" y="1756865"/>
              <a:ext cx="622392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500" dirty="0">
                  <a:solidFill>
                    <a:prstClr val="black"/>
                  </a:solidFill>
                  <a:latin typeface="Symbol" charset="0"/>
                </a:rPr>
                <a:t>l</a:t>
              </a:r>
              <a:r>
                <a:rPr lang="en-US" sz="1500" baseline="-25000" dirty="0">
                  <a:solidFill>
                    <a:prstClr val="black"/>
                  </a:solidFill>
                  <a:latin typeface="Arial" charset="0"/>
                </a:rPr>
                <a:t>out</a:t>
              </a:r>
            </a:p>
          </p:txBody>
        </p:sp>
        <p:sp>
          <p:nvSpPr>
            <p:cNvPr id="186" name="Line 288">
              <a:extLst>
                <a:ext uri="{FF2B5EF4-FFF2-40B4-BE49-F238E27FC236}">
                  <a16:creationId xmlns:a16="http://schemas.microsoft.com/office/drawing/2014/main" id="{55EB893A-4478-7D4E-A2A8-A5437DE0CE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00864" y="1668859"/>
              <a:ext cx="1841053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0D3A43B7-67EB-8149-8177-63ACBDAC09D3}"/>
                </a:ext>
              </a:extLst>
            </p:cNvPr>
            <p:cNvCxnSpPr>
              <a:cxnSpLocks/>
            </p:cNvCxnSpPr>
            <p:nvPr/>
          </p:nvCxnSpPr>
          <p:spPr>
            <a:xfrm>
              <a:off x="11277601" y="3626318"/>
              <a:ext cx="21656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8C6ED6D6-A137-9B42-BF4F-C72EBCC66029}"/>
                </a:ext>
              </a:extLst>
            </p:cNvPr>
            <p:cNvSpPr txBox="1"/>
            <p:nvPr/>
          </p:nvSpPr>
          <p:spPr>
            <a:xfrm rot="16200000">
              <a:off x="10411855" y="2692668"/>
              <a:ext cx="1292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Calibri"/>
                </a:rPr>
                <a:t>throughput: </a:t>
              </a:r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A51FB1CF-649B-CC49-BACE-97B8B3CDE942}"/>
                </a:ext>
              </a:extLst>
            </p:cNvPr>
            <p:cNvSpPr/>
            <p:nvPr/>
          </p:nvSpPr>
          <p:spPr>
            <a:xfrm>
              <a:off x="13195300" y="1625600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0" name="Text Box 285">
              <a:extLst>
                <a:ext uri="{FF2B5EF4-FFF2-40B4-BE49-F238E27FC236}">
                  <a16:creationId xmlns:a16="http://schemas.microsoft.com/office/drawing/2014/main" id="{C633E812-6FC0-C24F-B90C-3885051F03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48181" y="3764815"/>
              <a:ext cx="524075" cy="3385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050" dirty="0">
                  <a:solidFill>
                    <a:prstClr val="black"/>
                  </a:solidFill>
                </a:rPr>
                <a:t>R/2</a:t>
              </a:r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DB7FD550-F812-2E40-88E3-303D39E6D2EA}"/>
                </a:ext>
              </a:extLst>
            </p:cNvPr>
            <p:cNvSpPr/>
            <p:nvPr/>
          </p:nvSpPr>
          <p:spPr>
            <a:xfrm>
              <a:off x="13213792" y="1978681"/>
              <a:ext cx="127000" cy="127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4" name="Line 288">
              <a:extLst>
                <a:ext uri="{FF2B5EF4-FFF2-40B4-BE49-F238E27FC236}">
                  <a16:creationId xmlns:a16="http://schemas.microsoft.com/office/drawing/2014/main" id="{D53B1774-03D5-BD4B-9BCD-E50D15DB4A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61558" y="2061890"/>
              <a:ext cx="19750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9628093C-FFB3-054E-B64A-1E3835241090}"/>
              </a:ext>
            </a:extLst>
          </p:cNvPr>
          <p:cNvSpPr/>
          <p:nvPr/>
        </p:nvSpPr>
        <p:spPr>
          <a:xfrm rot="19191287">
            <a:off x="5912318" y="2943526"/>
            <a:ext cx="902369" cy="397043"/>
          </a:xfrm>
          <a:prstGeom prst="ellipse">
            <a:avLst/>
          </a:prstGeom>
          <a:noFill/>
          <a:ln w="25400">
            <a:solidFill>
              <a:srgbClr val="001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B6200A7-EAB4-A446-B925-6AAC42752BAA}"/>
              </a:ext>
            </a:extLst>
          </p:cNvPr>
          <p:cNvSpPr/>
          <p:nvPr/>
        </p:nvSpPr>
        <p:spPr>
          <a:xfrm>
            <a:off x="7182853" y="1918435"/>
            <a:ext cx="649706" cy="649706"/>
          </a:xfrm>
          <a:prstGeom prst="ellipse">
            <a:avLst/>
          </a:prstGeom>
          <a:noFill/>
          <a:ln w="28575">
            <a:solidFill>
              <a:srgbClr val="001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654E839-2366-974D-AA53-9D5D4AA79583}"/>
              </a:ext>
            </a:extLst>
          </p:cNvPr>
          <p:cNvGrpSpPr/>
          <p:nvPr/>
        </p:nvGrpSpPr>
        <p:grpSpPr>
          <a:xfrm>
            <a:off x="7536583" y="2033758"/>
            <a:ext cx="1436570" cy="528606"/>
            <a:chOff x="10048776" y="1376173"/>
            <a:chExt cx="1915427" cy="704807"/>
          </a:xfrm>
          <a:solidFill>
            <a:schemeClr val="bg1"/>
          </a:solidFill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0A993798-9407-6A45-8986-FB364E5661F1}"/>
                </a:ext>
              </a:extLst>
            </p:cNvPr>
            <p:cNvSpPr/>
            <p:nvPr/>
          </p:nvSpPr>
          <p:spPr>
            <a:xfrm>
              <a:off x="10048776" y="1414914"/>
              <a:ext cx="144379" cy="336885"/>
            </a:xfrm>
            <a:prstGeom prst="rightBrac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6" name="Text Box 252">
              <a:extLst>
                <a:ext uri="{FF2B5EF4-FFF2-40B4-BE49-F238E27FC236}">
                  <a16:creationId xmlns:a16="http://schemas.microsoft.com/office/drawing/2014/main" id="{90EEE6E2-B3F9-6740-9FCA-2CF9A84F87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8612" y="1376173"/>
              <a:ext cx="1815591" cy="70480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lnSpc>
                  <a:spcPct val="90000"/>
                </a:lnSpc>
                <a:defRPr/>
              </a:pPr>
              <a:r>
                <a:rPr lang="en-US" sz="1050" dirty="0">
                  <a:solidFill>
                    <a:prstClr val="black"/>
                  </a:solidFill>
                  <a:latin typeface="Calibri" panose="020F0502020204030204"/>
                </a:rPr>
                <a:t>“wasted” capacity due to retransmissions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952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2.22222E-6 L 0.02383 -2.22222E-6 L 0.02383 0.14584 L 0.08542 0.14584 L 0.05716 0.20625 L 0.16237 0.20625 " pathEditMode="relative" rAng="0" ptsTypes="AAAAAA">
                                      <p:cBhvr>
                                        <p:cTn id="6" dur="2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12" y="10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237 0.20625 L 0.19492 0.20648 " pathEditMode="relative" rAng="0" ptsTypes="AA">
                                      <p:cBhvr>
                                        <p:cTn id="13" dur="3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500"/>
                            </p:stCondLst>
                            <p:childTnLst>
                              <p:par>
                                <p:cTn id="15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625 0.20648 L 0.25221 0.20648 L 0.29661 0.11597 L 0.35755 0.12084 L 0.35755 -0.01111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65" y="-10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8000"/>
                            </p:stCondLst>
                            <p:childTnLst>
                              <p:par>
                                <p:cTn id="22" presetID="9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" grpId="0" animBg="1"/>
      <p:bldP spid="229" grpId="1" animBg="1"/>
      <p:bldP spid="229" grpId="2" animBg="1"/>
      <p:bldP spid="229" grpId="3" animBg="1"/>
      <p:bldP spid="230" grpId="0"/>
      <p:bldP spid="231" grpId="0" animBg="1"/>
      <p:bldP spid="10" grpId="0" animBg="1"/>
      <p:bldP spid="10" grpId="1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Freeform 3">
            <a:extLst>
              <a:ext uri="{FF2B5EF4-FFF2-40B4-BE49-F238E27FC236}">
                <a16:creationId xmlns:a16="http://schemas.microsoft.com/office/drawing/2014/main" id="{F3DAD8A0-663C-1646-8A3A-A562D7F6543A}"/>
              </a:ext>
            </a:extLst>
          </p:cNvPr>
          <p:cNvSpPr>
            <a:spLocks/>
          </p:cNvSpPr>
          <p:nvPr/>
        </p:nvSpPr>
        <p:spPr bwMode="auto">
          <a:xfrm>
            <a:off x="5210233" y="4614611"/>
            <a:ext cx="231068" cy="91296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491" name="Group 490">
            <a:extLst>
              <a:ext uri="{FF2B5EF4-FFF2-40B4-BE49-F238E27FC236}">
                <a16:creationId xmlns:a16="http://schemas.microsoft.com/office/drawing/2014/main" id="{83BB7D95-FCAE-9B42-AEAB-D8E35C89434F}"/>
              </a:ext>
            </a:extLst>
          </p:cNvPr>
          <p:cNvGrpSpPr/>
          <p:nvPr/>
        </p:nvGrpSpPr>
        <p:grpSpPr>
          <a:xfrm>
            <a:off x="4687076" y="4625292"/>
            <a:ext cx="540549" cy="887198"/>
            <a:chOff x="10910965" y="2513124"/>
            <a:chExt cx="586768" cy="904023"/>
          </a:xfrm>
        </p:grpSpPr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B166A895-5BC9-2648-8A56-D2E710C6B54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93" name="Straight Connector 492">
              <a:extLst>
                <a:ext uri="{FF2B5EF4-FFF2-40B4-BE49-F238E27FC236}">
                  <a16:creationId xmlns:a16="http://schemas.microsoft.com/office/drawing/2014/main" id="{1E312B60-1C4E-AD4B-8C4A-4F2EEF657244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93">
              <a:extLst>
                <a:ext uri="{FF2B5EF4-FFF2-40B4-BE49-F238E27FC236}">
                  <a16:creationId xmlns:a16="http://schemas.microsoft.com/office/drawing/2014/main" id="{32EBA421-617D-FD48-A968-2D26C923E03D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94">
              <a:extLst>
                <a:ext uri="{FF2B5EF4-FFF2-40B4-BE49-F238E27FC236}">
                  <a16:creationId xmlns:a16="http://schemas.microsoft.com/office/drawing/2014/main" id="{A91341A0-C7EC-F148-816F-EABD49A6B590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95">
              <a:extLst>
                <a:ext uri="{FF2B5EF4-FFF2-40B4-BE49-F238E27FC236}">
                  <a16:creationId xmlns:a16="http://schemas.microsoft.com/office/drawing/2014/main" id="{D95EE473-EC8C-B946-A371-E70E0010B34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4" name="Freeform 9">
            <a:extLst>
              <a:ext uri="{FF2B5EF4-FFF2-40B4-BE49-F238E27FC236}">
                <a16:creationId xmlns:a16="http://schemas.microsoft.com/office/drawing/2014/main" id="{7BC539C4-03E2-6040-9EE4-38A67D76BDD0}"/>
              </a:ext>
            </a:extLst>
          </p:cNvPr>
          <p:cNvSpPr>
            <a:spLocks/>
          </p:cNvSpPr>
          <p:nvPr/>
        </p:nvSpPr>
        <p:spPr bwMode="auto">
          <a:xfrm flipH="1">
            <a:off x="1383541" y="3493979"/>
            <a:ext cx="396261" cy="88370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4BD209F8-EB2A-9F4F-B363-BC938C5DA835}"/>
              </a:ext>
            </a:extLst>
          </p:cNvPr>
          <p:cNvGrpSpPr/>
          <p:nvPr/>
        </p:nvGrpSpPr>
        <p:grpSpPr>
          <a:xfrm>
            <a:off x="959009" y="4370023"/>
            <a:ext cx="540549" cy="887198"/>
            <a:chOff x="10910965" y="2513124"/>
            <a:chExt cx="586768" cy="904023"/>
          </a:xfrm>
        </p:grpSpPr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BCE8A729-A73C-F54F-A8A9-3733CC70183B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2F48DF19-80E3-7F4A-8454-1BEB4B00E16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8FA6A88D-F9D7-4145-A917-41C2C7FC12A7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391498D3-135C-F543-A213-6124B95A870F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F5B7A06C-468D-E74C-97F5-530BC4315BF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B26A6ED3-2CE4-F243-BD5E-0E3D12D1032C}"/>
              </a:ext>
            </a:extLst>
          </p:cNvPr>
          <p:cNvGrpSpPr/>
          <p:nvPr/>
        </p:nvGrpSpPr>
        <p:grpSpPr>
          <a:xfrm>
            <a:off x="1766283" y="3498068"/>
            <a:ext cx="540549" cy="887198"/>
            <a:chOff x="10910965" y="2513124"/>
            <a:chExt cx="586768" cy="904023"/>
          </a:xfrm>
        </p:grpSpPr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E5732A89-DEC6-C04F-8D35-653ED5A74D0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3BA48241-0809-D749-AA95-E5E0009564B5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4F914E7F-35B8-B84D-9E03-048E2AC52A84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F059F7DD-38D6-FB44-928C-D70FCB46C69F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69780329-E6CC-7B44-AD09-CD529A710094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7" name="Freeform 6">
            <a:extLst>
              <a:ext uri="{FF2B5EF4-FFF2-40B4-BE49-F238E27FC236}">
                <a16:creationId xmlns:a16="http://schemas.microsoft.com/office/drawing/2014/main" id="{0A6B0B41-CE88-A847-BDFD-D4C5406DB4FD}"/>
              </a:ext>
            </a:extLst>
          </p:cNvPr>
          <p:cNvSpPr>
            <a:spLocks/>
          </p:cNvSpPr>
          <p:nvPr/>
        </p:nvSpPr>
        <p:spPr bwMode="auto">
          <a:xfrm>
            <a:off x="5556835" y="3631852"/>
            <a:ext cx="231068" cy="91296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698728B3-54B3-7348-A92A-D46EBCBE40A7}"/>
              </a:ext>
            </a:extLst>
          </p:cNvPr>
          <p:cNvGrpSpPr/>
          <p:nvPr/>
        </p:nvGrpSpPr>
        <p:grpSpPr>
          <a:xfrm>
            <a:off x="5024189" y="3608167"/>
            <a:ext cx="540549" cy="887198"/>
            <a:chOff x="10910965" y="2513124"/>
            <a:chExt cx="586768" cy="904023"/>
          </a:xfrm>
        </p:grpSpPr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993EFA25-A923-104F-AA7A-D1A0A1DFAF09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F9FAACE5-7286-8041-B6C5-31BF3B00BC52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2B9192CF-4A86-234C-A018-E18B6174B23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E51604E2-6668-3C47-9339-A57BD00E151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1355E105-F22E-4C4E-B4E5-337CC0AC9628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98CAF04A-1334-B348-B035-3A982F9BDEB6}"/>
              </a:ext>
            </a:extLst>
          </p:cNvPr>
          <p:cNvGrpSpPr/>
          <p:nvPr/>
        </p:nvGrpSpPr>
        <p:grpSpPr>
          <a:xfrm>
            <a:off x="2828023" y="4632484"/>
            <a:ext cx="965153" cy="551195"/>
            <a:chOff x="7493876" y="2774731"/>
            <a:chExt cx="1481958" cy="894622"/>
          </a:xfrm>
        </p:grpSpPr>
        <p:sp>
          <p:nvSpPr>
            <p:cNvPr id="460" name="Freeform 459">
              <a:extLst>
                <a:ext uri="{FF2B5EF4-FFF2-40B4-BE49-F238E27FC236}">
                  <a16:creationId xmlns:a16="http://schemas.microsoft.com/office/drawing/2014/main" id="{1CC3E213-0DED-B141-84EE-4148FCBF957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61" name="Oval 460">
              <a:extLst>
                <a:ext uri="{FF2B5EF4-FFF2-40B4-BE49-F238E27FC236}">
                  <a16:creationId xmlns:a16="http://schemas.microsoft.com/office/drawing/2014/main" id="{873B81E7-2D3F-7C4E-BD26-C74207A647E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62" name="Group 461">
              <a:extLst>
                <a:ext uri="{FF2B5EF4-FFF2-40B4-BE49-F238E27FC236}">
                  <a16:creationId xmlns:a16="http://schemas.microsoft.com/office/drawing/2014/main" id="{6BE5949F-B050-EB4B-B822-E35D4247EEC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id="{2AD53E5B-C2A7-B44B-BE8C-CE15460DCEB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D8E482E0-784D-9147-8920-C673267B1F7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65" name="Freeform 464">
                <a:extLst>
                  <a:ext uri="{FF2B5EF4-FFF2-40B4-BE49-F238E27FC236}">
                    <a16:creationId xmlns:a16="http://schemas.microsoft.com/office/drawing/2014/main" id="{C0849211-2B58-F142-A8CE-1BF8EAE9207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66" name="Freeform 465">
                <a:extLst>
                  <a:ext uri="{FF2B5EF4-FFF2-40B4-BE49-F238E27FC236}">
                    <a16:creationId xmlns:a16="http://schemas.microsoft.com/office/drawing/2014/main" id="{5A3A8A9F-4FBE-BD43-8E9E-03C5075F771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345" name="Group 124">
            <a:extLst>
              <a:ext uri="{FF2B5EF4-FFF2-40B4-BE49-F238E27FC236}">
                <a16:creationId xmlns:a16="http://schemas.microsoft.com/office/drawing/2014/main" id="{1875CC16-4D82-EC4B-A27F-8C5523CDCA1C}"/>
              </a:ext>
            </a:extLst>
          </p:cNvPr>
          <p:cNvGrpSpPr>
            <a:grpSpLocks/>
          </p:cNvGrpSpPr>
          <p:nvPr/>
        </p:nvGrpSpPr>
        <p:grpSpPr bwMode="auto">
          <a:xfrm>
            <a:off x="988066" y="3765090"/>
            <a:ext cx="484073" cy="426879"/>
            <a:chOff x="-44" y="1473"/>
            <a:chExt cx="981" cy="1105"/>
          </a:xfrm>
        </p:grpSpPr>
        <p:pic>
          <p:nvPicPr>
            <p:cNvPr id="458" name="Picture 125" descr="desktop_computer_stylized_medium">
              <a:extLst>
                <a:ext uri="{FF2B5EF4-FFF2-40B4-BE49-F238E27FC236}">
                  <a16:creationId xmlns:a16="http://schemas.microsoft.com/office/drawing/2014/main" id="{06C4FF17-B894-F64E-B8E9-009E2F935B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9" name="Freeform 126">
              <a:extLst>
                <a:ext uri="{FF2B5EF4-FFF2-40B4-BE49-F238E27FC236}">
                  <a16:creationId xmlns:a16="http://schemas.microsoft.com/office/drawing/2014/main" id="{2B78B566-3D03-D044-A615-5F2E69BA2D5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347" name="Freeform 12">
            <a:extLst>
              <a:ext uri="{FF2B5EF4-FFF2-40B4-BE49-F238E27FC236}">
                <a16:creationId xmlns:a16="http://schemas.microsoft.com/office/drawing/2014/main" id="{B3DEE67E-0295-1C42-877B-3030DF5CC3A0}"/>
              </a:ext>
            </a:extLst>
          </p:cNvPr>
          <p:cNvSpPr>
            <a:spLocks/>
          </p:cNvSpPr>
          <p:nvPr/>
        </p:nvSpPr>
        <p:spPr bwMode="auto">
          <a:xfrm flipH="1">
            <a:off x="733658" y="4368455"/>
            <a:ext cx="231068" cy="91296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48" name="Line 33">
            <a:extLst>
              <a:ext uri="{FF2B5EF4-FFF2-40B4-BE49-F238E27FC236}">
                <a16:creationId xmlns:a16="http://schemas.microsoft.com/office/drawing/2014/main" id="{EB4F5429-B362-3445-AEC3-247C13D4C6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04175" y="4499322"/>
            <a:ext cx="851149" cy="85064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49" name="Text Box 42">
            <a:extLst>
              <a:ext uri="{FF2B5EF4-FFF2-40B4-BE49-F238E27FC236}">
                <a16:creationId xmlns:a16="http://schemas.microsoft.com/office/drawing/2014/main" id="{71EABF9B-1A6B-F746-87A6-59211399E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463" y="3504613"/>
            <a:ext cx="841877" cy="23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</a:rPr>
              <a:t>Host A</a:t>
            </a:r>
            <a:endParaRPr lang="en-US" altLang="en-US" sz="3000" dirty="0">
              <a:solidFill>
                <a:srgbClr val="C0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350" name="Text Box 52">
            <a:extLst>
              <a:ext uri="{FF2B5EF4-FFF2-40B4-BE49-F238E27FC236}">
                <a16:creationId xmlns:a16="http://schemas.microsoft.com/office/drawing/2014/main" id="{E952F158-8C87-2743-A654-CB43702CF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577" y="5397367"/>
            <a:ext cx="736183" cy="23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dirty="0">
                <a:solidFill>
                  <a:srgbClr val="0013A3"/>
                </a:solidFill>
                <a:latin typeface="Arial" panose="020B0604020202020204" pitchFamily="34" charset="0"/>
              </a:rPr>
              <a:t>Host B</a:t>
            </a:r>
            <a:endParaRPr lang="en-US" altLang="en-US" sz="3000" dirty="0">
              <a:solidFill>
                <a:srgbClr val="0013A3"/>
              </a:solidFill>
              <a:latin typeface="Comic Sans MS" panose="030F0902030302020204" pitchFamily="66" charset="0"/>
            </a:endParaRPr>
          </a:p>
        </p:txBody>
      </p:sp>
      <p:sp>
        <p:nvSpPr>
          <p:cNvPr id="351" name="Line 53">
            <a:extLst>
              <a:ext uri="{FF2B5EF4-FFF2-40B4-BE49-F238E27FC236}">
                <a16:creationId xmlns:a16="http://schemas.microsoft.com/office/drawing/2014/main" id="{75256407-96DE-9F48-98B8-5BBEA93EFE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51686" y="4891927"/>
            <a:ext cx="56158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52" name="Line 54">
            <a:extLst>
              <a:ext uri="{FF2B5EF4-FFF2-40B4-BE49-F238E27FC236}">
                <a16:creationId xmlns:a16="http://schemas.microsoft.com/office/drawing/2014/main" id="{468D4135-22FF-CA48-B7FE-0A8C463F08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43391" y="4891927"/>
            <a:ext cx="56158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53" name="Line 55">
            <a:extLst>
              <a:ext uri="{FF2B5EF4-FFF2-40B4-BE49-F238E27FC236}">
                <a16:creationId xmlns:a16="http://schemas.microsoft.com/office/drawing/2014/main" id="{BBD1E308-9528-154A-A531-46348FA3DF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57462" y="4499322"/>
            <a:ext cx="851149" cy="85064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54" name="Line 57">
            <a:extLst>
              <a:ext uri="{FF2B5EF4-FFF2-40B4-BE49-F238E27FC236}">
                <a16:creationId xmlns:a16="http://schemas.microsoft.com/office/drawing/2014/main" id="{ED09B7CD-707F-824A-951E-3DF44B1587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06741" y="4499467"/>
            <a:ext cx="40510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56" name="Group 127">
            <a:extLst>
              <a:ext uri="{FF2B5EF4-FFF2-40B4-BE49-F238E27FC236}">
                <a16:creationId xmlns:a16="http://schemas.microsoft.com/office/drawing/2014/main" id="{F053E5CE-83C8-B44F-BB41-24ACED3C1F54}"/>
              </a:ext>
            </a:extLst>
          </p:cNvPr>
          <p:cNvGrpSpPr>
            <a:grpSpLocks/>
          </p:cNvGrpSpPr>
          <p:nvPr/>
        </p:nvGrpSpPr>
        <p:grpSpPr bwMode="auto">
          <a:xfrm>
            <a:off x="5648969" y="4212659"/>
            <a:ext cx="213518" cy="433111"/>
            <a:chOff x="4140" y="429"/>
            <a:chExt cx="1425" cy="2396"/>
          </a:xfrm>
        </p:grpSpPr>
        <p:sp>
          <p:nvSpPr>
            <p:cNvPr id="420" name="Freeform 128">
              <a:extLst>
                <a:ext uri="{FF2B5EF4-FFF2-40B4-BE49-F238E27FC236}">
                  <a16:creationId xmlns:a16="http://schemas.microsoft.com/office/drawing/2014/main" id="{0C38C29E-82D9-DE4D-B34F-6E1B0F29E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21" name="Rectangle 129">
              <a:extLst>
                <a:ext uri="{FF2B5EF4-FFF2-40B4-BE49-F238E27FC236}">
                  <a16:creationId xmlns:a16="http://schemas.microsoft.com/office/drawing/2014/main" id="{68008099-7DA3-DC4F-9848-B28E0757C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22" name="Freeform 130">
              <a:extLst>
                <a:ext uri="{FF2B5EF4-FFF2-40B4-BE49-F238E27FC236}">
                  <a16:creationId xmlns:a16="http://schemas.microsoft.com/office/drawing/2014/main" id="{EE836601-014E-A34E-BA49-8C6B48990C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23" name="Freeform 131">
              <a:extLst>
                <a:ext uri="{FF2B5EF4-FFF2-40B4-BE49-F238E27FC236}">
                  <a16:creationId xmlns:a16="http://schemas.microsoft.com/office/drawing/2014/main" id="{196DB8E5-D7EB-FE4F-8E87-CF4500523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24" name="Rectangle 132">
              <a:extLst>
                <a:ext uri="{FF2B5EF4-FFF2-40B4-BE49-F238E27FC236}">
                  <a16:creationId xmlns:a16="http://schemas.microsoft.com/office/drawing/2014/main" id="{A36AF25C-36F4-8C41-BBF3-7179E440A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425" name="Group 133">
              <a:extLst>
                <a:ext uri="{FF2B5EF4-FFF2-40B4-BE49-F238E27FC236}">
                  <a16:creationId xmlns:a16="http://schemas.microsoft.com/office/drawing/2014/main" id="{91FC7106-BBE3-6342-AEDC-BB075E2A4F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0" name="AutoShape 134">
                <a:extLst>
                  <a:ext uri="{FF2B5EF4-FFF2-40B4-BE49-F238E27FC236}">
                    <a16:creationId xmlns:a16="http://schemas.microsoft.com/office/drawing/2014/main" id="{B78B2B71-C293-E74B-A8B2-FA48F8A21A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51" name="AutoShape 135">
                <a:extLst>
                  <a:ext uri="{FF2B5EF4-FFF2-40B4-BE49-F238E27FC236}">
                    <a16:creationId xmlns:a16="http://schemas.microsoft.com/office/drawing/2014/main" id="{B93FE048-8D2E-184B-938F-A023FE6CC2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426" name="Rectangle 136">
              <a:extLst>
                <a:ext uri="{FF2B5EF4-FFF2-40B4-BE49-F238E27FC236}">
                  <a16:creationId xmlns:a16="http://schemas.microsoft.com/office/drawing/2014/main" id="{1BE92891-13BB-1942-AF26-7547F5E89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427" name="Group 137">
              <a:extLst>
                <a:ext uri="{FF2B5EF4-FFF2-40B4-BE49-F238E27FC236}">
                  <a16:creationId xmlns:a16="http://schemas.microsoft.com/office/drawing/2014/main" id="{B146C1A0-0498-3742-B869-C11FC5A9B4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48" name="AutoShape 138">
                <a:extLst>
                  <a:ext uri="{FF2B5EF4-FFF2-40B4-BE49-F238E27FC236}">
                    <a16:creationId xmlns:a16="http://schemas.microsoft.com/office/drawing/2014/main" id="{6D8DAB10-D332-E443-B0C8-6926120D7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49" name="AutoShape 139">
                <a:extLst>
                  <a:ext uri="{FF2B5EF4-FFF2-40B4-BE49-F238E27FC236}">
                    <a16:creationId xmlns:a16="http://schemas.microsoft.com/office/drawing/2014/main" id="{10A758BC-CA4A-4941-B3B1-013DFD754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428" name="Rectangle 140">
              <a:extLst>
                <a:ext uri="{FF2B5EF4-FFF2-40B4-BE49-F238E27FC236}">
                  <a16:creationId xmlns:a16="http://schemas.microsoft.com/office/drawing/2014/main" id="{72D726F8-E1D6-6540-B8C3-5DC6D289A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29" name="Rectangle 141">
              <a:extLst>
                <a:ext uri="{FF2B5EF4-FFF2-40B4-BE49-F238E27FC236}">
                  <a16:creationId xmlns:a16="http://schemas.microsoft.com/office/drawing/2014/main" id="{A62C6415-93B4-6540-B726-6DC1170DF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430" name="Group 142">
              <a:extLst>
                <a:ext uri="{FF2B5EF4-FFF2-40B4-BE49-F238E27FC236}">
                  <a16:creationId xmlns:a16="http://schemas.microsoft.com/office/drawing/2014/main" id="{E2133AAA-F115-D84C-A2BB-27266E35F2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46" name="AutoShape 143">
                <a:extLst>
                  <a:ext uri="{FF2B5EF4-FFF2-40B4-BE49-F238E27FC236}">
                    <a16:creationId xmlns:a16="http://schemas.microsoft.com/office/drawing/2014/main" id="{2E174869-B2BC-4A45-B3FD-9330A289D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47" name="AutoShape 144">
                <a:extLst>
                  <a:ext uri="{FF2B5EF4-FFF2-40B4-BE49-F238E27FC236}">
                    <a16:creationId xmlns:a16="http://schemas.microsoft.com/office/drawing/2014/main" id="{865B98B3-39D4-1340-8796-962A54421E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431" name="Freeform 145">
              <a:extLst>
                <a:ext uri="{FF2B5EF4-FFF2-40B4-BE49-F238E27FC236}">
                  <a16:creationId xmlns:a16="http://schemas.microsoft.com/office/drawing/2014/main" id="{519C0B54-898C-9845-915D-7A5F4E93D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432" name="Group 146">
              <a:extLst>
                <a:ext uri="{FF2B5EF4-FFF2-40B4-BE49-F238E27FC236}">
                  <a16:creationId xmlns:a16="http://schemas.microsoft.com/office/drawing/2014/main" id="{8CDD4409-D107-D44E-A6F3-3F54C9F344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4" name="AutoShape 147">
                <a:extLst>
                  <a:ext uri="{FF2B5EF4-FFF2-40B4-BE49-F238E27FC236}">
                    <a16:creationId xmlns:a16="http://schemas.microsoft.com/office/drawing/2014/main" id="{55B72EBE-4A58-CF48-BD56-76B6F6022A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45" name="AutoShape 148">
                <a:extLst>
                  <a:ext uri="{FF2B5EF4-FFF2-40B4-BE49-F238E27FC236}">
                    <a16:creationId xmlns:a16="http://schemas.microsoft.com/office/drawing/2014/main" id="{AEF43A66-7669-AC44-AF01-1D8B6CB77F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433" name="Rectangle 149">
              <a:extLst>
                <a:ext uri="{FF2B5EF4-FFF2-40B4-BE49-F238E27FC236}">
                  <a16:creationId xmlns:a16="http://schemas.microsoft.com/office/drawing/2014/main" id="{48DA1B94-09C2-1840-B8EC-113BE8C83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34" name="Freeform 150">
              <a:extLst>
                <a:ext uri="{FF2B5EF4-FFF2-40B4-BE49-F238E27FC236}">
                  <a16:creationId xmlns:a16="http://schemas.microsoft.com/office/drawing/2014/main" id="{E90CC519-FF6C-A642-B4B0-C0D5E7E7F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35" name="Freeform 151">
              <a:extLst>
                <a:ext uri="{FF2B5EF4-FFF2-40B4-BE49-F238E27FC236}">
                  <a16:creationId xmlns:a16="http://schemas.microsoft.com/office/drawing/2014/main" id="{4FD498C9-45E2-9A44-833E-DF1718373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36" name="Oval 152">
              <a:extLst>
                <a:ext uri="{FF2B5EF4-FFF2-40B4-BE49-F238E27FC236}">
                  <a16:creationId xmlns:a16="http://schemas.microsoft.com/office/drawing/2014/main" id="{094B9650-E8E9-8049-A250-639ED23B6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37" name="Freeform 153">
              <a:extLst>
                <a:ext uri="{FF2B5EF4-FFF2-40B4-BE49-F238E27FC236}">
                  <a16:creationId xmlns:a16="http://schemas.microsoft.com/office/drawing/2014/main" id="{CC772392-E262-1B4C-934A-C2274B74B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38" name="AutoShape 154">
              <a:extLst>
                <a:ext uri="{FF2B5EF4-FFF2-40B4-BE49-F238E27FC236}">
                  <a16:creationId xmlns:a16="http://schemas.microsoft.com/office/drawing/2014/main" id="{A847FBEF-BCEF-144E-A9B4-6D4EC2B32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39" name="AutoShape 155">
              <a:extLst>
                <a:ext uri="{FF2B5EF4-FFF2-40B4-BE49-F238E27FC236}">
                  <a16:creationId xmlns:a16="http://schemas.microsoft.com/office/drawing/2014/main" id="{77E42DB7-A005-9743-82D9-584F8FF41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40" name="Oval 156">
              <a:extLst>
                <a:ext uri="{FF2B5EF4-FFF2-40B4-BE49-F238E27FC236}">
                  <a16:creationId xmlns:a16="http://schemas.microsoft.com/office/drawing/2014/main" id="{727589AB-7983-4642-ABB0-1373C86DB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41" name="Oval 157">
              <a:extLst>
                <a:ext uri="{FF2B5EF4-FFF2-40B4-BE49-F238E27FC236}">
                  <a16:creationId xmlns:a16="http://schemas.microsoft.com/office/drawing/2014/main" id="{0E294EC3-D225-AC47-9069-5C4C2296B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42" name="Oval 158">
              <a:extLst>
                <a:ext uri="{FF2B5EF4-FFF2-40B4-BE49-F238E27FC236}">
                  <a16:creationId xmlns:a16="http://schemas.microsoft.com/office/drawing/2014/main" id="{91CEEFA5-1DF7-3243-BA43-EEF99F148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43" name="Rectangle 159">
              <a:extLst>
                <a:ext uri="{FF2B5EF4-FFF2-40B4-BE49-F238E27FC236}">
                  <a16:creationId xmlns:a16="http://schemas.microsoft.com/office/drawing/2014/main" id="{1F261A4A-7DA6-3F43-A166-B036ABB1F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357" name="Group 160">
            <a:extLst>
              <a:ext uri="{FF2B5EF4-FFF2-40B4-BE49-F238E27FC236}">
                <a16:creationId xmlns:a16="http://schemas.microsoft.com/office/drawing/2014/main" id="{FC5CD3E0-8F4C-A247-BF27-2828EA8EA48E}"/>
              </a:ext>
            </a:extLst>
          </p:cNvPr>
          <p:cNvGrpSpPr>
            <a:grpSpLocks/>
          </p:cNvGrpSpPr>
          <p:nvPr/>
        </p:nvGrpSpPr>
        <p:grpSpPr bwMode="auto">
          <a:xfrm>
            <a:off x="438973" y="5098707"/>
            <a:ext cx="484073" cy="426879"/>
            <a:chOff x="-44" y="1473"/>
            <a:chExt cx="981" cy="1105"/>
          </a:xfrm>
        </p:grpSpPr>
        <p:pic>
          <p:nvPicPr>
            <p:cNvPr id="418" name="Picture 161" descr="desktop_computer_stylized_medium">
              <a:extLst>
                <a:ext uri="{FF2B5EF4-FFF2-40B4-BE49-F238E27FC236}">
                  <a16:creationId xmlns:a16="http://schemas.microsoft.com/office/drawing/2014/main" id="{6E92F66C-6B76-EE47-BDD2-F1129D17EF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9" name="Freeform 162">
              <a:extLst>
                <a:ext uri="{FF2B5EF4-FFF2-40B4-BE49-F238E27FC236}">
                  <a16:creationId xmlns:a16="http://schemas.microsoft.com/office/drawing/2014/main" id="{6E619406-BD3D-804E-84E7-04C656A88C8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58" name="Group 163">
            <a:extLst>
              <a:ext uri="{FF2B5EF4-FFF2-40B4-BE49-F238E27FC236}">
                <a16:creationId xmlns:a16="http://schemas.microsoft.com/office/drawing/2014/main" id="{E1C5F9CD-6CD9-E043-8A6F-A2FE02A80733}"/>
              </a:ext>
            </a:extLst>
          </p:cNvPr>
          <p:cNvGrpSpPr>
            <a:grpSpLocks/>
          </p:cNvGrpSpPr>
          <p:nvPr/>
        </p:nvGrpSpPr>
        <p:grpSpPr bwMode="auto">
          <a:xfrm>
            <a:off x="5356478" y="5159895"/>
            <a:ext cx="213518" cy="433111"/>
            <a:chOff x="4140" y="429"/>
            <a:chExt cx="1425" cy="2396"/>
          </a:xfrm>
        </p:grpSpPr>
        <p:sp>
          <p:nvSpPr>
            <p:cNvPr id="386" name="Freeform 164">
              <a:extLst>
                <a:ext uri="{FF2B5EF4-FFF2-40B4-BE49-F238E27FC236}">
                  <a16:creationId xmlns:a16="http://schemas.microsoft.com/office/drawing/2014/main" id="{6CA1ADCB-BF30-864D-9F00-26EE89960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87" name="Rectangle 165">
              <a:extLst>
                <a:ext uri="{FF2B5EF4-FFF2-40B4-BE49-F238E27FC236}">
                  <a16:creationId xmlns:a16="http://schemas.microsoft.com/office/drawing/2014/main" id="{84113A57-FEA3-A245-ADC3-1C98EE6B6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88" name="Freeform 166">
              <a:extLst>
                <a:ext uri="{FF2B5EF4-FFF2-40B4-BE49-F238E27FC236}">
                  <a16:creationId xmlns:a16="http://schemas.microsoft.com/office/drawing/2014/main" id="{17DDF599-C8B9-ED49-A878-2E9E9C14F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89" name="Freeform 167">
              <a:extLst>
                <a:ext uri="{FF2B5EF4-FFF2-40B4-BE49-F238E27FC236}">
                  <a16:creationId xmlns:a16="http://schemas.microsoft.com/office/drawing/2014/main" id="{D79F5A9D-B30C-E04E-814D-CEF62D45B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90" name="Rectangle 168">
              <a:extLst>
                <a:ext uri="{FF2B5EF4-FFF2-40B4-BE49-F238E27FC236}">
                  <a16:creationId xmlns:a16="http://schemas.microsoft.com/office/drawing/2014/main" id="{E4257EA1-363B-2845-8C9B-7FA15C50A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391" name="Group 169">
              <a:extLst>
                <a:ext uri="{FF2B5EF4-FFF2-40B4-BE49-F238E27FC236}">
                  <a16:creationId xmlns:a16="http://schemas.microsoft.com/office/drawing/2014/main" id="{5E2C0E7D-06A7-264F-887D-F219437D11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16" name="AutoShape 170">
                <a:extLst>
                  <a:ext uri="{FF2B5EF4-FFF2-40B4-BE49-F238E27FC236}">
                    <a16:creationId xmlns:a16="http://schemas.microsoft.com/office/drawing/2014/main" id="{A967F0FF-1A5B-524B-93E6-F5241976B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17" name="AutoShape 171">
                <a:extLst>
                  <a:ext uri="{FF2B5EF4-FFF2-40B4-BE49-F238E27FC236}">
                    <a16:creationId xmlns:a16="http://schemas.microsoft.com/office/drawing/2014/main" id="{47E42211-0EB4-8846-9356-8025F0B0A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392" name="Rectangle 172">
              <a:extLst>
                <a:ext uri="{FF2B5EF4-FFF2-40B4-BE49-F238E27FC236}">
                  <a16:creationId xmlns:a16="http://schemas.microsoft.com/office/drawing/2014/main" id="{A253ECB5-E810-654A-8AEA-B06E7E8BD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393" name="Group 173">
              <a:extLst>
                <a:ext uri="{FF2B5EF4-FFF2-40B4-BE49-F238E27FC236}">
                  <a16:creationId xmlns:a16="http://schemas.microsoft.com/office/drawing/2014/main" id="{8ABBF0A2-79C7-3843-AEF7-0B108A1A9D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14" name="AutoShape 174">
                <a:extLst>
                  <a:ext uri="{FF2B5EF4-FFF2-40B4-BE49-F238E27FC236}">
                    <a16:creationId xmlns:a16="http://schemas.microsoft.com/office/drawing/2014/main" id="{0D6185E6-D51D-A544-8C9F-6CF31ACD06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15" name="AutoShape 175">
                <a:extLst>
                  <a:ext uri="{FF2B5EF4-FFF2-40B4-BE49-F238E27FC236}">
                    <a16:creationId xmlns:a16="http://schemas.microsoft.com/office/drawing/2014/main" id="{45C49FBD-4799-3440-BE93-ED432BA554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394" name="Rectangle 176">
              <a:extLst>
                <a:ext uri="{FF2B5EF4-FFF2-40B4-BE49-F238E27FC236}">
                  <a16:creationId xmlns:a16="http://schemas.microsoft.com/office/drawing/2014/main" id="{62DDF460-8AF3-FF41-B885-D46ADE63C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95" name="Rectangle 177">
              <a:extLst>
                <a:ext uri="{FF2B5EF4-FFF2-40B4-BE49-F238E27FC236}">
                  <a16:creationId xmlns:a16="http://schemas.microsoft.com/office/drawing/2014/main" id="{C24947D6-AADC-9A47-95C8-7A2CCE910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396" name="Group 178">
              <a:extLst>
                <a:ext uri="{FF2B5EF4-FFF2-40B4-BE49-F238E27FC236}">
                  <a16:creationId xmlns:a16="http://schemas.microsoft.com/office/drawing/2014/main" id="{51A2B0F1-DE5B-9C44-A881-C4B542B6B5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12" name="AutoShape 179">
                <a:extLst>
                  <a:ext uri="{FF2B5EF4-FFF2-40B4-BE49-F238E27FC236}">
                    <a16:creationId xmlns:a16="http://schemas.microsoft.com/office/drawing/2014/main" id="{FF26D077-4EA3-2342-837F-8A5D5BE98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13" name="AutoShape 180">
                <a:extLst>
                  <a:ext uri="{FF2B5EF4-FFF2-40B4-BE49-F238E27FC236}">
                    <a16:creationId xmlns:a16="http://schemas.microsoft.com/office/drawing/2014/main" id="{6938491D-ACC4-D247-A174-ED9E639559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397" name="Freeform 181">
              <a:extLst>
                <a:ext uri="{FF2B5EF4-FFF2-40B4-BE49-F238E27FC236}">
                  <a16:creationId xmlns:a16="http://schemas.microsoft.com/office/drawing/2014/main" id="{8347DBD3-007C-5347-8074-BC4893481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98" name="Group 182">
              <a:extLst>
                <a:ext uri="{FF2B5EF4-FFF2-40B4-BE49-F238E27FC236}">
                  <a16:creationId xmlns:a16="http://schemas.microsoft.com/office/drawing/2014/main" id="{97B09700-0634-FF4D-98CD-FC999C9A38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0" name="AutoShape 183">
                <a:extLst>
                  <a:ext uri="{FF2B5EF4-FFF2-40B4-BE49-F238E27FC236}">
                    <a16:creationId xmlns:a16="http://schemas.microsoft.com/office/drawing/2014/main" id="{CAE14D82-2E48-404E-B50D-02636745A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411" name="AutoShape 184">
                <a:extLst>
                  <a:ext uri="{FF2B5EF4-FFF2-40B4-BE49-F238E27FC236}">
                    <a16:creationId xmlns:a16="http://schemas.microsoft.com/office/drawing/2014/main" id="{51BBC259-2416-1447-ADC8-FFADEB6DBB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399" name="Rectangle 185">
              <a:extLst>
                <a:ext uri="{FF2B5EF4-FFF2-40B4-BE49-F238E27FC236}">
                  <a16:creationId xmlns:a16="http://schemas.microsoft.com/office/drawing/2014/main" id="{1064C0C2-840D-B947-9570-7D79A80EF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00" name="Freeform 186">
              <a:extLst>
                <a:ext uri="{FF2B5EF4-FFF2-40B4-BE49-F238E27FC236}">
                  <a16:creationId xmlns:a16="http://schemas.microsoft.com/office/drawing/2014/main" id="{B6468F87-96EF-784A-B97A-D7EA2DEA7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01" name="Freeform 187">
              <a:extLst>
                <a:ext uri="{FF2B5EF4-FFF2-40B4-BE49-F238E27FC236}">
                  <a16:creationId xmlns:a16="http://schemas.microsoft.com/office/drawing/2014/main" id="{F24072E3-E21E-3D47-83FF-6B5B3B036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02" name="Oval 188">
              <a:extLst>
                <a:ext uri="{FF2B5EF4-FFF2-40B4-BE49-F238E27FC236}">
                  <a16:creationId xmlns:a16="http://schemas.microsoft.com/office/drawing/2014/main" id="{C2FDEF67-F14F-2A4C-A3BF-0529D843B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03" name="Freeform 189">
              <a:extLst>
                <a:ext uri="{FF2B5EF4-FFF2-40B4-BE49-F238E27FC236}">
                  <a16:creationId xmlns:a16="http://schemas.microsoft.com/office/drawing/2014/main" id="{E396FECC-6A5D-DA40-A4D0-B93DFA225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04" name="AutoShape 190">
              <a:extLst>
                <a:ext uri="{FF2B5EF4-FFF2-40B4-BE49-F238E27FC236}">
                  <a16:creationId xmlns:a16="http://schemas.microsoft.com/office/drawing/2014/main" id="{AF73C4B3-874F-8945-8C8A-3D07D6B2F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05" name="AutoShape 191">
              <a:extLst>
                <a:ext uri="{FF2B5EF4-FFF2-40B4-BE49-F238E27FC236}">
                  <a16:creationId xmlns:a16="http://schemas.microsoft.com/office/drawing/2014/main" id="{7B3616E9-0E1D-0F4A-B64E-333A0E782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06" name="Oval 192">
              <a:extLst>
                <a:ext uri="{FF2B5EF4-FFF2-40B4-BE49-F238E27FC236}">
                  <a16:creationId xmlns:a16="http://schemas.microsoft.com/office/drawing/2014/main" id="{B6D080BF-90A6-B144-BB0F-B017C8FC3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07" name="Oval 193">
              <a:extLst>
                <a:ext uri="{FF2B5EF4-FFF2-40B4-BE49-F238E27FC236}">
                  <a16:creationId xmlns:a16="http://schemas.microsoft.com/office/drawing/2014/main" id="{476EDDEF-CE6F-4042-81DC-768C18CD6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08" name="Oval 194">
              <a:extLst>
                <a:ext uri="{FF2B5EF4-FFF2-40B4-BE49-F238E27FC236}">
                  <a16:creationId xmlns:a16="http://schemas.microsoft.com/office/drawing/2014/main" id="{D38E2869-2274-384D-8E48-0AED4D696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409" name="Rectangle 195">
              <a:extLst>
                <a:ext uri="{FF2B5EF4-FFF2-40B4-BE49-F238E27FC236}">
                  <a16:creationId xmlns:a16="http://schemas.microsoft.com/office/drawing/2014/main" id="{E207AF41-FA65-C248-905D-7770F218B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359" name="Line 57">
            <a:extLst>
              <a:ext uri="{FF2B5EF4-FFF2-40B4-BE49-F238E27FC236}">
                <a16:creationId xmlns:a16="http://schemas.microsoft.com/office/drawing/2014/main" id="{63DE0F1D-A9CF-3B47-9DBF-096FE0F670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66527" y="5348527"/>
            <a:ext cx="75743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0" name="Line 57">
            <a:extLst>
              <a:ext uri="{FF2B5EF4-FFF2-40B4-BE49-F238E27FC236}">
                <a16:creationId xmlns:a16="http://schemas.microsoft.com/office/drawing/2014/main" id="{46D01C7A-CEF1-E346-AF5D-2CCF20987B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50897" y="4497166"/>
            <a:ext cx="40510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1" name="Line 57">
            <a:extLst>
              <a:ext uri="{FF2B5EF4-FFF2-40B4-BE49-F238E27FC236}">
                <a16:creationId xmlns:a16="http://schemas.microsoft.com/office/drawing/2014/main" id="{FC5AF6D5-FBFA-504B-A634-B5D18FA558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02043" y="5350829"/>
            <a:ext cx="40510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A8476EBE-514C-F24A-9934-50A3E251CCB0}"/>
              </a:ext>
            </a:extLst>
          </p:cNvPr>
          <p:cNvGrpSpPr/>
          <p:nvPr/>
        </p:nvGrpSpPr>
        <p:grpSpPr>
          <a:xfrm>
            <a:off x="2061817" y="3427810"/>
            <a:ext cx="2138708" cy="709613"/>
            <a:chOff x="2749090" y="3427413"/>
            <a:chExt cx="2851610" cy="946150"/>
          </a:xfrm>
        </p:grpSpPr>
        <p:sp>
          <p:nvSpPr>
            <p:cNvPr id="379" name="Text Box 68">
              <a:extLst>
                <a:ext uri="{FF2B5EF4-FFF2-40B4-BE49-F238E27FC236}">
                  <a16:creationId xmlns:a16="http://schemas.microsoft.com/office/drawing/2014/main" id="{8AF39E71-B088-4C43-899B-2F5F18675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dirty="0">
                  <a:solidFill>
                    <a:srgbClr val="C00000"/>
                  </a:solidFill>
                  <a:latin typeface="Symbol" pitchFamily="2" charset="2"/>
                </a:rPr>
                <a:t>l</a:t>
              </a:r>
              <a:r>
                <a:rPr lang="en-US" altLang="en-US" sz="1500" baseline="-25000" dirty="0">
                  <a:solidFill>
                    <a:srgbClr val="C00000"/>
                  </a:solidFill>
                  <a:latin typeface="Arial" panose="020B0604020202020204" pitchFamily="34" charset="0"/>
                </a:rPr>
                <a:t>in</a:t>
              </a:r>
              <a:r>
                <a:rPr lang="en-US" altLang="en-US" sz="1200" baseline="-25000" dirty="0">
                  <a:solidFill>
                    <a:srgbClr val="C000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en-US" sz="1200" dirty="0">
                  <a:solidFill>
                    <a:srgbClr val="C00000"/>
                  </a:solidFill>
                  <a:latin typeface="Arial" panose="020B0604020202020204" pitchFamily="34" charset="0"/>
                </a:rPr>
                <a:t>: original data</a:t>
              </a:r>
              <a:endParaRPr lang="en-US" altLang="en-US" sz="1200" dirty="0">
                <a:solidFill>
                  <a:srgbClr val="C00000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380" name="Oval 217">
              <a:extLst>
                <a:ext uri="{FF2B5EF4-FFF2-40B4-BE49-F238E27FC236}">
                  <a16:creationId xmlns:a16="http://schemas.microsoft.com/office/drawing/2014/main" id="{11DE1202-9705-C244-9A3F-E44B4A0C0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381" name="Line 229">
              <a:extLst>
                <a:ext uri="{FF2B5EF4-FFF2-40B4-BE49-F238E27FC236}">
                  <a16:creationId xmlns:a16="http://schemas.microsoft.com/office/drawing/2014/main" id="{429846E6-D021-D048-B531-E1D9B4772D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82" name="Oval 232">
              <a:extLst>
                <a:ext uri="{FF2B5EF4-FFF2-40B4-BE49-F238E27FC236}">
                  <a16:creationId xmlns:a16="http://schemas.microsoft.com/office/drawing/2014/main" id="{C1A4B9C1-E455-364D-9F70-13A0F3F4D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383" name="Text Box 233">
              <a:extLst>
                <a:ext uri="{FF2B5EF4-FFF2-40B4-BE49-F238E27FC236}">
                  <a16:creationId xmlns:a16="http://schemas.microsoft.com/office/drawing/2014/main" id="{580E2367-A745-E345-BB8F-41D6212780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dirty="0">
                  <a:solidFill>
                    <a:srgbClr val="C00000"/>
                  </a:solidFill>
                  <a:latin typeface="Symbol" pitchFamily="2" charset="2"/>
                </a:rPr>
                <a:t>l</a:t>
              </a:r>
              <a:r>
                <a:rPr lang="en-US" altLang="en-US" sz="1500" dirty="0">
                  <a:solidFill>
                    <a:srgbClr val="C00000"/>
                  </a:solidFill>
                  <a:latin typeface="Arial" panose="020B0604020202020204" pitchFamily="34" charset="0"/>
                </a:rPr>
                <a:t>'</a:t>
              </a:r>
              <a:r>
                <a:rPr lang="en-US" altLang="en-US" sz="1500" baseline="-25000" dirty="0">
                  <a:solidFill>
                    <a:srgbClr val="C00000"/>
                  </a:solidFill>
                  <a:latin typeface="Arial" panose="020B0604020202020204" pitchFamily="34" charset="0"/>
                </a:rPr>
                <a:t>in</a:t>
              </a:r>
              <a:r>
                <a:rPr lang="en-US" altLang="en-US" sz="1350" dirty="0">
                  <a:solidFill>
                    <a:srgbClr val="C00000"/>
                  </a:solidFill>
                  <a:latin typeface="Arial" panose="020B0604020202020204" pitchFamily="34" charset="0"/>
                </a:rPr>
                <a:t>:</a:t>
              </a:r>
              <a:r>
                <a:rPr lang="en-US" altLang="en-US" sz="1050" dirty="0">
                  <a:solidFill>
                    <a:srgbClr val="C000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en-US" sz="1200" dirty="0">
                  <a:solidFill>
                    <a:srgbClr val="C00000"/>
                  </a:solidFill>
                  <a:latin typeface="Arial" panose="020B0604020202020204" pitchFamily="34" charset="0"/>
                </a:rPr>
                <a:t>original data, </a:t>
              </a:r>
              <a:r>
                <a:rPr lang="en-US" altLang="en-US" sz="1200" i="1" dirty="0">
                  <a:solidFill>
                    <a:srgbClr val="C00000"/>
                  </a:solidFill>
                  <a:latin typeface="Arial" panose="020B0604020202020204" pitchFamily="34" charset="0"/>
                </a:rPr>
                <a:t>plus</a:t>
              </a:r>
              <a:r>
                <a:rPr lang="en-US" altLang="en-US" sz="1200" dirty="0">
                  <a:solidFill>
                    <a:srgbClr val="C00000"/>
                  </a:solidFill>
                  <a:latin typeface="Arial" panose="020B0604020202020204" pitchFamily="34" charset="0"/>
                </a:rPr>
                <a:t> retransmitted data</a:t>
              </a:r>
              <a:endParaRPr lang="en-US" altLang="en-US" sz="1200" dirty="0">
                <a:solidFill>
                  <a:srgbClr val="C00000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384" name="Line 234">
              <a:extLst>
                <a:ext uri="{FF2B5EF4-FFF2-40B4-BE49-F238E27FC236}">
                  <a16:creationId xmlns:a16="http://schemas.microsoft.com/office/drawing/2014/main" id="{461900DA-408C-DE4C-AE3A-7C59E17053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385" name="Line 235">
              <a:extLst>
                <a:ext uri="{FF2B5EF4-FFF2-40B4-BE49-F238E27FC236}">
                  <a16:creationId xmlns:a16="http://schemas.microsoft.com/office/drawing/2014/main" id="{9AE41AE9-2E2C-A94C-8563-FA0EF6DB24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EF024339-16A9-2940-84AC-8D5FD6D530DC}"/>
              </a:ext>
            </a:extLst>
          </p:cNvPr>
          <p:cNvGrpSpPr/>
          <p:nvPr/>
        </p:nvGrpSpPr>
        <p:grpSpPr>
          <a:xfrm>
            <a:off x="2185117" y="4771465"/>
            <a:ext cx="1454048" cy="975136"/>
            <a:chOff x="2913490" y="5218953"/>
            <a:chExt cx="1938730" cy="1300181"/>
          </a:xfrm>
        </p:grpSpPr>
        <p:sp>
          <p:nvSpPr>
            <p:cNvPr id="368" name="Text Box 32">
              <a:extLst>
                <a:ext uri="{FF2B5EF4-FFF2-40B4-BE49-F238E27FC236}">
                  <a16:creationId xmlns:a16="http://schemas.microsoft.com/office/drawing/2014/main" id="{5AAD3E18-5D61-9A4F-A8C6-DA15D5F6E8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b="1" i="1" dirty="0">
                  <a:solidFill>
                    <a:srgbClr val="C00000"/>
                  </a:solidFill>
                  <a:latin typeface="Arial" panose="020B0604020202020204" pitchFamily="34" charset="0"/>
                </a:rPr>
                <a:t>finite</a:t>
              </a:r>
              <a:r>
                <a:rPr lang="en-US" altLang="en-US" sz="900" dirty="0">
                  <a:solidFill>
                    <a:srgbClr val="000000"/>
                  </a:solidFill>
                  <a:latin typeface="Arial" panose="020B0604020202020204" pitchFamily="34" charset="0"/>
                </a:rPr>
                <a:t> shared output link buffers</a:t>
              </a:r>
            </a:p>
          </p:txBody>
        </p:sp>
        <p:sp>
          <p:nvSpPr>
            <p:cNvPr id="369" name="Line 77">
              <a:extLst>
                <a:ext uri="{FF2B5EF4-FFF2-40B4-BE49-F238E27FC236}">
                  <a16:creationId xmlns:a16="http://schemas.microsoft.com/office/drawing/2014/main" id="{9C4905E3-CC67-3F4F-9F6E-3576D662FE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70" name="Group 369">
              <a:extLst>
                <a:ext uri="{FF2B5EF4-FFF2-40B4-BE49-F238E27FC236}">
                  <a16:creationId xmlns:a16="http://schemas.microsoft.com/office/drawing/2014/main" id="{642EEE98-D955-2645-BCEA-6CFA28F8CF58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BF29C153-2860-A047-B353-EB834110B516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372" name="Straight Connector 371">
                <a:extLst>
                  <a:ext uri="{FF2B5EF4-FFF2-40B4-BE49-F238E27FC236}">
                    <a16:creationId xmlns:a16="http://schemas.microsoft.com/office/drawing/2014/main" id="{0F94F15C-CB01-2343-8BA9-D6A7A5F3E921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Straight Connector 372">
                <a:extLst>
                  <a:ext uri="{FF2B5EF4-FFF2-40B4-BE49-F238E27FC236}">
                    <a16:creationId xmlns:a16="http://schemas.microsoft.com/office/drawing/2014/main" id="{13BCDCB2-682E-8A47-B5AA-751DCC383167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373">
                <a:extLst>
                  <a:ext uri="{FF2B5EF4-FFF2-40B4-BE49-F238E27FC236}">
                    <a16:creationId xmlns:a16="http://schemas.microsoft.com/office/drawing/2014/main" id="{4EC6D7F8-6E55-114F-BBD8-DF2048FBDBD4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Straight Connector 374">
                <a:extLst>
                  <a:ext uri="{FF2B5EF4-FFF2-40B4-BE49-F238E27FC236}">
                    <a16:creationId xmlns:a16="http://schemas.microsoft.com/office/drawing/2014/main" id="{0DA34588-6E4E-E843-9815-D17EF78C07C8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EDC81EAA-11E7-204C-B32D-EF46B8EA0474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Straight Connector 376">
                <a:extLst>
                  <a:ext uri="{FF2B5EF4-FFF2-40B4-BE49-F238E27FC236}">
                    <a16:creationId xmlns:a16="http://schemas.microsoft.com/office/drawing/2014/main" id="{BB2D8E63-0217-464C-AF6F-C583D47A94FB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Straight Connector 377">
                <a:extLst>
                  <a:ext uri="{FF2B5EF4-FFF2-40B4-BE49-F238E27FC236}">
                    <a16:creationId xmlns:a16="http://schemas.microsoft.com/office/drawing/2014/main" id="{1DC8A4E4-9140-9846-AE4D-F6F7180594C0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64" name="Freeform 91">
            <a:extLst>
              <a:ext uri="{FF2B5EF4-FFF2-40B4-BE49-F238E27FC236}">
                <a16:creationId xmlns:a16="http://schemas.microsoft.com/office/drawing/2014/main" id="{6A998D77-E674-4C42-8116-BFA762D73522}"/>
              </a:ext>
            </a:extLst>
          </p:cNvPr>
          <p:cNvSpPr>
            <a:spLocks/>
          </p:cNvSpPr>
          <p:nvPr/>
        </p:nvSpPr>
        <p:spPr bwMode="auto">
          <a:xfrm>
            <a:off x="2102515" y="3601941"/>
            <a:ext cx="3158903" cy="1252595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7181676C-F21F-FA45-B687-4F604B6D6AB0}"/>
              </a:ext>
            </a:extLst>
          </p:cNvPr>
          <p:cNvGrpSpPr/>
          <p:nvPr/>
        </p:nvGrpSpPr>
        <p:grpSpPr>
          <a:xfrm>
            <a:off x="1189944" y="4415193"/>
            <a:ext cx="3685387" cy="1009554"/>
            <a:chOff x="5641439" y="2685215"/>
            <a:chExt cx="4000500" cy="1028700"/>
          </a:xfrm>
        </p:grpSpPr>
        <p:sp>
          <p:nvSpPr>
            <p:cNvPr id="366" name="Oval 73">
              <a:extLst>
                <a:ext uri="{FF2B5EF4-FFF2-40B4-BE49-F238E27FC236}">
                  <a16:creationId xmlns:a16="http://schemas.microsoft.com/office/drawing/2014/main" id="{35053334-4D7F-4847-80B3-6F40D7B23A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367" name="Freeform 90">
              <a:extLst>
                <a:ext uri="{FF2B5EF4-FFF2-40B4-BE49-F238E27FC236}">
                  <a16:creationId xmlns:a16="http://schemas.microsoft.com/office/drawing/2014/main" id="{95104C9F-4620-634A-B9AC-1FD27521E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5013778A-FC3E-6147-B237-2E421A578596}"/>
              </a:ext>
            </a:extLst>
          </p:cNvPr>
          <p:cNvGrpSpPr/>
          <p:nvPr/>
        </p:nvGrpSpPr>
        <p:grpSpPr>
          <a:xfrm>
            <a:off x="2421069" y="4859836"/>
            <a:ext cx="1639465" cy="380565"/>
            <a:chOff x="3228093" y="5336775"/>
            <a:chExt cx="2185953" cy="507419"/>
          </a:xfrm>
        </p:grpSpPr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79802D0E-17EA-E149-8E57-45B459B30699}"/>
                </a:ext>
              </a:extLst>
            </p:cNvPr>
            <p:cNvSpPr txBox="1"/>
            <p:nvPr/>
          </p:nvSpPr>
          <p:spPr>
            <a:xfrm>
              <a:off x="5001111" y="5336775"/>
              <a:ext cx="412935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 defTabSz="685800"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</a:rPr>
                <a:t>R</a:t>
              </a:r>
            </a:p>
          </p:txBody>
        </p:sp>
        <p:sp>
          <p:nvSpPr>
            <p:cNvPr id="484" name="TextBox 483">
              <a:extLst>
                <a:ext uri="{FF2B5EF4-FFF2-40B4-BE49-F238E27FC236}">
                  <a16:creationId xmlns:a16="http://schemas.microsoft.com/office/drawing/2014/main" id="{18161CA6-5140-A442-9496-A8022DF846CA}"/>
                </a:ext>
              </a:extLst>
            </p:cNvPr>
            <p:cNvSpPr txBox="1"/>
            <p:nvPr/>
          </p:nvSpPr>
          <p:spPr>
            <a:xfrm>
              <a:off x="3228093" y="5351752"/>
              <a:ext cx="412935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 defTabSz="685800">
                <a:defRPr/>
              </a:pPr>
              <a:r>
                <a:rPr lang="en-US" dirty="0">
                  <a:solidFill>
                    <a:prstClr val="black"/>
                  </a:solidFill>
                  <a:latin typeface="Calibri"/>
                </a:rPr>
                <a:t>R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Causes/costs of congestion: scenario 2</a:t>
            </a:r>
            <a:endParaRPr lang="en-US" b="0" dirty="0"/>
          </a:p>
        </p:txBody>
      </p:sp>
      <p:sp>
        <p:nvSpPr>
          <p:cNvPr id="190" name="Slide Number Placeholder 2">
            <a:extLst>
              <a:ext uri="{FF2B5EF4-FFF2-40B4-BE49-F238E27FC236}">
                <a16:creationId xmlns:a16="http://schemas.microsoft.com/office/drawing/2014/main" id="{78C896B7-6A68-6749-AF49-8349F653C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Transport Layer: 3-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9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179" name="Line 17">
            <a:extLst>
              <a:ext uri="{FF2B5EF4-FFF2-40B4-BE49-F238E27FC236}">
                <a16:creationId xmlns:a16="http://schemas.microsoft.com/office/drawing/2014/main" id="{D36515D0-132A-8F4C-B7B9-1155DF4887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5760" y="4516042"/>
            <a:ext cx="403622" cy="1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1C4268F0-E551-D24B-9519-6A260937A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2879" y="3586163"/>
            <a:ext cx="84534" cy="8691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200" kern="0" dirty="0">
              <a:solidFill>
                <a:srgbClr val="000000"/>
              </a:solidFill>
            </a:endParaRPr>
          </a:p>
        </p:txBody>
      </p:sp>
      <p:sp>
        <p:nvSpPr>
          <p:cNvPr id="229" name="Freeform 228">
            <a:extLst>
              <a:ext uri="{FF2B5EF4-FFF2-40B4-BE49-F238E27FC236}">
                <a16:creationId xmlns:a16="http://schemas.microsoft.com/office/drawing/2014/main" id="{63D52C34-ADA8-824F-BFD8-D4746FEC885A}"/>
              </a:ext>
            </a:extLst>
          </p:cNvPr>
          <p:cNvSpPr>
            <a:spLocks/>
          </p:cNvSpPr>
          <p:nvPr/>
        </p:nvSpPr>
        <p:spPr bwMode="auto">
          <a:xfrm>
            <a:off x="2116931" y="3631406"/>
            <a:ext cx="3157538" cy="1234679"/>
          </a:xfrm>
          <a:custGeom>
            <a:avLst/>
            <a:gdLst>
              <a:gd name="T0" fmla="*/ 0 w 5400"/>
              <a:gd name="T1" fmla="*/ 0 h 2010"/>
              <a:gd name="T2" fmla="*/ 0 w 5400"/>
              <a:gd name="T3" fmla="*/ 2147483647 h 2010"/>
              <a:gd name="T4" fmla="*/ 2147483647 w 5400"/>
              <a:gd name="T5" fmla="*/ 2147483647 h 2010"/>
              <a:gd name="T6" fmla="*/ 2147483647 w 5400"/>
              <a:gd name="T7" fmla="*/ 2147483647 h 2010"/>
              <a:gd name="T8" fmla="*/ 2147483647 w 5400"/>
              <a:gd name="T9" fmla="*/ 2147483647 h 2010"/>
              <a:gd name="T10" fmla="*/ 2147483647 w 5400"/>
              <a:gd name="T11" fmla="*/ 2147483647 h 2010"/>
              <a:gd name="T12" fmla="*/ 2147483647 w 5400"/>
              <a:gd name="T13" fmla="*/ 2147483647 h 2010"/>
              <a:gd name="T14" fmla="*/ 2147483647 w 5400"/>
              <a:gd name="T15" fmla="*/ 2147483647 h 201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400" h="2010">
                <a:moveTo>
                  <a:pt x="0" y="0"/>
                </a:moveTo>
                <a:lnTo>
                  <a:pt x="0" y="1485"/>
                </a:lnTo>
                <a:lnTo>
                  <a:pt x="1005" y="1500"/>
                </a:lnTo>
                <a:lnTo>
                  <a:pt x="540" y="2010"/>
                </a:lnTo>
                <a:lnTo>
                  <a:pt x="3615" y="2010"/>
                </a:lnTo>
                <a:lnTo>
                  <a:pt x="4350" y="1275"/>
                </a:lnTo>
                <a:lnTo>
                  <a:pt x="5400" y="1290"/>
                </a:lnTo>
                <a:lnTo>
                  <a:pt x="5400" y="120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2699F953-20DB-2F48-91B4-9336D6A63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2879" y="3761185"/>
            <a:ext cx="84534" cy="8691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200" kern="0" dirty="0">
              <a:solidFill>
                <a:srgbClr val="000000"/>
              </a:solidFill>
            </a:endParaRP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52CAA5BF-C505-6847-BAF8-A75587362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3588" y="3567113"/>
            <a:ext cx="183356" cy="116681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6EBFCC57-DC97-C441-897D-9E4916F1E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5938" y="3742135"/>
            <a:ext cx="183356" cy="116681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37" name="Text Box 236">
            <a:extLst>
              <a:ext uri="{FF2B5EF4-FFF2-40B4-BE49-F238E27FC236}">
                <a16:creationId xmlns:a16="http://schemas.microsoft.com/office/drawing/2014/main" id="{2385057C-CC2A-904D-B477-1A4E091EC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3577" y="3659982"/>
            <a:ext cx="50847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6600"/>
                </a:solidFill>
                <a:latin typeface="Arial" charset="0"/>
              </a:rPr>
              <a:t>copy</a:t>
            </a:r>
          </a:p>
        </p:txBody>
      </p:sp>
      <p:grpSp>
        <p:nvGrpSpPr>
          <p:cNvPr id="239" name="Group 240">
            <a:extLst>
              <a:ext uri="{FF2B5EF4-FFF2-40B4-BE49-F238E27FC236}">
                <a16:creationId xmlns:a16="http://schemas.microsoft.com/office/drawing/2014/main" id="{3C099EA3-4C76-8E43-A8FA-DA69E23B587D}"/>
              </a:ext>
            </a:extLst>
          </p:cNvPr>
          <p:cNvGrpSpPr>
            <a:grpSpLocks/>
          </p:cNvGrpSpPr>
          <p:nvPr/>
        </p:nvGrpSpPr>
        <p:grpSpPr bwMode="auto">
          <a:xfrm>
            <a:off x="1032273" y="3332562"/>
            <a:ext cx="710803" cy="695326"/>
            <a:chOff x="3283" y="2142"/>
            <a:chExt cx="597" cy="584"/>
          </a:xfrm>
        </p:grpSpPr>
        <p:grpSp>
          <p:nvGrpSpPr>
            <p:cNvPr id="240" name="Group 241">
              <a:extLst>
                <a:ext uri="{FF2B5EF4-FFF2-40B4-BE49-F238E27FC236}">
                  <a16:creationId xmlns:a16="http://schemas.microsoft.com/office/drawing/2014/main" id="{B0C67642-FA77-3248-BB94-4C12B33DAB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3" y="2387"/>
              <a:ext cx="597" cy="303"/>
              <a:chOff x="990" y="4570"/>
              <a:chExt cx="597" cy="380"/>
            </a:xfrm>
          </p:grpSpPr>
          <p:pic>
            <p:nvPicPr>
              <p:cNvPr id="243" name="Picture 242">
                <a:extLst>
                  <a:ext uri="{FF2B5EF4-FFF2-40B4-BE49-F238E27FC236}">
                    <a16:creationId xmlns:a16="http://schemas.microsoft.com/office/drawing/2014/main" id="{67A85C0C-4A8A-6B47-B09B-B8DCC27068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90" y="4570"/>
                <a:ext cx="597" cy="3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1BE93BC6-21EB-E345-A354-EC1A31A931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4" y="4679"/>
                <a:ext cx="360" cy="148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41" name="Text Box 244">
              <a:extLst>
                <a:ext uri="{FF2B5EF4-FFF2-40B4-BE49-F238E27FC236}">
                  <a16:creationId xmlns:a16="http://schemas.microsoft.com/office/drawing/2014/main" id="{057976BB-0F9A-9941-9597-91496E327B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3" y="2461"/>
              <a:ext cx="479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 b="1" i="1" dirty="0">
                  <a:solidFill>
                    <a:srgbClr val="3333CC"/>
                  </a:solidFill>
                  <a:latin typeface="Comic Sans MS" charset="0"/>
                </a:rPr>
                <a:t>timeout</a:t>
              </a:r>
            </a:p>
          </p:txBody>
        </p:sp>
        <p:pic>
          <p:nvPicPr>
            <p:cNvPr id="242" name="Picture 245">
              <a:extLst>
                <a:ext uri="{FF2B5EF4-FFF2-40B4-BE49-F238E27FC236}">
                  <a16:creationId xmlns:a16="http://schemas.microsoft.com/office/drawing/2014/main" id="{18023B91-60B5-4147-A0EC-197B454FEC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419" y="2142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sp>
        <p:nvSpPr>
          <p:cNvPr id="342" name="Rectangle 281">
            <a:extLst>
              <a:ext uri="{FF2B5EF4-FFF2-40B4-BE49-F238E27FC236}">
                <a16:creationId xmlns:a16="http://schemas.microsoft.com/office/drawing/2014/main" id="{3D39CBCD-019A-0349-BB68-948FE706E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1796634"/>
            <a:ext cx="4549430" cy="1525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57175" indent="-257175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lang="en-US" sz="2100" dirty="0">
                <a:solidFill>
                  <a:srgbClr val="000099"/>
                </a:solidFill>
                <a:latin typeface="Calibri" panose="020F0502020204030204"/>
                <a:ea typeface="ＭＳ Ｐゴシック" charset="0"/>
              </a:rPr>
              <a:t>Realistic scenario: </a:t>
            </a:r>
            <a:r>
              <a:rPr lang="en-US" sz="2100" i="1" dirty="0">
                <a:solidFill>
                  <a:srgbClr val="C00000"/>
                </a:solidFill>
                <a:latin typeface="Calibri" panose="020F0502020204030204"/>
                <a:ea typeface="ＭＳ Ｐゴシック" charset="0"/>
              </a:rPr>
              <a:t>un-needed</a:t>
            </a:r>
            <a:r>
              <a:rPr lang="en-US" sz="2100" dirty="0">
                <a:solidFill>
                  <a:srgbClr val="000099"/>
                </a:solidFill>
                <a:latin typeface="Calibri" panose="020F0502020204030204"/>
                <a:ea typeface="ＭＳ Ｐゴシック" charset="0"/>
              </a:rPr>
              <a:t> </a:t>
            </a:r>
            <a:r>
              <a:rPr lang="en-US" sz="2100" i="1" dirty="0">
                <a:solidFill>
                  <a:srgbClr val="CC0000"/>
                </a:solidFill>
                <a:latin typeface="Calibri" panose="020F0502020204030204"/>
                <a:ea typeface="ＭＳ Ｐゴシック" charset="0"/>
              </a:rPr>
              <a:t>duplicates</a:t>
            </a:r>
            <a:endParaRPr lang="en-US" sz="1500" dirty="0">
              <a:solidFill>
                <a:prstClr val="black"/>
              </a:solidFill>
              <a:latin typeface="Calibri" panose="020F0502020204030204"/>
              <a:ea typeface="ＭＳ Ｐゴシック" charset="0"/>
            </a:endParaRPr>
          </a:p>
          <a:p>
            <a:pPr marL="219075" indent="-180975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65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packets can be lost, dropped at router due  to full buffers – requiring retransmissions</a:t>
            </a:r>
          </a:p>
          <a:p>
            <a:pPr marL="219075" indent="-180975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65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but sender times can time out prematurely, sending </a:t>
            </a:r>
            <a:r>
              <a:rPr lang="en-US" sz="1650" i="1" dirty="0">
                <a:solidFill>
                  <a:srgbClr val="000099"/>
                </a:solidFill>
                <a:latin typeface="Calibri" panose="020F0502020204030204"/>
                <a:ea typeface="ＭＳ Ｐゴシック" charset="0"/>
              </a:rPr>
              <a:t>two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 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copies, </a:t>
            </a:r>
            <a:r>
              <a:rPr lang="en-US" sz="1650" i="1" dirty="0">
                <a:solidFill>
                  <a:srgbClr val="0013A3"/>
                </a:solidFill>
                <a:latin typeface="Calibri" panose="020F0502020204030204"/>
                <a:ea typeface="ＭＳ Ｐゴシック" charset="0"/>
              </a:rPr>
              <a:t>both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 of which are delivered</a:t>
            </a:r>
          </a:p>
          <a:p>
            <a:pPr marL="257175" indent="-257175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endParaRPr lang="en-US" sz="2100" dirty="0">
              <a:solidFill>
                <a:prstClr val="black"/>
              </a:solidFill>
              <a:latin typeface="Gill Sans MT" charset="0"/>
              <a:ea typeface="ＭＳ Ｐゴシック" charset="0"/>
            </a:endParaRPr>
          </a:p>
        </p:txBody>
      </p:sp>
      <p:sp>
        <p:nvSpPr>
          <p:cNvPr id="238" name="Text Box 237">
            <a:extLst>
              <a:ext uri="{FF2B5EF4-FFF2-40B4-BE49-F238E27FC236}">
                <a16:creationId xmlns:a16="http://schemas.microsoft.com/office/drawing/2014/main" id="{147D48B6-6F9D-A040-89CB-089EAC406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6131" y="4428090"/>
            <a:ext cx="138050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i="1" dirty="0">
                <a:solidFill>
                  <a:srgbClr val="006600"/>
                </a:solidFill>
                <a:latin typeface="Arial" charset="0"/>
              </a:rPr>
              <a:t>free buffer space!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67624B7-6B20-F845-9C41-4CC182257E49}"/>
              </a:ext>
            </a:extLst>
          </p:cNvPr>
          <p:cNvGrpSpPr/>
          <p:nvPr/>
        </p:nvGrpSpPr>
        <p:grpSpPr>
          <a:xfrm>
            <a:off x="7516708" y="2549477"/>
            <a:ext cx="1514195" cy="1613442"/>
            <a:chOff x="10022277" y="2034920"/>
            <a:chExt cx="2018927" cy="2151256"/>
          </a:xfrm>
        </p:grpSpPr>
        <p:sp>
          <p:nvSpPr>
            <p:cNvPr id="198" name="Text Box 259">
              <a:extLst>
                <a:ext uri="{FF2B5EF4-FFF2-40B4-BE49-F238E27FC236}">
                  <a16:creationId xmlns:a16="http://schemas.microsoft.com/office/drawing/2014/main" id="{9EDD7432-CD42-3343-A35C-16F063B6C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1280" y="2339516"/>
              <a:ext cx="1799924" cy="18466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050" dirty="0">
                  <a:solidFill>
                    <a:prstClr val="black"/>
                  </a:solidFill>
                  <a:latin typeface="Arial" charset="0"/>
                </a:rPr>
                <a:t>when sending at R/2, some packets are retransmissions, including needed and </a:t>
              </a:r>
              <a:r>
                <a:rPr lang="en-US" sz="1050" i="1" dirty="0">
                  <a:solidFill>
                    <a:srgbClr val="C00000"/>
                  </a:solidFill>
                  <a:latin typeface="Arial" charset="0"/>
                </a:rPr>
                <a:t>un-needed</a:t>
              </a:r>
              <a:r>
                <a:rPr lang="en-US" sz="1050" dirty="0">
                  <a:solidFill>
                    <a:prstClr val="black"/>
                  </a:solidFill>
                  <a:latin typeface="Arial" charset="0"/>
                </a:rPr>
                <a:t> duplicates, that are delivered!</a:t>
              </a:r>
            </a:p>
          </p:txBody>
        </p:sp>
        <p:sp>
          <p:nvSpPr>
            <p:cNvPr id="202" name="Line 253">
              <a:extLst>
                <a:ext uri="{FF2B5EF4-FFF2-40B4-BE49-F238E27FC236}">
                  <a16:creationId xmlns:a16="http://schemas.microsoft.com/office/drawing/2014/main" id="{D5AB995F-B247-6F4B-BEAE-3191BFB3D4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022277" y="2034920"/>
              <a:ext cx="423050" cy="355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EA05CA9-3FA3-BF4C-A8E9-55EEC0008877}"/>
              </a:ext>
            </a:extLst>
          </p:cNvPr>
          <p:cNvGrpSpPr/>
          <p:nvPr/>
        </p:nvGrpSpPr>
        <p:grpSpPr>
          <a:xfrm>
            <a:off x="7530082" y="2170885"/>
            <a:ext cx="1428325" cy="528606"/>
            <a:chOff x="10040109" y="1530131"/>
            <a:chExt cx="1904433" cy="704807"/>
          </a:xfrm>
        </p:grpSpPr>
        <p:sp>
          <p:nvSpPr>
            <p:cNvPr id="224" name="Text Box 252">
              <a:extLst>
                <a:ext uri="{FF2B5EF4-FFF2-40B4-BE49-F238E27FC236}">
                  <a16:creationId xmlns:a16="http://schemas.microsoft.com/office/drawing/2014/main" id="{14DBF64B-0F2A-564A-8608-15D68B07DB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28952" y="1530131"/>
              <a:ext cx="1815590" cy="7048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lnSpc>
                  <a:spcPct val="90000"/>
                </a:lnSpc>
                <a:defRPr/>
              </a:pPr>
              <a:r>
                <a:rPr lang="en-US" sz="1050" dirty="0">
                  <a:solidFill>
                    <a:prstClr val="black"/>
                  </a:solidFill>
                  <a:latin typeface="Calibri" panose="020F0502020204030204"/>
                </a:rPr>
                <a:t>“wasted” capacity due to un-needed retransmissions</a:t>
              </a:r>
            </a:p>
          </p:txBody>
        </p:sp>
        <p:sp>
          <p:nvSpPr>
            <p:cNvPr id="225" name="Right Brace 224">
              <a:extLst>
                <a:ext uri="{FF2B5EF4-FFF2-40B4-BE49-F238E27FC236}">
                  <a16:creationId xmlns:a16="http://schemas.microsoft.com/office/drawing/2014/main" id="{2533B29F-81E1-3C4A-A26B-AFF9EC5694E3}"/>
                </a:ext>
              </a:extLst>
            </p:cNvPr>
            <p:cNvSpPr/>
            <p:nvPr/>
          </p:nvSpPr>
          <p:spPr>
            <a:xfrm>
              <a:off x="10040109" y="1765940"/>
              <a:ext cx="144379" cy="223205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2B126A1-4A79-F34D-A071-BDA969124FB9}"/>
              </a:ext>
            </a:extLst>
          </p:cNvPr>
          <p:cNvGrpSpPr/>
          <p:nvPr/>
        </p:nvGrpSpPr>
        <p:grpSpPr>
          <a:xfrm>
            <a:off x="5521089" y="1923422"/>
            <a:ext cx="2107003" cy="1960824"/>
            <a:chOff x="7361453" y="1200180"/>
            <a:chExt cx="2809338" cy="2614432"/>
          </a:xfrm>
        </p:grpSpPr>
        <p:sp>
          <p:nvSpPr>
            <p:cNvPr id="204" name="Freeform 245">
              <a:extLst>
                <a:ext uri="{FF2B5EF4-FFF2-40B4-BE49-F238E27FC236}">
                  <a16:creationId xmlns:a16="http://schemas.microsoft.com/office/drawing/2014/main" id="{B3460BD7-A5F9-BE49-9E86-1F8442B74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8715" y="1967477"/>
              <a:ext cx="2024019" cy="1384114"/>
            </a:xfrm>
            <a:custGeom>
              <a:avLst/>
              <a:gdLst>
                <a:gd name="T0" fmla="*/ 0 w 1636"/>
                <a:gd name="T1" fmla="*/ 955 h 955"/>
                <a:gd name="T2" fmla="*/ 758 w 1636"/>
                <a:gd name="T3" fmla="*/ 246 h 955"/>
                <a:gd name="T4" fmla="*/ 1636 w 1636"/>
                <a:gd name="T5" fmla="*/ 7 h 955"/>
                <a:gd name="T6" fmla="*/ 0 60000 65536"/>
                <a:gd name="T7" fmla="*/ 0 60000 65536"/>
                <a:gd name="T8" fmla="*/ 0 60000 65536"/>
                <a:gd name="connsiteX0" fmla="*/ 0 w 6072"/>
                <a:gd name="connsiteY0" fmla="*/ 8862 h 8862"/>
                <a:gd name="connsiteX1" fmla="*/ 4633 w 6072"/>
                <a:gd name="connsiteY1" fmla="*/ 1438 h 8862"/>
                <a:gd name="connsiteX2" fmla="*/ 6072 w 6072"/>
                <a:gd name="connsiteY2" fmla="*/ 120 h 8862"/>
                <a:gd name="connsiteX0" fmla="*/ 0 w 10000"/>
                <a:gd name="connsiteY0" fmla="*/ 9865 h 9865"/>
                <a:gd name="connsiteX1" fmla="*/ 7630 w 10000"/>
                <a:gd name="connsiteY1" fmla="*/ 1488 h 9865"/>
                <a:gd name="connsiteX2" fmla="*/ 10000 w 10000"/>
                <a:gd name="connsiteY2" fmla="*/ 0 h 9865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536 w 10000"/>
                <a:gd name="connsiteY1" fmla="*/ 1223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1268" y="8586"/>
                    <a:pt x="4789" y="3077"/>
                    <a:pt x="6536" y="1223"/>
                  </a:cubicBezTo>
                  <a:cubicBezTo>
                    <a:pt x="7406" y="549"/>
                    <a:pt x="8333" y="126"/>
                    <a:pt x="10000" y="0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205" name="Group 246">
              <a:extLst>
                <a:ext uri="{FF2B5EF4-FFF2-40B4-BE49-F238E27FC236}">
                  <a16:creationId xmlns:a16="http://schemas.microsoft.com/office/drawing/2014/main" id="{5E08E7AA-3C32-114D-AB01-2054FE7FF6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6234" y="3317991"/>
              <a:ext cx="519113" cy="430214"/>
              <a:chOff x="3583" y="1761"/>
              <a:chExt cx="327" cy="271"/>
            </a:xfrm>
          </p:grpSpPr>
          <p:sp>
            <p:nvSpPr>
              <p:cNvPr id="221" name="Text Box 247">
                <a:extLst>
                  <a:ext uri="{FF2B5EF4-FFF2-40B4-BE49-F238E27FC236}">
                    <a16:creationId xmlns:a16="http://schemas.microsoft.com/office/drawing/2014/main" id="{1B32B252-D75C-EE47-9DF7-3388AC1F32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3" y="1761"/>
                <a:ext cx="327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defTabSz="685800">
                  <a:defRPr/>
                </a:pPr>
                <a:r>
                  <a:rPr lang="en-US" sz="1500" dirty="0">
                    <a:solidFill>
                      <a:prstClr val="black"/>
                    </a:solidFill>
                    <a:latin typeface="Symbol" charset="0"/>
                    <a:cs typeface="Arial" charset="0"/>
                  </a:rPr>
                  <a:t>l</a:t>
                </a:r>
                <a:r>
                  <a:rPr lang="en-US" sz="1500" baseline="-25000" dirty="0">
                    <a:solidFill>
                      <a:prstClr val="black"/>
                    </a:solidFill>
                    <a:latin typeface="Arial" charset="0"/>
                    <a:cs typeface="Arial" charset="0"/>
                  </a:rPr>
                  <a:t>in</a:t>
                </a:r>
              </a:p>
            </p:txBody>
          </p:sp>
          <p:sp>
            <p:nvSpPr>
              <p:cNvPr id="222" name="Line 248">
                <a:extLst>
                  <a:ext uri="{FF2B5EF4-FFF2-40B4-BE49-F238E27FC236}">
                    <a16:creationId xmlns:a16="http://schemas.microsoft.com/office/drawing/2014/main" id="{069831FC-8BE0-BA42-967D-6C06BFB985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26" y="1834"/>
                <a:ext cx="24" cy="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06" name="Line 278">
              <a:extLst>
                <a:ext uri="{FF2B5EF4-FFF2-40B4-BE49-F238E27FC236}">
                  <a16:creationId xmlns:a16="http://schemas.microsoft.com/office/drawing/2014/main" id="{79D305B3-2BB2-D449-B462-DEAABA8BAF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5669" y="1200180"/>
              <a:ext cx="0" cy="21590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07" name="Line 280">
              <a:extLst>
                <a:ext uri="{FF2B5EF4-FFF2-40B4-BE49-F238E27FC236}">
                  <a16:creationId xmlns:a16="http://schemas.microsoft.com/office/drawing/2014/main" id="{06048882-9574-FC44-B8CF-F1DAC2D704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72557" y="1436494"/>
              <a:ext cx="0" cy="18690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08" name="Freeform 281">
              <a:extLst>
                <a:ext uri="{FF2B5EF4-FFF2-40B4-BE49-F238E27FC236}">
                  <a16:creationId xmlns:a16="http://schemas.microsoft.com/office/drawing/2014/main" id="{BF1363B2-F686-8742-8291-A19A05138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4426" y="1377415"/>
              <a:ext cx="2023753" cy="1965701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9" name="Line 282">
              <a:extLst>
                <a:ext uri="{FF2B5EF4-FFF2-40B4-BE49-F238E27FC236}">
                  <a16:creationId xmlns:a16="http://schemas.microsoft.com/office/drawing/2014/main" id="{F026FEA1-5290-6345-BCE2-778BE3958B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19509" y="1377415"/>
              <a:ext cx="140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10" name="Line 283">
              <a:extLst>
                <a:ext uri="{FF2B5EF4-FFF2-40B4-BE49-F238E27FC236}">
                  <a16:creationId xmlns:a16="http://schemas.microsoft.com/office/drawing/2014/main" id="{6915514F-CA67-4B49-A03C-EFE57672B7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6936" y="3359228"/>
              <a:ext cx="0" cy="155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11" name="Text Box 284">
              <a:extLst>
                <a:ext uri="{FF2B5EF4-FFF2-40B4-BE49-F238E27FC236}">
                  <a16:creationId xmlns:a16="http://schemas.microsoft.com/office/drawing/2014/main" id="{28C1A511-7077-0445-8960-2561706C38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1453" y="1202895"/>
              <a:ext cx="524075" cy="3385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050" dirty="0">
                  <a:solidFill>
                    <a:prstClr val="black"/>
                  </a:solidFill>
                </a:rPr>
                <a:t>R/2</a:t>
              </a:r>
            </a:p>
          </p:txBody>
        </p:sp>
        <p:sp>
          <p:nvSpPr>
            <p:cNvPr id="212" name="Text Box 286">
              <a:extLst>
                <a:ext uri="{FF2B5EF4-FFF2-40B4-BE49-F238E27FC236}">
                  <a16:creationId xmlns:a16="http://schemas.microsoft.com/office/drawing/2014/main" id="{4E3E2B16-E915-2341-A1DD-6D63A903A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549069" y="1468107"/>
              <a:ext cx="622392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500" dirty="0">
                  <a:solidFill>
                    <a:prstClr val="black"/>
                  </a:solidFill>
                  <a:latin typeface="Symbol" charset="0"/>
                </a:rPr>
                <a:t>l</a:t>
              </a:r>
              <a:r>
                <a:rPr lang="en-US" sz="1500" baseline="-25000" dirty="0">
                  <a:solidFill>
                    <a:prstClr val="black"/>
                  </a:solidFill>
                  <a:latin typeface="Arial" charset="0"/>
                </a:rPr>
                <a:t>out</a:t>
              </a:r>
            </a:p>
          </p:txBody>
        </p:sp>
        <p:sp>
          <p:nvSpPr>
            <p:cNvPr id="213" name="Line 288">
              <a:extLst>
                <a:ext uri="{FF2B5EF4-FFF2-40B4-BE49-F238E27FC236}">
                  <a16:creationId xmlns:a16="http://schemas.microsoft.com/office/drawing/2014/main" id="{3DD586CE-CDF2-2743-B1D7-9277A7808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9399" y="1380101"/>
              <a:ext cx="1841053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E3464261-F9AD-6F4C-A531-9BA3554E8509}"/>
                </a:ext>
              </a:extLst>
            </p:cNvPr>
            <p:cNvCxnSpPr>
              <a:cxnSpLocks/>
            </p:cNvCxnSpPr>
            <p:nvPr/>
          </p:nvCxnSpPr>
          <p:spPr>
            <a:xfrm>
              <a:off x="7976136" y="3337560"/>
              <a:ext cx="21656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9848139A-43C0-0442-A722-9A7D460705EC}"/>
                </a:ext>
              </a:extLst>
            </p:cNvPr>
            <p:cNvSpPr txBox="1"/>
            <p:nvPr/>
          </p:nvSpPr>
          <p:spPr>
            <a:xfrm rot="16200000">
              <a:off x="7110390" y="2403910"/>
              <a:ext cx="1292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Calibri"/>
                </a:rPr>
                <a:t>throughput: </a:t>
              </a:r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8833EE11-7254-0440-A469-F4B411A23097}"/>
                </a:ext>
              </a:extLst>
            </p:cNvPr>
            <p:cNvSpPr/>
            <p:nvPr/>
          </p:nvSpPr>
          <p:spPr>
            <a:xfrm>
              <a:off x="9893835" y="1336842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18" name="Text Box 285">
              <a:extLst>
                <a:ext uri="{FF2B5EF4-FFF2-40B4-BE49-F238E27FC236}">
                  <a16:creationId xmlns:a16="http://schemas.microsoft.com/office/drawing/2014/main" id="{A6A2982E-D69C-954A-AC9A-D8235E843B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46716" y="3476057"/>
              <a:ext cx="524075" cy="3385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050" dirty="0">
                  <a:solidFill>
                    <a:prstClr val="black"/>
                  </a:solidFill>
                </a:rPr>
                <a:t>R/2</a:t>
              </a:r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25F13CA3-6FA8-E041-9F3C-DDDB5B06C49D}"/>
                </a:ext>
              </a:extLst>
            </p:cNvPr>
            <p:cNvSpPr/>
            <p:nvPr/>
          </p:nvSpPr>
          <p:spPr>
            <a:xfrm>
              <a:off x="9912327" y="1689923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20" name="Line 288">
              <a:extLst>
                <a:ext uri="{FF2B5EF4-FFF2-40B4-BE49-F238E27FC236}">
                  <a16:creationId xmlns:a16="http://schemas.microsoft.com/office/drawing/2014/main" id="{B5526BBD-BE65-A44F-AFCC-B97E4A3E4C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0093" y="1773132"/>
              <a:ext cx="197500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64497D25-845D-1D48-B421-413BFD02AFEB}"/>
                </a:ext>
              </a:extLst>
            </p:cNvPr>
            <p:cNvSpPr/>
            <p:nvPr/>
          </p:nvSpPr>
          <p:spPr>
            <a:xfrm>
              <a:off x="9908716" y="1920329"/>
              <a:ext cx="127000" cy="127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27" name="Line 288">
              <a:extLst>
                <a:ext uri="{FF2B5EF4-FFF2-40B4-BE49-F238E27FC236}">
                  <a16:creationId xmlns:a16="http://schemas.microsoft.com/office/drawing/2014/main" id="{32428ACB-96BC-1046-A240-3A7DD1957B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5485" y="1986203"/>
              <a:ext cx="19750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739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255 L -5.55556E-7 0.0354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0.03542 L 0.00039 0.17732 L 0.06446 0.17825 L 0.03503 0.24121 L 0.14544 0.24121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66" y="10278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544 0.24121 L 0.16641 0.24121 " pathEditMode="relative" rAng="0" ptsTypes="AA">
                                      <p:cBhvr>
                                        <p:cTn id="30" dur="3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500"/>
                            </p:stCondLst>
                            <p:childTnLst>
                              <p:par>
                                <p:cTn id="32" presetID="0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086 0.24051 L 0.23542 0.24051 L 0.26641 0.18125 " pathEditMode="relative" rAng="0" ptsTypes="AAA">
                                      <p:cBhvr>
                                        <p:cTn id="33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71" y="-2963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1000"/>
                            </p:stCondLst>
                            <p:childTnLst>
                              <p:par>
                                <p:cTn id="42" presetID="0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641 0.18125 L 0.2806 0.15348 L 0.33229 0.15348 L 0.33138 0.0169 " pathEditMode="relative" rAng="0" ptsTypes="AAAA">
                                      <p:cBhvr>
                                        <p:cTn id="43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94" y="-8218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2.22222E-6 L 0.02565 -2.22222E-6 L 0.02734 0.14306 L 0.08476 0.14468 L 0.06094 0.20648 L 0.24844 0.20648 L 0.297 0.1169 L 0.35989 0.11852 L 0.35989 -0.01805 " pathEditMode="relative" rAng="0" ptsTypes="AAAAAAAAA">
                                      <p:cBhvr>
                                        <p:cTn id="48" dur="20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95" y="9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3000"/>
                            </p:stCondLst>
                            <p:childTnLst>
                              <p:par>
                                <p:cTn id="50" presetID="9" presetClass="exit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" grpId="0" animBg="1"/>
      <p:bldP spid="235" grpId="1" animBg="1"/>
      <p:bldP spid="235" grpId="2" animBg="1"/>
      <p:bldP spid="235" grpId="3" animBg="1"/>
      <p:bldP spid="235" grpId="4" animBg="1"/>
      <p:bldP spid="235" grpId="5" animBg="1"/>
      <p:bldP spid="235" grpId="6" animBg="1"/>
      <p:bldP spid="236" grpId="0" animBg="1"/>
      <p:bldP spid="236" grpId="1" animBg="1"/>
      <p:bldP spid="237" grpId="0"/>
      <p:bldP spid="237" grpId="1"/>
      <p:bldP spid="238" grpId="0"/>
      <p:bldP spid="238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Causes/costs of congestion: scenario 2</a:t>
            </a:r>
            <a:endParaRPr lang="en-US" b="0" dirty="0"/>
          </a:p>
        </p:txBody>
      </p:sp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684A97D3-F9E5-B54D-ACCA-432EDB0F2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Transport Layer: 3-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10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173" name="Rectangle 261">
            <a:extLst>
              <a:ext uri="{FF2B5EF4-FFF2-40B4-BE49-F238E27FC236}">
                <a16:creationId xmlns:a16="http://schemas.microsoft.com/office/drawing/2014/main" id="{6AE69D83-2632-D345-B492-5CABD2230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5917" y="3852079"/>
            <a:ext cx="7040050" cy="161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6858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lang="en-US" altLang="ja-JP" sz="2100" dirty="0">
                <a:solidFill>
                  <a:srgbClr val="CC0000"/>
                </a:solidFill>
                <a:latin typeface="Calibri"/>
              </a:rPr>
              <a:t>“costs” of congestion:</a:t>
            </a:r>
            <a:r>
              <a:rPr lang="en-US" altLang="ja-JP" sz="2100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marL="257175" indent="-257175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/>
              </a:rPr>
              <a:t>more work (retransmission) for given receiver </a:t>
            </a:r>
            <a:r>
              <a:rPr lang="en-US" altLang="ja-JP" sz="1800" dirty="0">
                <a:solidFill>
                  <a:prstClr val="black"/>
                </a:solidFill>
                <a:latin typeface="Calibri"/>
              </a:rPr>
              <a:t>throughput</a:t>
            </a:r>
          </a:p>
          <a:p>
            <a:pPr marL="257175" indent="-257175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/>
              </a:rPr>
              <a:t>unneeded retransmissions: link carries multiple copies of a packet</a:t>
            </a:r>
          </a:p>
          <a:p>
            <a:pPr marL="514350" lvl="1" indent="-171450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/>
              </a:rPr>
              <a:t>decreasing maximum achievable throughput</a:t>
            </a:r>
          </a:p>
          <a:p>
            <a:pPr marL="257175" indent="-257175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/>
            </a:pPr>
            <a:endParaRPr lang="en-US" altLang="en-US" sz="1800" dirty="0">
              <a:solidFill>
                <a:prstClr val="black"/>
              </a:solidFill>
              <a:latin typeface="Gill Sans MT" panose="020B0502020104020203" pitchFamily="34" charset="77"/>
            </a:endParaRPr>
          </a:p>
        </p:txBody>
      </p:sp>
      <p:sp>
        <p:nvSpPr>
          <p:cNvPr id="40" name="Rectangle 281">
            <a:extLst>
              <a:ext uri="{FF2B5EF4-FFF2-40B4-BE49-F238E27FC236}">
                <a16:creationId xmlns:a16="http://schemas.microsoft.com/office/drawing/2014/main" id="{7AF2D119-126F-014B-83AA-56B122F05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2" y="1796634"/>
            <a:ext cx="4582245" cy="156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57175" indent="-257175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lang="en-US" sz="2100" dirty="0">
                <a:solidFill>
                  <a:srgbClr val="000099"/>
                </a:solidFill>
                <a:latin typeface="Calibri" panose="020F0502020204030204"/>
                <a:ea typeface="ＭＳ Ｐゴシック" charset="0"/>
              </a:rPr>
              <a:t>Realistic scenario: </a:t>
            </a:r>
            <a:r>
              <a:rPr lang="en-US" sz="2100" i="1" dirty="0">
                <a:solidFill>
                  <a:srgbClr val="C00000"/>
                </a:solidFill>
                <a:latin typeface="Calibri" panose="020F0502020204030204"/>
                <a:ea typeface="ＭＳ Ｐゴシック" charset="0"/>
              </a:rPr>
              <a:t>un-needed</a:t>
            </a:r>
            <a:r>
              <a:rPr lang="en-US" sz="2100" dirty="0">
                <a:solidFill>
                  <a:srgbClr val="000099"/>
                </a:solidFill>
                <a:latin typeface="Calibri" panose="020F0502020204030204"/>
                <a:ea typeface="ＭＳ Ｐゴシック" charset="0"/>
              </a:rPr>
              <a:t> </a:t>
            </a:r>
            <a:r>
              <a:rPr lang="en-US" sz="2100" i="1" dirty="0">
                <a:solidFill>
                  <a:srgbClr val="CC0000"/>
                </a:solidFill>
                <a:latin typeface="Calibri" panose="020F0502020204030204"/>
                <a:ea typeface="ＭＳ Ｐゴシック" charset="0"/>
              </a:rPr>
              <a:t>duplicates</a:t>
            </a:r>
            <a:endParaRPr lang="en-US" sz="1500" dirty="0">
              <a:solidFill>
                <a:prstClr val="black"/>
              </a:solidFill>
              <a:latin typeface="Calibri" panose="020F0502020204030204"/>
              <a:ea typeface="ＭＳ Ｐゴシック" charset="0"/>
            </a:endParaRPr>
          </a:p>
          <a:p>
            <a:pPr marL="219075" indent="-180975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65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packets can be lost, dropped at router due  to full buffers – requiring retransmissions</a:t>
            </a:r>
          </a:p>
          <a:p>
            <a:pPr marL="219075" indent="-180975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65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but sender times can time out prematurely, sending </a:t>
            </a:r>
            <a:r>
              <a:rPr lang="en-US" sz="1650" i="1" dirty="0">
                <a:solidFill>
                  <a:srgbClr val="000099"/>
                </a:solidFill>
                <a:latin typeface="Calibri" panose="020F0502020204030204"/>
                <a:ea typeface="ＭＳ Ｐゴシック" charset="0"/>
              </a:rPr>
              <a:t>two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 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copies, </a:t>
            </a:r>
            <a:r>
              <a:rPr lang="en-US" sz="1650" i="1" dirty="0">
                <a:solidFill>
                  <a:srgbClr val="0013A3"/>
                </a:solidFill>
                <a:latin typeface="Calibri" panose="020F0502020204030204"/>
                <a:ea typeface="ＭＳ Ｐゴシック" charset="0"/>
              </a:rPr>
              <a:t>both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 of which are delivered</a:t>
            </a:r>
          </a:p>
          <a:p>
            <a:pPr marL="257175" indent="-257175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endParaRPr lang="en-US" sz="2100" dirty="0">
              <a:solidFill>
                <a:prstClr val="black"/>
              </a:solidFill>
              <a:latin typeface="Gill Sans MT" charset="0"/>
              <a:ea typeface="ＭＳ Ｐゴシック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B7AE07C-3439-7545-A2C3-573952E4E75C}"/>
              </a:ext>
            </a:extLst>
          </p:cNvPr>
          <p:cNvGrpSpPr/>
          <p:nvPr/>
        </p:nvGrpSpPr>
        <p:grpSpPr>
          <a:xfrm>
            <a:off x="7516708" y="2549477"/>
            <a:ext cx="1514195" cy="1613442"/>
            <a:chOff x="10022277" y="2034920"/>
            <a:chExt cx="2018927" cy="2151256"/>
          </a:xfrm>
        </p:grpSpPr>
        <p:sp>
          <p:nvSpPr>
            <p:cNvPr id="42" name="Text Box 259">
              <a:extLst>
                <a:ext uri="{FF2B5EF4-FFF2-40B4-BE49-F238E27FC236}">
                  <a16:creationId xmlns:a16="http://schemas.microsoft.com/office/drawing/2014/main" id="{2AE9ED38-872D-1547-B74B-FA1C059CE8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1280" y="2339516"/>
              <a:ext cx="1799924" cy="18466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050" dirty="0">
                  <a:solidFill>
                    <a:prstClr val="black"/>
                  </a:solidFill>
                  <a:latin typeface="Arial" charset="0"/>
                </a:rPr>
                <a:t>when sending at R/2, some packets are retransmissions, including needed and </a:t>
              </a:r>
              <a:r>
                <a:rPr lang="en-US" sz="1050" i="1" dirty="0">
                  <a:solidFill>
                    <a:srgbClr val="C00000"/>
                  </a:solidFill>
                  <a:latin typeface="Arial" charset="0"/>
                </a:rPr>
                <a:t>un-needed</a:t>
              </a:r>
              <a:r>
                <a:rPr lang="en-US" sz="1050" dirty="0">
                  <a:solidFill>
                    <a:prstClr val="black"/>
                  </a:solidFill>
                  <a:latin typeface="Arial" charset="0"/>
                </a:rPr>
                <a:t> duplicates, that are delivered!</a:t>
              </a:r>
            </a:p>
          </p:txBody>
        </p:sp>
        <p:sp>
          <p:nvSpPr>
            <p:cNvPr id="43" name="Line 253">
              <a:extLst>
                <a:ext uri="{FF2B5EF4-FFF2-40B4-BE49-F238E27FC236}">
                  <a16:creationId xmlns:a16="http://schemas.microsoft.com/office/drawing/2014/main" id="{302372ED-29BD-194D-AEA3-543827366E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022277" y="2034920"/>
              <a:ext cx="423050" cy="355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E09E8EF-02E1-6F46-BE6F-8AF28BC68C97}"/>
              </a:ext>
            </a:extLst>
          </p:cNvPr>
          <p:cNvGrpSpPr/>
          <p:nvPr/>
        </p:nvGrpSpPr>
        <p:grpSpPr>
          <a:xfrm>
            <a:off x="7530082" y="2170885"/>
            <a:ext cx="1428325" cy="528606"/>
            <a:chOff x="10040109" y="1530131"/>
            <a:chExt cx="1904433" cy="704807"/>
          </a:xfrm>
        </p:grpSpPr>
        <p:sp>
          <p:nvSpPr>
            <p:cNvPr id="45" name="Text Box 252">
              <a:extLst>
                <a:ext uri="{FF2B5EF4-FFF2-40B4-BE49-F238E27FC236}">
                  <a16:creationId xmlns:a16="http://schemas.microsoft.com/office/drawing/2014/main" id="{6A8395FC-23AA-CB40-9968-49995B9FD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28952" y="1530131"/>
              <a:ext cx="1815590" cy="7048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lnSpc>
                  <a:spcPct val="90000"/>
                </a:lnSpc>
                <a:defRPr/>
              </a:pPr>
              <a:r>
                <a:rPr lang="en-US" sz="1050" dirty="0">
                  <a:solidFill>
                    <a:prstClr val="black"/>
                  </a:solidFill>
                  <a:latin typeface="Calibri" panose="020F0502020204030204"/>
                </a:rPr>
                <a:t>“wasted” capacity due to un-needed retransmissions</a:t>
              </a:r>
            </a:p>
          </p:txBody>
        </p:sp>
        <p:sp>
          <p:nvSpPr>
            <p:cNvPr id="46" name="Right Brace 45">
              <a:extLst>
                <a:ext uri="{FF2B5EF4-FFF2-40B4-BE49-F238E27FC236}">
                  <a16:creationId xmlns:a16="http://schemas.microsoft.com/office/drawing/2014/main" id="{3BBD7799-5800-514D-86AF-59DCDFAD00C3}"/>
                </a:ext>
              </a:extLst>
            </p:cNvPr>
            <p:cNvSpPr/>
            <p:nvPr/>
          </p:nvSpPr>
          <p:spPr>
            <a:xfrm>
              <a:off x="10040109" y="1765940"/>
              <a:ext cx="144379" cy="223205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D112B15-760C-5944-93D0-8A37C930F004}"/>
              </a:ext>
            </a:extLst>
          </p:cNvPr>
          <p:cNvGrpSpPr/>
          <p:nvPr/>
        </p:nvGrpSpPr>
        <p:grpSpPr>
          <a:xfrm>
            <a:off x="5521089" y="1923422"/>
            <a:ext cx="2107003" cy="1960824"/>
            <a:chOff x="7361453" y="1200180"/>
            <a:chExt cx="2809338" cy="2614432"/>
          </a:xfrm>
        </p:grpSpPr>
        <p:sp>
          <p:nvSpPr>
            <p:cNvPr id="48" name="Freeform 245">
              <a:extLst>
                <a:ext uri="{FF2B5EF4-FFF2-40B4-BE49-F238E27FC236}">
                  <a16:creationId xmlns:a16="http://schemas.microsoft.com/office/drawing/2014/main" id="{56604969-6E93-9D4E-BD54-3ABD094C7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8715" y="1967477"/>
              <a:ext cx="2024019" cy="1384114"/>
            </a:xfrm>
            <a:custGeom>
              <a:avLst/>
              <a:gdLst>
                <a:gd name="T0" fmla="*/ 0 w 1636"/>
                <a:gd name="T1" fmla="*/ 955 h 955"/>
                <a:gd name="T2" fmla="*/ 758 w 1636"/>
                <a:gd name="T3" fmla="*/ 246 h 955"/>
                <a:gd name="T4" fmla="*/ 1636 w 1636"/>
                <a:gd name="T5" fmla="*/ 7 h 955"/>
                <a:gd name="T6" fmla="*/ 0 60000 65536"/>
                <a:gd name="T7" fmla="*/ 0 60000 65536"/>
                <a:gd name="T8" fmla="*/ 0 60000 65536"/>
                <a:gd name="connsiteX0" fmla="*/ 0 w 6072"/>
                <a:gd name="connsiteY0" fmla="*/ 8862 h 8862"/>
                <a:gd name="connsiteX1" fmla="*/ 4633 w 6072"/>
                <a:gd name="connsiteY1" fmla="*/ 1438 h 8862"/>
                <a:gd name="connsiteX2" fmla="*/ 6072 w 6072"/>
                <a:gd name="connsiteY2" fmla="*/ 120 h 8862"/>
                <a:gd name="connsiteX0" fmla="*/ 0 w 10000"/>
                <a:gd name="connsiteY0" fmla="*/ 9865 h 9865"/>
                <a:gd name="connsiteX1" fmla="*/ 7630 w 10000"/>
                <a:gd name="connsiteY1" fmla="*/ 1488 h 9865"/>
                <a:gd name="connsiteX2" fmla="*/ 10000 w 10000"/>
                <a:gd name="connsiteY2" fmla="*/ 0 h 9865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536 w 10000"/>
                <a:gd name="connsiteY1" fmla="*/ 1223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1268" y="8586"/>
                    <a:pt x="4789" y="3077"/>
                    <a:pt x="6536" y="1223"/>
                  </a:cubicBezTo>
                  <a:cubicBezTo>
                    <a:pt x="7406" y="549"/>
                    <a:pt x="8333" y="126"/>
                    <a:pt x="10000" y="0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49" name="Group 246">
              <a:extLst>
                <a:ext uri="{FF2B5EF4-FFF2-40B4-BE49-F238E27FC236}">
                  <a16:creationId xmlns:a16="http://schemas.microsoft.com/office/drawing/2014/main" id="{A189611D-8FA6-F342-BD61-72FA3E8C1B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6234" y="3317991"/>
              <a:ext cx="519113" cy="430214"/>
              <a:chOff x="3583" y="1761"/>
              <a:chExt cx="327" cy="271"/>
            </a:xfrm>
          </p:grpSpPr>
          <p:sp>
            <p:nvSpPr>
              <p:cNvPr id="66" name="Text Box 247">
                <a:extLst>
                  <a:ext uri="{FF2B5EF4-FFF2-40B4-BE49-F238E27FC236}">
                    <a16:creationId xmlns:a16="http://schemas.microsoft.com/office/drawing/2014/main" id="{AC89A5F8-BCE7-8D47-A01F-9B344BD272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3" y="1761"/>
                <a:ext cx="327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defTabSz="685800">
                  <a:defRPr/>
                </a:pPr>
                <a:r>
                  <a:rPr lang="en-US" sz="1500" dirty="0">
                    <a:solidFill>
                      <a:prstClr val="black"/>
                    </a:solidFill>
                    <a:latin typeface="Symbol" charset="0"/>
                    <a:cs typeface="Arial" charset="0"/>
                  </a:rPr>
                  <a:t>l</a:t>
                </a:r>
                <a:r>
                  <a:rPr lang="en-US" sz="1500" baseline="-25000" dirty="0">
                    <a:solidFill>
                      <a:prstClr val="black"/>
                    </a:solidFill>
                    <a:latin typeface="Arial" charset="0"/>
                    <a:cs typeface="Arial" charset="0"/>
                  </a:rPr>
                  <a:t>in</a:t>
                </a:r>
              </a:p>
            </p:txBody>
          </p:sp>
          <p:sp>
            <p:nvSpPr>
              <p:cNvPr id="67" name="Line 248">
                <a:extLst>
                  <a:ext uri="{FF2B5EF4-FFF2-40B4-BE49-F238E27FC236}">
                    <a16:creationId xmlns:a16="http://schemas.microsoft.com/office/drawing/2014/main" id="{133A846F-DD32-BE46-BC1E-FCEF489756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26" y="1834"/>
                <a:ext cx="24" cy="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50" name="Line 278">
              <a:extLst>
                <a:ext uri="{FF2B5EF4-FFF2-40B4-BE49-F238E27FC236}">
                  <a16:creationId xmlns:a16="http://schemas.microsoft.com/office/drawing/2014/main" id="{B2180F82-DB0B-BA4F-B74F-C2A5839E0A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5669" y="1200180"/>
              <a:ext cx="0" cy="21590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51" name="Line 280">
              <a:extLst>
                <a:ext uri="{FF2B5EF4-FFF2-40B4-BE49-F238E27FC236}">
                  <a16:creationId xmlns:a16="http://schemas.microsoft.com/office/drawing/2014/main" id="{1336F3E0-C2F4-B745-A742-6A3442BBC0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72557" y="1436494"/>
              <a:ext cx="0" cy="18690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52" name="Freeform 281">
              <a:extLst>
                <a:ext uri="{FF2B5EF4-FFF2-40B4-BE49-F238E27FC236}">
                  <a16:creationId xmlns:a16="http://schemas.microsoft.com/office/drawing/2014/main" id="{76483204-6679-0C46-979F-64F97B2FE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4426" y="1377415"/>
              <a:ext cx="2023753" cy="1965701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Line 282">
              <a:extLst>
                <a:ext uri="{FF2B5EF4-FFF2-40B4-BE49-F238E27FC236}">
                  <a16:creationId xmlns:a16="http://schemas.microsoft.com/office/drawing/2014/main" id="{BEE9156E-74A8-6943-94B3-7700EC034F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19509" y="1377415"/>
              <a:ext cx="140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54" name="Line 283">
              <a:extLst>
                <a:ext uri="{FF2B5EF4-FFF2-40B4-BE49-F238E27FC236}">
                  <a16:creationId xmlns:a16="http://schemas.microsoft.com/office/drawing/2014/main" id="{5E6BFEC0-DE88-B94E-8423-A3D452830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6936" y="3359228"/>
              <a:ext cx="0" cy="155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55" name="Text Box 284">
              <a:extLst>
                <a:ext uri="{FF2B5EF4-FFF2-40B4-BE49-F238E27FC236}">
                  <a16:creationId xmlns:a16="http://schemas.microsoft.com/office/drawing/2014/main" id="{100A63B1-F092-9049-BD5D-F838C3B7C4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1453" y="1202895"/>
              <a:ext cx="524075" cy="3385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050" dirty="0">
                  <a:solidFill>
                    <a:prstClr val="black"/>
                  </a:solidFill>
                </a:rPr>
                <a:t>R/2</a:t>
              </a:r>
            </a:p>
          </p:txBody>
        </p:sp>
        <p:sp>
          <p:nvSpPr>
            <p:cNvPr id="56" name="Text Box 286">
              <a:extLst>
                <a:ext uri="{FF2B5EF4-FFF2-40B4-BE49-F238E27FC236}">
                  <a16:creationId xmlns:a16="http://schemas.microsoft.com/office/drawing/2014/main" id="{7D1E47C8-D6ED-C94B-BC2F-5EAB5CEDE2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549069" y="1468107"/>
              <a:ext cx="622392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500" dirty="0">
                  <a:solidFill>
                    <a:prstClr val="black"/>
                  </a:solidFill>
                  <a:latin typeface="Symbol" charset="0"/>
                </a:rPr>
                <a:t>l</a:t>
              </a:r>
              <a:r>
                <a:rPr lang="en-US" sz="1500" baseline="-25000" dirty="0">
                  <a:solidFill>
                    <a:prstClr val="black"/>
                  </a:solidFill>
                  <a:latin typeface="Arial" charset="0"/>
                </a:rPr>
                <a:t>out</a:t>
              </a:r>
            </a:p>
          </p:txBody>
        </p:sp>
        <p:sp>
          <p:nvSpPr>
            <p:cNvPr id="57" name="Line 288">
              <a:extLst>
                <a:ext uri="{FF2B5EF4-FFF2-40B4-BE49-F238E27FC236}">
                  <a16:creationId xmlns:a16="http://schemas.microsoft.com/office/drawing/2014/main" id="{0E2D5F21-D6F0-C540-A957-E688D74A8C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9399" y="1380101"/>
              <a:ext cx="1841053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77CB1B6-2EC1-3F4E-98A5-C5243ED36777}"/>
                </a:ext>
              </a:extLst>
            </p:cNvPr>
            <p:cNvCxnSpPr>
              <a:cxnSpLocks/>
            </p:cNvCxnSpPr>
            <p:nvPr/>
          </p:nvCxnSpPr>
          <p:spPr>
            <a:xfrm>
              <a:off x="7976136" y="3337560"/>
              <a:ext cx="21656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78BBF6F-1BF2-E34A-BB63-6CE7DC7FAFC6}"/>
                </a:ext>
              </a:extLst>
            </p:cNvPr>
            <p:cNvSpPr txBox="1"/>
            <p:nvPr/>
          </p:nvSpPr>
          <p:spPr>
            <a:xfrm rot="16200000">
              <a:off x="7110390" y="2403910"/>
              <a:ext cx="1292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Calibri"/>
                </a:rPr>
                <a:t>throughput: 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8E09E356-3ED0-0441-85EB-9F2DD26A2A2E}"/>
                </a:ext>
              </a:extLst>
            </p:cNvPr>
            <p:cNvSpPr/>
            <p:nvPr/>
          </p:nvSpPr>
          <p:spPr>
            <a:xfrm>
              <a:off x="9893835" y="1336842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1" name="Text Box 285">
              <a:extLst>
                <a:ext uri="{FF2B5EF4-FFF2-40B4-BE49-F238E27FC236}">
                  <a16:creationId xmlns:a16="http://schemas.microsoft.com/office/drawing/2014/main" id="{B150A84A-761E-204D-92C1-25DEA63EE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46716" y="3476057"/>
              <a:ext cx="524075" cy="3385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050" dirty="0">
                  <a:solidFill>
                    <a:prstClr val="black"/>
                  </a:solidFill>
                </a:rPr>
                <a:t>R/2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966E84B0-D850-A24D-AE64-115C19BE83C3}"/>
                </a:ext>
              </a:extLst>
            </p:cNvPr>
            <p:cNvSpPr/>
            <p:nvPr/>
          </p:nvSpPr>
          <p:spPr>
            <a:xfrm>
              <a:off x="9912327" y="1689923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3" name="Line 288">
              <a:extLst>
                <a:ext uri="{FF2B5EF4-FFF2-40B4-BE49-F238E27FC236}">
                  <a16:creationId xmlns:a16="http://schemas.microsoft.com/office/drawing/2014/main" id="{AC507C50-A700-6544-8A0E-A27D638B5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0093" y="1773132"/>
              <a:ext cx="197500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B951CECB-9FA3-0543-B003-2298FE867A0A}"/>
                </a:ext>
              </a:extLst>
            </p:cNvPr>
            <p:cNvSpPr/>
            <p:nvPr/>
          </p:nvSpPr>
          <p:spPr>
            <a:xfrm>
              <a:off x="9908716" y="1920329"/>
              <a:ext cx="127000" cy="127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5" name="Line 288">
              <a:extLst>
                <a:ext uri="{FF2B5EF4-FFF2-40B4-BE49-F238E27FC236}">
                  <a16:creationId xmlns:a16="http://schemas.microsoft.com/office/drawing/2014/main" id="{EE8235DB-C263-4B47-8EDD-99EF35F83A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5485" y="1986203"/>
              <a:ext cx="19750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3912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Freeform 354">
            <a:extLst>
              <a:ext uri="{FF2B5EF4-FFF2-40B4-BE49-F238E27FC236}">
                <a16:creationId xmlns:a16="http://schemas.microsoft.com/office/drawing/2014/main" id="{FA3A6278-DB89-0C41-A34C-36879DB1B579}"/>
              </a:ext>
            </a:extLst>
          </p:cNvPr>
          <p:cNvSpPr>
            <a:spLocks/>
          </p:cNvSpPr>
          <p:nvPr/>
        </p:nvSpPr>
        <p:spPr bwMode="auto">
          <a:xfrm flipH="1">
            <a:off x="2927373" y="3202960"/>
            <a:ext cx="127092" cy="78204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000 w 10000"/>
              <a:gd name="connsiteY0" fmla="*/ 9153 h 9200"/>
              <a:gd name="connsiteX1" fmla="*/ 1373 w 10000"/>
              <a:gd name="connsiteY1" fmla="*/ 0 h 9200"/>
              <a:gd name="connsiteX2" fmla="*/ 0 w 10000"/>
              <a:gd name="connsiteY2" fmla="*/ 8733 h 9200"/>
              <a:gd name="connsiteX3" fmla="*/ 5082 w 10000"/>
              <a:gd name="connsiteY3" fmla="*/ 9200 h 9200"/>
              <a:gd name="connsiteX4" fmla="*/ 10000 w 10000"/>
              <a:gd name="connsiteY4" fmla="*/ 9153 h 9200"/>
              <a:gd name="connsiteX0" fmla="*/ 8955 w 8955"/>
              <a:gd name="connsiteY0" fmla="*/ 9949 h 10000"/>
              <a:gd name="connsiteX1" fmla="*/ 328 w 8955"/>
              <a:gd name="connsiteY1" fmla="*/ 0 h 10000"/>
              <a:gd name="connsiteX2" fmla="*/ 0 w 8955"/>
              <a:gd name="connsiteY2" fmla="*/ 9416 h 10000"/>
              <a:gd name="connsiteX3" fmla="*/ 4037 w 8955"/>
              <a:gd name="connsiteY3" fmla="*/ 10000 h 10000"/>
              <a:gd name="connsiteX4" fmla="*/ 8955 w 8955"/>
              <a:gd name="connsiteY4" fmla="*/ 9949 h 10000"/>
              <a:gd name="connsiteX0" fmla="*/ 8000 w 8000"/>
              <a:gd name="connsiteY0" fmla="*/ 6998 h 10000"/>
              <a:gd name="connsiteX1" fmla="*/ 366 w 8000"/>
              <a:gd name="connsiteY1" fmla="*/ 0 h 10000"/>
              <a:gd name="connsiteX2" fmla="*/ 0 w 8000"/>
              <a:gd name="connsiteY2" fmla="*/ 9416 h 10000"/>
              <a:gd name="connsiteX3" fmla="*/ 4508 w 8000"/>
              <a:gd name="connsiteY3" fmla="*/ 10000 h 10000"/>
              <a:gd name="connsiteX4" fmla="*/ 8000 w 8000"/>
              <a:gd name="connsiteY4" fmla="*/ 6998 h 10000"/>
              <a:gd name="connsiteX0" fmla="*/ 10000 w 10000"/>
              <a:gd name="connsiteY0" fmla="*/ 6998 h 11173"/>
              <a:gd name="connsiteX1" fmla="*/ 458 w 10000"/>
              <a:gd name="connsiteY1" fmla="*/ 0 h 11173"/>
              <a:gd name="connsiteX2" fmla="*/ 0 w 10000"/>
              <a:gd name="connsiteY2" fmla="*/ 9416 h 11173"/>
              <a:gd name="connsiteX3" fmla="*/ 9177 w 10000"/>
              <a:gd name="connsiteY3" fmla="*/ 11173 h 11173"/>
              <a:gd name="connsiteX4" fmla="*/ 10000 w 10000"/>
              <a:gd name="connsiteY4" fmla="*/ 6998 h 1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1173">
                <a:moveTo>
                  <a:pt x="10000" y="6998"/>
                </a:moveTo>
                <a:lnTo>
                  <a:pt x="458" y="0"/>
                </a:lnTo>
                <a:cubicBezTo>
                  <a:pt x="306" y="3139"/>
                  <a:pt x="153" y="6277"/>
                  <a:pt x="0" y="9416"/>
                </a:cubicBezTo>
                <a:lnTo>
                  <a:pt x="9177" y="11173"/>
                </a:lnTo>
                <a:lnTo>
                  <a:pt x="10000" y="699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F857C4E7-5B60-F84D-8BB4-B434B73070E5}"/>
              </a:ext>
            </a:extLst>
          </p:cNvPr>
          <p:cNvGrpSpPr/>
          <p:nvPr/>
        </p:nvGrpSpPr>
        <p:grpSpPr>
          <a:xfrm>
            <a:off x="3043612" y="3201660"/>
            <a:ext cx="462212" cy="652040"/>
            <a:chOff x="10910964" y="2513124"/>
            <a:chExt cx="586769" cy="904023"/>
          </a:xfrm>
        </p:grpSpPr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610F1877-CB6B-9747-B11C-1D34E3952E75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5B5CE757-ACFF-904B-89A6-4D678ED16A4A}"/>
                </a:ext>
              </a:extLst>
            </p:cNvPr>
            <p:cNvCxnSpPr/>
            <p:nvPr/>
          </p:nvCxnSpPr>
          <p:spPr>
            <a:xfrm>
              <a:off x="10910964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CC2F54B2-D68E-7042-8783-586E9687DE55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4BBC8FE7-5D92-904A-AD63-57FFEB272C66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397117FA-E151-5745-9EB1-3E245C911471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4" name="Freeform 350">
            <a:extLst>
              <a:ext uri="{FF2B5EF4-FFF2-40B4-BE49-F238E27FC236}">
                <a16:creationId xmlns:a16="http://schemas.microsoft.com/office/drawing/2014/main" id="{C5AF13C6-D475-8E42-B46E-37AE6E534B0E}"/>
              </a:ext>
            </a:extLst>
          </p:cNvPr>
          <p:cNvSpPr>
            <a:spLocks/>
          </p:cNvSpPr>
          <p:nvPr/>
        </p:nvSpPr>
        <p:spPr bwMode="auto">
          <a:xfrm flipH="1">
            <a:off x="1424043" y="4668519"/>
            <a:ext cx="146995" cy="754066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000 w 10000"/>
              <a:gd name="connsiteY0" fmla="*/ 9953 h 10444"/>
              <a:gd name="connsiteX1" fmla="*/ 328 w 10000"/>
              <a:gd name="connsiteY1" fmla="*/ 0 h 10444"/>
              <a:gd name="connsiteX2" fmla="*/ 0 w 10000"/>
              <a:gd name="connsiteY2" fmla="*/ 9533 h 10444"/>
              <a:gd name="connsiteX3" fmla="*/ 7177 w 10000"/>
              <a:gd name="connsiteY3" fmla="*/ 10444 h 10444"/>
              <a:gd name="connsiteX4" fmla="*/ 10000 w 10000"/>
              <a:gd name="connsiteY4" fmla="*/ 9953 h 10444"/>
              <a:gd name="connsiteX0" fmla="*/ 7715 w 7715"/>
              <a:gd name="connsiteY0" fmla="*/ 7822 h 10444"/>
              <a:gd name="connsiteX1" fmla="*/ 328 w 7715"/>
              <a:gd name="connsiteY1" fmla="*/ 0 h 10444"/>
              <a:gd name="connsiteX2" fmla="*/ 0 w 7715"/>
              <a:gd name="connsiteY2" fmla="*/ 9533 h 10444"/>
              <a:gd name="connsiteX3" fmla="*/ 7177 w 7715"/>
              <a:gd name="connsiteY3" fmla="*/ 10444 h 10444"/>
              <a:gd name="connsiteX4" fmla="*/ 7715 w 7715"/>
              <a:gd name="connsiteY4" fmla="*/ 7822 h 10444"/>
              <a:gd name="connsiteX0" fmla="*/ 10740 w 10740"/>
              <a:gd name="connsiteY0" fmla="*/ 7489 h 10000"/>
              <a:gd name="connsiteX1" fmla="*/ 1165 w 10740"/>
              <a:gd name="connsiteY1" fmla="*/ 0 h 10000"/>
              <a:gd name="connsiteX2" fmla="*/ 0 w 10740"/>
              <a:gd name="connsiteY2" fmla="*/ 8788 h 10000"/>
              <a:gd name="connsiteX3" fmla="*/ 10043 w 10740"/>
              <a:gd name="connsiteY3" fmla="*/ 10000 h 10000"/>
              <a:gd name="connsiteX4" fmla="*/ 10740 w 10740"/>
              <a:gd name="connsiteY4" fmla="*/ 7489 h 10000"/>
              <a:gd name="connsiteX0" fmla="*/ 10740 w 10740"/>
              <a:gd name="connsiteY0" fmla="*/ 6979 h 9490"/>
              <a:gd name="connsiteX1" fmla="*/ 424 w 10740"/>
              <a:gd name="connsiteY1" fmla="*/ 0 h 9490"/>
              <a:gd name="connsiteX2" fmla="*/ 0 w 10740"/>
              <a:gd name="connsiteY2" fmla="*/ 8278 h 9490"/>
              <a:gd name="connsiteX3" fmla="*/ 10043 w 10740"/>
              <a:gd name="connsiteY3" fmla="*/ 9490 h 9490"/>
              <a:gd name="connsiteX4" fmla="*/ 10740 w 10740"/>
              <a:gd name="connsiteY4" fmla="*/ 6979 h 9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40" h="9490">
                <a:moveTo>
                  <a:pt x="10740" y="6979"/>
                </a:moveTo>
                <a:lnTo>
                  <a:pt x="424" y="0"/>
                </a:lnTo>
                <a:cubicBezTo>
                  <a:pt x="283" y="3043"/>
                  <a:pt x="141" y="5235"/>
                  <a:pt x="0" y="8278"/>
                </a:cubicBezTo>
                <a:lnTo>
                  <a:pt x="10043" y="9490"/>
                </a:lnTo>
                <a:lnTo>
                  <a:pt x="10740" y="697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2DB461A9-F46E-8749-BF51-45E92AA6339A}"/>
              </a:ext>
            </a:extLst>
          </p:cNvPr>
          <p:cNvGrpSpPr/>
          <p:nvPr/>
        </p:nvGrpSpPr>
        <p:grpSpPr>
          <a:xfrm>
            <a:off x="1560061" y="4670917"/>
            <a:ext cx="462212" cy="652040"/>
            <a:chOff x="10910964" y="2513124"/>
            <a:chExt cx="586769" cy="904023"/>
          </a:xfrm>
        </p:grpSpPr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7D39F858-8BB0-A642-89CC-2F019B33E69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B201F6E9-50D4-2949-B445-79D78C6E2F8A}"/>
                </a:ext>
              </a:extLst>
            </p:cNvPr>
            <p:cNvCxnSpPr/>
            <p:nvPr/>
          </p:nvCxnSpPr>
          <p:spPr>
            <a:xfrm>
              <a:off x="10910964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CED38CC1-6A45-214C-BEAA-3AA92EF84406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55F19835-EB3A-3D40-8C3C-0E365455DD32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F1796FFE-1845-5840-8B13-398696D75E0E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5" name="Freeform 347">
            <a:extLst>
              <a:ext uri="{FF2B5EF4-FFF2-40B4-BE49-F238E27FC236}">
                <a16:creationId xmlns:a16="http://schemas.microsoft.com/office/drawing/2014/main" id="{84CB63DB-E546-6447-B0B5-8E43F3CC8290}"/>
              </a:ext>
            </a:extLst>
          </p:cNvPr>
          <p:cNvSpPr>
            <a:spLocks/>
          </p:cNvSpPr>
          <p:nvPr/>
        </p:nvSpPr>
        <p:spPr bwMode="auto">
          <a:xfrm>
            <a:off x="6076950" y="4776823"/>
            <a:ext cx="126737" cy="84191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000 w 10000"/>
              <a:gd name="connsiteY0" fmla="*/ 9953 h 11066"/>
              <a:gd name="connsiteX1" fmla="*/ 328 w 10000"/>
              <a:gd name="connsiteY1" fmla="*/ 0 h 11066"/>
              <a:gd name="connsiteX2" fmla="*/ 0 w 10000"/>
              <a:gd name="connsiteY2" fmla="*/ 9533 h 11066"/>
              <a:gd name="connsiteX3" fmla="*/ 6605 w 10000"/>
              <a:gd name="connsiteY3" fmla="*/ 11066 h 11066"/>
              <a:gd name="connsiteX4" fmla="*/ 10000 w 10000"/>
              <a:gd name="connsiteY4" fmla="*/ 9953 h 11066"/>
              <a:gd name="connsiteX0" fmla="*/ 7144 w 7144"/>
              <a:gd name="connsiteY0" fmla="*/ 7022 h 11066"/>
              <a:gd name="connsiteX1" fmla="*/ 328 w 7144"/>
              <a:gd name="connsiteY1" fmla="*/ 0 h 11066"/>
              <a:gd name="connsiteX2" fmla="*/ 0 w 7144"/>
              <a:gd name="connsiteY2" fmla="*/ 9533 h 11066"/>
              <a:gd name="connsiteX3" fmla="*/ 6605 w 7144"/>
              <a:gd name="connsiteY3" fmla="*/ 11066 h 11066"/>
              <a:gd name="connsiteX4" fmla="*/ 7144 w 7144"/>
              <a:gd name="connsiteY4" fmla="*/ 7022 h 1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4" h="11066">
                <a:moveTo>
                  <a:pt x="7144" y="7022"/>
                </a:moveTo>
                <a:lnTo>
                  <a:pt x="328" y="0"/>
                </a:lnTo>
                <a:cubicBezTo>
                  <a:pt x="219" y="3178"/>
                  <a:pt x="109" y="6355"/>
                  <a:pt x="0" y="9533"/>
                </a:cubicBezTo>
                <a:lnTo>
                  <a:pt x="6605" y="11066"/>
                </a:lnTo>
                <a:cubicBezTo>
                  <a:pt x="6785" y="9718"/>
                  <a:pt x="6964" y="8370"/>
                  <a:pt x="7144" y="7022"/>
                </a:cubicBez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EECEBAA5-183F-9943-8745-DBAE2D8B7061}"/>
              </a:ext>
            </a:extLst>
          </p:cNvPr>
          <p:cNvGrpSpPr/>
          <p:nvPr/>
        </p:nvGrpSpPr>
        <p:grpSpPr>
          <a:xfrm>
            <a:off x="5628132" y="4830259"/>
            <a:ext cx="462211" cy="652040"/>
            <a:chOff x="10910965" y="2513124"/>
            <a:chExt cx="586768" cy="904023"/>
          </a:xfrm>
        </p:grpSpPr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9D6A6B6B-5FD6-2346-A3EE-BD1582FAB001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0F3D8B01-03BD-E34A-BAFB-7952B32F9270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0BDB3107-533F-3542-94CF-BC06F61D2FD6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64DC87E4-F7BE-8A4B-91C3-596857C5FB13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77C12250-985A-8B45-B946-123BAC2C8B7B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6" name="Freeform 344">
            <a:extLst>
              <a:ext uri="{FF2B5EF4-FFF2-40B4-BE49-F238E27FC236}">
                <a16:creationId xmlns:a16="http://schemas.microsoft.com/office/drawing/2014/main" id="{F7EB3EDB-2BCE-F949-BF32-4926B0702E72}"/>
              </a:ext>
            </a:extLst>
          </p:cNvPr>
          <p:cNvSpPr>
            <a:spLocks/>
          </p:cNvSpPr>
          <p:nvPr/>
        </p:nvSpPr>
        <p:spPr bwMode="auto">
          <a:xfrm>
            <a:off x="6429018" y="3269298"/>
            <a:ext cx="167273" cy="933134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9429 w 9429"/>
              <a:gd name="connsiteY0" fmla="*/ 8488 h 10000"/>
              <a:gd name="connsiteX1" fmla="*/ 328 w 9429"/>
              <a:gd name="connsiteY1" fmla="*/ 0 h 10000"/>
              <a:gd name="connsiteX2" fmla="*/ 0 w 9429"/>
              <a:gd name="connsiteY2" fmla="*/ 9533 h 10000"/>
              <a:gd name="connsiteX3" fmla="*/ 5082 w 9429"/>
              <a:gd name="connsiteY3" fmla="*/ 10000 h 10000"/>
              <a:gd name="connsiteX4" fmla="*/ 9429 w 9429"/>
              <a:gd name="connsiteY4" fmla="*/ 8488 h 10000"/>
              <a:gd name="connsiteX0" fmla="*/ 10000 w 10000"/>
              <a:gd name="connsiteY0" fmla="*/ 8488 h 12265"/>
              <a:gd name="connsiteX1" fmla="*/ 348 w 10000"/>
              <a:gd name="connsiteY1" fmla="*/ 0 h 12265"/>
              <a:gd name="connsiteX2" fmla="*/ 0 w 10000"/>
              <a:gd name="connsiteY2" fmla="*/ 9533 h 12265"/>
              <a:gd name="connsiteX3" fmla="*/ 9025 w 10000"/>
              <a:gd name="connsiteY3" fmla="*/ 12265 h 12265"/>
              <a:gd name="connsiteX4" fmla="*/ 10000 w 10000"/>
              <a:gd name="connsiteY4" fmla="*/ 8488 h 12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2265">
                <a:moveTo>
                  <a:pt x="10000" y="8488"/>
                </a:moveTo>
                <a:lnTo>
                  <a:pt x="348" y="0"/>
                </a:lnTo>
                <a:lnTo>
                  <a:pt x="0" y="9533"/>
                </a:lnTo>
                <a:lnTo>
                  <a:pt x="9025" y="12265"/>
                </a:lnTo>
                <a:lnTo>
                  <a:pt x="10000" y="848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Causes/costs of congestion: scenario 3</a:t>
            </a:r>
            <a:endParaRPr lang="en-US" b="0" dirty="0"/>
          </a:p>
        </p:txBody>
      </p:sp>
      <p:sp>
        <p:nvSpPr>
          <p:cNvPr id="281" name="Slide Number Placeholder 2">
            <a:extLst>
              <a:ext uri="{FF2B5EF4-FFF2-40B4-BE49-F238E27FC236}">
                <a16:creationId xmlns:a16="http://schemas.microsoft.com/office/drawing/2014/main" id="{37102000-08EB-2645-9400-410F30EEE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Transport Layer: 3-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11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173" name="Rectangle 3">
            <a:extLst>
              <a:ext uri="{FF2B5EF4-FFF2-40B4-BE49-F238E27FC236}">
                <a16:creationId xmlns:a16="http://schemas.microsoft.com/office/drawing/2014/main" id="{99753E1D-5DEC-E947-8B37-6AF7D72D62A8}"/>
              </a:ext>
            </a:extLst>
          </p:cNvPr>
          <p:cNvSpPr txBox="1">
            <a:spLocks noChangeArrowheads="1"/>
          </p:cNvSpPr>
          <p:nvPr/>
        </p:nvSpPr>
        <p:spPr>
          <a:xfrm>
            <a:off x="702469" y="1847850"/>
            <a:ext cx="2840831" cy="935831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four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senders</a:t>
            </a:r>
          </a:p>
          <a:p>
            <a:pPr marL="264319" indent="-166688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multi-hop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paths</a:t>
            </a:r>
          </a:p>
          <a:p>
            <a:pPr marL="264319" indent="-166688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timeout/retransmit</a:t>
            </a:r>
          </a:p>
          <a:p>
            <a:pPr marL="264319" indent="-166688" defTabSz="685800">
              <a:spcBef>
                <a:spcPts val="750"/>
              </a:spcBef>
              <a:buFont typeface="Wingdings" charset="2"/>
              <a:buChar char="§"/>
              <a:defRPr/>
            </a:pP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4" name="Rectangle 7">
            <a:extLst>
              <a:ext uri="{FF2B5EF4-FFF2-40B4-BE49-F238E27FC236}">
                <a16:creationId xmlns:a16="http://schemas.microsoft.com/office/drawing/2014/main" id="{2D1E8573-2F28-9941-A79E-BF2F04742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0444" y="1812131"/>
            <a:ext cx="4698206" cy="394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lang="en-US" altLang="en-US" sz="2100" u="sng" dirty="0">
                <a:solidFill>
                  <a:srgbClr val="CC0000"/>
                </a:solidFill>
                <a:latin typeface="Calibri" panose="020F0502020204030204"/>
              </a:rPr>
              <a:t>Q:</a:t>
            </a:r>
            <a:r>
              <a:rPr lang="en-US" altLang="en-US" sz="1800" dirty="0">
                <a:solidFill>
                  <a:srgbClr val="FF0000"/>
                </a:solidFill>
                <a:latin typeface="Calibri" panose="020F0502020204030204"/>
              </a:rPr>
              <a:t>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what happens as </a:t>
            </a:r>
            <a:r>
              <a:rPr lang="en-US" altLang="en-US" sz="1800" dirty="0">
                <a:solidFill>
                  <a:srgbClr val="CC0000"/>
                </a:solidFill>
                <a:latin typeface="Symbol" pitchFamily="2" charset="2"/>
              </a:rPr>
              <a:t>l</a:t>
            </a:r>
            <a:r>
              <a:rPr lang="en-US" altLang="en-US" sz="1800" baseline="-25000" dirty="0">
                <a:solidFill>
                  <a:srgbClr val="CC0000"/>
                </a:solidFill>
                <a:latin typeface="Gill Sans MT" panose="020B0502020104020203" pitchFamily="34" charset="77"/>
              </a:rPr>
              <a:t>in</a:t>
            </a:r>
            <a:r>
              <a:rPr lang="en-US" altLang="en-US" sz="1800" dirty="0">
                <a:solidFill>
                  <a:srgbClr val="CC0000"/>
                </a:solidFill>
                <a:latin typeface="Gill Sans MT" panose="020B0502020104020203" pitchFamily="34" charset="77"/>
              </a:rPr>
              <a:t>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and</a:t>
            </a:r>
            <a:r>
              <a:rPr lang="en-US" altLang="en-US" sz="1800" dirty="0">
                <a:solidFill>
                  <a:prstClr val="black"/>
                </a:solidFill>
                <a:latin typeface="Gill Sans MT" panose="020B0502020104020203" pitchFamily="34" charset="77"/>
              </a:rPr>
              <a:t> </a:t>
            </a:r>
            <a:r>
              <a:rPr lang="en-US" altLang="en-US" sz="1800" dirty="0">
                <a:solidFill>
                  <a:srgbClr val="CC0000"/>
                </a:solidFill>
                <a:latin typeface="Symbol" pitchFamily="2" charset="2"/>
              </a:rPr>
              <a:t>l</a:t>
            </a:r>
            <a:r>
              <a:rPr lang="en-US" altLang="en-US" sz="1800" baseline="-25000" dirty="0">
                <a:solidFill>
                  <a:srgbClr val="CC0000"/>
                </a:solidFill>
                <a:latin typeface="Gill Sans MT" panose="020B0502020104020203" pitchFamily="34" charset="77"/>
              </a:rPr>
              <a:t>in</a:t>
            </a:r>
            <a:r>
              <a:rPr lang="ja-JP" altLang="en-US" sz="1800" b="1" baseline="3000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n-US" altLang="ja-JP" sz="1800" dirty="0">
                <a:solidFill>
                  <a:prstClr val="black"/>
                </a:solidFill>
                <a:latin typeface="Gill Sans MT" panose="020B0502020104020203" pitchFamily="34" charset="77"/>
              </a:rPr>
              <a:t> </a:t>
            </a:r>
            <a:r>
              <a:rPr lang="en-US" altLang="ja-JP" sz="1800" dirty="0">
                <a:solidFill>
                  <a:prstClr val="black"/>
                </a:solidFill>
                <a:latin typeface="Calibri" panose="020F0502020204030204"/>
              </a:rPr>
              <a:t>increase ?</a:t>
            </a:r>
            <a:endParaRPr lang="en-US" alt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6" name="Rectangle 356">
            <a:extLst>
              <a:ext uri="{FF2B5EF4-FFF2-40B4-BE49-F238E27FC236}">
                <a16:creationId xmlns:a16="http://schemas.microsoft.com/office/drawing/2014/main" id="{F4C88F76-884B-3642-8A4C-9AF73E194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3196" y="2210955"/>
            <a:ext cx="5245894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lang="en-US" altLang="en-US" sz="2100" u="sng" dirty="0">
                <a:solidFill>
                  <a:srgbClr val="CC0000"/>
                </a:solidFill>
                <a:latin typeface="Calibri" panose="020F0502020204030204"/>
              </a:rPr>
              <a:t>A:</a:t>
            </a:r>
            <a:r>
              <a:rPr lang="en-US" altLang="en-US" sz="1800" dirty="0">
                <a:solidFill>
                  <a:srgbClr val="FF0000"/>
                </a:solidFill>
                <a:latin typeface="Calibri" panose="020F0502020204030204"/>
              </a:rPr>
              <a:t>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as red  </a:t>
            </a:r>
            <a:r>
              <a:rPr lang="en-US" altLang="en-US" sz="1800" dirty="0">
                <a:solidFill>
                  <a:srgbClr val="CC0000"/>
                </a:solidFill>
                <a:latin typeface="Symbol" pitchFamily="2" charset="2"/>
              </a:rPr>
              <a:t>l</a:t>
            </a:r>
            <a:r>
              <a:rPr lang="en-US" altLang="en-US" sz="1800" baseline="-25000" dirty="0">
                <a:solidFill>
                  <a:srgbClr val="CC0000"/>
                </a:solidFill>
                <a:latin typeface="Gill Sans MT" panose="020B0502020104020203" pitchFamily="34" charset="77"/>
              </a:rPr>
              <a:t>in</a:t>
            </a:r>
            <a:r>
              <a:rPr lang="ja-JP" altLang="en-US" sz="1800" baseline="300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n-US" altLang="ja-JP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1800" dirty="0">
                <a:solidFill>
                  <a:prstClr val="black"/>
                </a:solidFill>
                <a:latin typeface="Calibri" panose="020F0502020204030204"/>
              </a:rPr>
              <a:t>increases, all arriving blue pkts at upper queue are dropped, blue throughput </a:t>
            </a:r>
            <a:r>
              <a:rPr lang="en-US" altLang="ja-JP" sz="1800" dirty="0">
                <a:solidFill>
                  <a:prstClr val="black"/>
                </a:solidFill>
                <a:latin typeface="Wingdings 3" pitchFamily="2" charset="2"/>
              </a:rPr>
              <a:t>g</a:t>
            </a:r>
            <a:r>
              <a:rPr lang="en-US" altLang="ja-JP" sz="1800" dirty="0">
                <a:solidFill>
                  <a:prstClr val="black"/>
                </a:solidFill>
                <a:latin typeface="Gill Sans MT" panose="020B0502020104020203" pitchFamily="34" charset="77"/>
              </a:rPr>
              <a:t> </a:t>
            </a:r>
            <a:r>
              <a:rPr lang="en-US" altLang="ja-JP" sz="1800" dirty="0">
                <a:solidFill>
                  <a:prstClr val="black"/>
                </a:solidFill>
                <a:latin typeface="Calibri" panose="020F0502020204030204"/>
              </a:rPr>
              <a:t>0</a:t>
            </a:r>
            <a:endParaRPr lang="en-US" alt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1590867D-F685-4246-ABDB-FB690B552C22}"/>
              </a:ext>
            </a:extLst>
          </p:cNvPr>
          <p:cNvGrpSpPr/>
          <p:nvPr/>
        </p:nvGrpSpPr>
        <p:grpSpPr>
          <a:xfrm>
            <a:off x="4261639" y="4149708"/>
            <a:ext cx="761739" cy="342211"/>
            <a:chOff x="7493876" y="2774731"/>
            <a:chExt cx="1481958" cy="894622"/>
          </a:xfrm>
        </p:grpSpPr>
        <p:sp>
          <p:nvSpPr>
            <p:cNvPr id="1037" name="Freeform 1036">
              <a:extLst>
                <a:ext uri="{FF2B5EF4-FFF2-40B4-BE49-F238E27FC236}">
                  <a16:creationId xmlns:a16="http://schemas.microsoft.com/office/drawing/2014/main" id="{7E35F043-BF45-9F46-96E3-BB3ADBEDD6E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038" name="Oval 1037">
              <a:extLst>
                <a:ext uri="{FF2B5EF4-FFF2-40B4-BE49-F238E27FC236}">
                  <a16:creationId xmlns:a16="http://schemas.microsoft.com/office/drawing/2014/main" id="{A5ADF05E-2312-1D4F-9BE0-1759E9B9353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039" name="Group 1038">
              <a:extLst>
                <a:ext uri="{FF2B5EF4-FFF2-40B4-BE49-F238E27FC236}">
                  <a16:creationId xmlns:a16="http://schemas.microsoft.com/office/drawing/2014/main" id="{7FACC5C7-906C-2B46-A172-006761C86F1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40" name="Freeform 1039">
                <a:extLst>
                  <a:ext uri="{FF2B5EF4-FFF2-40B4-BE49-F238E27FC236}">
                    <a16:creationId xmlns:a16="http://schemas.microsoft.com/office/drawing/2014/main" id="{9AAEEAEF-FEE3-4C4F-A60E-ECD453E41A3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41" name="Freeform 1040">
                <a:extLst>
                  <a:ext uri="{FF2B5EF4-FFF2-40B4-BE49-F238E27FC236}">
                    <a16:creationId xmlns:a16="http://schemas.microsoft.com/office/drawing/2014/main" id="{848C9694-3AFB-E942-B20A-3BD722A4102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42" name="Freeform 1041">
                <a:extLst>
                  <a:ext uri="{FF2B5EF4-FFF2-40B4-BE49-F238E27FC236}">
                    <a16:creationId xmlns:a16="http://schemas.microsoft.com/office/drawing/2014/main" id="{17CFC228-2824-994D-9EA7-CCABCA1A5AD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43" name="Freeform 1042">
                <a:extLst>
                  <a:ext uri="{FF2B5EF4-FFF2-40B4-BE49-F238E27FC236}">
                    <a16:creationId xmlns:a16="http://schemas.microsoft.com/office/drawing/2014/main" id="{A7328784-CE2A-0440-8AE9-F80D315E67D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028" name="Group 1027">
            <a:extLst>
              <a:ext uri="{FF2B5EF4-FFF2-40B4-BE49-F238E27FC236}">
                <a16:creationId xmlns:a16="http://schemas.microsoft.com/office/drawing/2014/main" id="{D5682828-EA87-794F-BF60-819D7667E9EF}"/>
              </a:ext>
            </a:extLst>
          </p:cNvPr>
          <p:cNvGrpSpPr/>
          <p:nvPr/>
        </p:nvGrpSpPr>
        <p:grpSpPr>
          <a:xfrm>
            <a:off x="4472119" y="4699587"/>
            <a:ext cx="761739" cy="342211"/>
            <a:chOff x="7493876" y="2774731"/>
            <a:chExt cx="1481958" cy="894622"/>
          </a:xfrm>
        </p:grpSpPr>
        <p:sp>
          <p:nvSpPr>
            <p:cNvPr id="1029" name="Freeform 1028">
              <a:extLst>
                <a:ext uri="{FF2B5EF4-FFF2-40B4-BE49-F238E27FC236}">
                  <a16:creationId xmlns:a16="http://schemas.microsoft.com/office/drawing/2014/main" id="{2056B1E8-7373-0941-8FA2-77B0D784D6D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030" name="Oval 1029">
              <a:extLst>
                <a:ext uri="{FF2B5EF4-FFF2-40B4-BE49-F238E27FC236}">
                  <a16:creationId xmlns:a16="http://schemas.microsoft.com/office/drawing/2014/main" id="{9FDCC5D4-EA9B-9746-A480-2CC5325E9B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570F0FCB-D968-1148-B306-F399F70F821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32" name="Freeform 1031">
                <a:extLst>
                  <a:ext uri="{FF2B5EF4-FFF2-40B4-BE49-F238E27FC236}">
                    <a16:creationId xmlns:a16="http://schemas.microsoft.com/office/drawing/2014/main" id="{418B1C5D-5D51-3B49-BAC8-5A977E7BF67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33" name="Freeform 1032">
                <a:extLst>
                  <a:ext uri="{FF2B5EF4-FFF2-40B4-BE49-F238E27FC236}">
                    <a16:creationId xmlns:a16="http://schemas.microsoft.com/office/drawing/2014/main" id="{D6476B65-5B26-6F41-9399-FA6E2A0A771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34" name="Freeform 1033">
                <a:extLst>
                  <a:ext uri="{FF2B5EF4-FFF2-40B4-BE49-F238E27FC236}">
                    <a16:creationId xmlns:a16="http://schemas.microsoft.com/office/drawing/2014/main" id="{3336FA20-F9EA-F640-8683-B36DE04C429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35" name="Freeform 1034">
                <a:extLst>
                  <a:ext uri="{FF2B5EF4-FFF2-40B4-BE49-F238E27FC236}">
                    <a16:creationId xmlns:a16="http://schemas.microsoft.com/office/drawing/2014/main" id="{F1C9D141-A007-CC4B-AC95-C03639BD621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004" name="Group 1003">
            <a:extLst>
              <a:ext uri="{FF2B5EF4-FFF2-40B4-BE49-F238E27FC236}">
                <a16:creationId xmlns:a16="http://schemas.microsoft.com/office/drawing/2014/main" id="{1972653F-0F1B-604A-B76F-A5AB75CE116D}"/>
              </a:ext>
            </a:extLst>
          </p:cNvPr>
          <p:cNvGrpSpPr/>
          <p:nvPr/>
        </p:nvGrpSpPr>
        <p:grpSpPr>
          <a:xfrm>
            <a:off x="2687967" y="4490448"/>
            <a:ext cx="761739" cy="342211"/>
            <a:chOff x="7493876" y="2774731"/>
            <a:chExt cx="1481958" cy="894622"/>
          </a:xfrm>
        </p:grpSpPr>
        <p:sp>
          <p:nvSpPr>
            <p:cNvPr id="1005" name="Freeform 1004">
              <a:extLst>
                <a:ext uri="{FF2B5EF4-FFF2-40B4-BE49-F238E27FC236}">
                  <a16:creationId xmlns:a16="http://schemas.microsoft.com/office/drawing/2014/main" id="{14F756BD-3FD8-EF4A-ACB9-4374306B1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006" name="Oval 1005">
              <a:extLst>
                <a:ext uri="{FF2B5EF4-FFF2-40B4-BE49-F238E27FC236}">
                  <a16:creationId xmlns:a16="http://schemas.microsoft.com/office/drawing/2014/main" id="{8C7BD2BF-04E8-E048-B37B-2EF4588E9F8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007" name="Group 1006">
              <a:extLst>
                <a:ext uri="{FF2B5EF4-FFF2-40B4-BE49-F238E27FC236}">
                  <a16:creationId xmlns:a16="http://schemas.microsoft.com/office/drawing/2014/main" id="{2F0EBD81-A812-B54E-87D7-F2A2A0F7359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08" name="Freeform 1007">
                <a:extLst>
                  <a:ext uri="{FF2B5EF4-FFF2-40B4-BE49-F238E27FC236}">
                    <a16:creationId xmlns:a16="http://schemas.microsoft.com/office/drawing/2014/main" id="{DA0350AD-6BDD-8742-AD54-D31903BFFBC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09" name="Freeform 1008">
                <a:extLst>
                  <a:ext uri="{FF2B5EF4-FFF2-40B4-BE49-F238E27FC236}">
                    <a16:creationId xmlns:a16="http://schemas.microsoft.com/office/drawing/2014/main" id="{3882FE62-2EF4-8345-A049-B867546B974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10" name="Freeform 1009">
                <a:extLst>
                  <a:ext uri="{FF2B5EF4-FFF2-40B4-BE49-F238E27FC236}">
                    <a16:creationId xmlns:a16="http://schemas.microsoft.com/office/drawing/2014/main" id="{323E0DB7-EDAB-4B44-8CD0-AA680735E84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11" name="Freeform 1010">
                <a:extLst>
                  <a:ext uri="{FF2B5EF4-FFF2-40B4-BE49-F238E27FC236}">
                    <a16:creationId xmlns:a16="http://schemas.microsoft.com/office/drawing/2014/main" id="{859E3ACC-40C8-9E4B-909F-00901CF258D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677" name="Text Box 14">
            <a:extLst>
              <a:ext uri="{FF2B5EF4-FFF2-40B4-BE49-F238E27FC236}">
                <a16:creationId xmlns:a16="http://schemas.microsoft.com/office/drawing/2014/main" id="{A3C80523-A3C7-5A48-AF35-91A54191B3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2771" y="3603704"/>
            <a:ext cx="1434704" cy="296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dirty="0">
                <a:solidFill>
                  <a:srgbClr val="000000"/>
                </a:solidFill>
                <a:latin typeface="Calibri" panose="020F0502020204030204"/>
              </a:rPr>
              <a:t>finite shared output link buffers</a:t>
            </a:r>
          </a:p>
        </p:txBody>
      </p:sp>
      <p:sp>
        <p:nvSpPr>
          <p:cNvPr id="678" name="Line 15">
            <a:extLst>
              <a:ext uri="{FF2B5EF4-FFF2-40B4-BE49-F238E27FC236}">
                <a16:creationId xmlns:a16="http://schemas.microsoft.com/office/drawing/2014/main" id="{A54ED1D9-7AF8-1C46-92BF-64AB53B44E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13485" y="3942195"/>
            <a:ext cx="692944" cy="650081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87" name="Text Box 65">
            <a:extLst>
              <a:ext uri="{FF2B5EF4-FFF2-40B4-BE49-F238E27FC236}">
                <a16:creationId xmlns:a16="http://schemas.microsoft.com/office/drawing/2014/main" id="{A6D6C3CB-B52A-B540-B712-B3A1C6545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4422" y="2942070"/>
            <a:ext cx="551259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dirty="0">
                <a:solidFill>
                  <a:srgbClr val="000000"/>
                </a:solidFill>
                <a:latin typeface="Arial" panose="020B0604020202020204" pitchFamily="34" charset="0"/>
              </a:rPr>
              <a:t>Host A</a:t>
            </a:r>
          </a:p>
        </p:txBody>
      </p:sp>
      <p:sp>
        <p:nvSpPr>
          <p:cNvPr id="688" name="Line 67">
            <a:extLst>
              <a:ext uri="{FF2B5EF4-FFF2-40B4-BE49-F238E27FC236}">
                <a16:creationId xmlns:a16="http://schemas.microsoft.com/office/drawing/2014/main" id="{4C1968E6-EC62-094F-BD83-D9CA6A5305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01097" y="5435237"/>
            <a:ext cx="184692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96" name="Line 117">
            <a:extLst>
              <a:ext uri="{FF2B5EF4-FFF2-40B4-BE49-F238E27FC236}">
                <a16:creationId xmlns:a16="http://schemas.microsoft.com/office/drawing/2014/main" id="{52940752-F616-324B-80EA-ECAB405BF34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77816" y="4264854"/>
            <a:ext cx="1017984" cy="1309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97" name="Line 118">
            <a:extLst>
              <a:ext uri="{FF2B5EF4-FFF2-40B4-BE49-F238E27FC236}">
                <a16:creationId xmlns:a16="http://schemas.microsoft.com/office/drawing/2014/main" id="{C9FD2B0B-C893-774C-980F-8CD9C6DDBAA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26781" y="4277950"/>
            <a:ext cx="671513" cy="7144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98" name="Line 119">
            <a:extLst>
              <a:ext uri="{FF2B5EF4-FFF2-40B4-BE49-F238E27FC236}">
                <a16:creationId xmlns:a16="http://schemas.microsoft.com/office/drawing/2014/main" id="{6C25B7AE-261A-0646-8C1E-3F48F28CCE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70834" y="3912624"/>
            <a:ext cx="1003159" cy="101540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99" name="Line 120">
            <a:extLst>
              <a:ext uri="{FF2B5EF4-FFF2-40B4-BE49-F238E27FC236}">
                <a16:creationId xmlns:a16="http://schemas.microsoft.com/office/drawing/2014/main" id="{323341B4-BD94-8040-82E9-99EC24A845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65764" y="3915470"/>
            <a:ext cx="329804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478B0D0-619F-7349-B4E5-DCEC3A9A7101}"/>
              </a:ext>
            </a:extLst>
          </p:cNvPr>
          <p:cNvGrpSpPr/>
          <p:nvPr/>
        </p:nvGrpSpPr>
        <p:grpSpPr>
          <a:xfrm>
            <a:off x="5270305" y="4466424"/>
            <a:ext cx="478457" cy="451816"/>
            <a:chOff x="7027073" y="4812231"/>
            <a:chExt cx="637943" cy="602421"/>
          </a:xfrm>
        </p:grpSpPr>
        <p:sp>
          <p:nvSpPr>
            <p:cNvPr id="753" name="Text Box 216">
              <a:extLst>
                <a:ext uri="{FF2B5EF4-FFF2-40B4-BE49-F238E27FC236}">
                  <a16:creationId xmlns:a16="http://schemas.microsoft.com/office/drawing/2014/main" id="{586CD15E-9DCF-2242-ADC7-0EBB063D09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7073" y="4812231"/>
              <a:ext cx="617537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dirty="0">
                  <a:solidFill>
                    <a:srgbClr val="C00000"/>
                  </a:solidFill>
                  <a:latin typeface="Symbol" pitchFamily="2" charset="2"/>
                </a:rPr>
                <a:t>l</a:t>
              </a:r>
              <a:r>
                <a:rPr lang="en-US" altLang="en-US" sz="1500" baseline="-25000" dirty="0">
                  <a:solidFill>
                    <a:srgbClr val="C00000"/>
                  </a:solidFill>
                  <a:latin typeface="Arial" panose="020B0604020202020204" pitchFamily="34" charset="0"/>
                </a:rPr>
                <a:t>out</a:t>
              </a:r>
              <a:endParaRPr lang="en-US" altLang="en-US" sz="1500" dirty="0">
                <a:solidFill>
                  <a:srgbClr val="C00000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754" name="Line 217">
              <a:extLst>
                <a:ext uri="{FF2B5EF4-FFF2-40B4-BE49-F238E27FC236}">
                  <a16:creationId xmlns:a16="http://schemas.microsoft.com/office/drawing/2014/main" id="{676E6049-2186-D442-B4B2-91F3161EB3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4991" y="5195577"/>
              <a:ext cx="200025" cy="2190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755" name="Line 218">
            <a:extLst>
              <a:ext uri="{FF2B5EF4-FFF2-40B4-BE49-F238E27FC236}">
                <a16:creationId xmlns:a16="http://schemas.microsoft.com/office/drawing/2014/main" id="{9FC0E2B7-EE1C-0D41-8103-C8FCB3F9E5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87491" y="3978751"/>
            <a:ext cx="5953" cy="18251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79" name="Line 242">
            <a:extLst>
              <a:ext uri="{FF2B5EF4-FFF2-40B4-BE49-F238E27FC236}">
                <a16:creationId xmlns:a16="http://schemas.microsoft.com/office/drawing/2014/main" id="{064F47BF-3B0B-DE43-9F0E-D139AF6115E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9416" y="3463563"/>
            <a:ext cx="207169" cy="1191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06" name="Line 270">
            <a:extLst>
              <a:ext uri="{FF2B5EF4-FFF2-40B4-BE49-F238E27FC236}">
                <a16:creationId xmlns:a16="http://schemas.microsoft.com/office/drawing/2014/main" id="{E95CA478-DC80-E94D-871D-F0A47C37057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77816" y="5420949"/>
            <a:ext cx="2157230" cy="16864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07" name="Line 271">
            <a:extLst>
              <a:ext uri="{FF2B5EF4-FFF2-40B4-BE49-F238E27FC236}">
                <a16:creationId xmlns:a16="http://schemas.microsoft.com/office/drawing/2014/main" id="{27AA192C-A882-6942-AFC6-B10AE7C004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83869" y="4953628"/>
            <a:ext cx="453132" cy="47446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020" name="Group 1019">
            <a:extLst>
              <a:ext uri="{FF2B5EF4-FFF2-40B4-BE49-F238E27FC236}">
                <a16:creationId xmlns:a16="http://schemas.microsoft.com/office/drawing/2014/main" id="{B351B890-D7B2-6B4A-A54F-9A17DCD4F2A5}"/>
              </a:ext>
            </a:extLst>
          </p:cNvPr>
          <p:cNvGrpSpPr/>
          <p:nvPr/>
        </p:nvGrpSpPr>
        <p:grpSpPr>
          <a:xfrm>
            <a:off x="3086857" y="5290889"/>
            <a:ext cx="692944" cy="319934"/>
            <a:chOff x="7493876" y="2774731"/>
            <a:chExt cx="1481958" cy="894622"/>
          </a:xfrm>
        </p:grpSpPr>
        <p:sp>
          <p:nvSpPr>
            <p:cNvPr id="1021" name="Freeform 1020">
              <a:extLst>
                <a:ext uri="{FF2B5EF4-FFF2-40B4-BE49-F238E27FC236}">
                  <a16:creationId xmlns:a16="http://schemas.microsoft.com/office/drawing/2014/main" id="{BFA1621A-7C33-1442-AABC-8CA9989EF86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022" name="Oval 1021">
              <a:extLst>
                <a:ext uri="{FF2B5EF4-FFF2-40B4-BE49-F238E27FC236}">
                  <a16:creationId xmlns:a16="http://schemas.microsoft.com/office/drawing/2014/main" id="{B432F96D-DCEA-1940-B3EB-10DC273627D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023" name="Group 1022">
              <a:extLst>
                <a:ext uri="{FF2B5EF4-FFF2-40B4-BE49-F238E27FC236}">
                  <a16:creationId xmlns:a16="http://schemas.microsoft.com/office/drawing/2014/main" id="{445733B0-C200-7443-B614-F3CE56262D5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4" name="Freeform 1023">
                <a:extLst>
                  <a:ext uri="{FF2B5EF4-FFF2-40B4-BE49-F238E27FC236}">
                    <a16:creationId xmlns:a16="http://schemas.microsoft.com/office/drawing/2014/main" id="{0B7AFB59-A6AA-4745-8FFB-C21D0E37EE8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25" name="Freeform 1024">
                <a:extLst>
                  <a:ext uri="{FF2B5EF4-FFF2-40B4-BE49-F238E27FC236}">
                    <a16:creationId xmlns:a16="http://schemas.microsoft.com/office/drawing/2014/main" id="{8F342913-D690-FA46-9B73-C46C2CD3D5F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26" name="Freeform 1025">
                <a:extLst>
                  <a:ext uri="{FF2B5EF4-FFF2-40B4-BE49-F238E27FC236}">
                    <a16:creationId xmlns:a16="http://schemas.microsoft.com/office/drawing/2014/main" id="{743F90F2-19F8-FC4B-B6BF-DAAA5DD031B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27" name="Freeform 1026">
                <a:extLst>
                  <a:ext uri="{FF2B5EF4-FFF2-40B4-BE49-F238E27FC236}">
                    <a16:creationId xmlns:a16="http://schemas.microsoft.com/office/drawing/2014/main" id="{75CD2DB9-85B3-D94B-BA98-81974DA70D6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844" name="Line 308">
            <a:extLst>
              <a:ext uri="{FF2B5EF4-FFF2-40B4-BE49-F238E27FC236}">
                <a16:creationId xmlns:a16="http://schemas.microsoft.com/office/drawing/2014/main" id="{A454DE4E-2142-C540-BF6A-3FF8715916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35797" y="4575607"/>
            <a:ext cx="146378" cy="116633"/>
          </a:xfrm>
          <a:prstGeom prst="line">
            <a:avLst/>
          </a:prstGeom>
          <a:noFill/>
          <a:ln w="28575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45" name="Line 309">
            <a:extLst>
              <a:ext uri="{FF2B5EF4-FFF2-40B4-BE49-F238E27FC236}">
                <a16:creationId xmlns:a16="http://schemas.microsoft.com/office/drawing/2014/main" id="{F565347B-4B50-EE43-8424-7BD5F89E83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40756" y="4692240"/>
            <a:ext cx="773906" cy="737046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66" name="Text Box 335">
            <a:extLst>
              <a:ext uri="{FF2B5EF4-FFF2-40B4-BE49-F238E27FC236}">
                <a16:creationId xmlns:a16="http://schemas.microsoft.com/office/drawing/2014/main" id="{EC1F708A-2D5F-F542-854C-75A1D11D8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0991" y="3081373"/>
            <a:ext cx="551259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dirty="0">
                <a:solidFill>
                  <a:srgbClr val="000000"/>
                </a:solidFill>
                <a:latin typeface="Arial" panose="020B0604020202020204" pitchFamily="34" charset="0"/>
              </a:rPr>
              <a:t>Host B</a:t>
            </a:r>
          </a:p>
        </p:txBody>
      </p:sp>
      <p:sp>
        <p:nvSpPr>
          <p:cNvPr id="867" name="Text Box 336">
            <a:extLst>
              <a:ext uri="{FF2B5EF4-FFF2-40B4-BE49-F238E27FC236}">
                <a16:creationId xmlns:a16="http://schemas.microsoft.com/office/drawing/2014/main" id="{F2F32402-4562-6C48-A689-4C8257513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0225" y="4626805"/>
            <a:ext cx="551260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dirty="0">
                <a:solidFill>
                  <a:srgbClr val="000000"/>
                </a:solidFill>
                <a:latin typeface="Arial" panose="020B0604020202020204" pitchFamily="34" charset="0"/>
              </a:rPr>
              <a:t>Host C</a:t>
            </a:r>
          </a:p>
        </p:txBody>
      </p:sp>
      <p:sp>
        <p:nvSpPr>
          <p:cNvPr id="868" name="Text Box 337">
            <a:extLst>
              <a:ext uri="{FF2B5EF4-FFF2-40B4-BE49-F238E27FC236}">
                <a16:creationId xmlns:a16="http://schemas.microsoft.com/office/drawing/2014/main" id="{A4EB824E-664E-C940-8134-7071C617D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2335" y="4444639"/>
            <a:ext cx="551259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dirty="0">
                <a:solidFill>
                  <a:srgbClr val="000000"/>
                </a:solidFill>
                <a:latin typeface="Arial" panose="020B0604020202020204" pitchFamily="34" charset="0"/>
              </a:rPr>
              <a:t>Host 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D4E31C0-E9C7-C340-B3B9-4C96C464E2BC}"/>
              </a:ext>
            </a:extLst>
          </p:cNvPr>
          <p:cNvGrpSpPr/>
          <p:nvPr/>
        </p:nvGrpSpPr>
        <p:grpSpPr>
          <a:xfrm>
            <a:off x="3306819" y="2913041"/>
            <a:ext cx="1704379" cy="382686"/>
            <a:chOff x="4418013" y="2732134"/>
            <a:chExt cx="2272505" cy="510248"/>
          </a:xfrm>
        </p:grpSpPr>
        <p:sp>
          <p:nvSpPr>
            <p:cNvPr id="752" name="Line 215">
              <a:extLst>
                <a:ext uri="{FF2B5EF4-FFF2-40B4-BE49-F238E27FC236}">
                  <a16:creationId xmlns:a16="http://schemas.microsoft.com/office/drawing/2014/main" id="{EFFD9886-71D4-BB4B-8AB0-19FA954C49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1838" y="3055984"/>
              <a:ext cx="295275" cy="104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C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81" name="Oval 244">
              <a:extLst>
                <a:ext uri="{FF2B5EF4-FFF2-40B4-BE49-F238E27FC236}">
                  <a16:creationId xmlns:a16="http://schemas.microsoft.com/office/drawing/2014/main" id="{51FAD07D-0B83-F54B-8BC2-AFE24FF0F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8013" y="3151234"/>
              <a:ext cx="90487" cy="911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C00000"/>
                </a:solidFill>
              </a:endParaRPr>
            </a:p>
          </p:txBody>
        </p:sp>
        <p:sp>
          <p:nvSpPr>
            <p:cNvPr id="869" name="Text Box 338">
              <a:extLst>
                <a:ext uri="{FF2B5EF4-FFF2-40B4-BE49-F238E27FC236}">
                  <a16:creationId xmlns:a16="http://schemas.microsoft.com/office/drawing/2014/main" id="{5AE7EEB2-443D-C74D-9FE2-48E45B97B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9330" y="2732134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dirty="0">
                  <a:solidFill>
                    <a:srgbClr val="C00000"/>
                  </a:solidFill>
                  <a:latin typeface="Symbol" pitchFamily="2" charset="2"/>
                </a:rPr>
                <a:t>l</a:t>
              </a:r>
              <a:r>
                <a:rPr lang="en-US" altLang="en-US" sz="1500" baseline="-25000" dirty="0">
                  <a:solidFill>
                    <a:srgbClr val="C00000"/>
                  </a:solidFill>
                  <a:latin typeface="Arial" panose="020B0604020202020204" pitchFamily="34" charset="0"/>
                </a:rPr>
                <a:t>in</a:t>
              </a:r>
              <a:r>
                <a:rPr lang="en-US" altLang="en-US" sz="1200" baseline="-25000" dirty="0">
                  <a:solidFill>
                    <a:srgbClr val="C000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en-US" sz="1200" dirty="0">
                  <a:solidFill>
                    <a:srgbClr val="C00000"/>
                  </a:solidFill>
                  <a:latin typeface="Arial" panose="020B0604020202020204" pitchFamily="34" charset="0"/>
                </a:rPr>
                <a:t>: </a:t>
              </a:r>
              <a:r>
                <a:rPr lang="en-US" altLang="en-US" sz="1200" dirty="0">
                  <a:solidFill>
                    <a:srgbClr val="C00000"/>
                  </a:solidFill>
                  <a:latin typeface="Calibri" panose="020F0502020204030204"/>
                </a:rPr>
                <a:t>original data</a:t>
              </a:r>
            </a:p>
          </p:txBody>
        </p:sp>
      </p:grpSp>
      <p:sp>
        <p:nvSpPr>
          <p:cNvPr id="870" name="Line 340">
            <a:extLst>
              <a:ext uri="{FF2B5EF4-FFF2-40B4-BE49-F238E27FC236}">
                <a16:creationId xmlns:a16="http://schemas.microsoft.com/office/drawing/2014/main" id="{F7B1FC1D-7510-1C49-AE6A-C7F69308C1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9163" y="3399269"/>
            <a:ext cx="254794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D507231-6EFD-6A42-9136-D71365EF63D2}"/>
              </a:ext>
            </a:extLst>
          </p:cNvPr>
          <p:cNvGrpSpPr/>
          <p:nvPr/>
        </p:nvGrpSpPr>
        <p:grpSpPr>
          <a:xfrm>
            <a:off x="3310164" y="3169621"/>
            <a:ext cx="1862138" cy="463153"/>
            <a:chOff x="4418013" y="3074240"/>
            <a:chExt cx="2482850" cy="617537"/>
          </a:xfrm>
        </p:grpSpPr>
        <p:sp>
          <p:nvSpPr>
            <p:cNvPr id="782" name="Oval 245">
              <a:extLst>
                <a:ext uri="{FF2B5EF4-FFF2-40B4-BE49-F238E27FC236}">
                  <a16:creationId xmlns:a16="http://schemas.microsoft.com/office/drawing/2014/main" id="{54248ED4-7799-AC43-BD75-DD6C5002C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8013" y="3331549"/>
              <a:ext cx="90487" cy="911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783" name="Line 247">
              <a:extLst>
                <a:ext uri="{FF2B5EF4-FFF2-40B4-BE49-F238E27FC236}">
                  <a16:creationId xmlns:a16="http://schemas.microsoft.com/office/drawing/2014/main" id="{E59D074B-1F6E-C14E-AD81-B0177A7E8C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51363" y="3322684"/>
              <a:ext cx="304800" cy="381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71" name="Text Box 341">
              <a:extLst>
                <a:ext uri="{FF2B5EF4-FFF2-40B4-BE49-F238E27FC236}">
                  <a16:creationId xmlns:a16="http://schemas.microsoft.com/office/drawing/2014/main" id="{7BFEC39C-D433-1D4D-A184-DDA258B9A6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1363" y="3074240"/>
              <a:ext cx="2349500" cy="617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defTabSz="6858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dirty="0">
                  <a:solidFill>
                    <a:srgbClr val="C00000"/>
                  </a:solidFill>
                  <a:latin typeface="Symbol" pitchFamily="2" charset="2"/>
                </a:rPr>
                <a:t>l</a:t>
              </a:r>
              <a:r>
                <a:rPr lang="en-US" altLang="en-US" sz="1500" dirty="0">
                  <a:solidFill>
                    <a:srgbClr val="C00000"/>
                  </a:solidFill>
                  <a:latin typeface="Arial" panose="020B0604020202020204" pitchFamily="34" charset="0"/>
                </a:rPr>
                <a:t>'</a:t>
              </a:r>
              <a:r>
                <a:rPr lang="en-US" altLang="en-US" sz="1500" baseline="-25000" dirty="0">
                  <a:solidFill>
                    <a:srgbClr val="C00000"/>
                  </a:solidFill>
                  <a:latin typeface="Arial" panose="020B0604020202020204" pitchFamily="34" charset="0"/>
                </a:rPr>
                <a:t>in</a:t>
              </a:r>
              <a:r>
                <a:rPr lang="en-US" altLang="en-US" sz="1350" dirty="0">
                  <a:solidFill>
                    <a:srgbClr val="C00000"/>
                  </a:solidFill>
                  <a:latin typeface="Arial" panose="020B0604020202020204" pitchFamily="34" charset="0"/>
                </a:rPr>
                <a:t>:</a:t>
              </a:r>
              <a:r>
                <a:rPr lang="en-US" altLang="en-US" sz="1050" dirty="0">
                  <a:solidFill>
                    <a:srgbClr val="C000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en-US" sz="1200" dirty="0">
                  <a:solidFill>
                    <a:srgbClr val="C00000"/>
                  </a:solidFill>
                  <a:latin typeface="Calibri" panose="020F0502020204030204"/>
                </a:rPr>
                <a:t>original data, </a:t>
              </a:r>
              <a:r>
                <a:rPr lang="en-US" altLang="en-US" sz="1200" i="1" dirty="0">
                  <a:solidFill>
                    <a:srgbClr val="C00000"/>
                  </a:solidFill>
                  <a:latin typeface="Calibri" panose="020F0502020204030204"/>
                </a:rPr>
                <a:t>plus</a:t>
              </a:r>
              <a:r>
                <a:rPr lang="en-US" altLang="en-US" sz="1200" dirty="0">
                  <a:solidFill>
                    <a:srgbClr val="C00000"/>
                  </a:solidFill>
                  <a:latin typeface="Calibri" panose="020F0502020204030204"/>
                </a:rPr>
                <a:t> retransmitted data</a:t>
              </a:r>
            </a:p>
          </p:txBody>
        </p:sp>
      </p:grpSp>
      <p:grpSp>
        <p:nvGrpSpPr>
          <p:cNvPr id="872" name="Group 358">
            <a:extLst>
              <a:ext uri="{FF2B5EF4-FFF2-40B4-BE49-F238E27FC236}">
                <a16:creationId xmlns:a16="http://schemas.microsoft.com/office/drawing/2014/main" id="{B102A184-15F6-9D48-BA25-6DCAD4F95232}"/>
              </a:ext>
            </a:extLst>
          </p:cNvPr>
          <p:cNvGrpSpPr>
            <a:grpSpLocks/>
          </p:cNvGrpSpPr>
          <p:nvPr/>
        </p:nvGrpSpPr>
        <p:grpSpPr bwMode="auto">
          <a:xfrm>
            <a:off x="6541294" y="3899332"/>
            <a:ext cx="173831" cy="330994"/>
            <a:chOff x="4140" y="429"/>
            <a:chExt cx="1425" cy="2396"/>
          </a:xfrm>
        </p:grpSpPr>
        <p:sp>
          <p:nvSpPr>
            <p:cNvPr id="873" name="Freeform 359">
              <a:extLst>
                <a:ext uri="{FF2B5EF4-FFF2-40B4-BE49-F238E27FC236}">
                  <a16:creationId xmlns:a16="http://schemas.microsoft.com/office/drawing/2014/main" id="{401A19BA-93A0-5948-83A2-34413A31D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74" name="Rectangle 360">
              <a:extLst>
                <a:ext uri="{FF2B5EF4-FFF2-40B4-BE49-F238E27FC236}">
                  <a16:creationId xmlns:a16="http://schemas.microsoft.com/office/drawing/2014/main" id="{29C3A899-DA55-CB48-9E5B-0A9EA5B7F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875" name="Freeform 361">
              <a:extLst>
                <a:ext uri="{FF2B5EF4-FFF2-40B4-BE49-F238E27FC236}">
                  <a16:creationId xmlns:a16="http://schemas.microsoft.com/office/drawing/2014/main" id="{92BBA9EA-E1EC-9642-BC6C-1195963D1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76" name="Freeform 362">
              <a:extLst>
                <a:ext uri="{FF2B5EF4-FFF2-40B4-BE49-F238E27FC236}">
                  <a16:creationId xmlns:a16="http://schemas.microsoft.com/office/drawing/2014/main" id="{F5DE54CC-1A21-7242-893E-5B0F34DDF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77" name="Rectangle 363">
              <a:extLst>
                <a:ext uri="{FF2B5EF4-FFF2-40B4-BE49-F238E27FC236}">
                  <a16:creationId xmlns:a16="http://schemas.microsoft.com/office/drawing/2014/main" id="{AFD98E37-52B9-2A4A-9280-8985F3AB8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878" name="Group 364">
              <a:extLst>
                <a:ext uri="{FF2B5EF4-FFF2-40B4-BE49-F238E27FC236}">
                  <a16:creationId xmlns:a16="http://schemas.microsoft.com/office/drawing/2014/main" id="{42B390A1-1CE1-8A44-98E6-EC785C7E80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03" name="AutoShape 365">
                <a:extLst>
                  <a:ext uri="{FF2B5EF4-FFF2-40B4-BE49-F238E27FC236}">
                    <a16:creationId xmlns:a16="http://schemas.microsoft.com/office/drawing/2014/main" id="{A81F4F9D-A24D-994F-987A-B13859CE60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04" name="AutoShape 366">
                <a:extLst>
                  <a:ext uri="{FF2B5EF4-FFF2-40B4-BE49-F238E27FC236}">
                    <a16:creationId xmlns:a16="http://schemas.microsoft.com/office/drawing/2014/main" id="{9A450662-B29B-9A47-8273-B52413BF16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879" name="Rectangle 367">
              <a:extLst>
                <a:ext uri="{FF2B5EF4-FFF2-40B4-BE49-F238E27FC236}">
                  <a16:creationId xmlns:a16="http://schemas.microsoft.com/office/drawing/2014/main" id="{28F33A87-EA9F-9646-8926-755174B82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880" name="Group 368">
              <a:extLst>
                <a:ext uri="{FF2B5EF4-FFF2-40B4-BE49-F238E27FC236}">
                  <a16:creationId xmlns:a16="http://schemas.microsoft.com/office/drawing/2014/main" id="{F712878E-6028-734C-9CF4-9ED3F95639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01" name="AutoShape 369">
                <a:extLst>
                  <a:ext uri="{FF2B5EF4-FFF2-40B4-BE49-F238E27FC236}">
                    <a16:creationId xmlns:a16="http://schemas.microsoft.com/office/drawing/2014/main" id="{D9A0700F-287C-924F-926C-F65682B216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02" name="AutoShape 370">
                <a:extLst>
                  <a:ext uri="{FF2B5EF4-FFF2-40B4-BE49-F238E27FC236}">
                    <a16:creationId xmlns:a16="http://schemas.microsoft.com/office/drawing/2014/main" id="{69D0E01F-131B-AE4E-9FA9-4DEAD09EBE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881" name="Rectangle 371">
              <a:extLst>
                <a:ext uri="{FF2B5EF4-FFF2-40B4-BE49-F238E27FC236}">
                  <a16:creationId xmlns:a16="http://schemas.microsoft.com/office/drawing/2014/main" id="{2B5B8250-6B47-8640-9BE0-E536E9BEB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882" name="Rectangle 372">
              <a:extLst>
                <a:ext uri="{FF2B5EF4-FFF2-40B4-BE49-F238E27FC236}">
                  <a16:creationId xmlns:a16="http://schemas.microsoft.com/office/drawing/2014/main" id="{4F3ADC46-A0C7-4D41-81C6-E9FEF3D22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883" name="Group 373">
              <a:extLst>
                <a:ext uri="{FF2B5EF4-FFF2-40B4-BE49-F238E27FC236}">
                  <a16:creationId xmlns:a16="http://schemas.microsoft.com/office/drawing/2014/main" id="{DBB62302-BA22-EB43-9800-FDE6BC60AE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99" name="AutoShape 374">
                <a:extLst>
                  <a:ext uri="{FF2B5EF4-FFF2-40B4-BE49-F238E27FC236}">
                    <a16:creationId xmlns:a16="http://schemas.microsoft.com/office/drawing/2014/main" id="{073B7F63-6B8F-3C47-98E4-91D899F23E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00" name="AutoShape 375">
                <a:extLst>
                  <a:ext uri="{FF2B5EF4-FFF2-40B4-BE49-F238E27FC236}">
                    <a16:creationId xmlns:a16="http://schemas.microsoft.com/office/drawing/2014/main" id="{341A6BBC-F5C1-4A4B-B98C-F7FBC232C0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884" name="Freeform 376">
              <a:extLst>
                <a:ext uri="{FF2B5EF4-FFF2-40B4-BE49-F238E27FC236}">
                  <a16:creationId xmlns:a16="http://schemas.microsoft.com/office/drawing/2014/main" id="{FD7BA052-11AD-0746-9E1F-ED093C0C7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885" name="Group 377">
              <a:extLst>
                <a:ext uri="{FF2B5EF4-FFF2-40B4-BE49-F238E27FC236}">
                  <a16:creationId xmlns:a16="http://schemas.microsoft.com/office/drawing/2014/main" id="{94849104-ED73-4A4E-9499-FE17A0BEEA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97" name="AutoShape 378">
                <a:extLst>
                  <a:ext uri="{FF2B5EF4-FFF2-40B4-BE49-F238E27FC236}">
                    <a16:creationId xmlns:a16="http://schemas.microsoft.com/office/drawing/2014/main" id="{6AF22F59-81FC-284E-9ED3-B8543A67EC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898" name="AutoShape 379">
                <a:extLst>
                  <a:ext uri="{FF2B5EF4-FFF2-40B4-BE49-F238E27FC236}">
                    <a16:creationId xmlns:a16="http://schemas.microsoft.com/office/drawing/2014/main" id="{59F0C798-93FE-2E49-A5BB-F37B2B375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886" name="Rectangle 380">
              <a:extLst>
                <a:ext uri="{FF2B5EF4-FFF2-40B4-BE49-F238E27FC236}">
                  <a16:creationId xmlns:a16="http://schemas.microsoft.com/office/drawing/2014/main" id="{D7204B38-E79D-704F-9D1A-7946FE0F7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887" name="Freeform 381">
              <a:extLst>
                <a:ext uri="{FF2B5EF4-FFF2-40B4-BE49-F238E27FC236}">
                  <a16:creationId xmlns:a16="http://schemas.microsoft.com/office/drawing/2014/main" id="{B297E38E-B1EF-904E-B58B-D3DB57063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88" name="Freeform 382">
              <a:extLst>
                <a:ext uri="{FF2B5EF4-FFF2-40B4-BE49-F238E27FC236}">
                  <a16:creationId xmlns:a16="http://schemas.microsoft.com/office/drawing/2014/main" id="{D9CB8A91-EFB4-EF48-9D5A-800AA7662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89" name="Oval 383">
              <a:extLst>
                <a:ext uri="{FF2B5EF4-FFF2-40B4-BE49-F238E27FC236}">
                  <a16:creationId xmlns:a16="http://schemas.microsoft.com/office/drawing/2014/main" id="{8987F49C-0A2B-AD46-A559-3662A0989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890" name="Freeform 384">
              <a:extLst>
                <a:ext uri="{FF2B5EF4-FFF2-40B4-BE49-F238E27FC236}">
                  <a16:creationId xmlns:a16="http://schemas.microsoft.com/office/drawing/2014/main" id="{56272E2A-B37E-7040-8FE7-B94468517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91" name="AutoShape 385">
              <a:extLst>
                <a:ext uri="{FF2B5EF4-FFF2-40B4-BE49-F238E27FC236}">
                  <a16:creationId xmlns:a16="http://schemas.microsoft.com/office/drawing/2014/main" id="{265AE34B-C24C-4244-B2E1-823D47AD4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892" name="AutoShape 386">
              <a:extLst>
                <a:ext uri="{FF2B5EF4-FFF2-40B4-BE49-F238E27FC236}">
                  <a16:creationId xmlns:a16="http://schemas.microsoft.com/office/drawing/2014/main" id="{10E44DC8-F69D-5545-9E57-740FE4383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893" name="Oval 387">
              <a:extLst>
                <a:ext uri="{FF2B5EF4-FFF2-40B4-BE49-F238E27FC236}">
                  <a16:creationId xmlns:a16="http://schemas.microsoft.com/office/drawing/2014/main" id="{FD342163-1DC9-1B48-BEA0-1620ABB4E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894" name="Oval 388">
              <a:extLst>
                <a:ext uri="{FF2B5EF4-FFF2-40B4-BE49-F238E27FC236}">
                  <a16:creationId xmlns:a16="http://schemas.microsoft.com/office/drawing/2014/main" id="{CA07F370-4D95-0740-89A3-264118D23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895" name="Oval 389">
              <a:extLst>
                <a:ext uri="{FF2B5EF4-FFF2-40B4-BE49-F238E27FC236}">
                  <a16:creationId xmlns:a16="http://schemas.microsoft.com/office/drawing/2014/main" id="{7A871C45-6926-0144-A9DA-1CB846474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896" name="Rectangle 390">
              <a:extLst>
                <a:ext uri="{FF2B5EF4-FFF2-40B4-BE49-F238E27FC236}">
                  <a16:creationId xmlns:a16="http://schemas.microsoft.com/office/drawing/2014/main" id="{93478FB3-BB83-904F-BDCC-D9C78F5D8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905" name="Group 391">
            <a:extLst>
              <a:ext uri="{FF2B5EF4-FFF2-40B4-BE49-F238E27FC236}">
                <a16:creationId xmlns:a16="http://schemas.microsoft.com/office/drawing/2014/main" id="{B94C15E5-CBA5-2940-8689-484338C5321F}"/>
              </a:ext>
            </a:extLst>
          </p:cNvPr>
          <p:cNvGrpSpPr>
            <a:grpSpLocks/>
          </p:cNvGrpSpPr>
          <p:nvPr/>
        </p:nvGrpSpPr>
        <p:grpSpPr bwMode="auto">
          <a:xfrm>
            <a:off x="6181726" y="5292363"/>
            <a:ext cx="173831" cy="330994"/>
            <a:chOff x="4140" y="429"/>
            <a:chExt cx="1425" cy="2396"/>
          </a:xfrm>
        </p:grpSpPr>
        <p:sp>
          <p:nvSpPr>
            <p:cNvPr id="906" name="Freeform 392">
              <a:extLst>
                <a:ext uri="{FF2B5EF4-FFF2-40B4-BE49-F238E27FC236}">
                  <a16:creationId xmlns:a16="http://schemas.microsoft.com/office/drawing/2014/main" id="{4F66A60C-4523-1247-B22F-E614C2323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07" name="Rectangle 393">
              <a:extLst>
                <a:ext uri="{FF2B5EF4-FFF2-40B4-BE49-F238E27FC236}">
                  <a16:creationId xmlns:a16="http://schemas.microsoft.com/office/drawing/2014/main" id="{61D620F7-773E-9447-BBE9-EADB205BA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08" name="Freeform 394">
              <a:extLst>
                <a:ext uri="{FF2B5EF4-FFF2-40B4-BE49-F238E27FC236}">
                  <a16:creationId xmlns:a16="http://schemas.microsoft.com/office/drawing/2014/main" id="{68051943-1F78-7D4F-9003-02B33D510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09" name="Freeform 395">
              <a:extLst>
                <a:ext uri="{FF2B5EF4-FFF2-40B4-BE49-F238E27FC236}">
                  <a16:creationId xmlns:a16="http://schemas.microsoft.com/office/drawing/2014/main" id="{CFD52F3A-7D38-814B-ACF7-C2DABDAC0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10" name="Rectangle 396">
              <a:extLst>
                <a:ext uri="{FF2B5EF4-FFF2-40B4-BE49-F238E27FC236}">
                  <a16:creationId xmlns:a16="http://schemas.microsoft.com/office/drawing/2014/main" id="{ED4FE6BC-E863-0A40-A1BF-59B1EE6E6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911" name="Group 397">
              <a:extLst>
                <a:ext uri="{FF2B5EF4-FFF2-40B4-BE49-F238E27FC236}">
                  <a16:creationId xmlns:a16="http://schemas.microsoft.com/office/drawing/2014/main" id="{B0820A9D-B93E-724D-B70E-1CA8666960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36" name="AutoShape 398">
                <a:extLst>
                  <a:ext uri="{FF2B5EF4-FFF2-40B4-BE49-F238E27FC236}">
                    <a16:creationId xmlns:a16="http://schemas.microsoft.com/office/drawing/2014/main" id="{C731DD29-B1AF-B140-BF66-9AA1704AA0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37" name="AutoShape 399">
                <a:extLst>
                  <a:ext uri="{FF2B5EF4-FFF2-40B4-BE49-F238E27FC236}">
                    <a16:creationId xmlns:a16="http://schemas.microsoft.com/office/drawing/2014/main" id="{69450BC6-9D04-5E41-AAFA-3248B29893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12" name="Rectangle 400">
              <a:extLst>
                <a:ext uri="{FF2B5EF4-FFF2-40B4-BE49-F238E27FC236}">
                  <a16:creationId xmlns:a16="http://schemas.microsoft.com/office/drawing/2014/main" id="{1E68D328-8CD6-494C-8980-4A6209855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913" name="Group 401">
              <a:extLst>
                <a:ext uri="{FF2B5EF4-FFF2-40B4-BE49-F238E27FC236}">
                  <a16:creationId xmlns:a16="http://schemas.microsoft.com/office/drawing/2014/main" id="{80ABD857-57C1-6042-8F03-E798080B04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4" name="AutoShape 402">
                <a:extLst>
                  <a:ext uri="{FF2B5EF4-FFF2-40B4-BE49-F238E27FC236}">
                    <a16:creationId xmlns:a16="http://schemas.microsoft.com/office/drawing/2014/main" id="{F3B87B92-FEB0-5347-AD64-CA0F25689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35" name="AutoShape 403">
                <a:extLst>
                  <a:ext uri="{FF2B5EF4-FFF2-40B4-BE49-F238E27FC236}">
                    <a16:creationId xmlns:a16="http://schemas.microsoft.com/office/drawing/2014/main" id="{9936A920-B1F4-C14C-B5C6-409A7AFE8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14" name="Rectangle 404">
              <a:extLst>
                <a:ext uri="{FF2B5EF4-FFF2-40B4-BE49-F238E27FC236}">
                  <a16:creationId xmlns:a16="http://schemas.microsoft.com/office/drawing/2014/main" id="{0F04EEB4-7896-7D4A-BCDA-62B0C7B9F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15" name="Rectangle 405">
              <a:extLst>
                <a:ext uri="{FF2B5EF4-FFF2-40B4-BE49-F238E27FC236}">
                  <a16:creationId xmlns:a16="http://schemas.microsoft.com/office/drawing/2014/main" id="{5909BD1D-CACF-D748-A5B9-4C7904EEC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916" name="Group 406">
              <a:extLst>
                <a:ext uri="{FF2B5EF4-FFF2-40B4-BE49-F238E27FC236}">
                  <a16:creationId xmlns:a16="http://schemas.microsoft.com/office/drawing/2014/main" id="{F985F348-C548-C043-912F-5350B438D3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32" name="AutoShape 407">
                <a:extLst>
                  <a:ext uri="{FF2B5EF4-FFF2-40B4-BE49-F238E27FC236}">
                    <a16:creationId xmlns:a16="http://schemas.microsoft.com/office/drawing/2014/main" id="{F70F083E-0DB4-B64D-BC78-036B8F2D46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33" name="AutoShape 408">
                <a:extLst>
                  <a:ext uri="{FF2B5EF4-FFF2-40B4-BE49-F238E27FC236}">
                    <a16:creationId xmlns:a16="http://schemas.microsoft.com/office/drawing/2014/main" id="{EDA150B8-1FBA-3A43-8152-77EF2D3FD3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17" name="Freeform 409">
              <a:extLst>
                <a:ext uri="{FF2B5EF4-FFF2-40B4-BE49-F238E27FC236}">
                  <a16:creationId xmlns:a16="http://schemas.microsoft.com/office/drawing/2014/main" id="{A4EE2C33-4CEF-F64E-8D2C-C9DFC11B0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918" name="Group 410">
              <a:extLst>
                <a:ext uri="{FF2B5EF4-FFF2-40B4-BE49-F238E27FC236}">
                  <a16:creationId xmlns:a16="http://schemas.microsoft.com/office/drawing/2014/main" id="{D5237434-45E3-9B43-B435-70ECE4BC17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30" name="AutoShape 411">
                <a:extLst>
                  <a:ext uri="{FF2B5EF4-FFF2-40B4-BE49-F238E27FC236}">
                    <a16:creationId xmlns:a16="http://schemas.microsoft.com/office/drawing/2014/main" id="{FE241821-A07C-5E45-9536-5C4C0DCB2E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31" name="AutoShape 412">
                <a:extLst>
                  <a:ext uri="{FF2B5EF4-FFF2-40B4-BE49-F238E27FC236}">
                    <a16:creationId xmlns:a16="http://schemas.microsoft.com/office/drawing/2014/main" id="{A291E061-47B5-8B40-B857-3700BEC1C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19" name="Rectangle 413">
              <a:extLst>
                <a:ext uri="{FF2B5EF4-FFF2-40B4-BE49-F238E27FC236}">
                  <a16:creationId xmlns:a16="http://schemas.microsoft.com/office/drawing/2014/main" id="{DD501FF1-6533-124E-B747-F46FD4739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20" name="Freeform 414">
              <a:extLst>
                <a:ext uri="{FF2B5EF4-FFF2-40B4-BE49-F238E27FC236}">
                  <a16:creationId xmlns:a16="http://schemas.microsoft.com/office/drawing/2014/main" id="{DCD7A571-3F8E-5B4C-AE78-445B1D4AE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21" name="Freeform 415">
              <a:extLst>
                <a:ext uri="{FF2B5EF4-FFF2-40B4-BE49-F238E27FC236}">
                  <a16:creationId xmlns:a16="http://schemas.microsoft.com/office/drawing/2014/main" id="{938BC4F2-A426-3F45-8FD9-7FA2DBEC0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22" name="Oval 416">
              <a:extLst>
                <a:ext uri="{FF2B5EF4-FFF2-40B4-BE49-F238E27FC236}">
                  <a16:creationId xmlns:a16="http://schemas.microsoft.com/office/drawing/2014/main" id="{AF98DFA3-988A-EC49-B271-BC58A8724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23" name="Freeform 417">
              <a:extLst>
                <a:ext uri="{FF2B5EF4-FFF2-40B4-BE49-F238E27FC236}">
                  <a16:creationId xmlns:a16="http://schemas.microsoft.com/office/drawing/2014/main" id="{A196ACD0-B52A-594C-BD08-5F7FA59EA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24" name="AutoShape 418">
              <a:extLst>
                <a:ext uri="{FF2B5EF4-FFF2-40B4-BE49-F238E27FC236}">
                  <a16:creationId xmlns:a16="http://schemas.microsoft.com/office/drawing/2014/main" id="{31CD3BB6-E02C-FF4B-963F-83FAE08F4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25" name="AutoShape 419">
              <a:extLst>
                <a:ext uri="{FF2B5EF4-FFF2-40B4-BE49-F238E27FC236}">
                  <a16:creationId xmlns:a16="http://schemas.microsoft.com/office/drawing/2014/main" id="{348C19C6-E3E4-6244-86AE-3030DDC92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26" name="Oval 420">
              <a:extLst>
                <a:ext uri="{FF2B5EF4-FFF2-40B4-BE49-F238E27FC236}">
                  <a16:creationId xmlns:a16="http://schemas.microsoft.com/office/drawing/2014/main" id="{427211E2-1972-7141-998C-496F47DB8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27" name="Oval 421">
              <a:extLst>
                <a:ext uri="{FF2B5EF4-FFF2-40B4-BE49-F238E27FC236}">
                  <a16:creationId xmlns:a16="http://schemas.microsoft.com/office/drawing/2014/main" id="{A4986518-BD9B-5B44-985C-6F2FB20BB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28" name="Oval 422">
              <a:extLst>
                <a:ext uri="{FF2B5EF4-FFF2-40B4-BE49-F238E27FC236}">
                  <a16:creationId xmlns:a16="http://schemas.microsoft.com/office/drawing/2014/main" id="{410B6E44-7449-9E43-AFBD-60C7C42E2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29" name="Rectangle 423">
              <a:extLst>
                <a:ext uri="{FF2B5EF4-FFF2-40B4-BE49-F238E27FC236}">
                  <a16:creationId xmlns:a16="http://schemas.microsoft.com/office/drawing/2014/main" id="{B13CD25C-C312-244E-B0BF-CD83F0BBA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938" name="Group 424">
            <a:extLst>
              <a:ext uri="{FF2B5EF4-FFF2-40B4-BE49-F238E27FC236}">
                <a16:creationId xmlns:a16="http://schemas.microsoft.com/office/drawing/2014/main" id="{E9EBF6A3-E9F0-8746-A258-7B6F1E3DA995}"/>
              </a:ext>
            </a:extLst>
          </p:cNvPr>
          <p:cNvGrpSpPr>
            <a:grpSpLocks/>
          </p:cNvGrpSpPr>
          <p:nvPr/>
        </p:nvGrpSpPr>
        <p:grpSpPr bwMode="auto">
          <a:xfrm>
            <a:off x="1266826" y="5169729"/>
            <a:ext cx="173831" cy="330994"/>
            <a:chOff x="4140" y="429"/>
            <a:chExt cx="1425" cy="2396"/>
          </a:xfrm>
        </p:grpSpPr>
        <p:sp>
          <p:nvSpPr>
            <p:cNvPr id="939" name="Freeform 425">
              <a:extLst>
                <a:ext uri="{FF2B5EF4-FFF2-40B4-BE49-F238E27FC236}">
                  <a16:creationId xmlns:a16="http://schemas.microsoft.com/office/drawing/2014/main" id="{317EF1EB-033C-B541-875F-F971EF4C9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40" name="Rectangle 426">
              <a:extLst>
                <a:ext uri="{FF2B5EF4-FFF2-40B4-BE49-F238E27FC236}">
                  <a16:creationId xmlns:a16="http://schemas.microsoft.com/office/drawing/2014/main" id="{7DE336F4-7D1A-AD4C-B804-3C17B5FDD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41" name="Freeform 427">
              <a:extLst>
                <a:ext uri="{FF2B5EF4-FFF2-40B4-BE49-F238E27FC236}">
                  <a16:creationId xmlns:a16="http://schemas.microsoft.com/office/drawing/2014/main" id="{2EF9F335-3899-2649-A235-1B2F287E3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42" name="Freeform 428">
              <a:extLst>
                <a:ext uri="{FF2B5EF4-FFF2-40B4-BE49-F238E27FC236}">
                  <a16:creationId xmlns:a16="http://schemas.microsoft.com/office/drawing/2014/main" id="{38F111C0-EACA-674A-B70B-E58450D35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43" name="Rectangle 429">
              <a:extLst>
                <a:ext uri="{FF2B5EF4-FFF2-40B4-BE49-F238E27FC236}">
                  <a16:creationId xmlns:a16="http://schemas.microsoft.com/office/drawing/2014/main" id="{8FAFAE77-82D3-6944-9183-612E8FADA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944" name="Group 430">
              <a:extLst>
                <a:ext uri="{FF2B5EF4-FFF2-40B4-BE49-F238E27FC236}">
                  <a16:creationId xmlns:a16="http://schemas.microsoft.com/office/drawing/2014/main" id="{C9C3B06D-1446-984E-8533-C1D0EC6B48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69" name="AutoShape 431">
                <a:extLst>
                  <a:ext uri="{FF2B5EF4-FFF2-40B4-BE49-F238E27FC236}">
                    <a16:creationId xmlns:a16="http://schemas.microsoft.com/office/drawing/2014/main" id="{B80496C4-049D-954C-A5E2-DFF3BE40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70" name="AutoShape 432">
                <a:extLst>
                  <a:ext uri="{FF2B5EF4-FFF2-40B4-BE49-F238E27FC236}">
                    <a16:creationId xmlns:a16="http://schemas.microsoft.com/office/drawing/2014/main" id="{E94FA028-F9BF-5049-A877-C2D7FDCD9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45" name="Rectangle 433">
              <a:extLst>
                <a:ext uri="{FF2B5EF4-FFF2-40B4-BE49-F238E27FC236}">
                  <a16:creationId xmlns:a16="http://schemas.microsoft.com/office/drawing/2014/main" id="{1C7D30E0-62C3-8547-BC1B-55D6857A2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946" name="Group 434">
              <a:extLst>
                <a:ext uri="{FF2B5EF4-FFF2-40B4-BE49-F238E27FC236}">
                  <a16:creationId xmlns:a16="http://schemas.microsoft.com/office/drawing/2014/main" id="{CAA280D4-E674-2E4D-847F-F365F1274C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67" name="AutoShape 435">
                <a:extLst>
                  <a:ext uri="{FF2B5EF4-FFF2-40B4-BE49-F238E27FC236}">
                    <a16:creationId xmlns:a16="http://schemas.microsoft.com/office/drawing/2014/main" id="{738D85AC-043C-754D-A78E-BACC8A482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68" name="AutoShape 436">
                <a:extLst>
                  <a:ext uri="{FF2B5EF4-FFF2-40B4-BE49-F238E27FC236}">
                    <a16:creationId xmlns:a16="http://schemas.microsoft.com/office/drawing/2014/main" id="{B76D4B9D-F7C8-E14E-9522-B51842A2DC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47" name="Rectangle 437">
              <a:extLst>
                <a:ext uri="{FF2B5EF4-FFF2-40B4-BE49-F238E27FC236}">
                  <a16:creationId xmlns:a16="http://schemas.microsoft.com/office/drawing/2014/main" id="{A121AF39-D190-9942-9112-F9B7373DD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48" name="Rectangle 438">
              <a:extLst>
                <a:ext uri="{FF2B5EF4-FFF2-40B4-BE49-F238E27FC236}">
                  <a16:creationId xmlns:a16="http://schemas.microsoft.com/office/drawing/2014/main" id="{9946FEDB-0B41-A441-8DFF-6C8F29D59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949" name="Group 439">
              <a:extLst>
                <a:ext uri="{FF2B5EF4-FFF2-40B4-BE49-F238E27FC236}">
                  <a16:creationId xmlns:a16="http://schemas.microsoft.com/office/drawing/2014/main" id="{087E5FE7-6DA0-E046-A8AD-270F21B72F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65" name="AutoShape 440">
                <a:extLst>
                  <a:ext uri="{FF2B5EF4-FFF2-40B4-BE49-F238E27FC236}">
                    <a16:creationId xmlns:a16="http://schemas.microsoft.com/office/drawing/2014/main" id="{039CD5C6-4A2D-F248-8B0E-32167F3720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66" name="AutoShape 441">
                <a:extLst>
                  <a:ext uri="{FF2B5EF4-FFF2-40B4-BE49-F238E27FC236}">
                    <a16:creationId xmlns:a16="http://schemas.microsoft.com/office/drawing/2014/main" id="{E70B0960-3C6E-5040-8F34-E0B99EDAF3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50" name="Freeform 442">
              <a:extLst>
                <a:ext uri="{FF2B5EF4-FFF2-40B4-BE49-F238E27FC236}">
                  <a16:creationId xmlns:a16="http://schemas.microsoft.com/office/drawing/2014/main" id="{17BD7AC4-5373-C941-88AB-B26440D32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951" name="Group 443">
              <a:extLst>
                <a:ext uri="{FF2B5EF4-FFF2-40B4-BE49-F238E27FC236}">
                  <a16:creationId xmlns:a16="http://schemas.microsoft.com/office/drawing/2014/main" id="{C7BD3591-3619-7E4C-9B6A-55A758416E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63" name="AutoShape 444">
                <a:extLst>
                  <a:ext uri="{FF2B5EF4-FFF2-40B4-BE49-F238E27FC236}">
                    <a16:creationId xmlns:a16="http://schemas.microsoft.com/office/drawing/2014/main" id="{C694EDB9-4E43-7042-9083-DC97B66DE3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64" name="AutoShape 445">
                <a:extLst>
                  <a:ext uri="{FF2B5EF4-FFF2-40B4-BE49-F238E27FC236}">
                    <a16:creationId xmlns:a16="http://schemas.microsoft.com/office/drawing/2014/main" id="{2AB5642F-0A02-6B42-AF90-50B0A18117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52" name="Rectangle 446">
              <a:extLst>
                <a:ext uri="{FF2B5EF4-FFF2-40B4-BE49-F238E27FC236}">
                  <a16:creationId xmlns:a16="http://schemas.microsoft.com/office/drawing/2014/main" id="{2AFCC6E7-BFA9-B440-8D4B-84D103A089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53" name="Freeform 447">
              <a:extLst>
                <a:ext uri="{FF2B5EF4-FFF2-40B4-BE49-F238E27FC236}">
                  <a16:creationId xmlns:a16="http://schemas.microsoft.com/office/drawing/2014/main" id="{82204651-13E9-F04B-82D6-6A223B2E1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54" name="Freeform 448">
              <a:extLst>
                <a:ext uri="{FF2B5EF4-FFF2-40B4-BE49-F238E27FC236}">
                  <a16:creationId xmlns:a16="http://schemas.microsoft.com/office/drawing/2014/main" id="{6922DA35-3C04-774C-8ACF-153A173C6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55" name="Oval 449">
              <a:extLst>
                <a:ext uri="{FF2B5EF4-FFF2-40B4-BE49-F238E27FC236}">
                  <a16:creationId xmlns:a16="http://schemas.microsoft.com/office/drawing/2014/main" id="{C23E4235-11FF-984D-A57A-C75AD1460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56" name="Freeform 450">
              <a:extLst>
                <a:ext uri="{FF2B5EF4-FFF2-40B4-BE49-F238E27FC236}">
                  <a16:creationId xmlns:a16="http://schemas.microsoft.com/office/drawing/2014/main" id="{59166102-C946-C84E-A8E6-A50DC889B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57" name="AutoShape 451">
              <a:extLst>
                <a:ext uri="{FF2B5EF4-FFF2-40B4-BE49-F238E27FC236}">
                  <a16:creationId xmlns:a16="http://schemas.microsoft.com/office/drawing/2014/main" id="{DB6EAA21-8AC6-7643-85FF-FFC300E9E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58" name="AutoShape 452">
              <a:extLst>
                <a:ext uri="{FF2B5EF4-FFF2-40B4-BE49-F238E27FC236}">
                  <a16:creationId xmlns:a16="http://schemas.microsoft.com/office/drawing/2014/main" id="{15D9F3D2-6ED8-4C4F-BB56-E545BDE0C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59" name="Oval 453">
              <a:extLst>
                <a:ext uri="{FF2B5EF4-FFF2-40B4-BE49-F238E27FC236}">
                  <a16:creationId xmlns:a16="http://schemas.microsoft.com/office/drawing/2014/main" id="{D05548EE-6B5D-D146-AE13-3B37C643B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60" name="Oval 454">
              <a:extLst>
                <a:ext uri="{FF2B5EF4-FFF2-40B4-BE49-F238E27FC236}">
                  <a16:creationId xmlns:a16="http://schemas.microsoft.com/office/drawing/2014/main" id="{BA9CDE26-F880-424F-ACDF-5A5386DB0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61" name="Oval 455">
              <a:extLst>
                <a:ext uri="{FF2B5EF4-FFF2-40B4-BE49-F238E27FC236}">
                  <a16:creationId xmlns:a16="http://schemas.microsoft.com/office/drawing/2014/main" id="{ADD01E69-6DBA-9443-B258-925348F54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62" name="Rectangle 456">
              <a:extLst>
                <a:ext uri="{FF2B5EF4-FFF2-40B4-BE49-F238E27FC236}">
                  <a16:creationId xmlns:a16="http://schemas.microsoft.com/office/drawing/2014/main" id="{60515F24-76C5-D241-9374-EDF990578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C425A84F-46B8-754A-9724-6E2F7CE21E32}"/>
              </a:ext>
            </a:extLst>
          </p:cNvPr>
          <p:cNvGrpSpPr/>
          <p:nvPr/>
        </p:nvGrpSpPr>
        <p:grpSpPr>
          <a:xfrm>
            <a:off x="5946258" y="3297062"/>
            <a:ext cx="462211" cy="652040"/>
            <a:chOff x="10910965" y="2513124"/>
            <a:chExt cx="586768" cy="904023"/>
          </a:xfrm>
        </p:grpSpPr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8936A3DE-03D8-EE46-B893-03954ECF8D91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6D7E9975-BFAD-8342-A28D-A44C4EE2D551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A99EF4C-F055-BE41-BC0C-7222F834FC82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62BE39BD-E7EF-F549-B80A-D6DB578AC9F3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263E7FDF-996A-D047-B0F4-86BAA87A4544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5D22A11-B9BD-7D47-BC69-0B40AFC1DDE5}"/>
              </a:ext>
            </a:extLst>
          </p:cNvPr>
          <p:cNvCxnSpPr>
            <a:cxnSpLocks/>
          </p:cNvCxnSpPr>
          <p:nvPr/>
        </p:nvCxnSpPr>
        <p:spPr>
          <a:xfrm>
            <a:off x="2826774" y="3947038"/>
            <a:ext cx="9807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1" name="Group 457">
            <a:extLst>
              <a:ext uri="{FF2B5EF4-FFF2-40B4-BE49-F238E27FC236}">
                <a16:creationId xmlns:a16="http://schemas.microsoft.com/office/drawing/2014/main" id="{C6E45B59-E267-7B45-B2BC-74C688AEE131}"/>
              </a:ext>
            </a:extLst>
          </p:cNvPr>
          <p:cNvGrpSpPr>
            <a:grpSpLocks/>
          </p:cNvGrpSpPr>
          <p:nvPr/>
        </p:nvGrpSpPr>
        <p:grpSpPr bwMode="auto">
          <a:xfrm>
            <a:off x="2777729" y="3665970"/>
            <a:ext cx="173831" cy="330994"/>
            <a:chOff x="4140" y="429"/>
            <a:chExt cx="1425" cy="2396"/>
          </a:xfrm>
        </p:grpSpPr>
        <p:sp>
          <p:nvSpPr>
            <p:cNvPr id="972" name="Freeform 458">
              <a:extLst>
                <a:ext uri="{FF2B5EF4-FFF2-40B4-BE49-F238E27FC236}">
                  <a16:creationId xmlns:a16="http://schemas.microsoft.com/office/drawing/2014/main" id="{7DD04F7D-0DF7-5F46-95E0-951160D158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73" name="Rectangle 459">
              <a:extLst>
                <a:ext uri="{FF2B5EF4-FFF2-40B4-BE49-F238E27FC236}">
                  <a16:creationId xmlns:a16="http://schemas.microsoft.com/office/drawing/2014/main" id="{A482EC7C-40E6-5541-87E2-CC0AD47E1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74" name="Freeform 460">
              <a:extLst>
                <a:ext uri="{FF2B5EF4-FFF2-40B4-BE49-F238E27FC236}">
                  <a16:creationId xmlns:a16="http://schemas.microsoft.com/office/drawing/2014/main" id="{09B2489F-DA46-8142-BD8E-C1442F216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75" name="Freeform 461">
              <a:extLst>
                <a:ext uri="{FF2B5EF4-FFF2-40B4-BE49-F238E27FC236}">
                  <a16:creationId xmlns:a16="http://schemas.microsoft.com/office/drawing/2014/main" id="{8560579B-50AA-8744-885F-62D076AE4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76" name="Rectangle 462">
              <a:extLst>
                <a:ext uri="{FF2B5EF4-FFF2-40B4-BE49-F238E27FC236}">
                  <a16:creationId xmlns:a16="http://schemas.microsoft.com/office/drawing/2014/main" id="{981079A7-2423-4D45-ABF9-335D31DA3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977" name="Group 463">
              <a:extLst>
                <a:ext uri="{FF2B5EF4-FFF2-40B4-BE49-F238E27FC236}">
                  <a16:creationId xmlns:a16="http://schemas.microsoft.com/office/drawing/2014/main" id="{F60D08F5-01A8-1B47-9530-A60B84910B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002" name="AutoShape 464">
                <a:extLst>
                  <a:ext uri="{FF2B5EF4-FFF2-40B4-BE49-F238E27FC236}">
                    <a16:creationId xmlns:a16="http://schemas.microsoft.com/office/drawing/2014/main" id="{3FACCA5F-6077-7140-A10F-814A4CEC83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03" name="AutoShape 465">
                <a:extLst>
                  <a:ext uri="{FF2B5EF4-FFF2-40B4-BE49-F238E27FC236}">
                    <a16:creationId xmlns:a16="http://schemas.microsoft.com/office/drawing/2014/main" id="{F7CA1427-C3CB-EB4A-9376-38E19F4B84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78" name="Rectangle 466">
              <a:extLst>
                <a:ext uri="{FF2B5EF4-FFF2-40B4-BE49-F238E27FC236}">
                  <a16:creationId xmlns:a16="http://schemas.microsoft.com/office/drawing/2014/main" id="{837C26C6-C274-5F4E-89AD-0D0A0063C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979" name="Group 467">
              <a:extLst>
                <a:ext uri="{FF2B5EF4-FFF2-40B4-BE49-F238E27FC236}">
                  <a16:creationId xmlns:a16="http://schemas.microsoft.com/office/drawing/2014/main" id="{866E97C1-381B-D941-9CAC-1F7B64147C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000" name="AutoShape 468">
                <a:extLst>
                  <a:ext uri="{FF2B5EF4-FFF2-40B4-BE49-F238E27FC236}">
                    <a16:creationId xmlns:a16="http://schemas.microsoft.com/office/drawing/2014/main" id="{089E79CA-EA5F-F845-8135-381DDCE2B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001" name="AutoShape 469">
                <a:extLst>
                  <a:ext uri="{FF2B5EF4-FFF2-40B4-BE49-F238E27FC236}">
                    <a16:creationId xmlns:a16="http://schemas.microsoft.com/office/drawing/2014/main" id="{CEC382CF-D42E-C148-B554-D931AF3DA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80" name="Rectangle 470">
              <a:extLst>
                <a:ext uri="{FF2B5EF4-FFF2-40B4-BE49-F238E27FC236}">
                  <a16:creationId xmlns:a16="http://schemas.microsoft.com/office/drawing/2014/main" id="{39C56472-C924-2940-B17A-5BD33A2B2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81" name="Rectangle 471">
              <a:extLst>
                <a:ext uri="{FF2B5EF4-FFF2-40B4-BE49-F238E27FC236}">
                  <a16:creationId xmlns:a16="http://schemas.microsoft.com/office/drawing/2014/main" id="{48693300-7BC2-F24F-A5EA-5EFC928E3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982" name="Group 472">
              <a:extLst>
                <a:ext uri="{FF2B5EF4-FFF2-40B4-BE49-F238E27FC236}">
                  <a16:creationId xmlns:a16="http://schemas.microsoft.com/office/drawing/2014/main" id="{1BF7C429-6C5C-D54E-BD8C-1990AE08D8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98" name="AutoShape 473">
                <a:extLst>
                  <a:ext uri="{FF2B5EF4-FFF2-40B4-BE49-F238E27FC236}">
                    <a16:creationId xmlns:a16="http://schemas.microsoft.com/office/drawing/2014/main" id="{E12DA08F-762F-8A42-B411-55A6A73043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99" name="AutoShape 474">
                <a:extLst>
                  <a:ext uri="{FF2B5EF4-FFF2-40B4-BE49-F238E27FC236}">
                    <a16:creationId xmlns:a16="http://schemas.microsoft.com/office/drawing/2014/main" id="{4E5DD8A3-DB1E-5E48-9B40-9CDB93E2F5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83" name="Freeform 475">
              <a:extLst>
                <a:ext uri="{FF2B5EF4-FFF2-40B4-BE49-F238E27FC236}">
                  <a16:creationId xmlns:a16="http://schemas.microsoft.com/office/drawing/2014/main" id="{6338E658-2064-FE4D-8C90-608F5603D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984" name="Group 476">
              <a:extLst>
                <a:ext uri="{FF2B5EF4-FFF2-40B4-BE49-F238E27FC236}">
                  <a16:creationId xmlns:a16="http://schemas.microsoft.com/office/drawing/2014/main" id="{F51EBDA0-8B91-7542-8465-DBEA299056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96" name="AutoShape 477">
                <a:extLst>
                  <a:ext uri="{FF2B5EF4-FFF2-40B4-BE49-F238E27FC236}">
                    <a16:creationId xmlns:a16="http://schemas.microsoft.com/office/drawing/2014/main" id="{EF24BF5B-102B-C340-948F-D8918718BC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997" name="AutoShape 478">
                <a:extLst>
                  <a:ext uri="{FF2B5EF4-FFF2-40B4-BE49-F238E27FC236}">
                    <a16:creationId xmlns:a16="http://schemas.microsoft.com/office/drawing/2014/main" id="{140E04CF-3812-F045-8D17-168F7B463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985" name="Rectangle 479">
              <a:extLst>
                <a:ext uri="{FF2B5EF4-FFF2-40B4-BE49-F238E27FC236}">
                  <a16:creationId xmlns:a16="http://schemas.microsoft.com/office/drawing/2014/main" id="{A84A63E1-DEDD-8D48-9DE3-A238F90EA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86" name="Freeform 480">
              <a:extLst>
                <a:ext uri="{FF2B5EF4-FFF2-40B4-BE49-F238E27FC236}">
                  <a16:creationId xmlns:a16="http://schemas.microsoft.com/office/drawing/2014/main" id="{AA0561AD-7E9C-4449-BC28-22FE95411E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87" name="Freeform 481">
              <a:extLst>
                <a:ext uri="{FF2B5EF4-FFF2-40B4-BE49-F238E27FC236}">
                  <a16:creationId xmlns:a16="http://schemas.microsoft.com/office/drawing/2014/main" id="{4CD36BC2-CE3A-8647-BA74-0786042989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88" name="Oval 482">
              <a:extLst>
                <a:ext uri="{FF2B5EF4-FFF2-40B4-BE49-F238E27FC236}">
                  <a16:creationId xmlns:a16="http://schemas.microsoft.com/office/drawing/2014/main" id="{20A57E2B-584E-DA4B-8D86-672777B3E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89" name="Freeform 483">
              <a:extLst>
                <a:ext uri="{FF2B5EF4-FFF2-40B4-BE49-F238E27FC236}">
                  <a16:creationId xmlns:a16="http://schemas.microsoft.com/office/drawing/2014/main" id="{6FEFA449-FBC8-864C-B7D9-6DED5AB0C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90" name="AutoShape 484">
              <a:extLst>
                <a:ext uri="{FF2B5EF4-FFF2-40B4-BE49-F238E27FC236}">
                  <a16:creationId xmlns:a16="http://schemas.microsoft.com/office/drawing/2014/main" id="{4546C8B6-EBDA-5247-B1B0-B48DEBAFF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91" name="AutoShape 485">
              <a:extLst>
                <a:ext uri="{FF2B5EF4-FFF2-40B4-BE49-F238E27FC236}">
                  <a16:creationId xmlns:a16="http://schemas.microsoft.com/office/drawing/2014/main" id="{C05FEF15-30BC-3D4D-8D0F-14F59AB04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92" name="Oval 486">
              <a:extLst>
                <a:ext uri="{FF2B5EF4-FFF2-40B4-BE49-F238E27FC236}">
                  <a16:creationId xmlns:a16="http://schemas.microsoft.com/office/drawing/2014/main" id="{ECF2AD08-E62F-C24F-A0CB-5677D25F0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93" name="Oval 487">
              <a:extLst>
                <a:ext uri="{FF2B5EF4-FFF2-40B4-BE49-F238E27FC236}">
                  <a16:creationId xmlns:a16="http://schemas.microsoft.com/office/drawing/2014/main" id="{CDAFBE24-E2D4-6545-BA87-78A5C4DCA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94" name="Oval 488">
              <a:extLst>
                <a:ext uri="{FF2B5EF4-FFF2-40B4-BE49-F238E27FC236}">
                  <a16:creationId xmlns:a16="http://schemas.microsoft.com/office/drawing/2014/main" id="{023AD650-7400-B34D-A1C1-EABEFBFD9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995" name="Rectangle 489">
              <a:extLst>
                <a:ext uri="{FF2B5EF4-FFF2-40B4-BE49-F238E27FC236}">
                  <a16:creationId xmlns:a16="http://schemas.microsoft.com/office/drawing/2014/main" id="{114EA38E-5873-E449-9C8C-82E6AEF3B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4B59543D-C5BA-F140-B187-9B5CD42038E3}"/>
              </a:ext>
            </a:extLst>
          </p:cNvPr>
          <p:cNvGrpSpPr/>
          <p:nvPr/>
        </p:nvGrpSpPr>
        <p:grpSpPr>
          <a:xfrm>
            <a:off x="3193526" y="5333885"/>
            <a:ext cx="357648" cy="191729"/>
            <a:chOff x="6859123" y="5156933"/>
            <a:chExt cx="456701" cy="226548"/>
          </a:xfrm>
        </p:grpSpPr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658633B4-7F85-9649-9D29-D4685E4D8FCE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4AEFBFC0-69F4-0442-A5A5-AA6B13A5C54B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72565081-DC08-D043-A503-2FB6F949E0F0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DEA8E45E-B3F3-194A-8A6B-678BE5CEA477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85A94CF9-243E-0C4E-A010-AF25D658F77B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AFCDC61C-4A1A-624B-86AF-7EC5B97EAFEE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CA58E5DA-8966-1E4E-B9CC-4D9206B74168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40B4CE1B-77BF-D040-87C6-2BE4B75297B8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1516B822-274C-9142-A594-3C026C13E15A}"/>
              </a:ext>
            </a:extLst>
          </p:cNvPr>
          <p:cNvGrpSpPr/>
          <p:nvPr/>
        </p:nvGrpSpPr>
        <p:grpSpPr>
          <a:xfrm rot="18977820">
            <a:off x="2970738" y="4489228"/>
            <a:ext cx="357648" cy="191729"/>
            <a:chOff x="6859123" y="5156933"/>
            <a:chExt cx="456701" cy="226548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FE73F339-8370-854D-865A-1DA3D42F8615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25FCEF18-6C08-1D44-8B43-B9FEC5A1CF34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69609594-6D6C-CE4D-8793-7FF98E89AD96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CA747F05-33BD-0A44-8A65-3557ACA73F90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E37B61E4-4606-D744-BD80-B5276B042207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A86704E3-8936-8944-BEA9-BB9821A64A84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60BA1282-3FA8-494B-AA57-9F64ED26BC74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7D842007-7272-0E4C-9DDC-59436F73AB80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5D4499A7-8331-374E-915F-6FB1150582B0}"/>
              </a:ext>
            </a:extLst>
          </p:cNvPr>
          <p:cNvGrpSpPr/>
          <p:nvPr/>
        </p:nvGrpSpPr>
        <p:grpSpPr>
          <a:xfrm>
            <a:off x="4590312" y="4205416"/>
            <a:ext cx="357648" cy="191729"/>
            <a:chOff x="6859123" y="5156933"/>
            <a:chExt cx="456701" cy="226548"/>
          </a:xfrm>
        </p:grpSpPr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9DDEEE95-0C6B-F045-B62F-C3DAD3AD7FF1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5B7AA8AC-B89C-5B40-B520-2EC3B1B81D47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3EC321B7-E2DC-344E-9763-169EF6E841EF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3C94C832-11CE-A645-9806-C75AAA76D484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E60FF87F-4770-CA45-B8F3-84AAC6B9A4B3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43B3B5EF-ECA9-B64A-93C4-85466210C7F4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113028A7-6DC0-CF47-8C1B-CEF037BDA1AC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5F1AD6B8-9E8D-D448-AA1C-C19CC1452529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BC753510-FFCF-4444-A7BB-044870E26DD3}"/>
              </a:ext>
            </a:extLst>
          </p:cNvPr>
          <p:cNvGrpSpPr/>
          <p:nvPr/>
        </p:nvGrpSpPr>
        <p:grpSpPr>
          <a:xfrm rot="18857641">
            <a:off x="4582562" y="4845690"/>
            <a:ext cx="357648" cy="191729"/>
            <a:chOff x="6859123" y="5156933"/>
            <a:chExt cx="456701" cy="226548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A08E0DBC-4F5A-1745-BA9E-B4688EEBE8B2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86CCF497-BBF5-1847-A54B-1D274EC1FBF2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44666C01-A459-0044-A0B0-3D22A107A0E3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75D8ECE7-4B34-8F48-B62B-54865BA7462D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85079C21-AA1B-2545-9071-BEE571A459AD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2D916BAD-87C0-6146-AB10-6650F08C5C71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3F49550F-F63A-B945-A97E-B7A0741AB278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2FDE63AE-3F8B-3D44-969E-074AE7DEAA97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8" name="Freeform 272">
            <a:extLst>
              <a:ext uri="{FF2B5EF4-FFF2-40B4-BE49-F238E27FC236}">
                <a16:creationId xmlns:a16="http://schemas.microsoft.com/office/drawing/2014/main" id="{CAFA60B5-CA3B-CE47-99B6-49C8AA15A522}"/>
              </a:ext>
            </a:extLst>
          </p:cNvPr>
          <p:cNvSpPr>
            <a:spLocks/>
          </p:cNvSpPr>
          <p:nvPr/>
        </p:nvSpPr>
        <p:spPr bwMode="auto">
          <a:xfrm>
            <a:off x="3341347" y="3255941"/>
            <a:ext cx="2478881" cy="2143125"/>
          </a:xfrm>
          <a:custGeom>
            <a:avLst/>
            <a:gdLst>
              <a:gd name="T0" fmla="*/ 0 w 5205"/>
              <a:gd name="T1" fmla="*/ 0 h 4500"/>
              <a:gd name="T2" fmla="*/ 0 w 5205"/>
              <a:gd name="T3" fmla="*/ 2147483647 h 4500"/>
              <a:gd name="T4" fmla="*/ 2147483647 w 5205"/>
              <a:gd name="T5" fmla="*/ 2147483647 h 4500"/>
              <a:gd name="T6" fmla="*/ 2147483647 w 5205"/>
              <a:gd name="T7" fmla="*/ 2147483647 h 4500"/>
              <a:gd name="T8" fmla="*/ 2147483647 w 5205"/>
              <a:gd name="T9" fmla="*/ 2147483647 h 4500"/>
              <a:gd name="T10" fmla="*/ 2147483647 w 5205"/>
              <a:gd name="T11" fmla="*/ 2147483647 h 4500"/>
              <a:gd name="T12" fmla="*/ 2147483647 w 5205"/>
              <a:gd name="T13" fmla="*/ 2147483647 h 4500"/>
              <a:gd name="T14" fmla="*/ 2147483647 w 5205"/>
              <a:gd name="T15" fmla="*/ 2147483647 h 45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connsiteX0" fmla="*/ 0 w 10000"/>
              <a:gd name="connsiteY0" fmla="*/ 0 h 10000"/>
              <a:gd name="connsiteX1" fmla="*/ 0 w 10000"/>
              <a:gd name="connsiteY1" fmla="*/ 2933 h 10000"/>
              <a:gd name="connsiteX2" fmla="*/ 2374 w 10000"/>
              <a:gd name="connsiteY2" fmla="*/ 2938 h 10000"/>
              <a:gd name="connsiteX3" fmla="*/ 951 w 10000"/>
              <a:gd name="connsiteY3" fmla="*/ 4533 h 10000"/>
              <a:gd name="connsiteX4" fmla="*/ 8674 w 10000"/>
              <a:gd name="connsiteY4" fmla="*/ 4700 h 10000"/>
              <a:gd name="connsiteX5" fmla="*/ 4265 w 10000"/>
              <a:gd name="connsiteY5" fmla="*/ 10000 h 10000"/>
              <a:gd name="connsiteX6" fmla="*/ 10000 w 10000"/>
              <a:gd name="connsiteY6" fmla="*/ 10000 h 10000"/>
              <a:gd name="connsiteX7" fmla="*/ 10000 w 10000"/>
              <a:gd name="connsiteY7" fmla="*/ 7567 h 10000"/>
              <a:gd name="connsiteX0" fmla="*/ 0 w 10000"/>
              <a:gd name="connsiteY0" fmla="*/ 0 h 10000"/>
              <a:gd name="connsiteX1" fmla="*/ 11 w 10000"/>
              <a:gd name="connsiteY1" fmla="*/ 2958 h 10000"/>
              <a:gd name="connsiteX2" fmla="*/ 2374 w 10000"/>
              <a:gd name="connsiteY2" fmla="*/ 2938 h 10000"/>
              <a:gd name="connsiteX3" fmla="*/ 951 w 10000"/>
              <a:gd name="connsiteY3" fmla="*/ 4533 h 10000"/>
              <a:gd name="connsiteX4" fmla="*/ 8674 w 10000"/>
              <a:gd name="connsiteY4" fmla="*/ 4700 h 10000"/>
              <a:gd name="connsiteX5" fmla="*/ 4265 w 10000"/>
              <a:gd name="connsiteY5" fmla="*/ 10000 h 10000"/>
              <a:gd name="connsiteX6" fmla="*/ 10000 w 10000"/>
              <a:gd name="connsiteY6" fmla="*/ 10000 h 10000"/>
              <a:gd name="connsiteX7" fmla="*/ 10000 w 10000"/>
              <a:gd name="connsiteY7" fmla="*/ 7567 h 10000"/>
              <a:gd name="connsiteX0" fmla="*/ 0 w 10000"/>
              <a:gd name="connsiteY0" fmla="*/ 0 h 10000"/>
              <a:gd name="connsiteX1" fmla="*/ 11 w 10000"/>
              <a:gd name="connsiteY1" fmla="*/ 2958 h 10000"/>
              <a:gd name="connsiteX2" fmla="*/ 2299 w 10000"/>
              <a:gd name="connsiteY2" fmla="*/ 2963 h 10000"/>
              <a:gd name="connsiteX3" fmla="*/ 951 w 10000"/>
              <a:gd name="connsiteY3" fmla="*/ 4533 h 10000"/>
              <a:gd name="connsiteX4" fmla="*/ 8674 w 10000"/>
              <a:gd name="connsiteY4" fmla="*/ 4700 h 10000"/>
              <a:gd name="connsiteX5" fmla="*/ 4265 w 10000"/>
              <a:gd name="connsiteY5" fmla="*/ 10000 h 10000"/>
              <a:gd name="connsiteX6" fmla="*/ 10000 w 10000"/>
              <a:gd name="connsiteY6" fmla="*/ 10000 h 10000"/>
              <a:gd name="connsiteX7" fmla="*/ 10000 w 10000"/>
              <a:gd name="connsiteY7" fmla="*/ 756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00">
                <a:moveTo>
                  <a:pt x="0" y="0"/>
                </a:moveTo>
                <a:cubicBezTo>
                  <a:pt x="4" y="986"/>
                  <a:pt x="7" y="1972"/>
                  <a:pt x="11" y="2958"/>
                </a:cubicBezTo>
                <a:lnTo>
                  <a:pt x="2299" y="2963"/>
                </a:lnTo>
                <a:lnTo>
                  <a:pt x="951" y="4533"/>
                </a:lnTo>
                <a:lnTo>
                  <a:pt x="8674" y="4700"/>
                </a:lnTo>
                <a:lnTo>
                  <a:pt x="4265" y="10000"/>
                </a:lnTo>
                <a:lnTo>
                  <a:pt x="10000" y="10000"/>
                </a:lnTo>
                <a:lnTo>
                  <a:pt x="10000" y="7567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24C2353-8341-1E42-98B2-810BFB992383}"/>
              </a:ext>
            </a:extLst>
          </p:cNvPr>
          <p:cNvGrpSpPr/>
          <p:nvPr/>
        </p:nvGrpSpPr>
        <p:grpSpPr>
          <a:xfrm>
            <a:off x="2119313" y="3277826"/>
            <a:ext cx="3833359" cy="2200275"/>
            <a:chOff x="2825750" y="3227434"/>
            <a:chExt cx="5111145" cy="2933700"/>
          </a:xfrm>
        </p:grpSpPr>
        <p:grpSp>
          <p:nvGrpSpPr>
            <p:cNvPr id="860" name="Group 324">
              <a:extLst>
                <a:ext uri="{FF2B5EF4-FFF2-40B4-BE49-F238E27FC236}">
                  <a16:creationId xmlns:a16="http://schemas.microsoft.com/office/drawing/2014/main" id="{407BA615-EDD2-8A40-BE5B-0B090D0927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44820" y="5350527"/>
              <a:ext cx="92075" cy="271462"/>
              <a:chOff x="10104" y="10005"/>
              <a:chExt cx="137" cy="411"/>
            </a:xfrm>
          </p:grpSpPr>
          <p:sp>
            <p:nvSpPr>
              <p:cNvPr id="861" name="Oval 325">
                <a:extLst>
                  <a:ext uri="{FF2B5EF4-FFF2-40B4-BE49-F238E27FC236}">
                    <a16:creationId xmlns:a16="http://schemas.microsoft.com/office/drawing/2014/main" id="{8B751E56-0C4B-D14C-945C-749546AA5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04" y="10005"/>
                <a:ext cx="137" cy="138"/>
              </a:xfrm>
              <a:prstGeom prst="ellipse">
                <a:avLst/>
              </a:prstGeom>
              <a:solidFill>
                <a:srgbClr val="FF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2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62" name="Oval 326">
                <a:extLst>
                  <a:ext uri="{FF2B5EF4-FFF2-40B4-BE49-F238E27FC236}">
                    <a16:creationId xmlns:a16="http://schemas.microsoft.com/office/drawing/2014/main" id="{342DEC42-734D-D54D-A9B5-89D44C4674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04" y="10278"/>
                <a:ext cx="137" cy="138"/>
              </a:xfrm>
              <a:prstGeom prst="ellipse">
                <a:avLst/>
              </a:prstGeom>
              <a:solidFill>
                <a:srgbClr val="FF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2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54" name="Freeform 318">
              <a:extLst>
                <a:ext uri="{FF2B5EF4-FFF2-40B4-BE49-F238E27FC236}">
                  <a16:creationId xmlns:a16="http://schemas.microsoft.com/office/drawing/2014/main" id="{07189EA4-F824-494B-B957-3F54E942D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5750" y="3227434"/>
              <a:ext cx="5067300" cy="2933700"/>
            </a:xfrm>
            <a:custGeom>
              <a:avLst/>
              <a:gdLst>
                <a:gd name="T0" fmla="*/ 2147483647 w 7980"/>
                <a:gd name="T1" fmla="*/ 2147483647 h 4620"/>
                <a:gd name="T2" fmla="*/ 2147483647 w 7980"/>
                <a:gd name="T3" fmla="*/ 2147483647 h 4620"/>
                <a:gd name="T4" fmla="*/ 0 w 7980"/>
                <a:gd name="T5" fmla="*/ 2147483647 h 4620"/>
                <a:gd name="T6" fmla="*/ 2147483647 w 7980"/>
                <a:gd name="T7" fmla="*/ 2147483647 h 4620"/>
                <a:gd name="T8" fmla="*/ 2147483647 w 7980"/>
                <a:gd name="T9" fmla="*/ 2147483647 h 4620"/>
                <a:gd name="T10" fmla="*/ 2147483647 w 7980"/>
                <a:gd name="T11" fmla="*/ 0 h 46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9981 w 10000"/>
                <a:gd name="connsiteY0" fmla="*/ 7403 h 10000"/>
                <a:gd name="connsiteX1" fmla="*/ 10000 w 10000"/>
                <a:gd name="connsiteY1" fmla="*/ 10000 h 10000"/>
                <a:gd name="connsiteX2" fmla="*/ 0 w 10000"/>
                <a:gd name="connsiteY2" fmla="*/ 9968 h 10000"/>
                <a:gd name="connsiteX3" fmla="*/ 4154 w 10000"/>
                <a:gd name="connsiteY3" fmla="*/ 3214 h 10000"/>
                <a:gd name="connsiteX4" fmla="*/ 2965 w 10000"/>
                <a:gd name="connsiteY4" fmla="*/ 3221 h 10000"/>
                <a:gd name="connsiteX5" fmla="*/ 2951 w 10000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10000">
                  <a:moveTo>
                    <a:pt x="9981" y="7403"/>
                  </a:moveTo>
                  <a:cubicBezTo>
                    <a:pt x="9987" y="8269"/>
                    <a:pt x="9994" y="9134"/>
                    <a:pt x="10000" y="10000"/>
                  </a:cubicBezTo>
                  <a:lnTo>
                    <a:pt x="0" y="9968"/>
                  </a:lnTo>
                  <a:lnTo>
                    <a:pt x="4154" y="3214"/>
                  </a:lnTo>
                  <a:lnTo>
                    <a:pt x="2965" y="3221"/>
                  </a:lnTo>
                  <a:cubicBezTo>
                    <a:pt x="2965" y="2171"/>
                    <a:pt x="2951" y="1050"/>
                    <a:pt x="2951" y="0"/>
                  </a:cubicBezTo>
                </a:path>
              </a:pathLst>
            </a:custGeom>
            <a:noFill/>
            <a:ln w="38100" cmpd="sng">
              <a:solidFill>
                <a:srgbClr val="FF00FF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9A84814-4EB2-8F4D-8E06-375531045ECD}"/>
              </a:ext>
            </a:extLst>
          </p:cNvPr>
          <p:cNvGrpSpPr/>
          <p:nvPr/>
        </p:nvGrpSpPr>
        <p:grpSpPr>
          <a:xfrm>
            <a:off x="1764589" y="3349263"/>
            <a:ext cx="4338950" cy="2168020"/>
            <a:chOff x="2437534" y="3327145"/>
            <a:chExt cx="5785267" cy="2890693"/>
          </a:xfrm>
        </p:grpSpPr>
        <p:grpSp>
          <p:nvGrpSpPr>
            <p:cNvPr id="857" name="Group 321">
              <a:extLst>
                <a:ext uri="{FF2B5EF4-FFF2-40B4-BE49-F238E27FC236}">
                  <a16:creationId xmlns:a16="http://schemas.microsoft.com/office/drawing/2014/main" id="{96A8E8FE-EFA0-384B-BEBD-786291E657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7534" y="5122909"/>
              <a:ext cx="92465" cy="271463"/>
              <a:chOff x="10192" y="10005"/>
              <a:chExt cx="140" cy="411"/>
            </a:xfrm>
          </p:grpSpPr>
          <p:sp>
            <p:nvSpPr>
              <p:cNvPr id="858" name="Oval 322">
                <a:extLst>
                  <a:ext uri="{FF2B5EF4-FFF2-40B4-BE49-F238E27FC236}">
                    <a16:creationId xmlns:a16="http://schemas.microsoft.com/office/drawing/2014/main" id="{657A2D62-DEBC-024A-A3D2-BBFF1F270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95" y="10005"/>
                <a:ext cx="137" cy="138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2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59" name="Oval 323">
                <a:extLst>
                  <a:ext uri="{FF2B5EF4-FFF2-40B4-BE49-F238E27FC236}">
                    <a16:creationId xmlns:a16="http://schemas.microsoft.com/office/drawing/2014/main" id="{BE20FDB8-C5B5-B94B-A64D-36960F832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92" y="10278"/>
                <a:ext cx="137" cy="138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2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55" name="Freeform 319">
              <a:extLst>
                <a:ext uri="{FF2B5EF4-FFF2-40B4-BE49-F238E27FC236}">
                  <a16:creationId xmlns:a16="http://schemas.microsoft.com/office/drawing/2014/main" id="{EAE73056-B5F0-9442-A833-AEE6F289A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9226" y="3327145"/>
              <a:ext cx="5743575" cy="2890693"/>
            </a:xfrm>
            <a:custGeom>
              <a:avLst/>
              <a:gdLst>
                <a:gd name="T0" fmla="*/ 0 w 9045"/>
                <a:gd name="T1" fmla="*/ 2147483647 h 4545"/>
                <a:gd name="T2" fmla="*/ 0 w 9045"/>
                <a:gd name="T3" fmla="*/ 2147483647 h 4545"/>
                <a:gd name="T4" fmla="*/ 2147483647 w 9045"/>
                <a:gd name="T5" fmla="*/ 2147483647 h 4545"/>
                <a:gd name="T6" fmla="*/ 2147483647 w 9045"/>
                <a:gd name="T7" fmla="*/ 2147483647 h 4545"/>
                <a:gd name="T8" fmla="*/ 2147483647 w 9045"/>
                <a:gd name="T9" fmla="*/ 2147483647 h 4545"/>
                <a:gd name="T10" fmla="*/ 2147483647 w 9045"/>
                <a:gd name="T11" fmla="*/ 2147483647 h 4545"/>
                <a:gd name="T12" fmla="*/ 2147483647 w 9045"/>
                <a:gd name="T13" fmla="*/ 2147483647 h 4545"/>
                <a:gd name="T14" fmla="*/ 2147483647 w 9045"/>
                <a:gd name="T15" fmla="*/ 0 h 45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connsiteX0" fmla="*/ 0 w 10000"/>
                <a:gd name="connsiteY0" fmla="*/ 6337 h 10028"/>
                <a:gd name="connsiteX1" fmla="*/ 0 w 10000"/>
                <a:gd name="connsiteY1" fmla="*/ 10028 h 10028"/>
                <a:gd name="connsiteX2" fmla="*/ 978 w 10000"/>
                <a:gd name="connsiteY2" fmla="*/ 10000 h 10028"/>
                <a:gd name="connsiteX3" fmla="*/ 3881 w 10000"/>
                <a:gd name="connsiteY3" fmla="*/ 4422 h 10028"/>
                <a:gd name="connsiteX4" fmla="*/ 7894 w 10000"/>
                <a:gd name="connsiteY4" fmla="*/ 4521 h 10028"/>
                <a:gd name="connsiteX5" fmla="*/ 9005 w 10000"/>
                <a:gd name="connsiteY5" fmla="*/ 2244 h 10028"/>
                <a:gd name="connsiteX6" fmla="*/ 10000 w 10000"/>
                <a:gd name="connsiteY6" fmla="*/ 2244 h 10028"/>
                <a:gd name="connsiteX7" fmla="*/ 9967 w 10000"/>
                <a:gd name="connsiteY7" fmla="*/ 0 h 10028"/>
                <a:gd name="connsiteX0" fmla="*/ 0 w 10000"/>
                <a:gd name="connsiteY0" fmla="*/ 6337 h 10000"/>
                <a:gd name="connsiteX1" fmla="*/ 6 w 10000"/>
                <a:gd name="connsiteY1" fmla="*/ 9979 h 10000"/>
                <a:gd name="connsiteX2" fmla="*/ 978 w 10000"/>
                <a:gd name="connsiteY2" fmla="*/ 10000 h 10000"/>
                <a:gd name="connsiteX3" fmla="*/ 3881 w 10000"/>
                <a:gd name="connsiteY3" fmla="*/ 4422 h 10000"/>
                <a:gd name="connsiteX4" fmla="*/ 7894 w 10000"/>
                <a:gd name="connsiteY4" fmla="*/ 4521 h 10000"/>
                <a:gd name="connsiteX5" fmla="*/ 9005 w 10000"/>
                <a:gd name="connsiteY5" fmla="*/ 2244 h 10000"/>
                <a:gd name="connsiteX6" fmla="*/ 10000 w 10000"/>
                <a:gd name="connsiteY6" fmla="*/ 2244 h 10000"/>
                <a:gd name="connsiteX7" fmla="*/ 9967 w 10000"/>
                <a:gd name="connsiteY7" fmla="*/ 0 h 10000"/>
                <a:gd name="connsiteX0" fmla="*/ 0 w 10000"/>
                <a:gd name="connsiteY0" fmla="*/ 6337 h 10016"/>
                <a:gd name="connsiteX1" fmla="*/ 0 w 10000"/>
                <a:gd name="connsiteY1" fmla="*/ 10016 h 10016"/>
                <a:gd name="connsiteX2" fmla="*/ 978 w 10000"/>
                <a:gd name="connsiteY2" fmla="*/ 10000 h 10016"/>
                <a:gd name="connsiteX3" fmla="*/ 3881 w 10000"/>
                <a:gd name="connsiteY3" fmla="*/ 4422 h 10016"/>
                <a:gd name="connsiteX4" fmla="*/ 7894 w 10000"/>
                <a:gd name="connsiteY4" fmla="*/ 4521 h 10016"/>
                <a:gd name="connsiteX5" fmla="*/ 9005 w 10000"/>
                <a:gd name="connsiteY5" fmla="*/ 2244 h 10016"/>
                <a:gd name="connsiteX6" fmla="*/ 10000 w 10000"/>
                <a:gd name="connsiteY6" fmla="*/ 2244 h 10016"/>
                <a:gd name="connsiteX7" fmla="*/ 9967 w 10000"/>
                <a:gd name="connsiteY7" fmla="*/ 0 h 10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10016">
                  <a:moveTo>
                    <a:pt x="0" y="6337"/>
                  </a:moveTo>
                  <a:lnTo>
                    <a:pt x="0" y="10016"/>
                  </a:lnTo>
                  <a:lnTo>
                    <a:pt x="978" y="10000"/>
                  </a:lnTo>
                  <a:lnTo>
                    <a:pt x="3881" y="4422"/>
                  </a:lnTo>
                  <a:lnTo>
                    <a:pt x="7894" y="4521"/>
                  </a:lnTo>
                  <a:lnTo>
                    <a:pt x="9005" y="2244"/>
                  </a:lnTo>
                  <a:lnTo>
                    <a:pt x="10000" y="2244"/>
                  </a:lnTo>
                  <a:lnTo>
                    <a:pt x="9967" y="0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D26D03E-1B92-E348-844D-C23EB11A6728}"/>
              </a:ext>
            </a:extLst>
          </p:cNvPr>
          <p:cNvGrpSpPr/>
          <p:nvPr/>
        </p:nvGrpSpPr>
        <p:grpSpPr>
          <a:xfrm>
            <a:off x="1912143" y="3338310"/>
            <a:ext cx="4371709" cy="2046922"/>
            <a:chOff x="2549524" y="3308080"/>
            <a:chExt cx="5828945" cy="2729229"/>
          </a:xfrm>
        </p:grpSpPr>
        <p:sp>
          <p:nvSpPr>
            <p:cNvPr id="856" name="Freeform 320">
              <a:extLst>
                <a:ext uri="{FF2B5EF4-FFF2-40B4-BE49-F238E27FC236}">
                  <a16:creationId xmlns:a16="http://schemas.microsoft.com/office/drawing/2014/main" id="{80105AF2-C1A5-E84F-BA91-D808D14D1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524" y="3370309"/>
              <a:ext cx="5787725" cy="2667000"/>
            </a:xfrm>
            <a:custGeom>
              <a:avLst/>
              <a:gdLst>
                <a:gd name="T0" fmla="*/ 0 w 9120"/>
                <a:gd name="T1" fmla="*/ 2147483647 h 4201"/>
                <a:gd name="T2" fmla="*/ 0 w 9120"/>
                <a:gd name="T3" fmla="*/ 2147483647 h 4201"/>
                <a:gd name="T4" fmla="*/ 2147483647 w 9120"/>
                <a:gd name="T5" fmla="*/ 2147483647 h 4201"/>
                <a:gd name="T6" fmla="*/ 2147483647 w 9120"/>
                <a:gd name="T7" fmla="*/ 2147483647 h 4201"/>
                <a:gd name="T8" fmla="*/ 2147483647 w 9120"/>
                <a:gd name="T9" fmla="*/ 2147483647 h 4201"/>
                <a:gd name="T10" fmla="*/ 2147483647 w 9120"/>
                <a:gd name="T11" fmla="*/ 0 h 42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94"/>
                <a:gd name="connsiteY0" fmla="*/ 6715 h 10000"/>
                <a:gd name="connsiteX1" fmla="*/ 0 w 9994"/>
                <a:gd name="connsiteY1" fmla="*/ 10000 h 10000"/>
                <a:gd name="connsiteX2" fmla="*/ 5362 w 9994"/>
                <a:gd name="connsiteY2" fmla="*/ 10000 h 10000"/>
                <a:gd name="connsiteX3" fmla="*/ 8832 w 9994"/>
                <a:gd name="connsiteY3" fmla="*/ 2502 h 10000"/>
                <a:gd name="connsiteX4" fmla="*/ 9994 w 9994"/>
                <a:gd name="connsiteY4" fmla="*/ 2505 h 10000"/>
                <a:gd name="connsiteX5" fmla="*/ 9984 w 9994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4" h="10000">
                  <a:moveTo>
                    <a:pt x="0" y="6715"/>
                  </a:moveTo>
                  <a:lnTo>
                    <a:pt x="0" y="10000"/>
                  </a:lnTo>
                  <a:lnTo>
                    <a:pt x="5362" y="10000"/>
                  </a:lnTo>
                  <a:lnTo>
                    <a:pt x="8832" y="2502"/>
                  </a:lnTo>
                  <a:lnTo>
                    <a:pt x="9994" y="2505"/>
                  </a:lnTo>
                  <a:cubicBezTo>
                    <a:pt x="9989" y="1648"/>
                    <a:pt x="9989" y="857"/>
                    <a:pt x="9984" y="0"/>
                  </a:cubicBezTo>
                </a:path>
              </a:pathLst>
            </a:custGeom>
            <a:noFill/>
            <a:ln w="38100" cmpd="sng">
              <a:solidFill>
                <a:srgbClr val="00B05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6207C71-6CD5-544B-8519-3A3DCC4703F2}"/>
                </a:ext>
              </a:extLst>
            </p:cNvPr>
            <p:cNvSpPr/>
            <p:nvPr/>
          </p:nvSpPr>
          <p:spPr>
            <a:xfrm>
              <a:off x="8286088" y="3308080"/>
              <a:ext cx="88262" cy="8826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84" name="Oval 383">
              <a:extLst>
                <a:ext uri="{FF2B5EF4-FFF2-40B4-BE49-F238E27FC236}">
                  <a16:creationId xmlns:a16="http://schemas.microsoft.com/office/drawing/2014/main" id="{9652FEC3-4BD4-274E-A52B-3C77A8ED251B}"/>
                </a:ext>
              </a:extLst>
            </p:cNvPr>
            <p:cNvSpPr/>
            <p:nvPr/>
          </p:nvSpPr>
          <p:spPr>
            <a:xfrm>
              <a:off x="8290207" y="3467541"/>
              <a:ext cx="88262" cy="8826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530F87D0-D169-7740-904C-F6E74D29E96F}"/>
              </a:ext>
            </a:extLst>
          </p:cNvPr>
          <p:cNvSpPr/>
          <p:nvPr/>
        </p:nvSpPr>
        <p:spPr>
          <a:xfrm>
            <a:off x="4107582" y="4019150"/>
            <a:ext cx="1147813" cy="591953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B439597C-D72F-F94A-933D-5ED9634D8F28}"/>
              </a:ext>
            </a:extLst>
          </p:cNvPr>
          <p:cNvSpPr/>
          <p:nvPr/>
        </p:nvSpPr>
        <p:spPr>
          <a:xfrm>
            <a:off x="4294071" y="4581025"/>
            <a:ext cx="1147813" cy="591953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785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" grpId="0"/>
      <p:bldP spid="176" grpId="0"/>
      <p:bldP spid="808" grpId="0" animBg="1"/>
      <p:bldP spid="3" grpId="0" animBg="1"/>
      <p:bldP spid="3" grpId="1" animBg="1"/>
      <p:bldP spid="280" grpId="0" animBg="1"/>
      <p:bldP spid="280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140">
            <a:extLst>
              <a:ext uri="{FF2B5EF4-FFF2-40B4-BE49-F238E27FC236}">
                <a16:creationId xmlns:a16="http://schemas.microsoft.com/office/drawing/2014/main" id="{5C333110-16C5-1F49-87A1-51E13B44D652}"/>
              </a:ext>
            </a:extLst>
          </p:cNvPr>
          <p:cNvGrpSpPr/>
          <p:nvPr/>
        </p:nvGrpSpPr>
        <p:grpSpPr>
          <a:xfrm>
            <a:off x="6894871" y="3095317"/>
            <a:ext cx="268200" cy="475637"/>
            <a:chOff x="10910965" y="2513124"/>
            <a:chExt cx="586768" cy="904023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D39C72B5-C664-444F-8783-AE333F94F966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CE55ED2F-C650-8E4E-9989-622310E7946A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4F1AA6DE-FC27-734F-AC8C-66592ADC486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A0C86220-936C-4748-A868-3C32EF039680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6D04054C-E979-0042-B411-8DB50C4331E3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B8BDB9D2-287F-754F-8C7F-712CB3612986}"/>
              </a:ext>
            </a:extLst>
          </p:cNvPr>
          <p:cNvGrpSpPr/>
          <p:nvPr/>
        </p:nvGrpSpPr>
        <p:grpSpPr>
          <a:xfrm>
            <a:off x="4535259" y="2972319"/>
            <a:ext cx="268200" cy="475637"/>
            <a:chOff x="10910965" y="2513124"/>
            <a:chExt cx="586768" cy="904023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EE3BC656-1F15-3541-918F-24CF2A2E071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853E85B6-B0C8-D24B-BE44-7D9478E30C38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9A45F3A6-BF61-9045-BFD6-D3A2D0CD2A98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52530D69-F493-4E48-8140-12C10649D561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F1EE9AD-9FC6-B545-993A-ACB9A560CEC4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DF0637CA-B847-8F48-B8C9-B75401E386A2}"/>
              </a:ext>
            </a:extLst>
          </p:cNvPr>
          <p:cNvGrpSpPr/>
          <p:nvPr/>
        </p:nvGrpSpPr>
        <p:grpSpPr>
          <a:xfrm>
            <a:off x="5374671" y="2042240"/>
            <a:ext cx="268200" cy="475637"/>
            <a:chOff x="10910965" y="2513124"/>
            <a:chExt cx="586768" cy="904023"/>
          </a:xfrm>
        </p:grpSpPr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25C5448A-6ED9-EE42-9728-2323C1ED468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3FC0DCC4-367A-2146-B613-0903C21C5BD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B280A75E-CB9B-DC4F-8F63-B45DE54CC164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2F34DC55-4A05-B149-B892-06B26874236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403A8014-0C89-5D42-802F-09680D5C4DFC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2" name="Line 113">
            <a:extLst>
              <a:ext uri="{FF2B5EF4-FFF2-40B4-BE49-F238E27FC236}">
                <a16:creationId xmlns:a16="http://schemas.microsoft.com/office/drawing/2014/main" id="{8838B4E2-A532-6E47-AEF4-14729C32AA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43049" y="2538983"/>
            <a:ext cx="19528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DEE32A2E-E3E8-974C-B050-845CA4991CE8}"/>
              </a:ext>
            </a:extLst>
          </p:cNvPr>
          <p:cNvGrpSpPr/>
          <p:nvPr/>
        </p:nvGrpSpPr>
        <p:grpSpPr>
          <a:xfrm>
            <a:off x="7090287" y="2085052"/>
            <a:ext cx="268200" cy="475637"/>
            <a:chOff x="10910965" y="2513124"/>
            <a:chExt cx="586768" cy="904023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36EA49ED-3E71-C441-8297-25F11265AF5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DF0F817C-C846-4644-98B9-F36EADACB99F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61F970CA-AFE5-E347-9CDE-8D770C9134A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77C5D55-32C2-4046-A869-1FCF51BBAAC7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0E802AC-6B6D-7B4A-99A0-CADB71BF6C3C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0" name="Group 649">
            <a:extLst>
              <a:ext uri="{FF2B5EF4-FFF2-40B4-BE49-F238E27FC236}">
                <a16:creationId xmlns:a16="http://schemas.microsoft.com/office/drawing/2014/main" id="{442D49DD-B625-2044-ABE8-08653B990DD9}"/>
              </a:ext>
            </a:extLst>
          </p:cNvPr>
          <p:cNvGrpSpPr/>
          <p:nvPr/>
        </p:nvGrpSpPr>
        <p:grpSpPr>
          <a:xfrm>
            <a:off x="5152370" y="2860824"/>
            <a:ext cx="495169" cy="217574"/>
            <a:chOff x="7493876" y="2774731"/>
            <a:chExt cx="1481958" cy="894622"/>
          </a:xfrm>
        </p:grpSpPr>
        <p:sp>
          <p:nvSpPr>
            <p:cNvPr id="651" name="Freeform 650">
              <a:extLst>
                <a:ext uri="{FF2B5EF4-FFF2-40B4-BE49-F238E27FC236}">
                  <a16:creationId xmlns:a16="http://schemas.microsoft.com/office/drawing/2014/main" id="{781B9C8F-C42E-ED4B-9E19-C8CBB56BEB8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52" name="Oval 651">
              <a:extLst>
                <a:ext uri="{FF2B5EF4-FFF2-40B4-BE49-F238E27FC236}">
                  <a16:creationId xmlns:a16="http://schemas.microsoft.com/office/drawing/2014/main" id="{0E0D9018-D5B2-7742-90EB-23615AD8382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53" name="Group 652">
              <a:extLst>
                <a:ext uri="{FF2B5EF4-FFF2-40B4-BE49-F238E27FC236}">
                  <a16:creationId xmlns:a16="http://schemas.microsoft.com/office/drawing/2014/main" id="{C96D0382-34DE-5449-8232-4288C333AAE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54" name="Freeform 653">
                <a:extLst>
                  <a:ext uri="{FF2B5EF4-FFF2-40B4-BE49-F238E27FC236}">
                    <a16:creationId xmlns:a16="http://schemas.microsoft.com/office/drawing/2014/main" id="{70D03A71-40DE-3E45-9F13-8165D05F018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55" name="Freeform 654">
                <a:extLst>
                  <a:ext uri="{FF2B5EF4-FFF2-40B4-BE49-F238E27FC236}">
                    <a16:creationId xmlns:a16="http://schemas.microsoft.com/office/drawing/2014/main" id="{B53D6BC3-8B2A-9E43-8D61-E57784BA4AE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56" name="Freeform 655">
                <a:extLst>
                  <a:ext uri="{FF2B5EF4-FFF2-40B4-BE49-F238E27FC236}">
                    <a16:creationId xmlns:a16="http://schemas.microsoft.com/office/drawing/2014/main" id="{164ECF6A-F4B9-DF4F-BF3F-242C8FCB06F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57" name="Freeform 656">
                <a:extLst>
                  <a:ext uri="{FF2B5EF4-FFF2-40B4-BE49-F238E27FC236}">
                    <a16:creationId xmlns:a16="http://schemas.microsoft.com/office/drawing/2014/main" id="{E70C37A1-A0CF-3241-B2FE-E09E92D6CF7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642" name="Group 641">
            <a:extLst>
              <a:ext uri="{FF2B5EF4-FFF2-40B4-BE49-F238E27FC236}">
                <a16:creationId xmlns:a16="http://schemas.microsoft.com/office/drawing/2014/main" id="{AD4E15D3-6EC7-F447-8715-221D41005AD8}"/>
              </a:ext>
            </a:extLst>
          </p:cNvPr>
          <p:cNvGrpSpPr/>
          <p:nvPr/>
        </p:nvGrpSpPr>
        <p:grpSpPr>
          <a:xfrm>
            <a:off x="5946510" y="2624821"/>
            <a:ext cx="495169" cy="217574"/>
            <a:chOff x="7493876" y="2774731"/>
            <a:chExt cx="1481958" cy="894622"/>
          </a:xfrm>
        </p:grpSpPr>
        <p:sp>
          <p:nvSpPr>
            <p:cNvPr id="643" name="Freeform 642">
              <a:extLst>
                <a:ext uri="{FF2B5EF4-FFF2-40B4-BE49-F238E27FC236}">
                  <a16:creationId xmlns:a16="http://schemas.microsoft.com/office/drawing/2014/main" id="{C2E154AC-5367-E44D-9F74-38EDFB2ED30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44" name="Oval 643">
              <a:extLst>
                <a:ext uri="{FF2B5EF4-FFF2-40B4-BE49-F238E27FC236}">
                  <a16:creationId xmlns:a16="http://schemas.microsoft.com/office/drawing/2014/main" id="{8DD3EE1C-49D5-524C-93C0-63A60B66E8F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45" name="Group 644">
              <a:extLst>
                <a:ext uri="{FF2B5EF4-FFF2-40B4-BE49-F238E27FC236}">
                  <a16:creationId xmlns:a16="http://schemas.microsoft.com/office/drawing/2014/main" id="{90B4AB50-5DF3-044D-A589-BE7AA79D598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46" name="Freeform 645">
                <a:extLst>
                  <a:ext uri="{FF2B5EF4-FFF2-40B4-BE49-F238E27FC236}">
                    <a16:creationId xmlns:a16="http://schemas.microsoft.com/office/drawing/2014/main" id="{E4E59325-7458-9D4F-8AB8-BD8A22B5AE4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47" name="Freeform 646">
                <a:extLst>
                  <a:ext uri="{FF2B5EF4-FFF2-40B4-BE49-F238E27FC236}">
                    <a16:creationId xmlns:a16="http://schemas.microsoft.com/office/drawing/2014/main" id="{B3D13B56-8A0D-4B4A-8192-AF51A57C2EA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48" name="Freeform 647">
                <a:extLst>
                  <a:ext uri="{FF2B5EF4-FFF2-40B4-BE49-F238E27FC236}">
                    <a16:creationId xmlns:a16="http://schemas.microsoft.com/office/drawing/2014/main" id="{2C8E2625-2E7C-F743-B981-73684DBE633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49" name="Freeform 648">
                <a:extLst>
                  <a:ext uri="{FF2B5EF4-FFF2-40B4-BE49-F238E27FC236}">
                    <a16:creationId xmlns:a16="http://schemas.microsoft.com/office/drawing/2014/main" id="{2A860CE2-3114-8741-8DB0-78E922B0428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634" name="Group 633">
            <a:extLst>
              <a:ext uri="{FF2B5EF4-FFF2-40B4-BE49-F238E27FC236}">
                <a16:creationId xmlns:a16="http://schemas.microsoft.com/office/drawing/2014/main" id="{3BA91B66-EDC3-974E-B9D9-8E4503135515}"/>
              </a:ext>
            </a:extLst>
          </p:cNvPr>
          <p:cNvGrpSpPr/>
          <p:nvPr/>
        </p:nvGrpSpPr>
        <p:grpSpPr>
          <a:xfrm>
            <a:off x="6185247" y="3018858"/>
            <a:ext cx="495169" cy="217574"/>
            <a:chOff x="7493876" y="2774731"/>
            <a:chExt cx="1481958" cy="894622"/>
          </a:xfrm>
        </p:grpSpPr>
        <p:sp>
          <p:nvSpPr>
            <p:cNvPr id="635" name="Freeform 634">
              <a:extLst>
                <a:ext uri="{FF2B5EF4-FFF2-40B4-BE49-F238E27FC236}">
                  <a16:creationId xmlns:a16="http://schemas.microsoft.com/office/drawing/2014/main" id="{5B8B67F8-FC77-7B4B-86F0-B0D0CD4C191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36" name="Oval 635">
              <a:extLst>
                <a:ext uri="{FF2B5EF4-FFF2-40B4-BE49-F238E27FC236}">
                  <a16:creationId xmlns:a16="http://schemas.microsoft.com/office/drawing/2014/main" id="{24DB41F0-B458-2740-8144-D8993DA5DFD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37" name="Group 636">
              <a:extLst>
                <a:ext uri="{FF2B5EF4-FFF2-40B4-BE49-F238E27FC236}">
                  <a16:creationId xmlns:a16="http://schemas.microsoft.com/office/drawing/2014/main" id="{2A22D03D-2357-944F-A71A-94B46AED72B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38" name="Freeform 637">
                <a:extLst>
                  <a:ext uri="{FF2B5EF4-FFF2-40B4-BE49-F238E27FC236}">
                    <a16:creationId xmlns:a16="http://schemas.microsoft.com/office/drawing/2014/main" id="{E4CD4DE0-BD74-6742-9AB5-70B9AAC5E03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39" name="Freeform 638">
                <a:extLst>
                  <a:ext uri="{FF2B5EF4-FFF2-40B4-BE49-F238E27FC236}">
                    <a16:creationId xmlns:a16="http://schemas.microsoft.com/office/drawing/2014/main" id="{888F54AE-EE96-1643-8D6C-7B9B965689F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40" name="Freeform 639">
                <a:extLst>
                  <a:ext uri="{FF2B5EF4-FFF2-40B4-BE49-F238E27FC236}">
                    <a16:creationId xmlns:a16="http://schemas.microsoft.com/office/drawing/2014/main" id="{A9967105-8A41-8646-A119-3F7E30AAD3E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41" name="Freeform 640">
                <a:extLst>
                  <a:ext uri="{FF2B5EF4-FFF2-40B4-BE49-F238E27FC236}">
                    <a16:creationId xmlns:a16="http://schemas.microsoft.com/office/drawing/2014/main" id="{F0349917-BFEB-DD4E-95A0-2C5BFAD63B1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626" name="Group 625">
            <a:extLst>
              <a:ext uri="{FF2B5EF4-FFF2-40B4-BE49-F238E27FC236}">
                <a16:creationId xmlns:a16="http://schemas.microsoft.com/office/drawing/2014/main" id="{0556E247-D59A-2842-82DE-FE8E6F79E019}"/>
              </a:ext>
            </a:extLst>
          </p:cNvPr>
          <p:cNvGrpSpPr/>
          <p:nvPr/>
        </p:nvGrpSpPr>
        <p:grpSpPr>
          <a:xfrm>
            <a:off x="5402733" y="3382961"/>
            <a:ext cx="495169" cy="217574"/>
            <a:chOff x="7493876" y="2774731"/>
            <a:chExt cx="1481958" cy="894622"/>
          </a:xfrm>
        </p:grpSpPr>
        <p:sp>
          <p:nvSpPr>
            <p:cNvPr id="627" name="Freeform 626">
              <a:extLst>
                <a:ext uri="{FF2B5EF4-FFF2-40B4-BE49-F238E27FC236}">
                  <a16:creationId xmlns:a16="http://schemas.microsoft.com/office/drawing/2014/main" id="{445667BF-2880-A44B-92FF-0150E2B89E8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28" name="Oval 627">
              <a:extLst>
                <a:ext uri="{FF2B5EF4-FFF2-40B4-BE49-F238E27FC236}">
                  <a16:creationId xmlns:a16="http://schemas.microsoft.com/office/drawing/2014/main" id="{8FE549B8-413C-AB43-AED4-55FEDF4BD68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29" name="Group 628">
              <a:extLst>
                <a:ext uri="{FF2B5EF4-FFF2-40B4-BE49-F238E27FC236}">
                  <a16:creationId xmlns:a16="http://schemas.microsoft.com/office/drawing/2014/main" id="{6310970C-CD76-5940-AC70-64BBFBC43C8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id="{5FD9D70B-CD96-5747-B734-9870835D7C5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31" name="Freeform 630">
                <a:extLst>
                  <a:ext uri="{FF2B5EF4-FFF2-40B4-BE49-F238E27FC236}">
                    <a16:creationId xmlns:a16="http://schemas.microsoft.com/office/drawing/2014/main" id="{06B65913-DCAC-AD4F-9F10-966CCC14489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32" name="Freeform 631">
                <a:extLst>
                  <a:ext uri="{FF2B5EF4-FFF2-40B4-BE49-F238E27FC236}">
                    <a16:creationId xmlns:a16="http://schemas.microsoft.com/office/drawing/2014/main" id="{EF0534C2-36B5-7849-AFFA-5AC31B60CA1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33" name="Freeform 632">
                <a:extLst>
                  <a:ext uri="{FF2B5EF4-FFF2-40B4-BE49-F238E27FC236}">
                    <a16:creationId xmlns:a16="http://schemas.microsoft.com/office/drawing/2014/main" id="{3361B307-3719-A84A-8AD5-A3B61CE63C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Causes/costs of congestion: scenario 3</a:t>
            </a:r>
            <a:endParaRPr lang="en-US" b="0" dirty="0"/>
          </a:p>
        </p:txBody>
      </p:sp>
      <p:sp>
        <p:nvSpPr>
          <p:cNvPr id="130" name="Slide Number Placeholder 2">
            <a:extLst>
              <a:ext uri="{FF2B5EF4-FFF2-40B4-BE49-F238E27FC236}">
                <a16:creationId xmlns:a16="http://schemas.microsoft.com/office/drawing/2014/main" id="{B2D434D1-E742-A043-86CE-3BB54BC2F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Transport Layer: 3-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12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470" name="Rectangle 3">
            <a:extLst>
              <a:ext uri="{FF2B5EF4-FFF2-40B4-BE49-F238E27FC236}">
                <a16:creationId xmlns:a16="http://schemas.microsoft.com/office/drawing/2014/main" id="{B3E01DA9-25FD-B546-AB8A-84DD03754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" y="4693444"/>
            <a:ext cx="6200775" cy="3071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471" name="Rectangle 4">
            <a:extLst>
              <a:ext uri="{FF2B5EF4-FFF2-40B4-BE49-F238E27FC236}">
                <a16:creationId xmlns:a16="http://schemas.microsoft.com/office/drawing/2014/main" id="{50204642-54CB-0C46-8699-863901641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916" y="4104085"/>
            <a:ext cx="7237807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defRPr/>
            </a:pPr>
            <a:r>
              <a:rPr lang="en-US" altLang="en-US" sz="2400" dirty="0">
                <a:solidFill>
                  <a:srgbClr val="C00000"/>
                </a:solidFill>
                <a:latin typeface="Calibri" panose="020F0502020204030204"/>
              </a:rPr>
              <a:t>another “</a:t>
            </a:r>
            <a:r>
              <a:rPr lang="en-US" altLang="ja-JP" sz="2400" dirty="0">
                <a:solidFill>
                  <a:srgbClr val="C00000"/>
                </a:solidFill>
                <a:latin typeface="Calibri" panose="020F0502020204030204"/>
              </a:rPr>
              <a:t>cost” of congestion: </a:t>
            </a:r>
          </a:p>
          <a:p>
            <a:pPr marL="257175" indent="-257175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2100" dirty="0">
                <a:solidFill>
                  <a:srgbClr val="000000"/>
                </a:solidFill>
                <a:latin typeface="Calibri" panose="020F0502020204030204"/>
              </a:rPr>
              <a:t>when packet dropped, any </a:t>
            </a:r>
            <a:r>
              <a:rPr lang="en-US" altLang="ja-JP" sz="2100" dirty="0">
                <a:solidFill>
                  <a:srgbClr val="000000"/>
                </a:solidFill>
                <a:latin typeface="Calibri" panose="020F0502020204030204"/>
              </a:rPr>
              <a:t>upstream transmission capacity and buffering used for that packet was wasted!</a:t>
            </a:r>
            <a:endParaRPr lang="en-US" altLang="en-US" sz="210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2" name="Line 8">
            <a:extLst>
              <a:ext uri="{FF2B5EF4-FFF2-40B4-BE49-F238E27FC236}">
                <a16:creationId xmlns:a16="http://schemas.microsoft.com/office/drawing/2014/main" id="{54B69D69-DB5C-FF44-9A78-3EF27FA8D5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05007" y="2521588"/>
            <a:ext cx="409930" cy="4131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73" name="Line 9">
            <a:extLst>
              <a:ext uri="{FF2B5EF4-FFF2-40B4-BE49-F238E27FC236}">
                <a16:creationId xmlns:a16="http://schemas.microsoft.com/office/drawing/2014/main" id="{17302533-B643-1D44-BB74-F2288C9D8A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19654" y="2521588"/>
            <a:ext cx="19528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81" name="Line 60">
            <a:extLst>
              <a:ext uri="{FF2B5EF4-FFF2-40B4-BE49-F238E27FC236}">
                <a16:creationId xmlns:a16="http://schemas.microsoft.com/office/drawing/2014/main" id="{8E9B5F3E-D7D4-784B-A561-225983C51D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3022" y="3465282"/>
            <a:ext cx="648787" cy="579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89" name="Line 110">
            <a:extLst>
              <a:ext uri="{FF2B5EF4-FFF2-40B4-BE49-F238E27FC236}">
                <a16:creationId xmlns:a16="http://schemas.microsoft.com/office/drawing/2014/main" id="{81308001-6AF2-8841-BE13-23C6875DBD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19654" y="2725982"/>
            <a:ext cx="322779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90" name="Line 111">
            <a:extLst>
              <a:ext uri="{FF2B5EF4-FFF2-40B4-BE49-F238E27FC236}">
                <a16:creationId xmlns:a16="http://schemas.microsoft.com/office/drawing/2014/main" id="{E766695C-AC11-DB4D-88D9-ADEE97B162B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12078" y="2734680"/>
            <a:ext cx="345374" cy="4349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91" name="Line 112">
            <a:extLst>
              <a:ext uri="{FF2B5EF4-FFF2-40B4-BE49-F238E27FC236}">
                <a16:creationId xmlns:a16="http://schemas.microsoft.com/office/drawing/2014/main" id="{3C681570-FA16-4C40-9E6E-770D751E77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86255" y="2530286"/>
            <a:ext cx="576161" cy="61753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516" name="Group 227">
            <a:extLst>
              <a:ext uri="{FF2B5EF4-FFF2-40B4-BE49-F238E27FC236}">
                <a16:creationId xmlns:a16="http://schemas.microsoft.com/office/drawing/2014/main" id="{C5844755-7AB4-394A-8C3D-0EAB4297B7CC}"/>
              </a:ext>
            </a:extLst>
          </p:cNvPr>
          <p:cNvGrpSpPr>
            <a:grpSpLocks/>
          </p:cNvGrpSpPr>
          <p:nvPr/>
        </p:nvGrpSpPr>
        <p:grpSpPr bwMode="auto">
          <a:xfrm>
            <a:off x="6221328" y="2662698"/>
            <a:ext cx="140020" cy="116902"/>
            <a:chOff x="11283" y="10423"/>
            <a:chExt cx="475" cy="374"/>
          </a:xfrm>
        </p:grpSpPr>
        <p:sp>
          <p:nvSpPr>
            <p:cNvPr id="517" name="Rectangle 228">
              <a:extLst>
                <a:ext uri="{FF2B5EF4-FFF2-40B4-BE49-F238E27FC236}">
                  <a16:creationId xmlns:a16="http://schemas.microsoft.com/office/drawing/2014/main" id="{F2C17F9B-7965-ED45-A4D3-EFFC3FD54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518" name="Line 229">
              <a:extLst>
                <a:ext uri="{FF2B5EF4-FFF2-40B4-BE49-F238E27FC236}">
                  <a16:creationId xmlns:a16="http://schemas.microsoft.com/office/drawing/2014/main" id="{2A6B3E53-1684-DF43-A05E-A2C80EF94F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19" name="Line 230">
              <a:extLst>
                <a:ext uri="{FF2B5EF4-FFF2-40B4-BE49-F238E27FC236}">
                  <a16:creationId xmlns:a16="http://schemas.microsoft.com/office/drawing/2014/main" id="{D8396C95-BBB2-5D46-A8D2-775CD554A2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20" name="Line 231">
              <a:extLst>
                <a:ext uri="{FF2B5EF4-FFF2-40B4-BE49-F238E27FC236}">
                  <a16:creationId xmlns:a16="http://schemas.microsoft.com/office/drawing/2014/main" id="{C157781C-8502-014B-A415-7383087D31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21" name="Line 232">
              <a:extLst>
                <a:ext uri="{FF2B5EF4-FFF2-40B4-BE49-F238E27FC236}">
                  <a16:creationId xmlns:a16="http://schemas.microsoft.com/office/drawing/2014/main" id="{11C3D78E-49BA-C343-B6BB-91EC56F706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22" name="Line 233">
              <a:extLst>
                <a:ext uri="{FF2B5EF4-FFF2-40B4-BE49-F238E27FC236}">
                  <a16:creationId xmlns:a16="http://schemas.microsoft.com/office/drawing/2014/main" id="{18778F4C-DAAF-B04E-9D01-34E52E4B74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23" name="Line 234">
              <a:extLst>
                <a:ext uri="{FF2B5EF4-FFF2-40B4-BE49-F238E27FC236}">
                  <a16:creationId xmlns:a16="http://schemas.microsoft.com/office/drawing/2014/main" id="{37A63491-BBEE-3E44-BBF3-79A4DB88BA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530" name="Line 235">
            <a:extLst>
              <a:ext uri="{FF2B5EF4-FFF2-40B4-BE49-F238E27FC236}">
                <a16:creationId xmlns:a16="http://schemas.microsoft.com/office/drawing/2014/main" id="{502BD3B4-B453-4343-B3CD-F6AE3C5CA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3057" y="2217170"/>
            <a:ext cx="122657" cy="1449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531" name="Group 236">
            <a:extLst>
              <a:ext uri="{FF2B5EF4-FFF2-40B4-BE49-F238E27FC236}">
                <a16:creationId xmlns:a16="http://schemas.microsoft.com/office/drawing/2014/main" id="{BD40F4B4-9FA4-B242-890F-C7DC5C1F1E4B}"/>
              </a:ext>
            </a:extLst>
          </p:cNvPr>
          <p:cNvGrpSpPr>
            <a:grpSpLocks/>
          </p:cNvGrpSpPr>
          <p:nvPr/>
        </p:nvGrpSpPr>
        <p:grpSpPr bwMode="auto">
          <a:xfrm>
            <a:off x="5522820" y="2063512"/>
            <a:ext cx="40348" cy="129014"/>
            <a:chOff x="10104" y="10005"/>
            <a:chExt cx="137" cy="411"/>
          </a:xfrm>
        </p:grpSpPr>
        <p:sp>
          <p:nvSpPr>
            <p:cNvPr id="532" name="Oval 237">
              <a:extLst>
                <a:ext uri="{FF2B5EF4-FFF2-40B4-BE49-F238E27FC236}">
                  <a16:creationId xmlns:a16="http://schemas.microsoft.com/office/drawing/2014/main" id="{9F31E068-8077-0E41-BA3C-C53046677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533" name="Oval 238">
              <a:extLst>
                <a:ext uri="{FF2B5EF4-FFF2-40B4-BE49-F238E27FC236}">
                  <a16:creationId xmlns:a16="http://schemas.microsoft.com/office/drawing/2014/main" id="{B99DFC93-E1C9-6B48-9E97-F404126B9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548" name="Group 255">
            <a:extLst>
              <a:ext uri="{FF2B5EF4-FFF2-40B4-BE49-F238E27FC236}">
                <a16:creationId xmlns:a16="http://schemas.microsoft.com/office/drawing/2014/main" id="{AA469380-A079-C241-8EF0-12E5E2FF123A}"/>
              </a:ext>
            </a:extLst>
          </p:cNvPr>
          <p:cNvGrpSpPr>
            <a:grpSpLocks/>
          </p:cNvGrpSpPr>
          <p:nvPr/>
        </p:nvGrpSpPr>
        <p:grpSpPr bwMode="auto">
          <a:xfrm rot="7844936">
            <a:off x="6343318" y="3053971"/>
            <a:ext cx="153659" cy="106517"/>
            <a:chOff x="11283" y="10423"/>
            <a:chExt cx="475" cy="374"/>
          </a:xfrm>
        </p:grpSpPr>
        <p:sp>
          <p:nvSpPr>
            <p:cNvPr id="549" name="Rectangle 256">
              <a:extLst>
                <a:ext uri="{FF2B5EF4-FFF2-40B4-BE49-F238E27FC236}">
                  <a16:creationId xmlns:a16="http://schemas.microsoft.com/office/drawing/2014/main" id="{27D5FDD2-8596-9B4B-B4F5-2748842EF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550" name="Line 257">
              <a:extLst>
                <a:ext uri="{FF2B5EF4-FFF2-40B4-BE49-F238E27FC236}">
                  <a16:creationId xmlns:a16="http://schemas.microsoft.com/office/drawing/2014/main" id="{5EA4070D-C55C-3C46-971A-495141BBF3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51" name="Line 258">
              <a:extLst>
                <a:ext uri="{FF2B5EF4-FFF2-40B4-BE49-F238E27FC236}">
                  <a16:creationId xmlns:a16="http://schemas.microsoft.com/office/drawing/2014/main" id="{E7415EB7-9A38-A34B-BC52-23820D0899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52" name="Line 259">
              <a:extLst>
                <a:ext uri="{FF2B5EF4-FFF2-40B4-BE49-F238E27FC236}">
                  <a16:creationId xmlns:a16="http://schemas.microsoft.com/office/drawing/2014/main" id="{E1B69AC3-E7AE-F84B-AE13-9E4B698B45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53" name="Line 260">
              <a:extLst>
                <a:ext uri="{FF2B5EF4-FFF2-40B4-BE49-F238E27FC236}">
                  <a16:creationId xmlns:a16="http://schemas.microsoft.com/office/drawing/2014/main" id="{14297734-2A75-5D4A-905C-558B07A25D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54" name="Line 261">
              <a:extLst>
                <a:ext uri="{FF2B5EF4-FFF2-40B4-BE49-F238E27FC236}">
                  <a16:creationId xmlns:a16="http://schemas.microsoft.com/office/drawing/2014/main" id="{FAD2D458-99B5-D64F-9787-A3907B8537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55" name="Line 262">
              <a:extLst>
                <a:ext uri="{FF2B5EF4-FFF2-40B4-BE49-F238E27FC236}">
                  <a16:creationId xmlns:a16="http://schemas.microsoft.com/office/drawing/2014/main" id="{ED7690F6-614B-474E-9678-ABBBF3553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556" name="Line 263">
            <a:extLst>
              <a:ext uri="{FF2B5EF4-FFF2-40B4-BE49-F238E27FC236}">
                <a16:creationId xmlns:a16="http://schemas.microsoft.com/office/drawing/2014/main" id="{24DFA125-06DC-CE4E-A7FC-5EC2D00675E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23004" y="3460934"/>
            <a:ext cx="879575" cy="869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57" name="Line 264">
            <a:extLst>
              <a:ext uri="{FF2B5EF4-FFF2-40B4-BE49-F238E27FC236}">
                <a16:creationId xmlns:a16="http://schemas.microsoft.com/office/drawing/2014/main" id="{5FF66E32-B896-A043-9D26-2F80DC2B70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7368" y="3152167"/>
            <a:ext cx="275977" cy="31311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58" name="Freeform 265">
            <a:extLst>
              <a:ext uri="{FF2B5EF4-FFF2-40B4-BE49-F238E27FC236}">
                <a16:creationId xmlns:a16="http://schemas.microsoft.com/office/drawing/2014/main" id="{E2E6E031-8D15-5A42-B00A-1F4F08AF6A0B}"/>
              </a:ext>
            </a:extLst>
          </p:cNvPr>
          <p:cNvSpPr>
            <a:spLocks/>
          </p:cNvSpPr>
          <p:nvPr/>
        </p:nvSpPr>
        <p:spPr bwMode="auto">
          <a:xfrm>
            <a:off x="5543801" y="2080907"/>
            <a:ext cx="1467032" cy="1361181"/>
          </a:xfrm>
          <a:custGeom>
            <a:avLst/>
            <a:gdLst>
              <a:gd name="T0" fmla="*/ 0 w 5205"/>
              <a:gd name="T1" fmla="*/ 0 h 4500"/>
              <a:gd name="T2" fmla="*/ 0 w 5205"/>
              <a:gd name="T3" fmla="*/ 2147483647 h 4500"/>
              <a:gd name="T4" fmla="*/ 2147483647 w 5205"/>
              <a:gd name="T5" fmla="*/ 2147483647 h 4500"/>
              <a:gd name="T6" fmla="*/ 2147483647 w 5205"/>
              <a:gd name="T7" fmla="*/ 2147483647 h 4500"/>
              <a:gd name="T8" fmla="*/ 2147483647 w 5205"/>
              <a:gd name="T9" fmla="*/ 2147483647 h 4500"/>
              <a:gd name="T10" fmla="*/ 2147483647 w 5205"/>
              <a:gd name="T11" fmla="*/ 2147483647 h 4500"/>
              <a:gd name="T12" fmla="*/ 2147483647 w 5205"/>
              <a:gd name="T13" fmla="*/ 2147483647 h 4500"/>
              <a:gd name="T14" fmla="*/ 2147483647 w 5205"/>
              <a:gd name="T15" fmla="*/ 2147483647 h 45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205" h="4500">
                <a:moveTo>
                  <a:pt x="0" y="0"/>
                </a:moveTo>
                <a:lnTo>
                  <a:pt x="0" y="1320"/>
                </a:lnTo>
                <a:lnTo>
                  <a:pt x="1230" y="1350"/>
                </a:lnTo>
                <a:lnTo>
                  <a:pt x="495" y="2040"/>
                </a:lnTo>
                <a:lnTo>
                  <a:pt x="4515" y="2115"/>
                </a:lnTo>
                <a:lnTo>
                  <a:pt x="2220" y="4500"/>
                </a:lnTo>
                <a:lnTo>
                  <a:pt x="5205" y="4500"/>
                </a:lnTo>
                <a:lnTo>
                  <a:pt x="5205" y="3405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573" name="Group 280">
            <a:extLst>
              <a:ext uri="{FF2B5EF4-FFF2-40B4-BE49-F238E27FC236}">
                <a16:creationId xmlns:a16="http://schemas.microsoft.com/office/drawing/2014/main" id="{6DC31668-B2DC-E241-A69F-970AD2E5CEA7}"/>
              </a:ext>
            </a:extLst>
          </p:cNvPr>
          <p:cNvGrpSpPr>
            <a:grpSpLocks/>
          </p:cNvGrpSpPr>
          <p:nvPr/>
        </p:nvGrpSpPr>
        <p:grpSpPr bwMode="auto">
          <a:xfrm>
            <a:off x="5484087" y="3401499"/>
            <a:ext cx="140410" cy="117419"/>
            <a:chOff x="11283" y="10423"/>
            <a:chExt cx="475" cy="374"/>
          </a:xfrm>
        </p:grpSpPr>
        <p:sp>
          <p:nvSpPr>
            <p:cNvPr id="574" name="Rectangle 281">
              <a:extLst>
                <a:ext uri="{FF2B5EF4-FFF2-40B4-BE49-F238E27FC236}">
                  <a16:creationId xmlns:a16="http://schemas.microsoft.com/office/drawing/2014/main" id="{11A3D544-AE22-3748-9FE3-D90EFDC5B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575" name="Line 282">
              <a:extLst>
                <a:ext uri="{FF2B5EF4-FFF2-40B4-BE49-F238E27FC236}">
                  <a16:creationId xmlns:a16="http://schemas.microsoft.com/office/drawing/2014/main" id="{BEC4224F-ED50-4947-9082-B57164E485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76" name="Line 283">
              <a:extLst>
                <a:ext uri="{FF2B5EF4-FFF2-40B4-BE49-F238E27FC236}">
                  <a16:creationId xmlns:a16="http://schemas.microsoft.com/office/drawing/2014/main" id="{8DD52BC5-C333-1F4D-ABBB-944B9DB245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77" name="Line 284">
              <a:extLst>
                <a:ext uri="{FF2B5EF4-FFF2-40B4-BE49-F238E27FC236}">
                  <a16:creationId xmlns:a16="http://schemas.microsoft.com/office/drawing/2014/main" id="{D000FA71-709B-0E4B-8BEF-C45BC3FE7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78" name="Line 285">
              <a:extLst>
                <a:ext uri="{FF2B5EF4-FFF2-40B4-BE49-F238E27FC236}">
                  <a16:creationId xmlns:a16="http://schemas.microsoft.com/office/drawing/2014/main" id="{B41DB283-7D57-A045-B70B-0D8C097465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79" name="Line 286">
              <a:extLst>
                <a:ext uri="{FF2B5EF4-FFF2-40B4-BE49-F238E27FC236}">
                  <a16:creationId xmlns:a16="http://schemas.microsoft.com/office/drawing/2014/main" id="{9E5F402E-8251-7646-ADF1-C8D024D1C1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80" name="Line 287">
              <a:extLst>
                <a:ext uri="{FF2B5EF4-FFF2-40B4-BE49-F238E27FC236}">
                  <a16:creationId xmlns:a16="http://schemas.microsoft.com/office/drawing/2014/main" id="{66CC75A1-C65C-3049-963E-0DFA47653C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595" name="Line 302">
            <a:extLst>
              <a:ext uri="{FF2B5EF4-FFF2-40B4-BE49-F238E27FC236}">
                <a16:creationId xmlns:a16="http://schemas.microsoft.com/office/drawing/2014/main" id="{D6A409AC-791D-264B-9A6A-29925F8122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86945" y="3079687"/>
            <a:ext cx="385722" cy="38559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596" name="Group 303">
            <a:extLst>
              <a:ext uri="{FF2B5EF4-FFF2-40B4-BE49-F238E27FC236}">
                <a16:creationId xmlns:a16="http://schemas.microsoft.com/office/drawing/2014/main" id="{0E0CC657-EE01-1444-92BE-C1D54E3F7BBC}"/>
              </a:ext>
            </a:extLst>
          </p:cNvPr>
          <p:cNvGrpSpPr>
            <a:grpSpLocks/>
          </p:cNvGrpSpPr>
          <p:nvPr/>
        </p:nvGrpSpPr>
        <p:grpSpPr bwMode="auto">
          <a:xfrm rot="8027572">
            <a:off x="5318493" y="2894514"/>
            <a:ext cx="153659" cy="106517"/>
            <a:chOff x="11283" y="10423"/>
            <a:chExt cx="475" cy="374"/>
          </a:xfrm>
        </p:grpSpPr>
        <p:sp>
          <p:nvSpPr>
            <p:cNvPr id="597" name="Rectangle 304">
              <a:extLst>
                <a:ext uri="{FF2B5EF4-FFF2-40B4-BE49-F238E27FC236}">
                  <a16:creationId xmlns:a16="http://schemas.microsoft.com/office/drawing/2014/main" id="{A259E52C-F06C-7042-9819-4B87037A3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598" name="Line 305">
              <a:extLst>
                <a:ext uri="{FF2B5EF4-FFF2-40B4-BE49-F238E27FC236}">
                  <a16:creationId xmlns:a16="http://schemas.microsoft.com/office/drawing/2014/main" id="{FCA29A28-11AF-7744-92A7-70BFDC111B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99" name="Line 306">
              <a:extLst>
                <a:ext uri="{FF2B5EF4-FFF2-40B4-BE49-F238E27FC236}">
                  <a16:creationId xmlns:a16="http://schemas.microsoft.com/office/drawing/2014/main" id="{CB933097-E020-C042-8313-287B98167A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00" name="Line 307">
              <a:extLst>
                <a:ext uri="{FF2B5EF4-FFF2-40B4-BE49-F238E27FC236}">
                  <a16:creationId xmlns:a16="http://schemas.microsoft.com/office/drawing/2014/main" id="{420119F4-8030-9C41-BBBE-13596216B2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01" name="Line 308">
              <a:extLst>
                <a:ext uri="{FF2B5EF4-FFF2-40B4-BE49-F238E27FC236}">
                  <a16:creationId xmlns:a16="http://schemas.microsoft.com/office/drawing/2014/main" id="{DAD30011-10E5-FA44-A6C7-171D1805CB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02" name="Line 309">
              <a:extLst>
                <a:ext uri="{FF2B5EF4-FFF2-40B4-BE49-F238E27FC236}">
                  <a16:creationId xmlns:a16="http://schemas.microsoft.com/office/drawing/2014/main" id="{D6E1DBA8-2139-534A-812C-2D3021B428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03" name="Line 310">
              <a:extLst>
                <a:ext uri="{FF2B5EF4-FFF2-40B4-BE49-F238E27FC236}">
                  <a16:creationId xmlns:a16="http://schemas.microsoft.com/office/drawing/2014/main" id="{E5BA2CAF-CE82-1046-A87A-25F8461972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604" name="Freeform 311">
            <a:extLst>
              <a:ext uri="{FF2B5EF4-FFF2-40B4-BE49-F238E27FC236}">
                <a16:creationId xmlns:a16="http://schemas.microsoft.com/office/drawing/2014/main" id="{0E044273-3CF1-1F44-AE22-0090B74B4B91}"/>
              </a:ext>
            </a:extLst>
          </p:cNvPr>
          <p:cNvSpPr>
            <a:spLocks/>
          </p:cNvSpPr>
          <p:nvPr/>
        </p:nvSpPr>
        <p:spPr bwMode="auto">
          <a:xfrm>
            <a:off x="4815933" y="2099752"/>
            <a:ext cx="2249772" cy="1397422"/>
          </a:xfrm>
          <a:custGeom>
            <a:avLst/>
            <a:gdLst>
              <a:gd name="T0" fmla="*/ 2147483647 w 7980"/>
              <a:gd name="T1" fmla="*/ 2147483647 h 4620"/>
              <a:gd name="T2" fmla="*/ 2147483647 w 7980"/>
              <a:gd name="T3" fmla="*/ 2147483647 h 4620"/>
              <a:gd name="T4" fmla="*/ 0 w 7980"/>
              <a:gd name="T5" fmla="*/ 2147483647 h 4620"/>
              <a:gd name="T6" fmla="*/ 2147483647 w 7980"/>
              <a:gd name="T7" fmla="*/ 2147483647 h 4620"/>
              <a:gd name="T8" fmla="*/ 2147483647 w 7980"/>
              <a:gd name="T9" fmla="*/ 2147483647 h 4620"/>
              <a:gd name="T10" fmla="*/ 2147483647 w 7980"/>
              <a:gd name="T11" fmla="*/ 0 h 462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980" h="4620">
                <a:moveTo>
                  <a:pt x="7965" y="3420"/>
                </a:moveTo>
                <a:lnTo>
                  <a:pt x="7980" y="4620"/>
                </a:lnTo>
                <a:lnTo>
                  <a:pt x="0" y="4605"/>
                </a:lnTo>
                <a:lnTo>
                  <a:pt x="3315" y="1485"/>
                </a:lnTo>
                <a:lnTo>
                  <a:pt x="2355" y="1455"/>
                </a:lnTo>
                <a:lnTo>
                  <a:pt x="2355" y="0"/>
                </a:lnTo>
              </a:path>
            </a:pathLst>
          </a:custGeom>
          <a:noFill/>
          <a:ln w="38100" cmpd="sng">
            <a:solidFill>
              <a:srgbClr val="FF00FF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05" name="Freeform 312">
            <a:extLst>
              <a:ext uri="{FF2B5EF4-FFF2-40B4-BE49-F238E27FC236}">
                <a16:creationId xmlns:a16="http://schemas.microsoft.com/office/drawing/2014/main" id="{9835AE55-355E-3449-A433-1E30954185D2}"/>
              </a:ext>
            </a:extLst>
          </p:cNvPr>
          <p:cNvSpPr>
            <a:spLocks/>
          </p:cNvSpPr>
          <p:nvPr/>
        </p:nvSpPr>
        <p:spPr bwMode="auto">
          <a:xfrm>
            <a:off x="4638404" y="2144690"/>
            <a:ext cx="2549957" cy="1374228"/>
          </a:xfrm>
          <a:custGeom>
            <a:avLst/>
            <a:gdLst>
              <a:gd name="T0" fmla="*/ 0 w 9045"/>
              <a:gd name="T1" fmla="*/ 2147483647 h 4545"/>
              <a:gd name="T2" fmla="*/ 0 w 9045"/>
              <a:gd name="T3" fmla="*/ 2147483647 h 4545"/>
              <a:gd name="T4" fmla="*/ 2147483647 w 9045"/>
              <a:gd name="T5" fmla="*/ 2147483647 h 4545"/>
              <a:gd name="T6" fmla="*/ 2147483647 w 9045"/>
              <a:gd name="T7" fmla="*/ 2147483647 h 4545"/>
              <a:gd name="T8" fmla="*/ 2147483647 w 9045"/>
              <a:gd name="T9" fmla="*/ 2147483647 h 4545"/>
              <a:gd name="T10" fmla="*/ 2147483647 w 9045"/>
              <a:gd name="T11" fmla="*/ 2147483647 h 4545"/>
              <a:gd name="T12" fmla="*/ 2147483647 w 9045"/>
              <a:gd name="T13" fmla="*/ 2147483647 h 4545"/>
              <a:gd name="T14" fmla="*/ 2147483647 w 9045"/>
              <a:gd name="T15" fmla="*/ 0 h 454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045" h="4545">
                <a:moveTo>
                  <a:pt x="0" y="2880"/>
                </a:moveTo>
                <a:lnTo>
                  <a:pt x="0" y="4530"/>
                </a:lnTo>
                <a:lnTo>
                  <a:pt x="885" y="4545"/>
                </a:lnTo>
                <a:lnTo>
                  <a:pt x="3510" y="2010"/>
                </a:lnTo>
                <a:lnTo>
                  <a:pt x="7140" y="2055"/>
                </a:lnTo>
                <a:lnTo>
                  <a:pt x="8145" y="1020"/>
                </a:lnTo>
                <a:lnTo>
                  <a:pt x="9045" y="1020"/>
                </a:lnTo>
                <a:lnTo>
                  <a:pt x="9015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06" name="Freeform 313">
            <a:extLst>
              <a:ext uri="{FF2B5EF4-FFF2-40B4-BE49-F238E27FC236}">
                <a16:creationId xmlns:a16="http://schemas.microsoft.com/office/drawing/2014/main" id="{6222373D-283A-3B4A-B1F6-7CDE8C98C64E}"/>
              </a:ext>
            </a:extLst>
          </p:cNvPr>
          <p:cNvSpPr>
            <a:spLocks/>
          </p:cNvSpPr>
          <p:nvPr/>
        </p:nvSpPr>
        <p:spPr bwMode="auto">
          <a:xfrm>
            <a:off x="4693278" y="2167884"/>
            <a:ext cx="2572552" cy="1269856"/>
          </a:xfrm>
          <a:custGeom>
            <a:avLst/>
            <a:gdLst>
              <a:gd name="T0" fmla="*/ 0 w 9120"/>
              <a:gd name="T1" fmla="*/ 2147483647 h 4201"/>
              <a:gd name="T2" fmla="*/ 0 w 9120"/>
              <a:gd name="T3" fmla="*/ 2147483647 h 4201"/>
              <a:gd name="T4" fmla="*/ 2147483647 w 9120"/>
              <a:gd name="T5" fmla="*/ 2147483647 h 4201"/>
              <a:gd name="T6" fmla="*/ 2147483647 w 9120"/>
              <a:gd name="T7" fmla="*/ 2147483647 h 4201"/>
              <a:gd name="T8" fmla="*/ 2147483647 w 9120"/>
              <a:gd name="T9" fmla="*/ 2147483647 h 4201"/>
              <a:gd name="T10" fmla="*/ 2147483647 w 9120"/>
              <a:gd name="T11" fmla="*/ 0 h 420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9120" h="4201">
                <a:moveTo>
                  <a:pt x="0" y="2821"/>
                </a:moveTo>
                <a:lnTo>
                  <a:pt x="0" y="4201"/>
                </a:lnTo>
                <a:lnTo>
                  <a:pt x="4890" y="4201"/>
                </a:lnTo>
                <a:lnTo>
                  <a:pt x="8055" y="1051"/>
                </a:lnTo>
                <a:lnTo>
                  <a:pt x="9120" y="1080"/>
                </a:lnTo>
                <a:lnTo>
                  <a:pt x="9105" y="0"/>
                </a:lnTo>
              </a:path>
            </a:pathLst>
          </a:custGeom>
          <a:noFill/>
          <a:ln w="38100" cmpd="sng">
            <a:solidFill>
              <a:srgbClr val="00B05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607" name="Group 314">
            <a:extLst>
              <a:ext uri="{FF2B5EF4-FFF2-40B4-BE49-F238E27FC236}">
                <a16:creationId xmlns:a16="http://schemas.microsoft.com/office/drawing/2014/main" id="{7CED4D5D-1774-B94F-AB74-7B6F1F74FA06}"/>
              </a:ext>
            </a:extLst>
          </p:cNvPr>
          <p:cNvGrpSpPr>
            <a:grpSpLocks/>
          </p:cNvGrpSpPr>
          <p:nvPr/>
        </p:nvGrpSpPr>
        <p:grpSpPr bwMode="auto">
          <a:xfrm>
            <a:off x="4617425" y="3002858"/>
            <a:ext cx="40347" cy="129014"/>
            <a:chOff x="10104" y="10005"/>
            <a:chExt cx="137" cy="411"/>
          </a:xfrm>
        </p:grpSpPr>
        <p:sp>
          <p:nvSpPr>
            <p:cNvPr id="608" name="Oval 315">
              <a:extLst>
                <a:ext uri="{FF2B5EF4-FFF2-40B4-BE49-F238E27FC236}">
                  <a16:creationId xmlns:a16="http://schemas.microsoft.com/office/drawing/2014/main" id="{695435D0-43FA-5946-96EF-D369E25A8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609" name="Oval 316">
              <a:extLst>
                <a:ext uri="{FF2B5EF4-FFF2-40B4-BE49-F238E27FC236}">
                  <a16:creationId xmlns:a16="http://schemas.microsoft.com/office/drawing/2014/main" id="{85BDA995-131F-0641-914D-C85C2FA16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610" name="Group 317">
            <a:extLst>
              <a:ext uri="{FF2B5EF4-FFF2-40B4-BE49-F238E27FC236}">
                <a16:creationId xmlns:a16="http://schemas.microsoft.com/office/drawing/2014/main" id="{0FFCB242-31DD-7443-A923-107E105D8A00}"/>
              </a:ext>
            </a:extLst>
          </p:cNvPr>
          <p:cNvGrpSpPr>
            <a:grpSpLocks/>
          </p:cNvGrpSpPr>
          <p:nvPr/>
        </p:nvGrpSpPr>
        <p:grpSpPr bwMode="auto">
          <a:xfrm>
            <a:off x="7041497" y="3114477"/>
            <a:ext cx="40347" cy="130465"/>
            <a:chOff x="10104" y="10005"/>
            <a:chExt cx="137" cy="411"/>
          </a:xfrm>
        </p:grpSpPr>
        <p:sp>
          <p:nvSpPr>
            <p:cNvPr id="611" name="Oval 318">
              <a:extLst>
                <a:ext uri="{FF2B5EF4-FFF2-40B4-BE49-F238E27FC236}">
                  <a16:creationId xmlns:a16="http://schemas.microsoft.com/office/drawing/2014/main" id="{F25BDD80-1612-BD46-B423-42AE33DB4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612" name="Oval 319">
              <a:extLst>
                <a:ext uri="{FF2B5EF4-FFF2-40B4-BE49-F238E27FC236}">
                  <a16:creationId xmlns:a16="http://schemas.microsoft.com/office/drawing/2014/main" id="{0B1DEF04-FA4A-924B-9F2F-610BC29F3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613" name="Group 320">
            <a:extLst>
              <a:ext uri="{FF2B5EF4-FFF2-40B4-BE49-F238E27FC236}">
                <a16:creationId xmlns:a16="http://schemas.microsoft.com/office/drawing/2014/main" id="{0B529F14-3F08-E440-B6EC-F5B67289F089}"/>
              </a:ext>
            </a:extLst>
          </p:cNvPr>
          <p:cNvGrpSpPr>
            <a:grpSpLocks/>
          </p:cNvGrpSpPr>
          <p:nvPr/>
        </p:nvGrpSpPr>
        <p:grpSpPr bwMode="auto">
          <a:xfrm>
            <a:off x="7240006" y="2134542"/>
            <a:ext cx="40348" cy="130465"/>
            <a:chOff x="10104" y="10005"/>
            <a:chExt cx="137" cy="411"/>
          </a:xfrm>
        </p:grpSpPr>
        <p:sp>
          <p:nvSpPr>
            <p:cNvPr id="614" name="Oval 321">
              <a:extLst>
                <a:ext uri="{FF2B5EF4-FFF2-40B4-BE49-F238E27FC236}">
                  <a16:creationId xmlns:a16="http://schemas.microsoft.com/office/drawing/2014/main" id="{6437B6FC-D8DB-9746-A099-12114F7BD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615" name="Oval 322">
              <a:extLst>
                <a:ext uri="{FF2B5EF4-FFF2-40B4-BE49-F238E27FC236}">
                  <a16:creationId xmlns:a16="http://schemas.microsoft.com/office/drawing/2014/main" id="{0FDD47FB-2A41-0B4E-85FF-3CBB4DBDB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CBFFE77-548F-9846-9A06-08C1230178E0}"/>
              </a:ext>
            </a:extLst>
          </p:cNvPr>
          <p:cNvGrpSpPr/>
          <p:nvPr/>
        </p:nvGrpSpPr>
        <p:grpSpPr>
          <a:xfrm>
            <a:off x="1106611" y="1925242"/>
            <a:ext cx="2359299" cy="1808797"/>
            <a:chOff x="1475482" y="1423988"/>
            <a:chExt cx="3145731" cy="2411730"/>
          </a:xfrm>
        </p:grpSpPr>
        <p:sp>
          <p:nvSpPr>
            <p:cNvPr id="616" name="Line 330">
              <a:extLst>
                <a:ext uri="{FF2B5EF4-FFF2-40B4-BE49-F238E27FC236}">
                  <a16:creationId xmlns:a16="http://schemas.microsoft.com/office/drawing/2014/main" id="{9BFD01DA-5202-CF44-9ED5-2B470718DB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3125" y="1520825"/>
              <a:ext cx="0" cy="18605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617" name="Line 331">
              <a:extLst>
                <a:ext uri="{FF2B5EF4-FFF2-40B4-BE49-F238E27FC236}">
                  <a16:creationId xmlns:a16="http://schemas.microsoft.com/office/drawing/2014/main" id="{ACC222AF-8E70-314C-9EA2-B9677C72D9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27250" y="3373438"/>
              <a:ext cx="2333625" cy="4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618" name="Freeform 333">
              <a:extLst>
                <a:ext uri="{FF2B5EF4-FFF2-40B4-BE49-F238E27FC236}">
                  <a16:creationId xmlns:a16="http://schemas.microsoft.com/office/drawing/2014/main" id="{6D089360-38AC-4243-B6DB-EF4A57135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2013" y="2607303"/>
              <a:ext cx="2489200" cy="759348"/>
            </a:xfrm>
            <a:custGeom>
              <a:avLst/>
              <a:gdLst>
                <a:gd name="T0" fmla="*/ 0 w 1568"/>
                <a:gd name="T1" fmla="*/ 2147483647 h 380"/>
                <a:gd name="T2" fmla="*/ 2147483647 w 1568"/>
                <a:gd name="T3" fmla="*/ 2147483647 h 380"/>
                <a:gd name="T4" fmla="*/ 2147483647 w 1568"/>
                <a:gd name="T5" fmla="*/ 2147483647 h 380"/>
                <a:gd name="T6" fmla="*/ 2147483647 w 1568"/>
                <a:gd name="T7" fmla="*/ 2147483647 h 380"/>
                <a:gd name="T8" fmla="*/ 0 60000 65536"/>
                <a:gd name="T9" fmla="*/ 0 60000 65536"/>
                <a:gd name="T10" fmla="*/ 0 60000 65536"/>
                <a:gd name="T11" fmla="*/ 0 60000 65536"/>
                <a:gd name="connsiteX0" fmla="*/ 0 w 10000"/>
                <a:gd name="connsiteY0" fmla="*/ 9512 h 9512"/>
                <a:gd name="connsiteX1" fmla="*/ 4152 w 10000"/>
                <a:gd name="connsiteY1" fmla="*/ 12 h 9512"/>
                <a:gd name="connsiteX2" fmla="*/ 5829 w 10000"/>
                <a:gd name="connsiteY2" fmla="*/ 8065 h 9512"/>
                <a:gd name="connsiteX3" fmla="*/ 10000 w 10000"/>
                <a:gd name="connsiteY3" fmla="*/ 8802 h 9512"/>
                <a:gd name="connsiteX0" fmla="*/ 0 w 10000"/>
                <a:gd name="connsiteY0" fmla="*/ 10000 h 10000"/>
                <a:gd name="connsiteX1" fmla="*/ 4152 w 10000"/>
                <a:gd name="connsiteY1" fmla="*/ 13 h 10000"/>
                <a:gd name="connsiteX2" fmla="*/ 5829 w 10000"/>
                <a:gd name="connsiteY2" fmla="*/ 8479 h 10000"/>
                <a:gd name="connsiteX3" fmla="*/ 10000 w 10000"/>
                <a:gd name="connsiteY3" fmla="*/ 9662 h 10000"/>
                <a:gd name="connsiteX0" fmla="*/ 0 w 10000"/>
                <a:gd name="connsiteY0" fmla="*/ 10000 h 10000"/>
                <a:gd name="connsiteX1" fmla="*/ 4152 w 10000"/>
                <a:gd name="connsiteY1" fmla="*/ 13 h 10000"/>
                <a:gd name="connsiteX2" fmla="*/ 5829 w 10000"/>
                <a:gd name="connsiteY2" fmla="*/ 8479 h 10000"/>
                <a:gd name="connsiteX3" fmla="*/ 10000 w 10000"/>
                <a:gd name="connsiteY3" fmla="*/ 9662 h 10000"/>
                <a:gd name="connsiteX0" fmla="*/ 0 w 10000"/>
                <a:gd name="connsiteY0" fmla="*/ 10000 h 10158"/>
                <a:gd name="connsiteX1" fmla="*/ 4152 w 10000"/>
                <a:gd name="connsiteY1" fmla="*/ 13 h 10158"/>
                <a:gd name="connsiteX2" fmla="*/ 5829 w 10000"/>
                <a:gd name="connsiteY2" fmla="*/ 8479 h 10158"/>
                <a:gd name="connsiteX3" fmla="*/ 10000 w 10000"/>
                <a:gd name="connsiteY3" fmla="*/ 9968 h 10158"/>
                <a:gd name="connsiteX0" fmla="*/ 0 w 10000"/>
                <a:gd name="connsiteY0" fmla="*/ 10000 h 10000"/>
                <a:gd name="connsiteX1" fmla="*/ 4152 w 10000"/>
                <a:gd name="connsiteY1" fmla="*/ 13 h 10000"/>
                <a:gd name="connsiteX2" fmla="*/ 5829 w 10000"/>
                <a:gd name="connsiteY2" fmla="*/ 8479 h 10000"/>
                <a:gd name="connsiteX3" fmla="*/ 10000 w 10000"/>
                <a:gd name="connsiteY3" fmla="*/ 9968 h 10000"/>
                <a:gd name="connsiteX0" fmla="*/ 0 w 10000"/>
                <a:gd name="connsiteY0" fmla="*/ 9898 h 9898"/>
                <a:gd name="connsiteX1" fmla="*/ 5094 w 10000"/>
                <a:gd name="connsiteY1" fmla="*/ 13 h 9898"/>
                <a:gd name="connsiteX2" fmla="*/ 5829 w 10000"/>
                <a:gd name="connsiteY2" fmla="*/ 8377 h 9898"/>
                <a:gd name="connsiteX3" fmla="*/ 10000 w 10000"/>
                <a:gd name="connsiteY3" fmla="*/ 9866 h 9898"/>
                <a:gd name="connsiteX0" fmla="*/ 0 w 10000"/>
                <a:gd name="connsiteY0" fmla="*/ 9991 h 10073"/>
                <a:gd name="connsiteX1" fmla="*/ 5094 w 10000"/>
                <a:gd name="connsiteY1" fmla="*/ 4 h 10073"/>
                <a:gd name="connsiteX2" fmla="*/ 6347 w 10000"/>
                <a:gd name="connsiteY2" fmla="*/ 8866 h 10073"/>
                <a:gd name="connsiteX3" fmla="*/ 10000 w 10000"/>
                <a:gd name="connsiteY3" fmla="*/ 9959 h 10073"/>
                <a:gd name="connsiteX0" fmla="*/ 0 w 10000"/>
                <a:gd name="connsiteY0" fmla="*/ 9992 h 10012"/>
                <a:gd name="connsiteX1" fmla="*/ 5094 w 10000"/>
                <a:gd name="connsiteY1" fmla="*/ 5 h 10012"/>
                <a:gd name="connsiteX2" fmla="*/ 6331 w 10000"/>
                <a:gd name="connsiteY2" fmla="*/ 8661 h 10012"/>
                <a:gd name="connsiteX3" fmla="*/ 10000 w 10000"/>
                <a:gd name="connsiteY3" fmla="*/ 9960 h 10012"/>
                <a:gd name="connsiteX0" fmla="*/ 0 w 10000"/>
                <a:gd name="connsiteY0" fmla="*/ 9992 h 10001"/>
                <a:gd name="connsiteX1" fmla="*/ 5094 w 10000"/>
                <a:gd name="connsiteY1" fmla="*/ 5 h 10001"/>
                <a:gd name="connsiteX2" fmla="*/ 6661 w 10000"/>
                <a:gd name="connsiteY2" fmla="*/ 8610 h 10001"/>
                <a:gd name="connsiteX3" fmla="*/ 10000 w 10000"/>
                <a:gd name="connsiteY3" fmla="*/ 9960 h 1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1">
                  <a:moveTo>
                    <a:pt x="0" y="9992"/>
                  </a:moveTo>
                  <a:cubicBezTo>
                    <a:pt x="695" y="8315"/>
                    <a:pt x="3984" y="235"/>
                    <a:pt x="5094" y="5"/>
                  </a:cubicBezTo>
                  <a:cubicBezTo>
                    <a:pt x="6204" y="-225"/>
                    <a:pt x="5488" y="6933"/>
                    <a:pt x="6661" y="8610"/>
                  </a:cubicBezTo>
                  <a:cubicBezTo>
                    <a:pt x="7835" y="10287"/>
                    <a:pt x="8882" y="9997"/>
                    <a:pt x="10000" y="996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19" name="Line 334">
              <a:extLst>
                <a:ext uri="{FF2B5EF4-FFF2-40B4-BE49-F238E27FC236}">
                  <a16:creationId xmlns:a16="http://schemas.microsoft.com/office/drawing/2014/main" id="{AF5D54D6-CC93-6E42-8712-1BDF48F23C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1363" y="1673225"/>
              <a:ext cx="1254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620" name="Line 335">
              <a:extLst>
                <a:ext uri="{FF2B5EF4-FFF2-40B4-BE49-F238E27FC236}">
                  <a16:creationId xmlns:a16="http://schemas.microsoft.com/office/drawing/2014/main" id="{5F83D767-834B-CD45-B9C0-86188156B3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4938" y="3381375"/>
              <a:ext cx="0" cy="1349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621" name="Text Box 336">
              <a:extLst>
                <a:ext uri="{FF2B5EF4-FFF2-40B4-BE49-F238E27FC236}">
                  <a16:creationId xmlns:a16="http://schemas.microsoft.com/office/drawing/2014/main" id="{4D3494C0-DD1C-794E-97BA-6E4472E2FD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5482" y="1423988"/>
              <a:ext cx="524075" cy="3385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50" kern="0" dirty="0">
                  <a:solidFill>
                    <a:srgbClr val="000000"/>
                  </a:solidFill>
                </a:rPr>
                <a:t>R/2</a:t>
              </a:r>
            </a:p>
          </p:txBody>
        </p:sp>
        <p:sp>
          <p:nvSpPr>
            <p:cNvPr id="622" name="Text Box 337">
              <a:extLst>
                <a:ext uri="{FF2B5EF4-FFF2-40B4-BE49-F238E27FC236}">
                  <a16:creationId xmlns:a16="http://schemas.microsoft.com/office/drawing/2014/main" id="{CE6E8577-4BD8-EE4D-8020-05E336E07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2269" y="3433763"/>
              <a:ext cx="524075" cy="3385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50" kern="0" dirty="0">
                  <a:solidFill>
                    <a:srgbClr val="000000"/>
                  </a:solidFill>
                </a:rPr>
                <a:t>R/2</a:t>
              </a:r>
            </a:p>
          </p:txBody>
        </p:sp>
        <p:sp>
          <p:nvSpPr>
            <p:cNvPr id="623" name="Text Box 338">
              <a:extLst>
                <a:ext uri="{FF2B5EF4-FFF2-40B4-BE49-F238E27FC236}">
                  <a16:creationId xmlns:a16="http://schemas.microsoft.com/office/drawing/2014/main" id="{05367630-23E9-2744-A1A7-0C85EC93D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416844" y="2334262"/>
              <a:ext cx="808038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800" dirty="0">
                  <a:solidFill>
                    <a:srgbClr val="000000"/>
                  </a:solidFill>
                  <a:latin typeface="Symbol" charset="0"/>
                </a:rPr>
                <a:t>l</a:t>
              </a:r>
              <a:r>
                <a:rPr lang="en-US" sz="1800" baseline="-25000" dirty="0">
                  <a:solidFill>
                    <a:srgbClr val="000000"/>
                  </a:solidFill>
                  <a:latin typeface="Arial" charset="0"/>
                </a:rPr>
                <a:t>out</a:t>
              </a:r>
            </a:p>
          </p:txBody>
        </p:sp>
        <p:sp>
          <p:nvSpPr>
            <p:cNvPr id="624" name="Text Box 339">
              <a:extLst>
                <a:ext uri="{FF2B5EF4-FFF2-40B4-BE49-F238E27FC236}">
                  <a16:creationId xmlns:a16="http://schemas.microsoft.com/office/drawing/2014/main" id="{5131AB9A-BD62-7E48-B700-9F673321A2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6223" y="3343275"/>
              <a:ext cx="624530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dirty="0">
                  <a:solidFill>
                    <a:srgbClr val="000000"/>
                  </a:solidFill>
                  <a:latin typeface="Symbol" pitchFamily="2" charset="2"/>
                </a:rPr>
                <a:t>l</a:t>
              </a:r>
              <a:r>
                <a:rPr lang="en-US" altLang="en-US" sz="18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in</a:t>
              </a:r>
              <a:r>
                <a:rPr lang="en-US" altLang="ja-JP" sz="1800" baseline="30000" dirty="0">
                  <a:solidFill>
                    <a:srgbClr val="000000"/>
                  </a:solidFill>
                  <a:latin typeface="Calibri" panose="020F0502020204030204"/>
                </a:rPr>
                <a:t>’</a:t>
              </a:r>
              <a:endParaRPr lang="en-US" altLang="en-US" sz="1800" baseline="30000" dirty="0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2205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Causes/costs of congestion: insights</a:t>
            </a:r>
            <a:endParaRPr lang="en-US" b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6A93C-2EE6-9917-2C1E-9421D8582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Slide Number Placeholder 2">
            <a:extLst>
              <a:ext uri="{FF2B5EF4-FFF2-40B4-BE49-F238E27FC236}">
                <a16:creationId xmlns:a16="http://schemas.microsoft.com/office/drawing/2014/main" id="{BBFEA973-F377-3247-B95A-5759C5BD8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Transport Layer: 3-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13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64ABAFB-5459-F446-A0AC-48FC5C1C05E1}"/>
              </a:ext>
            </a:extLst>
          </p:cNvPr>
          <p:cNvGrpSpPr/>
          <p:nvPr/>
        </p:nvGrpSpPr>
        <p:grpSpPr>
          <a:xfrm>
            <a:off x="790575" y="4746522"/>
            <a:ext cx="6315076" cy="1002276"/>
            <a:chOff x="1054099" y="4728508"/>
            <a:chExt cx="8420101" cy="1336368"/>
          </a:xfrm>
        </p:grpSpPr>
        <p:sp>
          <p:nvSpPr>
            <p:cNvPr id="470" name="Rectangle 3">
              <a:extLst>
                <a:ext uri="{FF2B5EF4-FFF2-40B4-BE49-F238E27FC236}">
                  <a16:creationId xmlns:a16="http://schemas.microsoft.com/office/drawing/2014/main" id="{B3E01DA9-25FD-B546-AB8A-84DD03754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6500" y="5114925"/>
              <a:ext cx="8267700" cy="409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32" name="Rectangle 4">
              <a:extLst>
                <a:ext uri="{FF2B5EF4-FFF2-40B4-BE49-F238E27FC236}">
                  <a16:creationId xmlns:a16="http://schemas.microsoft.com/office/drawing/2014/main" id="{E62417CD-29D3-4540-95AB-DBD339E4A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099" y="4926013"/>
              <a:ext cx="6735751" cy="808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/>
              </a:pPr>
              <a:r>
                <a:rPr lang="en-US" altLang="ja-JP" sz="2100" dirty="0">
                  <a:solidFill>
                    <a:srgbClr val="000000"/>
                  </a:solidFill>
                  <a:latin typeface="Calibri" panose="020F0502020204030204"/>
                </a:rPr>
                <a:t>upstream transmission capacity / buffering wasted for packets lost downstream</a:t>
              </a:r>
              <a:endParaRPr lang="en-US" altLang="en-US" sz="2100" dirty="0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97D00A8-A6C2-354A-9DB9-EE706DA9D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34126" y="4728508"/>
              <a:ext cx="1657096" cy="1336368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E4D1E4-3EEB-4E4B-8616-C6D7345EBEEE}"/>
              </a:ext>
            </a:extLst>
          </p:cNvPr>
          <p:cNvGrpSpPr/>
          <p:nvPr/>
        </p:nvGrpSpPr>
        <p:grpSpPr>
          <a:xfrm>
            <a:off x="771525" y="2396268"/>
            <a:ext cx="7560551" cy="1001092"/>
            <a:chOff x="1028700" y="1860299"/>
            <a:chExt cx="10080734" cy="1334789"/>
          </a:xfrm>
        </p:grpSpPr>
        <p:sp>
          <p:nvSpPr>
            <p:cNvPr id="129" name="Rectangle 4">
              <a:extLst>
                <a:ext uri="{FF2B5EF4-FFF2-40B4-BE49-F238E27FC236}">
                  <a16:creationId xmlns:a16="http://schemas.microsoft.com/office/drawing/2014/main" id="{C8DF44BF-39DD-7A44-89E8-80E5392BB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8700" y="2139156"/>
              <a:ext cx="10080734" cy="471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/>
              </a:pPr>
              <a:r>
                <a:rPr lang="en-US" altLang="en-US" sz="2100" dirty="0">
                  <a:solidFill>
                    <a:srgbClr val="000000"/>
                  </a:solidFill>
                  <a:latin typeface="Calibri" panose="020F0502020204030204"/>
                </a:rPr>
                <a:t>delay increases as capacity approached 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3BC8354-A522-CA41-8AD1-6483FE2E7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1601" y="1860299"/>
              <a:ext cx="1402990" cy="1334789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3D27AAF-A2F5-E143-ACD8-97D841F75BBA}"/>
              </a:ext>
            </a:extLst>
          </p:cNvPr>
          <p:cNvGrpSpPr/>
          <p:nvPr/>
        </p:nvGrpSpPr>
        <p:grpSpPr>
          <a:xfrm>
            <a:off x="781050" y="3983053"/>
            <a:ext cx="7464103" cy="1097281"/>
            <a:chOff x="1041400" y="4167737"/>
            <a:chExt cx="9952137" cy="1463041"/>
          </a:xfrm>
        </p:grpSpPr>
        <p:sp>
          <p:nvSpPr>
            <p:cNvPr id="131" name="Rectangle 4">
              <a:extLst>
                <a:ext uri="{FF2B5EF4-FFF2-40B4-BE49-F238E27FC236}">
                  <a16:creationId xmlns:a16="http://schemas.microsoft.com/office/drawing/2014/main" id="{E69E1480-29A3-FC40-B2EA-9D31AA40C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400" y="4352873"/>
              <a:ext cx="6769100" cy="762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/>
              </a:pPr>
              <a:r>
                <a:rPr lang="en-US" altLang="en-US" sz="2100" dirty="0">
                  <a:solidFill>
                    <a:srgbClr val="000000"/>
                  </a:solidFill>
                  <a:latin typeface="Calibri" panose="020F0502020204030204"/>
                </a:rPr>
                <a:t>un-needed duplicates further decreases effective throughput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C8C9A99-D0A4-9E4A-AD6A-0403159B3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64995" y="4167737"/>
              <a:ext cx="1628542" cy="1463041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5331F8E-78B4-5E4D-9E14-918B774CF79B}"/>
              </a:ext>
            </a:extLst>
          </p:cNvPr>
          <p:cNvGrpSpPr/>
          <p:nvPr/>
        </p:nvGrpSpPr>
        <p:grpSpPr>
          <a:xfrm>
            <a:off x="781050" y="3095123"/>
            <a:ext cx="6225840" cy="1085650"/>
            <a:chOff x="1041400" y="2983830"/>
            <a:chExt cx="8301120" cy="1447533"/>
          </a:xfrm>
        </p:grpSpPr>
        <p:sp>
          <p:nvSpPr>
            <p:cNvPr id="130" name="Rectangle 4">
              <a:extLst>
                <a:ext uri="{FF2B5EF4-FFF2-40B4-BE49-F238E27FC236}">
                  <a16:creationId xmlns:a16="http://schemas.microsoft.com/office/drawing/2014/main" id="{E0B74A1B-74C4-184F-94CC-A99D0D2E3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400" y="3256108"/>
              <a:ext cx="6332794" cy="4272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/>
              </a:pPr>
              <a:r>
                <a:rPr lang="en-US" altLang="en-US" sz="2100" dirty="0">
                  <a:solidFill>
                    <a:srgbClr val="000000"/>
                  </a:solidFill>
                  <a:latin typeface="Calibri" panose="020F0502020204030204"/>
                </a:rPr>
                <a:t>loss/retransmission decreases effective throughput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0F0FCDE-CAF5-4C40-A5A2-D21059E4F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23915" y="2983830"/>
              <a:ext cx="1618605" cy="1447533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F7EFD51-4F3D-7A4D-8E82-A230AAE12880}"/>
              </a:ext>
            </a:extLst>
          </p:cNvPr>
          <p:cNvGrpSpPr/>
          <p:nvPr/>
        </p:nvGrpSpPr>
        <p:grpSpPr>
          <a:xfrm>
            <a:off x="781051" y="1749836"/>
            <a:ext cx="6158111" cy="997862"/>
            <a:chOff x="1041400" y="1190115"/>
            <a:chExt cx="8210815" cy="1330482"/>
          </a:xfrm>
        </p:grpSpPr>
        <p:sp>
          <p:nvSpPr>
            <p:cNvPr id="471" name="Rectangle 4">
              <a:extLst>
                <a:ext uri="{FF2B5EF4-FFF2-40B4-BE49-F238E27FC236}">
                  <a16:creationId xmlns:a16="http://schemas.microsoft.com/office/drawing/2014/main" id="{50204642-54CB-0C46-8699-863901641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400" y="1395413"/>
              <a:ext cx="6538912" cy="471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/>
              </a:pPr>
              <a:r>
                <a:rPr lang="en-US" altLang="en-US" sz="2100" dirty="0">
                  <a:solidFill>
                    <a:srgbClr val="000000"/>
                  </a:solidFill>
                  <a:latin typeface="Calibri" panose="020F0502020204030204"/>
                </a:rPr>
                <a:t>throughput can never exceed capacity 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7DCF390-386B-AE45-BE92-F53BE11B8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29084" y="1190115"/>
              <a:ext cx="1523131" cy="13304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0374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roup 176">
            <a:extLst>
              <a:ext uri="{FF2B5EF4-FFF2-40B4-BE49-F238E27FC236}">
                <a16:creationId xmlns:a16="http://schemas.microsoft.com/office/drawing/2014/main" id="{06DD7C50-58C4-B34F-A819-0EADD89C2A37}"/>
              </a:ext>
            </a:extLst>
          </p:cNvPr>
          <p:cNvGrpSpPr/>
          <p:nvPr/>
        </p:nvGrpSpPr>
        <p:grpSpPr>
          <a:xfrm>
            <a:off x="7857686" y="2633741"/>
            <a:ext cx="538401" cy="865856"/>
            <a:chOff x="7664720" y="2795550"/>
            <a:chExt cx="717868" cy="1154474"/>
          </a:xfrm>
        </p:grpSpPr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F52B9B30-D973-4342-9353-3C55976BEB6A}"/>
                </a:ext>
              </a:extLst>
            </p:cNvPr>
            <p:cNvSpPr/>
            <p:nvPr/>
          </p:nvSpPr>
          <p:spPr>
            <a:xfrm>
              <a:off x="7671781" y="2795550"/>
              <a:ext cx="702570" cy="11544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rgbClr val="0000A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224EADA8-9231-C54D-B660-93136571FE39}"/>
                </a:ext>
              </a:extLst>
            </p:cNvPr>
            <p:cNvCxnSpPr/>
            <p:nvPr/>
          </p:nvCxnSpPr>
          <p:spPr>
            <a:xfrm>
              <a:off x="7664720" y="3029172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EB564AD7-6052-D74E-AFB8-443721B0BA8F}"/>
                </a:ext>
              </a:extLst>
            </p:cNvPr>
            <p:cNvCxnSpPr/>
            <p:nvPr/>
          </p:nvCxnSpPr>
          <p:spPr>
            <a:xfrm>
              <a:off x="7668839" y="3266304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BC030439-89A7-D141-93A0-55E98A03659C}"/>
                </a:ext>
              </a:extLst>
            </p:cNvPr>
            <p:cNvCxnSpPr/>
            <p:nvPr/>
          </p:nvCxnSpPr>
          <p:spPr>
            <a:xfrm>
              <a:off x="7680018" y="3499906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A29CBFF5-3970-894F-B8C7-846B6CF65EF2}"/>
                </a:ext>
              </a:extLst>
            </p:cNvPr>
            <p:cNvCxnSpPr/>
            <p:nvPr/>
          </p:nvCxnSpPr>
          <p:spPr>
            <a:xfrm>
              <a:off x="7670015" y="3726448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Freeform 270">
            <a:extLst>
              <a:ext uri="{FF2B5EF4-FFF2-40B4-BE49-F238E27FC236}">
                <a16:creationId xmlns:a16="http://schemas.microsoft.com/office/drawing/2014/main" id="{CE7C7371-97B5-C346-A95F-94B2CF95CEF8}"/>
              </a:ext>
            </a:extLst>
          </p:cNvPr>
          <p:cNvSpPr>
            <a:spLocks/>
          </p:cNvSpPr>
          <p:nvPr/>
        </p:nvSpPr>
        <p:spPr bwMode="auto">
          <a:xfrm flipH="1">
            <a:off x="5107550" y="2586037"/>
            <a:ext cx="188119" cy="901304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34" name="Group 354">
            <a:extLst>
              <a:ext uri="{FF2B5EF4-FFF2-40B4-BE49-F238E27FC236}">
                <a16:creationId xmlns:a16="http://schemas.microsoft.com/office/drawing/2014/main" id="{1BCC2894-BF9B-8F46-AA42-B55DC303E1A8}"/>
              </a:ext>
            </a:extLst>
          </p:cNvPr>
          <p:cNvGrpSpPr>
            <a:grpSpLocks/>
          </p:cNvGrpSpPr>
          <p:nvPr/>
        </p:nvGrpSpPr>
        <p:grpSpPr bwMode="auto">
          <a:xfrm>
            <a:off x="4803940" y="3289698"/>
            <a:ext cx="394097" cy="326231"/>
            <a:chOff x="-44" y="1473"/>
            <a:chExt cx="981" cy="1105"/>
          </a:xfrm>
        </p:grpSpPr>
        <p:pic>
          <p:nvPicPr>
            <p:cNvPr id="135" name="Picture 355" descr="desktop_computer_stylized_medium">
              <a:extLst>
                <a:ext uri="{FF2B5EF4-FFF2-40B4-BE49-F238E27FC236}">
                  <a16:creationId xmlns:a16="http://schemas.microsoft.com/office/drawing/2014/main" id="{3E99589F-1E40-7C43-B8AA-5029A4A26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6" name="Freeform 356">
              <a:extLst>
                <a:ext uri="{FF2B5EF4-FFF2-40B4-BE49-F238E27FC236}">
                  <a16:creationId xmlns:a16="http://schemas.microsoft.com/office/drawing/2014/main" id="{B3DD6BB4-576F-9148-8D11-578565B5887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147F56F3-1CFD-5745-9F94-FFAF782BC64A}"/>
              </a:ext>
            </a:extLst>
          </p:cNvPr>
          <p:cNvGrpSpPr/>
          <p:nvPr/>
        </p:nvGrpSpPr>
        <p:grpSpPr>
          <a:xfrm>
            <a:off x="5283965" y="2628808"/>
            <a:ext cx="538401" cy="865856"/>
            <a:chOff x="7664720" y="2799688"/>
            <a:chExt cx="717868" cy="1154474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12A18A2C-071A-724E-ABAB-EE121ADBCB05}"/>
                </a:ext>
              </a:extLst>
            </p:cNvPr>
            <p:cNvSpPr/>
            <p:nvPr/>
          </p:nvSpPr>
          <p:spPr>
            <a:xfrm>
              <a:off x="7671781" y="2799688"/>
              <a:ext cx="702570" cy="11544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rgbClr val="0000A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A246001-6FA7-F047-AECA-800C5A5F30CD}"/>
                </a:ext>
              </a:extLst>
            </p:cNvPr>
            <p:cNvCxnSpPr/>
            <p:nvPr/>
          </p:nvCxnSpPr>
          <p:spPr>
            <a:xfrm>
              <a:off x="7664720" y="3029172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407FE2E-B4F8-E142-9856-65C553F4A8EF}"/>
                </a:ext>
              </a:extLst>
            </p:cNvPr>
            <p:cNvCxnSpPr/>
            <p:nvPr/>
          </p:nvCxnSpPr>
          <p:spPr>
            <a:xfrm>
              <a:off x="7668839" y="3266304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0F241007-617C-9B47-BDCF-F85615C450A7}"/>
                </a:ext>
              </a:extLst>
            </p:cNvPr>
            <p:cNvCxnSpPr/>
            <p:nvPr/>
          </p:nvCxnSpPr>
          <p:spPr>
            <a:xfrm>
              <a:off x="7680018" y="3499906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2AB2A72B-F1C5-4049-8439-AABBF750CD86}"/>
                </a:ext>
              </a:extLst>
            </p:cNvPr>
            <p:cNvCxnSpPr/>
            <p:nvPr/>
          </p:nvCxnSpPr>
          <p:spPr>
            <a:xfrm>
              <a:off x="7670015" y="3726448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284" name="Rectangle 2">
            <a:extLst>
              <a:ext uri="{FF2B5EF4-FFF2-40B4-BE49-F238E27FC236}">
                <a16:creationId xmlns:a16="http://schemas.microsoft.com/office/drawing/2014/main" id="{15E2A5A3-138A-0644-B40C-0B75A1130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dirty="0"/>
              <a:t>Approaches towards congestion control</a:t>
            </a:r>
            <a:endParaRPr lang="en-US" sz="4050" dirty="0"/>
          </a:p>
        </p:txBody>
      </p:sp>
      <p:sp>
        <p:nvSpPr>
          <p:cNvPr id="97289" name="Rectangle 3">
            <a:extLst>
              <a:ext uri="{FF2B5EF4-FFF2-40B4-BE49-F238E27FC236}">
                <a16:creationId xmlns:a16="http://schemas.microsoft.com/office/drawing/2014/main" id="{D469BBE5-2D5E-1245-BE57-AED04CA89E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498603"/>
            <a:ext cx="4031756" cy="2336636"/>
          </a:xfrm>
        </p:spPr>
        <p:txBody>
          <a:bodyPr>
            <a:normAutofit/>
          </a:bodyPr>
          <a:lstStyle/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C00000"/>
                </a:solidFill>
              </a:rPr>
              <a:t>End-end congestion control:</a:t>
            </a:r>
          </a:p>
          <a:p>
            <a:pPr marL="350044" indent="-252413">
              <a:defRPr/>
            </a:pPr>
            <a:r>
              <a:rPr lang="en-US" sz="2400" dirty="0"/>
              <a:t>no explicit feedback from network</a:t>
            </a:r>
          </a:p>
          <a:p>
            <a:pPr marL="350044" indent="-252413">
              <a:defRPr/>
            </a:pPr>
            <a:r>
              <a:rPr lang="en-US" sz="2400" dirty="0"/>
              <a:t>congestion </a:t>
            </a:r>
            <a:r>
              <a:rPr lang="en-US" sz="2400" i="1" dirty="0">
                <a:solidFill>
                  <a:srgbClr val="C00000"/>
                </a:solidFill>
              </a:rPr>
              <a:t>inferred</a:t>
            </a:r>
            <a:r>
              <a:rPr lang="en-US" sz="2400" dirty="0"/>
              <a:t> from observed loss, delay</a:t>
            </a:r>
          </a:p>
        </p:txBody>
      </p:sp>
      <p:sp>
        <p:nvSpPr>
          <p:cNvPr id="133" name="Slide Number Placeholder 2">
            <a:extLst>
              <a:ext uri="{FF2B5EF4-FFF2-40B4-BE49-F238E27FC236}">
                <a16:creationId xmlns:a16="http://schemas.microsoft.com/office/drawing/2014/main" id="{80FEFCD4-E64A-AA4F-ACAB-74CB4ECDD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Transport Layer: 3-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14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15" name="Freeform 2">
            <a:extLst>
              <a:ext uri="{FF2B5EF4-FFF2-40B4-BE49-F238E27FC236}">
                <a16:creationId xmlns:a16="http://schemas.microsoft.com/office/drawing/2014/main" id="{152A9AF6-236E-E947-A90D-95476DF178A8}"/>
              </a:ext>
            </a:extLst>
          </p:cNvPr>
          <p:cNvSpPr>
            <a:spLocks/>
          </p:cNvSpPr>
          <p:nvPr/>
        </p:nvSpPr>
        <p:spPr bwMode="auto">
          <a:xfrm>
            <a:off x="5756939" y="3451549"/>
            <a:ext cx="2136653" cy="1110680"/>
          </a:xfrm>
          <a:custGeom>
            <a:avLst/>
            <a:gdLst>
              <a:gd name="T0" fmla="*/ 2147483647 w 1794"/>
              <a:gd name="T1" fmla="*/ 2147483647 h 933"/>
              <a:gd name="T2" fmla="*/ 2147483647 w 1794"/>
              <a:gd name="T3" fmla="*/ 2147483647 h 933"/>
              <a:gd name="T4" fmla="*/ 2147483647 w 1794"/>
              <a:gd name="T5" fmla="*/ 2147483647 h 933"/>
              <a:gd name="T6" fmla="*/ 2147483647 w 1794"/>
              <a:gd name="T7" fmla="*/ 2147483647 h 933"/>
              <a:gd name="T8" fmla="*/ 2147483647 w 1794"/>
              <a:gd name="T9" fmla="*/ 2147483647 h 933"/>
              <a:gd name="T10" fmla="*/ 2147483647 w 1794"/>
              <a:gd name="T11" fmla="*/ 2147483647 h 933"/>
              <a:gd name="T12" fmla="*/ 2147483647 w 1794"/>
              <a:gd name="T13" fmla="*/ 2147483647 h 933"/>
              <a:gd name="T14" fmla="*/ 2147483647 w 1794"/>
              <a:gd name="T15" fmla="*/ 2147483647 h 933"/>
              <a:gd name="T16" fmla="*/ 2147483647 w 1794"/>
              <a:gd name="T17" fmla="*/ 2147483647 h 933"/>
              <a:gd name="T18" fmla="*/ 2147483647 w 1794"/>
              <a:gd name="T19" fmla="*/ 2147483647 h 933"/>
              <a:gd name="T20" fmla="*/ 2147483647 w 1794"/>
              <a:gd name="T21" fmla="*/ 2147483647 h 9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94"/>
              <a:gd name="T34" fmla="*/ 0 h 933"/>
              <a:gd name="T35" fmla="*/ 1794 w 1794"/>
              <a:gd name="T36" fmla="*/ 933 h 9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57E9EEA9-F362-5541-9FCC-5483A233137E}"/>
              </a:ext>
            </a:extLst>
          </p:cNvPr>
          <p:cNvSpPr>
            <a:spLocks/>
          </p:cNvSpPr>
          <p:nvPr/>
        </p:nvSpPr>
        <p:spPr bwMode="auto">
          <a:xfrm>
            <a:off x="6235720" y="3678924"/>
            <a:ext cx="407322" cy="221422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7" name="Freeform 91">
            <a:extLst>
              <a:ext uri="{FF2B5EF4-FFF2-40B4-BE49-F238E27FC236}">
                <a16:creationId xmlns:a16="http://schemas.microsoft.com/office/drawing/2014/main" id="{E427D45F-306D-1B44-BF5E-891FCB01E246}"/>
              </a:ext>
            </a:extLst>
          </p:cNvPr>
          <p:cNvSpPr>
            <a:spLocks/>
          </p:cNvSpPr>
          <p:nvPr/>
        </p:nvSpPr>
        <p:spPr bwMode="auto">
          <a:xfrm>
            <a:off x="7017016" y="3674162"/>
            <a:ext cx="378738" cy="230945"/>
          </a:xfrm>
          <a:custGeom>
            <a:avLst/>
            <a:gdLst>
              <a:gd name="T0" fmla="*/ 0 w 318"/>
              <a:gd name="T1" fmla="*/ 0 h 194"/>
              <a:gd name="T2" fmla="*/ 2147483647 w 318"/>
              <a:gd name="T3" fmla="*/ 2147483647 h 194"/>
              <a:gd name="T4" fmla="*/ 0 60000 65536"/>
              <a:gd name="T5" fmla="*/ 0 60000 65536"/>
              <a:gd name="T6" fmla="*/ 0 w 318"/>
              <a:gd name="T7" fmla="*/ 0 h 194"/>
              <a:gd name="T8" fmla="*/ 318 w 318"/>
              <a:gd name="T9" fmla="*/ 194 h 19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8" h="194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8" name="Freeform 92">
            <a:extLst>
              <a:ext uri="{FF2B5EF4-FFF2-40B4-BE49-F238E27FC236}">
                <a16:creationId xmlns:a16="http://schemas.microsoft.com/office/drawing/2014/main" id="{F209776F-AA9D-E941-ADBB-CB44422BD081}"/>
              </a:ext>
            </a:extLst>
          </p:cNvPr>
          <p:cNvSpPr>
            <a:spLocks/>
          </p:cNvSpPr>
          <p:nvPr/>
        </p:nvSpPr>
        <p:spPr bwMode="auto">
          <a:xfrm>
            <a:off x="6217855" y="3968200"/>
            <a:ext cx="360873" cy="178566"/>
          </a:xfrm>
          <a:custGeom>
            <a:avLst/>
            <a:gdLst>
              <a:gd name="T0" fmla="*/ 0 w 294"/>
              <a:gd name="T1" fmla="*/ 0 h 174"/>
              <a:gd name="T2" fmla="*/ 2147483647 w 294"/>
              <a:gd name="T3" fmla="*/ 2147483647 h 174"/>
              <a:gd name="T4" fmla="*/ 0 60000 65536"/>
              <a:gd name="T5" fmla="*/ 0 60000 65536"/>
              <a:gd name="T6" fmla="*/ 0 w 294"/>
              <a:gd name="T7" fmla="*/ 0 h 174"/>
              <a:gd name="T8" fmla="*/ 294 w 294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4" h="17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9" name="Freeform 93">
            <a:extLst>
              <a:ext uri="{FF2B5EF4-FFF2-40B4-BE49-F238E27FC236}">
                <a16:creationId xmlns:a16="http://schemas.microsoft.com/office/drawing/2014/main" id="{8B9D5253-F5A6-2746-81DB-996216E1FB97}"/>
              </a:ext>
            </a:extLst>
          </p:cNvPr>
          <p:cNvSpPr>
            <a:spLocks/>
          </p:cNvSpPr>
          <p:nvPr/>
        </p:nvSpPr>
        <p:spPr bwMode="auto">
          <a:xfrm>
            <a:off x="6928882" y="3950344"/>
            <a:ext cx="471636" cy="185708"/>
          </a:xfrm>
          <a:custGeom>
            <a:avLst/>
            <a:gdLst>
              <a:gd name="T0" fmla="*/ 0 w 378"/>
              <a:gd name="T1" fmla="*/ 2147483647 h 174"/>
              <a:gd name="T2" fmla="*/ 2147483647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0" name="Freeform 94">
            <a:extLst>
              <a:ext uri="{FF2B5EF4-FFF2-40B4-BE49-F238E27FC236}">
                <a16:creationId xmlns:a16="http://schemas.microsoft.com/office/drawing/2014/main" id="{61F0A20F-097C-EA42-809A-3298AB6693B1}"/>
              </a:ext>
            </a:extLst>
          </p:cNvPr>
          <p:cNvSpPr>
            <a:spLocks/>
          </p:cNvSpPr>
          <p:nvPr/>
        </p:nvSpPr>
        <p:spPr bwMode="auto">
          <a:xfrm>
            <a:off x="7429102" y="3990818"/>
            <a:ext cx="154830" cy="380940"/>
          </a:xfrm>
          <a:custGeom>
            <a:avLst/>
            <a:gdLst>
              <a:gd name="T0" fmla="*/ 0 w 118"/>
              <a:gd name="T1" fmla="*/ 2147483647 h 500"/>
              <a:gd name="T2" fmla="*/ 2147483647 w 118"/>
              <a:gd name="T3" fmla="*/ 0 h 500"/>
              <a:gd name="T4" fmla="*/ 0 60000 65536"/>
              <a:gd name="T5" fmla="*/ 0 60000 65536"/>
              <a:gd name="T6" fmla="*/ 0 w 118"/>
              <a:gd name="T7" fmla="*/ 0 h 500"/>
              <a:gd name="T8" fmla="*/ 118 w 118"/>
              <a:gd name="T9" fmla="*/ 500 h 5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8" h="500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1" name="Freeform 95">
            <a:extLst>
              <a:ext uri="{FF2B5EF4-FFF2-40B4-BE49-F238E27FC236}">
                <a16:creationId xmlns:a16="http://schemas.microsoft.com/office/drawing/2014/main" id="{424EA790-DC83-AE41-B59F-CDBDBE0981CB}"/>
              </a:ext>
            </a:extLst>
          </p:cNvPr>
          <p:cNvSpPr>
            <a:spLocks/>
          </p:cNvSpPr>
          <p:nvPr/>
        </p:nvSpPr>
        <p:spPr bwMode="auto">
          <a:xfrm>
            <a:off x="6502504" y="4390806"/>
            <a:ext cx="552624" cy="55951"/>
          </a:xfrm>
          <a:custGeom>
            <a:avLst/>
            <a:gdLst>
              <a:gd name="T0" fmla="*/ 2147483647 w 370"/>
              <a:gd name="T1" fmla="*/ 2147483647 h 32"/>
              <a:gd name="T2" fmla="*/ 0 w 370"/>
              <a:gd name="T3" fmla="*/ 0 h 32"/>
              <a:gd name="T4" fmla="*/ 0 60000 65536"/>
              <a:gd name="T5" fmla="*/ 0 60000 65536"/>
              <a:gd name="T6" fmla="*/ 0 w 370"/>
              <a:gd name="T7" fmla="*/ 0 h 32"/>
              <a:gd name="T8" fmla="*/ 370 w 370"/>
              <a:gd name="T9" fmla="*/ 32 h 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0" h="32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2" name="Freeform 96">
            <a:extLst>
              <a:ext uri="{FF2B5EF4-FFF2-40B4-BE49-F238E27FC236}">
                <a16:creationId xmlns:a16="http://schemas.microsoft.com/office/drawing/2014/main" id="{72EB3BD6-9F21-2342-8AED-3E9F67894AD9}"/>
              </a:ext>
            </a:extLst>
          </p:cNvPr>
          <p:cNvSpPr>
            <a:spLocks/>
          </p:cNvSpPr>
          <p:nvPr/>
        </p:nvSpPr>
        <p:spPr bwMode="auto">
          <a:xfrm>
            <a:off x="6099946" y="3986057"/>
            <a:ext cx="145302" cy="319037"/>
          </a:xfrm>
          <a:custGeom>
            <a:avLst/>
            <a:gdLst>
              <a:gd name="T0" fmla="*/ 2147483647 w 176"/>
              <a:gd name="T1" fmla="*/ 2147483647 h 412"/>
              <a:gd name="T2" fmla="*/ 2147483647 w 176"/>
              <a:gd name="T3" fmla="*/ 2147483647 h 412"/>
              <a:gd name="T4" fmla="*/ 0 w 176"/>
              <a:gd name="T5" fmla="*/ 0 h 412"/>
              <a:gd name="T6" fmla="*/ 0 60000 65536"/>
              <a:gd name="T7" fmla="*/ 0 60000 65536"/>
              <a:gd name="T8" fmla="*/ 0 60000 65536"/>
              <a:gd name="T9" fmla="*/ 0 w 176"/>
              <a:gd name="T10" fmla="*/ 0 h 412"/>
              <a:gd name="T11" fmla="*/ 176 w 176"/>
              <a:gd name="T12" fmla="*/ 412 h 4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" h="412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75DCF5F-4092-2C43-896B-19822B08E6B5}"/>
              </a:ext>
            </a:extLst>
          </p:cNvPr>
          <p:cNvGrpSpPr/>
          <p:nvPr/>
        </p:nvGrpSpPr>
        <p:grpSpPr>
          <a:xfrm>
            <a:off x="7289801" y="3817014"/>
            <a:ext cx="433524" cy="214280"/>
            <a:chOff x="7493876" y="2774731"/>
            <a:chExt cx="1481958" cy="894622"/>
          </a:xfrm>
        </p:grpSpPr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318160F9-6FEC-9A43-8802-7C6CC98A3EE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     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5375EF01-0290-9B47-8E36-E43DE1108FD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</a:t>
              </a: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9B178D65-D230-EE4E-A397-C7BE84BE7B2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F6706B47-A3DA-2948-AE76-ECB82CD2119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6997E8A2-E352-944A-9B99-BDEBAA2024A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C5522D15-A640-D544-8C5A-740AB151741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0A657C9E-78AA-054A-8253-7E707F297A7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703BE46-EF6B-8F4F-8103-DB506FA237F8}"/>
              </a:ext>
            </a:extLst>
          </p:cNvPr>
          <p:cNvGrpSpPr/>
          <p:nvPr/>
        </p:nvGrpSpPr>
        <p:grpSpPr>
          <a:xfrm>
            <a:off x="7013705" y="4307334"/>
            <a:ext cx="433524" cy="214280"/>
            <a:chOff x="7493876" y="2774731"/>
            <a:chExt cx="1481958" cy="894622"/>
          </a:xfrm>
        </p:grpSpPr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C93DB37A-DC30-7049-A906-DE4299FCFE9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     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4D540D06-51B9-D24C-A5F5-D49982A0863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</a:t>
              </a: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50B97449-7EBF-F346-9FFA-F3CB1C97A6B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1A098066-DD0C-0547-8ABC-8D18EA23F16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54B9AE5D-1C6E-8747-BA6A-CE53FF8E918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D4A0CA9E-BE5A-D743-94BD-A9A3807788BA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208F4AD6-8E7A-EC46-8054-65F26912355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174B89A-A569-2044-B74A-55933EDB42EC}"/>
              </a:ext>
            </a:extLst>
          </p:cNvPr>
          <p:cNvGrpSpPr/>
          <p:nvPr/>
        </p:nvGrpSpPr>
        <p:grpSpPr>
          <a:xfrm>
            <a:off x="6146349" y="4270832"/>
            <a:ext cx="433524" cy="214280"/>
            <a:chOff x="7493876" y="2774731"/>
            <a:chExt cx="1481958" cy="894622"/>
          </a:xfrm>
        </p:grpSpPr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5E0F2D6A-4975-2240-9DBA-9752CDABCD3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     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7671BCEE-CA54-2A42-97FC-01FA73F51C9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</a:t>
              </a:r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B74E383-7E77-2E4D-BBB3-C0CB1C080B5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23C2C74B-BD87-0F41-9E97-2D6D70231DE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F9A726BB-74B1-444A-9200-225EE583E8C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480EBF5E-6B8D-F547-BD3C-56A7E685D38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BD8743C8-69EE-7C4B-AAD2-C758A3F1F90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5E3371FA-1B37-E043-BBA9-FBAEC0EF06BB}"/>
              </a:ext>
            </a:extLst>
          </p:cNvPr>
          <p:cNvGrpSpPr/>
          <p:nvPr/>
        </p:nvGrpSpPr>
        <p:grpSpPr>
          <a:xfrm>
            <a:off x="6600474" y="3584283"/>
            <a:ext cx="433524" cy="214280"/>
            <a:chOff x="7493876" y="2774731"/>
            <a:chExt cx="1481958" cy="894622"/>
          </a:xfrm>
        </p:grpSpPr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D3C4E5C9-0C6C-FE44-8E48-3AEAB312320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     </a:t>
              </a: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00F2B9E3-1FE0-3341-9F1D-E60AC91CF4F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</a:t>
              </a: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D9A4FE6E-757F-104A-A301-53D57A115B9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D1C4D832-AA7B-2F44-88F3-867F1C5C739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17B4F7C5-8F07-6444-9C56-5CCC6DAD801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A4D1016A-A633-4F47-AD16-9F5C4A1B4BBD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4E90D1C0-25CA-D549-8BEC-F6FC08E9AF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E0A555A-7D83-9C41-BC45-9CE34B97A2A0}"/>
              </a:ext>
            </a:extLst>
          </p:cNvPr>
          <p:cNvGrpSpPr/>
          <p:nvPr/>
        </p:nvGrpSpPr>
        <p:grpSpPr>
          <a:xfrm>
            <a:off x="6533470" y="4032662"/>
            <a:ext cx="433524" cy="214280"/>
            <a:chOff x="7493876" y="2774731"/>
            <a:chExt cx="1481958" cy="894622"/>
          </a:xfrm>
        </p:grpSpPr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0CEF8A07-20B9-AE45-8F1F-7A43CAB1D71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     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EA79D59C-1529-9C45-BD77-6FFDD5DEAA4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</a:t>
              </a: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973AF34-BA3E-0A49-9E54-BD6B223BA52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C47C43C3-8FCB-5847-9007-9FF04DAF74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08" name="Freeform 107">
                <a:extLst>
                  <a:ext uri="{FF2B5EF4-FFF2-40B4-BE49-F238E27FC236}">
                    <a16:creationId xmlns:a16="http://schemas.microsoft.com/office/drawing/2014/main" id="{09F2051C-9B20-EE45-9CE2-4D3C79652D1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79216339-F1AE-4C4A-9C17-5BCC324EB3E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161D2AE2-963A-F744-92D8-01315F74683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FB94137-26B4-A84C-B882-BC754696ADF8}"/>
              </a:ext>
            </a:extLst>
          </p:cNvPr>
          <p:cNvGrpSpPr/>
          <p:nvPr/>
        </p:nvGrpSpPr>
        <p:grpSpPr>
          <a:xfrm>
            <a:off x="5823461" y="3815385"/>
            <a:ext cx="433524" cy="214280"/>
            <a:chOff x="7493876" y="2774731"/>
            <a:chExt cx="1481958" cy="894622"/>
          </a:xfrm>
        </p:grpSpPr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56959650-8F47-BD44-967D-3B542470869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     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D4F846E9-5E5D-9246-A16E-A37E1F2DB7E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</a:t>
              </a:r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6C080F1D-CE13-8A4D-AE86-A9987401AEF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C92B06F2-78EF-804D-8E0C-DCE71C44A56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6" name="Freeform 115">
                <a:extLst>
                  <a:ext uri="{FF2B5EF4-FFF2-40B4-BE49-F238E27FC236}">
                    <a16:creationId xmlns:a16="http://schemas.microsoft.com/office/drawing/2014/main" id="{C074DBD1-927C-2B4D-B10B-DD852445FB2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BC9D84BC-889B-C849-9229-D2795054B39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9073BE05-706B-1446-BB36-AB53194859C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584E5A3-CC37-804B-8E37-84F25E87BC63}"/>
              </a:ext>
            </a:extLst>
          </p:cNvPr>
          <p:cNvGrpSpPr/>
          <p:nvPr/>
        </p:nvGrpSpPr>
        <p:grpSpPr>
          <a:xfrm>
            <a:off x="6650874" y="4041421"/>
            <a:ext cx="342526" cy="169911"/>
            <a:chOff x="6859123" y="5156933"/>
            <a:chExt cx="456701" cy="22654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93256C-E351-F04F-8F57-8CBAADAD32D9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C154E25-F682-744F-8785-AB5EDB9A5A5F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E29C5F0A-310C-1443-A4BF-D9B6A1F9EDB9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B65FCB07-1990-1F40-B6A0-2DC9A68091B3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E0B89AD6-5E3A-1642-BCCA-337C835BC035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35A1AE44-6AB7-1949-9184-889F736756EC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C564862D-347A-7E41-8F9D-0ADF80768A2B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AC855F5F-C9C2-4744-9B1E-696B4F0DB89C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D3DD9EA-3345-8345-9221-C06D0834BC89}"/>
              </a:ext>
            </a:extLst>
          </p:cNvPr>
          <p:cNvGrpSpPr/>
          <p:nvPr/>
        </p:nvGrpSpPr>
        <p:grpSpPr>
          <a:xfrm>
            <a:off x="5571432" y="2865237"/>
            <a:ext cx="2563742" cy="1278763"/>
            <a:chOff x="7428575" y="2677315"/>
            <a:chExt cx="3418322" cy="1705017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7906425-B196-CC44-BB40-5ACEF23B0A29}"/>
                </a:ext>
              </a:extLst>
            </p:cNvPr>
            <p:cNvSpPr/>
            <p:nvPr/>
          </p:nvSpPr>
          <p:spPr>
            <a:xfrm>
              <a:off x="9335149" y="2701273"/>
              <a:ext cx="1406838" cy="1681059"/>
            </a:xfrm>
            <a:custGeom>
              <a:avLst/>
              <a:gdLst>
                <a:gd name="connsiteX0" fmla="*/ 0 w 1541303"/>
                <a:gd name="connsiteY0" fmla="*/ 1605191 h 1605191"/>
                <a:gd name="connsiteX1" fmla="*/ 539056 w 1541303"/>
                <a:gd name="connsiteY1" fmla="*/ 1389568 h 1605191"/>
                <a:gd name="connsiteX2" fmla="*/ 1541303 w 1541303"/>
                <a:gd name="connsiteY2" fmla="*/ 1369603 h 1605191"/>
                <a:gd name="connsiteX3" fmla="*/ 1533317 w 1541303"/>
                <a:gd name="connsiteY3" fmla="*/ 0 h 1605191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1541303 w 1541303"/>
                <a:gd name="connsiteY2" fmla="*/ 1445471 h 1681059"/>
                <a:gd name="connsiteX3" fmla="*/ 1525331 w 1541303"/>
                <a:gd name="connsiteY3" fmla="*/ 0 h 1681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1303" h="1681059">
                  <a:moveTo>
                    <a:pt x="0" y="1681059"/>
                  </a:moveTo>
                  <a:lnTo>
                    <a:pt x="539056" y="1465436"/>
                  </a:lnTo>
                  <a:lnTo>
                    <a:pt x="1541303" y="1445471"/>
                  </a:lnTo>
                  <a:lnTo>
                    <a:pt x="1525331" y="0"/>
                  </a:lnTo>
                </a:path>
              </a:pathLst>
            </a:custGeom>
            <a:noFill/>
            <a:ln w="4445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4689" name="Freeform 114688">
              <a:extLst>
                <a:ext uri="{FF2B5EF4-FFF2-40B4-BE49-F238E27FC236}">
                  <a16:creationId xmlns:a16="http://schemas.microsoft.com/office/drawing/2014/main" id="{F4B58868-99E6-0645-9773-CB66EC208FBD}"/>
                </a:ext>
              </a:extLst>
            </p:cNvPr>
            <p:cNvSpPr/>
            <p:nvPr/>
          </p:nvSpPr>
          <p:spPr>
            <a:xfrm>
              <a:off x="7473006" y="2677315"/>
              <a:ext cx="1446868" cy="1701024"/>
            </a:xfrm>
            <a:custGeom>
              <a:avLst/>
              <a:gdLst>
                <a:gd name="connsiteX0" fmla="*/ 0 w 1549289"/>
                <a:gd name="connsiteY0" fmla="*/ 0 h 1701024"/>
                <a:gd name="connsiteX1" fmla="*/ 0 w 1549289"/>
                <a:gd name="connsiteY1" fmla="*/ 1485401 h 1701024"/>
                <a:gd name="connsiteX2" fmla="*/ 1030198 w 1549289"/>
                <a:gd name="connsiteY2" fmla="*/ 1453457 h 1701024"/>
                <a:gd name="connsiteX3" fmla="*/ 1549289 w 1549289"/>
                <a:gd name="connsiteY3" fmla="*/ 1701024 h 1701024"/>
                <a:gd name="connsiteX0" fmla="*/ 0 w 1549289"/>
                <a:gd name="connsiteY0" fmla="*/ 0 h 1701024"/>
                <a:gd name="connsiteX1" fmla="*/ 7986 w 1549289"/>
                <a:gd name="connsiteY1" fmla="*/ 1481408 h 1701024"/>
                <a:gd name="connsiteX2" fmla="*/ 1030198 w 1549289"/>
                <a:gd name="connsiteY2" fmla="*/ 1453457 h 1701024"/>
                <a:gd name="connsiteX3" fmla="*/ 1549289 w 1549289"/>
                <a:gd name="connsiteY3" fmla="*/ 1701024 h 1701024"/>
                <a:gd name="connsiteX0" fmla="*/ 0 w 1549289"/>
                <a:gd name="connsiteY0" fmla="*/ 0 h 1701024"/>
                <a:gd name="connsiteX1" fmla="*/ 7986 w 1549289"/>
                <a:gd name="connsiteY1" fmla="*/ 1481408 h 1701024"/>
                <a:gd name="connsiteX2" fmla="*/ 1030198 w 1549289"/>
                <a:gd name="connsiteY2" fmla="*/ 1485401 h 1701024"/>
                <a:gd name="connsiteX3" fmla="*/ 1549289 w 1549289"/>
                <a:gd name="connsiteY3" fmla="*/ 1701024 h 1701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9289" h="1701024">
                  <a:moveTo>
                    <a:pt x="0" y="0"/>
                  </a:moveTo>
                  <a:lnTo>
                    <a:pt x="7986" y="1481408"/>
                  </a:lnTo>
                  <a:lnTo>
                    <a:pt x="1030198" y="1485401"/>
                  </a:lnTo>
                  <a:lnTo>
                    <a:pt x="1549289" y="1701024"/>
                  </a:lnTo>
                </a:path>
              </a:pathLst>
            </a:custGeom>
            <a:noFill/>
            <a:ln w="381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1762DD-608F-AC4F-8D36-9BC825C14FB4}"/>
                </a:ext>
              </a:extLst>
            </p:cNvPr>
            <p:cNvSpPr txBox="1"/>
            <p:nvPr/>
          </p:nvSpPr>
          <p:spPr>
            <a:xfrm>
              <a:off x="10184578" y="3556613"/>
              <a:ext cx="662319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srgbClr val="5B9BD5">
                      <a:lumMod val="75000"/>
                    </a:srgbClr>
                  </a:solidFill>
                  <a:latin typeface="Calibri"/>
                </a:rPr>
                <a:t>data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38081CC2-E66E-0845-8CCA-2D10C6BE30EA}"/>
                </a:ext>
              </a:extLst>
            </p:cNvPr>
            <p:cNvSpPr txBox="1"/>
            <p:nvPr/>
          </p:nvSpPr>
          <p:spPr>
            <a:xfrm>
              <a:off x="7428575" y="3517694"/>
              <a:ext cx="662319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srgbClr val="5B9BD5">
                      <a:lumMod val="75000"/>
                    </a:srgbClr>
                  </a:solidFill>
                  <a:latin typeface="Calibri"/>
                </a:rPr>
                <a:t>data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CD35EA-0731-A641-906C-8974E60D529B}"/>
              </a:ext>
            </a:extLst>
          </p:cNvPr>
          <p:cNvGrpSpPr/>
          <p:nvPr/>
        </p:nvGrpSpPr>
        <p:grpSpPr>
          <a:xfrm>
            <a:off x="5099714" y="2875683"/>
            <a:ext cx="3538638" cy="1370632"/>
            <a:chOff x="6799618" y="2691243"/>
            <a:chExt cx="4718184" cy="1827509"/>
          </a:xfrm>
        </p:grpSpPr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809FCE5A-94F2-AB43-A427-15DC48978945}"/>
                </a:ext>
              </a:extLst>
            </p:cNvPr>
            <p:cNvSpPr/>
            <p:nvPr/>
          </p:nvSpPr>
          <p:spPr>
            <a:xfrm>
              <a:off x="7353946" y="2691243"/>
              <a:ext cx="3498244" cy="1827509"/>
            </a:xfrm>
            <a:custGeom>
              <a:avLst/>
              <a:gdLst>
                <a:gd name="connsiteX0" fmla="*/ 0 w 1541303"/>
                <a:gd name="connsiteY0" fmla="*/ 1605191 h 1605191"/>
                <a:gd name="connsiteX1" fmla="*/ 539056 w 1541303"/>
                <a:gd name="connsiteY1" fmla="*/ 1389568 h 1605191"/>
                <a:gd name="connsiteX2" fmla="*/ 1541303 w 1541303"/>
                <a:gd name="connsiteY2" fmla="*/ 1369603 h 1605191"/>
                <a:gd name="connsiteX3" fmla="*/ 1533317 w 1541303"/>
                <a:gd name="connsiteY3" fmla="*/ 0 h 1605191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1541303 w 1541303"/>
                <a:gd name="connsiteY2" fmla="*/ 1445471 h 1681059"/>
                <a:gd name="connsiteX3" fmla="*/ 1525331 w 1541303"/>
                <a:gd name="connsiteY3" fmla="*/ 0 h 1681059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920408 w 1541303"/>
                <a:gd name="connsiteY2" fmla="*/ 1455758 h 1681059"/>
                <a:gd name="connsiteX3" fmla="*/ 1541303 w 1541303"/>
                <a:gd name="connsiteY3" fmla="*/ 1445471 h 1681059"/>
                <a:gd name="connsiteX4" fmla="*/ 1525331 w 1541303"/>
                <a:gd name="connsiteY4" fmla="*/ 0 h 1681059"/>
                <a:gd name="connsiteX0" fmla="*/ 0 w 1541303"/>
                <a:gd name="connsiteY0" fmla="*/ 1681059 h 1681059"/>
                <a:gd name="connsiteX1" fmla="*/ 373242 w 1541303"/>
                <a:gd name="connsiteY1" fmla="*/ 1536549 h 1681059"/>
                <a:gd name="connsiteX2" fmla="*/ 539056 w 1541303"/>
                <a:gd name="connsiteY2" fmla="*/ 1465436 h 1681059"/>
                <a:gd name="connsiteX3" fmla="*/ 920408 w 1541303"/>
                <a:gd name="connsiteY3" fmla="*/ 1455758 h 1681059"/>
                <a:gd name="connsiteX4" fmla="*/ 1541303 w 1541303"/>
                <a:gd name="connsiteY4" fmla="*/ 1445471 h 1681059"/>
                <a:gd name="connsiteX5" fmla="*/ 1525331 w 1541303"/>
                <a:gd name="connsiteY5" fmla="*/ 0 h 1681059"/>
                <a:gd name="connsiteX0" fmla="*/ 0 w 1541303"/>
                <a:gd name="connsiteY0" fmla="*/ 1681059 h 1681059"/>
                <a:gd name="connsiteX1" fmla="*/ 373242 w 1541303"/>
                <a:gd name="connsiteY1" fmla="*/ 1536549 h 1681059"/>
                <a:gd name="connsiteX2" fmla="*/ 232427 w 1541303"/>
                <a:gd name="connsiteY2" fmla="*/ 1591633 h 1681059"/>
                <a:gd name="connsiteX3" fmla="*/ 539056 w 1541303"/>
                <a:gd name="connsiteY3" fmla="*/ 1465436 h 1681059"/>
                <a:gd name="connsiteX4" fmla="*/ 920408 w 1541303"/>
                <a:gd name="connsiteY4" fmla="*/ 1455758 h 1681059"/>
                <a:gd name="connsiteX5" fmla="*/ 1541303 w 1541303"/>
                <a:gd name="connsiteY5" fmla="*/ 1445471 h 1681059"/>
                <a:gd name="connsiteX6" fmla="*/ 1525331 w 1541303"/>
                <a:gd name="connsiteY6" fmla="*/ 0 h 1681059"/>
                <a:gd name="connsiteX0" fmla="*/ 0 w 3882856"/>
                <a:gd name="connsiteY0" fmla="*/ 142370 h 1591633"/>
                <a:gd name="connsiteX1" fmla="*/ 2714795 w 3882856"/>
                <a:gd name="connsiteY1" fmla="*/ 1536549 h 1591633"/>
                <a:gd name="connsiteX2" fmla="*/ 2573980 w 3882856"/>
                <a:gd name="connsiteY2" fmla="*/ 1591633 h 1591633"/>
                <a:gd name="connsiteX3" fmla="*/ 2880609 w 3882856"/>
                <a:gd name="connsiteY3" fmla="*/ 1465436 h 1591633"/>
                <a:gd name="connsiteX4" fmla="*/ 3261961 w 3882856"/>
                <a:gd name="connsiteY4" fmla="*/ 1455758 h 1591633"/>
                <a:gd name="connsiteX5" fmla="*/ 3882856 w 3882856"/>
                <a:gd name="connsiteY5" fmla="*/ 1445471 h 1591633"/>
                <a:gd name="connsiteX6" fmla="*/ 3866884 w 3882856"/>
                <a:gd name="connsiteY6" fmla="*/ 0 h 1591633"/>
                <a:gd name="connsiteX0" fmla="*/ 0 w 3882856"/>
                <a:gd name="connsiteY0" fmla="*/ 142370 h 1591633"/>
                <a:gd name="connsiteX1" fmla="*/ 2163604 w 3882856"/>
                <a:gd name="connsiteY1" fmla="*/ 1510843 h 1591633"/>
                <a:gd name="connsiteX2" fmla="*/ 2573980 w 3882856"/>
                <a:gd name="connsiteY2" fmla="*/ 1591633 h 1591633"/>
                <a:gd name="connsiteX3" fmla="*/ 2880609 w 3882856"/>
                <a:gd name="connsiteY3" fmla="*/ 1465436 h 1591633"/>
                <a:gd name="connsiteX4" fmla="*/ 3261961 w 3882856"/>
                <a:gd name="connsiteY4" fmla="*/ 1455758 h 1591633"/>
                <a:gd name="connsiteX5" fmla="*/ 3882856 w 3882856"/>
                <a:gd name="connsiteY5" fmla="*/ 1445471 h 1591633"/>
                <a:gd name="connsiteX6" fmla="*/ 3866884 w 3882856"/>
                <a:gd name="connsiteY6" fmla="*/ 0 h 1591633"/>
                <a:gd name="connsiteX0" fmla="*/ 33110 w 3915966"/>
                <a:gd name="connsiteY0" fmla="*/ 142370 h 1591633"/>
                <a:gd name="connsiteX1" fmla="*/ 0 w 3915966"/>
                <a:gd name="connsiteY1" fmla="*/ 1510843 h 1591633"/>
                <a:gd name="connsiteX2" fmla="*/ 2607090 w 3915966"/>
                <a:gd name="connsiteY2" fmla="*/ 1591633 h 1591633"/>
                <a:gd name="connsiteX3" fmla="*/ 2913719 w 3915966"/>
                <a:gd name="connsiteY3" fmla="*/ 1465436 h 1591633"/>
                <a:gd name="connsiteX4" fmla="*/ 3295071 w 3915966"/>
                <a:gd name="connsiteY4" fmla="*/ 1455758 h 1591633"/>
                <a:gd name="connsiteX5" fmla="*/ 3915966 w 3915966"/>
                <a:gd name="connsiteY5" fmla="*/ 1445471 h 1591633"/>
                <a:gd name="connsiteX6" fmla="*/ 3899994 w 3915966"/>
                <a:gd name="connsiteY6" fmla="*/ 0 h 1591633"/>
                <a:gd name="connsiteX0" fmla="*/ 33110 w 3915966"/>
                <a:gd name="connsiteY0" fmla="*/ 142370 h 1510843"/>
                <a:gd name="connsiteX1" fmla="*/ 0 w 3915966"/>
                <a:gd name="connsiteY1" fmla="*/ 1510843 h 1510843"/>
                <a:gd name="connsiteX2" fmla="*/ 1263312 w 3915966"/>
                <a:gd name="connsiteY2" fmla="*/ 1477792 h 1510843"/>
                <a:gd name="connsiteX3" fmla="*/ 2913719 w 3915966"/>
                <a:gd name="connsiteY3" fmla="*/ 1465436 h 1510843"/>
                <a:gd name="connsiteX4" fmla="*/ 3295071 w 3915966"/>
                <a:gd name="connsiteY4" fmla="*/ 1455758 h 1510843"/>
                <a:gd name="connsiteX5" fmla="*/ 3915966 w 3915966"/>
                <a:gd name="connsiteY5" fmla="*/ 1445471 h 1510843"/>
                <a:gd name="connsiteX6" fmla="*/ 3899994 w 3915966"/>
                <a:gd name="connsiteY6" fmla="*/ 0 h 1510843"/>
                <a:gd name="connsiteX0" fmla="*/ 33110 w 3915966"/>
                <a:gd name="connsiteY0" fmla="*/ 142370 h 1510843"/>
                <a:gd name="connsiteX1" fmla="*/ 0 w 3915966"/>
                <a:gd name="connsiteY1" fmla="*/ 1510843 h 1510843"/>
                <a:gd name="connsiteX2" fmla="*/ 1263312 w 3915966"/>
                <a:gd name="connsiteY2" fmla="*/ 1477792 h 1510843"/>
                <a:gd name="connsiteX3" fmla="*/ 2373740 w 3915966"/>
                <a:gd name="connsiteY3" fmla="*/ 1470447 h 1510843"/>
                <a:gd name="connsiteX4" fmla="*/ 2913719 w 3915966"/>
                <a:gd name="connsiteY4" fmla="*/ 1465436 h 1510843"/>
                <a:gd name="connsiteX5" fmla="*/ 3295071 w 3915966"/>
                <a:gd name="connsiteY5" fmla="*/ 1455758 h 1510843"/>
                <a:gd name="connsiteX6" fmla="*/ 3915966 w 3915966"/>
                <a:gd name="connsiteY6" fmla="*/ 1445471 h 1510843"/>
                <a:gd name="connsiteX7" fmla="*/ 3899994 w 3915966"/>
                <a:gd name="connsiteY7" fmla="*/ 0 h 1510843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2192692 w 3915966"/>
                <a:gd name="connsiteY3" fmla="*/ 1676095 h 1676095"/>
                <a:gd name="connsiteX4" fmla="*/ 2913719 w 3915966"/>
                <a:gd name="connsiteY4" fmla="*/ 1465436 h 1676095"/>
                <a:gd name="connsiteX5" fmla="*/ 3295071 w 3915966"/>
                <a:gd name="connsiteY5" fmla="*/ 1455758 h 1676095"/>
                <a:gd name="connsiteX6" fmla="*/ 3915966 w 3915966"/>
                <a:gd name="connsiteY6" fmla="*/ 1445471 h 1676095"/>
                <a:gd name="connsiteX7" fmla="*/ 3899994 w 3915966"/>
                <a:gd name="connsiteY7" fmla="*/ 0 h 1676095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1609316 w 3915966"/>
                <a:gd name="connsiteY3" fmla="*/ 1551238 h 1676095"/>
                <a:gd name="connsiteX4" fmla="*/ 2192692 w 3915966"/>
                <a:gd name="connsiteY4" fmla="*/ 1676095 h 1676095"/>
                <a:gd name="connsiteX5" fmla="*/ 2913719 w 3915966"/>
                <a:gd name="connsiteY5" fmla="*/ 1465436 h 1676095"/>
                <a:gd name="connsiteX6" fmla="*/ 3295071 w 3915966"/>
                <a:gd name="connsiteY6" fmla="*/ 1455758 h 1676095"/>
                <a:gd name="connsiteX7" fmla="*/ 3915966 w 3915966"/>
                <a:gd name="connsiteY7" fmla="*/ 1445471 h 1676095"/>
                <a:gd name="connsiteX8" fmla="*/ 3899994 w 3915966"/>
                <a:gd name="connsiteY8" fmla="*/ 0 h 1676095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1589200 w 3915966"/>
                <a:gd name="connsiteY3" fmla="*/ 1661407 h 1676095"/>
                <a:gd name="connsiteX4" fmla="*/ 2192692 w 3915966"/>
                <a:gd name="connsiteY4" fmla="*/ 1676095 h 1676095"/>
                <a:gd name="connsiteX5" fmla="*/ 2913719 w 3915966"/>
                <a:gd name="connsiteY5" fmla="*/ 1465436 h 1676095"/>
                <a:gd name="connsiteX6" fmla="*/ 3295071 w 3915966"/>
                <a:gd name="connsiteY6" fmla="*/ 1455758 h 1676095"/>
                <a:gd name="connsiteX7" fmla="*/ 3915966 w 3915966"/>
                <a:gd name="connsiteY7" fmla="*/ 1445471 h 1676095"/>
                <a:gd name="connsiteX8" fmla="*/ 3899994 w 3915966"/>
                <a:gd name="connsiteY8" fmla="*/ 0 h 1676095"/>
                <a:gd name="connsiteX0" fmla="*/ 17017 w 3915966"/>
                <a:gd name="connsiteY0" fmla="*/ 0 h 1838525"/>
                <a:gd name="connsiteX1" fmla="*/ 0 w 3915966"/>
                <a:gd name="connsiteY1" fmla="*/ 1673273 h 1838525"/>
                <a:gd name="connsiteX2" fmla="*/ 1263312 w 3915966"/>
                <a:gd name="connsiteY2" fmla="*/ 1640222 h 1838525"/>
                <a:gd name="connsiteX3" fmla="*/ 1589200 w 3915966"/>
                <a:gd name="connsiteY3" fmla="*/ 1823837 h 1838525"/>
                <a:gd name="connsiteX4" fmla="*/ 2192692 w 3915966"/>
                <a:gd name="connsiteY4" fmla="*/ 1838525 h 1838525"/>
                <a:gd name="connsiteX5" fmla="*/ 2913719 w 3915966"/>
                <a:gd name="connsiteY5" fmla="*/ 1627866 h 1838525"/>
                <a:gd name="connsiteX6" fmla="*/ 3295071 w 3915966"/>
                <a:gd name="connsiteY6" fmla="*/ 1618188 h 1838525"/>
                <a:gd name="connsiteX7" fmla="*/ 3915966 w 3915966"/>
                <a:gd name="connsiteY7" fmla="*/ 1607901 h 1838525"/>
                <a:gd name="connsiteX8" fmla="*/ 3899994 w 3915966"/>
                <a:gd name="connsiteY8" fmla="*/ 162430 h 1838525"/>
                <a:gd name="connsiteX0" fmla="*/ 0 w 3898949"/>
                <a:gd name="connsiteY0" fmla="*/ 0 h 1838525"/>
                <a:gd name="connsiteX1" fmla="*/ 19193 w 3898949"/>
                <a:gd name="connsiteY1" fmla="*/ 1581465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5137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9969 w 3898949"/>
                <a:gd name="connsiteY2" fmla="*/ 1566776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5946 w 3898949"/>
                <a:gd name="connsiteY2" fmla="*/ 1581465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5946 w 3898949"/>
                <a:gd name="connsiteY2" fmla="*/ 159248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896702 w 3898949"/>
                <a:gd name="connsiteY5" fmla="*/ 1627866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82977 w 3898949"/>
                <a:gd name="connsiteY8" fmla="*/ 162430 h 1827509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727724 w 3898949"/>
                <a:gd name="connsiteY5" fmla="*/ 1591143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82977 w 3898949"/>
                <a:gd name="connsiteY8" fmla="*/ 162430 h 1827509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727724 w 3898949"/>
                <a:gd name="connsiteY5" fmla="*/ 1591143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69708 w 3898949"/>
                <a:gd name="connsiteY8" fmla="*/ 113985 h 1827509"/>
                <a:gd name="connsiteX0" fmla="*/ 0 w 3869708"/>
                <a:gd name="connsiteY0" fmla="*/ 0 h 1827509"/>
                <a:gd name="connsiteX1" fmla="*/ 15169 w 3869708"/>
                <a:gd name="connsiteY1" fmla="*/ 1588809 h 1827509"/>
                <a:gd name="connsiteX2" fmla="*/ 1185946 w 3869708"/>
                <a:gd name="connsiteY2" fmla="*/ 1592482 h 1827509"/>
                <a:gd name="connsiteX3" fmla="*/ 1572183 w 3869708"/>
                <a:gd name="connsiteY3" fmla="*/ 1823837 h 1827509"/>
                <a:gd name="connsiteX4" fmla="*/ 2147513 w 3869708"/>
                <a:gd name="connsiteY4" fmla="*/ 1827509 h 1827509"/>
                <a:gd name="connsiteX5" fmla="*/ 2727724 w 3869708"/>
                <a:gd name="connsiteY5" fmla="*/ 1591143 h 1827509"/>
                <a:gd name="connsiteX6" fmla="*/ 3278054 w 3869708"/>
                <a:gd name="connsiteY6" fmla="*/ 1618188 h 1827509"/>
                <a:gd name="connsiteX7" fmla="*/ 3839239 w 3869708"/>
                <a:gd name="connsiteY7" fmla="*/ 1565511 h 1827509"/>
                <a:gd name="connsiteX8" fmla="*/ 3869708 w 3869708"/>
                <a:gd name="connsiteY8" fmla="*/ 113985 h 1827509"/>
                <a:gd name="connsiteX0" fmla="*/ 0 w 3839239"/>
                <a:gd name="connsiteY0" fmla="*/ 0 h 1827509"/>
                <a:gd name="connsiteX1" fmla="*/ 15169 w 3839239"/>
                <a:gd name="connsiteY1" fmla="*/ 1588809 h 1827509"/>
                <a:gd name="connsiteX2" fmla="*/ 1185946 w 3839239"/>
                <a:gd name="connsiteY2" fmla="*/ 1592482 h 1827509"/>
                <a:gd name="connsiteX3" fmla="*/ 1572183 w 3839239"/>
                <a:gd name="connsiteY3" fmla="*/ 1823837 h 1827509"/>
                <a:gd name="connsiteX4" fmla="*/ 2147513 w 3839239"/>
                <a:gd name="connsiteY4" fmla="*/ 1827509 h 1827509"/>
                <a:gd name="connsiteX5" fmla="*/ 2727724 w 3839239"/>
                <a:gd name="connsiteY5" fmla="*/ 1591143 h 1827509"/>
                <a:gd name="connsiteX6" fmla="*/ 3278054 w 3839239"/>
                <a:gd name="connsiteY6" fmla="*/ 1618188 h 1827509"/>
                <a:gd name="connsiteX7" fmla="*/ 3839239 w 3839239"/>
                <a:gd name="connsiteY7" fmla="*/ 1565511 h 1827509"/>
                <a:gd name="connsiteX8" fmla="*/ 3829902 w 3839239"/>
                <a:gd name="connsiteY8" fmla="*/ 126097 h 1827509"/>
                <a:gd name="connsiteX0" fmla="*/ 0 w 3839239"/>
                <a:gd name="connsiteY0" fmla="*/ 0 h 1827509"/>
                <a:gd name="connsiteX1" fmla="*/ 15169 w 3839239"/>
                <a:gd name="connsiteY1" fmla="*/ 1588809 h 1827509"/>
                <a:gd name="connsiteX2" fmla="*/ 1185946 w 3839239"/>
                <a:gd name="connsiteY2" fmla="*/ 1592482 h 1827509"/>
                <a:gd name="connsiteX3" fmla="*/ 1572183 w 3839239"/>
                <a:gd name="connsiteY3" fmla="*/ 1823837 h 1827509"/>
                <a:gd name="connsiteX4" fmla="*/ 2147513 w 3839239"/>
                <a:gd name="connsiteY4" fmla="*/ 1827509 h 1827509"/>
                <a:gd name="connsiteX5" fmla="*/ 2727724 w 3839239"/>
                <a:gd name="connsiteY5" fmla="*/ 1591143 h 1827509"/>
                <a:gd name="connsiteX6" fmla="*/ 3839239 w 3839239"/>
                <a:gd name="connsiteY6" fmla="*/ 1565511 h 1827509"/>
                <a:gd name="connsiteX7" fmla="*/ 3829902 w 3839239"/>
                <a:gd name="connsiteY7" fmla="*/ 126097 h 1827509"/>
                <a:gd name="connsiteX0" fmla="*/ 0 w 3832605"/>
                <a:gd name="connsiteY0" fmla="*/ 0 h 1827509"/>
                <a:gd name="connsiteX1" fmla="*/ 15169 w 3832605"/>
                <a:gd name="connsiteY1" fmla="*/ 1588809 h 1827509"/>
                <a:gd name="connsiteX2" fmla="*/ 1185946 w 3832605"/>
                <a:gd name="connsiteY2" fmla="*/ 1592482 h 1827509"/>
                <a:gd name="connsiteX3" fmla="*/ 1572183 w 3832605"/>
                <a:gd name="connsiteY3" fmla="*/ 1823837 h 1827509"/>
                <a:gd name="connsiteX4" fmla="*/ 2147513 w 3832605"/>
                <a:gd name="connsiteY4" fmla="*/ 1827509 h 1827509"/>
                <a:gd name="connsiteX5" fmla="*/ 2727724 w 3832605"/>
                <a:gd name="connsiteY5" fmla="*/ 1591143 h 1827509"/>
                <a:gd name="connsiteX6" fmla="*/ 3832605 w 3832605"/>
                <a:gd name="connsiteY6" fmla="*/ 1589734 h 1827509"/>
                <a:gd name="connsiteX7" fmla="*/ 3829902 w 3832605"/>
                <a:gd name="connsiteY7" fmla="*/ 126097 h 1827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32605" h="1827509">
                  <a:moveTo>
                    <a:pt x="0" y="0"/>
                  </a:moveTo>
                  <a:lnTo>
                    <a:pt x="15169" y="1588809"/>
                  </a:lnTo>
                  <a:lnTo>
                    <a:pt x="1185946" y="1592482"/>
                  </a:lnTo>
                  <a:lnTo>
                    <a:pt x="1572183" y="1823837"/>
                  </a:lnTo>
                  <a:lnTo>
                    <a:pt x="2147513" y="1827509"/>
                  </a:lnTo>
                  <a:lnTo>
                    <a:pt x="2727724" y="1591143"/>
                  </a:lnTo>
                  <a:lnTo>
                    <a:pt x="3832605" y="1589734"/>
                  </a:lnTo>
                  <a:cubicBezTo>
                    <a:pt x="3829493" y="1109929"/>
                    <a:pt x="3833014" y="605902"/>
                    <a:pt x="3829902" y="126097"/>
                  </a:cubicBezTo>
                </a:path>
              </a:pathLst>
            </a:custGeom>
            <a:noFill/>
            <a:ln w="25400">
              <a:solidFill>
                <a:srgbClr val="00B050"/>
              </a:solidFill>
              <a:headEnd type="triangl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AC21E889-4F82-8649-829E-554EB51D7E5D}"/>
                </a:ext>
              </a:extLst>
            </p:cNvPr>
            <p:cNvSpPr txBox="1"/>
            <p:nvPr/>
          </p:nvSpPr>
          <p:spPr>
            <a:xfrm>
              <a:off x="6799618" y="3650736"/>
              <a:ext cx="708399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srgbClr val="00B050"/>
                  </a:solidFill>
                  <a:latin typeface="Calibri"/>
                </a:rPr>
                <a:t>ACKs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D544F8A-E5C9-4C42-B077-C996AF3E7BF7}"/>
                </a:ext>
              </a:extLst>
            </p:cNvPr>
            <p:cNvSpPr txBox="1"/>
            <p:nvPr/>
          </p:nvSpPr>
          <p:spPr>
            <a:xfrm>
              <a:off x="10809403" y="3772400"/>
              <a:ext cx="708399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srgbClr val="00B050"/>
                  </a:solidFill>
                  <a:latin typeface="Calibri"/>
                </a:rPr>
                <a:t>ACKs</a:t>
              </a:r>
            </a:p>
          </p:txBody>
        </p:sp>
      </p:grpSp>
      <p:sp>
        <p:nvSpPr>
          <p:cNvPr id="176" name="Freeform 254">
            <a:extLst>
              <a:ext uri="{FF2B5EF4-FFF2-40B4-BE49-F238E27FC236}">
                <a16:creationId xmlns:a16="http://schemas.microsoft.com/office/drawing/2014/main" id="{098028B6-BF7C-6A40-A6E7-BD363548A403}"/>
              </a:ext>
            </a:extLst>
          </p:cNvPr>
          <p:cNvSpPr>
            <a:spLocks/>
          </p:cNvSpPr>
          <p:nvPr/>
        </p:nvSpPr>
        <p:spPr bwMode="auto">
          <a:xfrm>
            <a:off x="8384150" y="2630012"/>
            <a:ext cx="188119" cy="90963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84" name="Group 289">
            <a:extLst>
              <a:ext uri="{FF2B5EF4-FFF2-40B4-BE49-F238E27FC236}">
                <a16:creationId xmlns:a16="http://schemas.microsoft.com/office/drawing/2014/main" id="{36A89038-0233-574C-A16F-E12F82E32856}"/>
              </a:ext>
            </a:extLst>
          </p:cNvPr>
          <p:cNvGrpSpPr>
            <a:grpSpLocks/>
          </p:cNvGrpSpPr>
          <p:nvPr/>
        </p:nvGrpSpPr>
        <p:grpSpPr bwMode="auto">
          <a:xfrm>
            <a:off x="8516310" y="3302715"/>
            <a:ext cx="173831" cy="330994"/>
            <a:chOff x="4140" y="429"/>
            <a:chExt cx="1425" cy="2396"/>
          </a:xfrm>
        </p:grpSpPr>
        <p:sp>
          <p:nvSpPr>
            <p:cNvPr id="188" name="Freeform 290">
              <a:extLst>
                <a:ext uri="{FF2B5EF4-FFF2-40B4-BE49-F238E27FC236}">
                  <a16:creationId xmlns:a16="http://schemas.microsoft.com/office/drawing/2014/main" id="{9264264F-C8FF-E941-B8DB-F2A13E30F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9" name="Rectangle 291">
              <a:extLst>
                <a:ext uri="{FF2B5EF4-FFF2-40B4-BE49-F238E27FC236}">
                  <a16:creationId xmlns:a16="http://schemas.microsoft.com/office/drawing/2014/main" id="{5580AF65-ED2C-7F4A-90B9-25AFA8C92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90" name="Freeform 292">
              <a:extLst>
                <a:ext uri="{FF2B5EF4-FFF2-40B4-BE49-F238E27FC236}">
                  <a16:creationId xmlns:a16="http://schemas.microsoft.com/office/drawing/2014/main" id="{BC0C9A2A-A362-5D48-A13D-A730292A1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1" name="Freeform 293">
              <a:extLst>
                <a:ext uri="{FF2B5EF4-FFF2-40B4-BE49-F238E27FC236}">
                  <a16:creationId xmlns:a16="http://schemas.microsoft.com/office/drawing/2014/main" id="{741E5815-F201-3946-BA11-196162458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5" name="Rectangle 294">
              <a:extLst>
                <a:ext uri="{FF2B5EF4-FFF2-40B4-BE49-F238E27FC236}">
                  <a16:creationId xmlns:a16="http://schemas.microsoft.com/office/drawing/2014/main" id="{16834F46-BEA1-E54A-99D2-06A1D9E4E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02" name="Group 295">
              <a:extLst>
                <a:ext uri="{FF2B5EF4-FFF2-40B4-BE49-F238E27FC236}">
                  <a16:creationId xmlns:a16="http://schemas.microsoft.com/office/drawing/2014/main" id="{EFE1DB65-55C6-A040-8489-E8E7A50726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3" name="AutoShape 296">
                <a:extLst>
                  <a:ext uri="{FF2B5EF4-FFF2-40B4-BE49-F238E27FC236}">
                    <a16:creationId xmlns:a16="http://schemas.microsoft.com/office/drawing/2014/main" id="{60C873E6-EA5F-E546-9871-6CD69A0305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34" name="AutoShape 297">
                <a:extLst>
                  <a:ext uri="{FF2B5EF4-FFF2-40B4-BE49-F238E27FC236}">
                    <a16:creationId xmlns:a16="http://schemas.microsoft.com/office/drawing/2014/main" id="{AE94AAEC-480B-8047-91E5-519724D06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03" name="Rectangle 298">
              <a:extLst>
                <a:ext uri="{FF2B5EF4-FFF2-40B4-BE49-F238E27FC236}">
                  <a16:creationId xmlns:a16="http://schemas.microsoft.com/office/drawing/2014/main" id="{66AA352A-88C1-474E-8553-BFDBC71D6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04" name="Group 299">
              <a:extLst>
                <a:ext uri="{FF2B5EF4-FFF2-40B4-BE49-F238E27FC236}">
                  <a16:creationId xmlns:a16="http://schemas.microsoft.com/office/drawing/2014/main" id="{063BD826-F329-CE4F-8A05-BAE407197A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1" name="AutoShape 300">
                <a:extLst>
                  <a:ext uri="{FF2B5EF4-FFF2-40B4-BE49-F238E27FC236}">
                    <a16:creationId xmlns:a16="http://schemas.microsoft.com/office/drawing/2014/main" id="{502F9F8E-D733-304B-8917-5387C94462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32" name="AutoShape 301">
                <a:extLst>
                  <a:ext uri="{FF2B5EF4-FFF2-40B4-BE49-F238E27FC236}">
                    <a16:creationId xmlns:a16="http://schemas.microsoft.com/office/drawing/2014/main" id="{8FA48F3E-A09B-9947-AC4E-53AB08CAC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05" name="Rectangle 302">
              <a:extLst>
                <a:ext uri="{FF2B5EF4-FFF2-40B4-BE49-F238E27FC236}">
                  <a16:creationId xmlns:a16="http://schemas.microsoft.com/office/drawing/2014/main" id="{7E665F5D-879D-9E40-84B5-66D85E68A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06" name="Rectangle 303">
              <a:extLst>
                <a:ext uri="{FF2B5EF4-FFF2-40B4-BE49-F238E27FC236}">
                  <a16:creationId xmlns:a16="http://schemas.microsoft.com/office/drawing/2014/main" id="{7647528B-9EF0-E54D-974E-7DFC94037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07" name="Group 304">
              <a:extLst>
                <a:ext uri="{FF2B5EF4-FFF2-40B4-BE49-F238E27FC236}">
                  <a16:creationId xmlns:a16="http://schemas.microsoft.com/office/drawing/2014/main" id="{467A70C4-7121-374D-AFDB-661BA82AC2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9" name="AutoShape 305">
                <a:extLst>
                  <a:ext uri="{FF2B5EF4-FFF2-40B4-BE49-F238E27FC236}">
                    <a16:creationId xmlns:a16="http://schemas.microsoft.com/office/drawing/2014/main" id="{C5AF588B-0651-0545-9142-FD07BC8763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30" name="AutoShape 306">
                <a:extLst>
                  <a:ext uri="{FF2B5EF4-FFF2-40B4-BE49-F238E27FC236}">
                    <a16:creationId xmlns:a16="http://schemas.microsoft.com/office/drawing/2014/main" id="{9BEB1652-4112-004D-B7AC-1F3734A3C0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08" name="Freeform 307">
              <a:extLst>
                <a:ext uri="{FF2B5EF4-FFF2-40B4-BE49-F238E27FC236}">
                  <a16:creationId xmlns:a16="http://schemas.microsoft.com/office/drawing/2014/main" id="{D7A79ECE-B70D-2548-A773-6DCE4F281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209" name="Group 308">
              <a:extLst>
                <a:ext uri="{FF2B5EF4-FFF2-40B4-BE49-F238E27FC236}">
                  <a16:creationId xmlns:a16="http://schemas.microsoft.com/office/drawing/2014/main" id="{1ECF4553-693A-DD4D-A0E2-8AA0E2504F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7" name="AutoShape 309">
                <a:extLst>
                  <a:ext uri="{FF2B5EF4-FFF2-40B4-BE49-F238E27FC236}">
                    <a16:creationId xmlns:a16="http://schemas.microsoft.com/office/drawing/2014/main" id="{9C16F586-202A-6C49-BECE-8D7B0011EB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28" name="AutoShape 310">
                <a:extLst>
                  <a:ext uri="{FF2B5EF4-FFF2-40B4-BE49-F238E27FC236}">
                    <a16:creationId xmlns:a16="http://schemas.microsoft.com/office/drawing/2014/main" id="{C758F7C7-9330-BE46-A86A-D42B5637C8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10" name="Rectangle 311">
              <a:extLst>
                <a:ext uri="{FF2B5EF4-FFF2-40B4-BE49-F238E27FC236}">
                  <a16:creationId xmlns:a16="http://schemas.microsoft.com/office/drawing/2014/main" id="{533FE805-6D97-3D40-A722-65F7EC32A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11" name="Freeform 312">
              <a:extLst>
                <a:ext uri="{FF2B5EF4-FFF2-40B4-BE49-F238E27FC236}">
                  <a16:creationId xmlns:a16="http://schemas.microsoft.com/office/drawing/2014/main" id="{620834FD-6B76-EA4B-A18C-65A47D40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12" name="Freeform 313">
              <a:extLst>
                <a:ext uri="{FF2B5EF4-FFF2-40B4-BE49-F238E27FC236}">
                  <a16:creationId xmlns:a16="http://schemas.microsoft.com/office/drawing/2014/main" id="{C5A12F9D-49AB-5145-AA15-D382AA5D3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13" name="Oval 314">
              <a:extLst>
                <a:ext uri="{FF2B5EF4-FFF2-40B4-BE49-F238E27FC236}">
                  <a16:creationId xmlns:a16="http://schemas.microsoft.com/office/drawing/2014/main" id="{80DD1625-6CB9-AC4C-88B8-9DC831FCE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20" name="Freeform 315">
              <a:extLst>
                <a:ext uri="{FF2B5EF4-FFF2-40B4-BE49-F238E27FC236}">
                  <a16:creationId xmlns:a16="http://schemas.microsoft.com/office/drawing/2014/main" id="{A65F0511-3C28-C743-A21D-6264A2118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21" name="AutoShape 316">
              <a:extLst>
                <a:ext uri="{FF2B5EF4-FFF2-40B4-BE49-F238E27FC236}">
                  <a16:creationId xmlns:a16="http://schemas.microsoft.com/office/drawing/2014/main" id="{FADC981B-C983-6D40-AEA7-04B355ECA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22" name="AutoShape 317">
              <a:extLst>
                <a:ext uri="{FF2B5EF4-FFF2-40B4-BE49-F238E27FC236}">
                  <a16:creationId xmlns:a16="http://schemas.microsoft.com/office/drawing/2014/main" id="{708D79ED-DBE2-644C-B85E-DB3961F56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23" name="Oval 318">
              <a:extLst>
                <a:ext uri="{FF2B5EF4-FFF2-40B4-BE49-F238E27FC236}">
                  <a16:creationId xmlns:a16="http://schemas.microsoft.com/office/drawing/2014/main" id="{87AF5859-5E53-EE4C-954A-8D2D2B200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24" name="Oval 319">
              <a:extLst>
                <a:ext uri="{FF2B5EF4-FFF2-40B4-BE49-F238E27FC236}">
                  <a16:creationId xmlns:a16="http://schemas.microsoft.com/office/drawing/2014/main" id="{43616DFE-DE4C-D94C-B77F-413A270CA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25" name="Oval 320">
              <a:extLst>
                <a:ext uri="{FF2B5EF4-FFF2-40B4-BE49-F238E27FC236}">
                  <a16:creationId xmlns:a16="http://schemas.microsoft.com/office/drawing/2014/main" id="{63CB7C6A-7959-294B-919F-406DF4382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26" name="Rectangle 321">
              <a:extLst>
                <a:ext uri="{FF2B5EF4-FFF2-40B4-BE49-F238E27FC236}">
                  <a16:creationId xmlns:a16="http://schemas.microsoft.com/office/drawing/2014/main" id="{3ED5D38A-C2F0-8444-B700-8ED29C8B7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128" name="Rectangle 3">
            <a:extLst>
              <a:ext uri="{FF2B5EF4-FFF2-40B4-BE49-F238E27FC236}">
                <a16:creationId xmlns:a16="http://schemas.microsoft.com/office/drawing/2014/main" id="{4AEA1865-8C28-134C-8B6C-07E3981D0325}"/>
              </a:ext>
            </a:extLst>
          </p:cNvPr>
          <p:cNvSpPr txBox="1">
            <a:spLocks noChangeArrowheads="1"/>
          </p:cNvSpPr>
          <p:nvPr/>
        </p:nvSpPr>
        <p:spPr>
          <a:xfrm>
            <a:off x="691350" y="4050299"/>
            <a:ext cx="4171950" cy="47417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0044" indent="-252413" defTabSz="685800">
              <a:spcBef>
                <a:spcPts val="750"/>
              </a:spcBef>
              <a:defRPr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approach taken by TCP</a:t>
            </a:r>
            <a:endParaRPr lang="en-US" sz="27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916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4" name="Rectangle 2">
            <a:extLst>
              <a:ext uri="{FF2B5EF4-FFF2-40B4-BE49-F238E27FC236}">
                <a16:creationId xmlns:a16="http://schemas.microsoft.com/office/drawing/2014/main" id="{15E2A5A3-138A-0644-B40C-0B75A1130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dirty="0"/>
              <a:t>Approaches towards congestion control</a:t>
            </a:r>
            <a:endParaRPr lang="en-US" sz="4050" dirty="0"/>
          </a:p>
        </p:txBody>
      </p:sp>
      <p:sp>
        <p:nvSpPr>
          <p:cNvPr id="97289" name="Rectangle 3">
            <a:extLst>
              <a:ext uri="{FF2B5EF4-FFF2-40B4-BE49-F238E27FC236}">
                <a16:creationId xmlns:a16="http://schemas.microsoft.com/office/drawing/2014/main" id="{D469BBE5-2D5E-1245-BE57-AED04CA89E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991" indent="-208360">
              <a:defRPr/>
            </a:pPr>
            <a:r>
              <a:rPr lang="en-US" sz="2250" dirty="0"/>
              <a:t>TCP ECN, ATM, DECbit protocols</a:t>
            </a:r>
            <a:endParaRPr lang="en-US" sz="2625" dirty="0"/>
          </a:p>
        </p:txBody>
      </p:sp>
      <p:sp>
        <p:nvSpPr>
          <p:cNvPr id="142" name="Slide Number Placeholder 2">
            <a:extLst>
              <a:ext uri="{FF2B5EF4-FFF2-40B4-BE49-F238E27FC236}">
                <a16:creationId xmlns:a16="http://schemas.microsoft.com/office/drawing/2014/main" id="{2CD52159-2B0E-9F4A-977B-27EEC203D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Transport Layer: 3-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15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128" name="Freeform 2">
            <a:extLst>
              <a:ext uri="{FF2B5EF4-FFF2-40B4-BE49-F238E27FC236}">
                <a16:creationId xmlns:a16="http://schemas.microsoft.com/office/drawing/2014/main" id="{366E9ABE-54D6-794A-BFDC-C271FA98FBA8}"/>
              </a:ext>
            </a:extLst>
          </p:cNvPr>
          <p:cNvSpPr>
            <a:spLocks/>
          </p:cNvSpPr>
          <p:nvPr/>
        </p:nvSpPr>
        <p:spPr bwMode="auto">
          <a:xfrm>
            <a:off x="5756939" y="3451549"/>
            <a:ext cx="2136653" cy="1110680"/>
          </a:xfrm>
          <a:custGeom>
            <a:avLst/>
            <a:gdLst>
              <a:gd name="T0" fmla="*/ 2147483647 w 1794"/>
              <a:gd name="T1" fmla="*/ 2147483647 h 933"/>
              <a:gd name="T2" fmla="*/ 2147483647 w 1794"/>
              <a:gd name="T3" fmla="*/ 2147483647 h 933"/>
              <a:gd name="T4" fmla="*/ 2147483647 w 1794"/>
              <a:gd name="T5" fmla="*/ 2147483647 h 933"/>
              <a:gd name="T6" fmla="*/ 2147483647 w 1794"/>
              <a:gd name="T7" fmla="*/ 2147483647 h 933"/>
              <a:gd name="T8" fmla="*/ 2147483647 w 1794"/>
              <a:gd name="T9" fmla="*/ 2147483647 h 933"/>
              <a:gd name="T10" fmla="*/ 2147483647 w 1794"/>
              <a:gd name="T11" fmla="*/ 2147483647 h 933"/>
              <a:gd name="T12" fmla="*/ 2147483647 w 1794"/>
              <a:gd name="T13" fmla="*/ 2147483647 h 933"/>
              <a:gd name="T14" fmla="*/ 2147483647 w 1794"/>
              <a:gd name="T15" fmla="*/ 2147483647 h 933"/>
              <a:gd name="T16" fmla="*/ 2147483647 w 1794"/>
              <a:gd name="T17" fmla="*/ 2147483647 h 933"/>
              <a:gd name="T18" fmla="*/ 2147483647 w 1794"/>
              <a:gd name="T19" fmla="*/ 2147483647 h 933"/>
              <a:gd name="T20" fmla="*/ 2147483647 w 1794"/>
              <a:gd name="T21" fmla="*/ 2147483647 h 9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94"/>
              <a:gd name="T34" fmla="*/ 0 h 933"/>
              <a:gd name="T35" fmla="*/ 1794 w 1794"/>
              <a:gd name="T36" fmla="*/ 933 h 9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2" name="Freeform 6">
            <a:extLst>
              <a:ext uri="{FF2B5EF4-FFF2-40B4-BE49-F238E27FC236}">
                <a16:creationId xmlns:a16="http://schemas.microsoft.com/office/drawing/2014/main" id="{FFF13A6F-0F53-424B-A39A-76E877F099A6}"/>
              </a:ext>
            </a:extLst>
          </p:cNvPr>
          <p:cNvSpPr>
            <a:spLocks/>
          </p:cNvSpPr>
          <p:nvPr/>
        </p:nvSpPr>
        <p:spPr bwMode="auto">
          <a:xfrm>
            <a:off x="6235720" y="3678924"/>
            <a:ext cx="407322" cy="221422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4" name="Freeform 91">
            <a:extLst>
              <a:ext uri="{FF2B5EF4-FFF2-40B4-BE49-F238E27FC236}">
                <a16:creationId xmlns:a16="http://schemas.microsoft.com/office/drawing/2014/main" id="{0468E56B-A027-0D44-AEB8-704F79D68813}"/>
              </a:ext>
            </a:extLst>
          </p:cNvPr>
          <p:cNvSpPr>
            <a:spLocks/>
          </p:cNvSpPr>
          <p:nvPr/>
        </p:nvSpPr>
        <p:spPr bwMode="auto">
          <a:xfrm>
            <a:off x="7017016" y="3674162"/>
            <a:ext cx="378738" cy="230945"/>
          </a:xfrm>
          <a:custGeom>
            <a:avLst/>
            <a:gdLst>
              <a:gd name="T0" fmla="*/ 0 w 318"/>
              <a:gd name="T1" fmla="*/ 0 h 194"/>
              <a:gd name="T2" fmla="*/ 2147483647 w 318"/>
              <a:gd name="T3" fmla="*/ 2147483647 h 194"/>
              <a:gd name="T4" fmla="*/ 0 60000 65536"/>
              <a:gd name="T5" fmla="*/ 0 60000 65536"/>
              <a:gd name="T6" fmla="*/ 0 w 318"/>
              <a:gd name="T7" fmla="*/ 0 h 194"/>
              <a:gd name="T8" fmla="*/ 318 w 318"/>
              <a:gd name="T9" fmla="*/ 194 h 19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8" h="194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5" name="Freeform 92">
            <a:extLst>
              <a:ext uri="{FF2B5EF4-FFF2-40B4-BE49-F238E27FC236}">
                <a16:creationId xmlns:a16="http://schemas.microsoft.com/office/drawing/2014/main" id="{054FFAAB-E9BC-3E4C-8FB9-3EA2FFF0707B}"/>
              </a:ext>
            </a:extLst>
          </p:cNvPr>
          <p:cNvSpPr>
            <a:spLocks/>
          </p:cNvSpPr>
          <p:nvPr/>
        </p:nvSpPr>
        <p:spPr bwMode="auto">
          <a:xfrm>
            <a:off x="6217855" y="3968200"/>
            <a:ext cx="360873" cy="178566"/>
          </a:xfrm>
          <a:custGeom>
            <a:avLst/>
            <a:gdLst>
              <a:gd name="T0" fmla="*/ 0 w 294"/>
              <a:gd name="T1" fmla="*/ 0 h 174"/>
              <a:gd name="T2" fmla="*/ 2147483647 w 294"/>
              <a:gd name="T3" fmla="*/ 2147483647 h 174"/>
              <a:gd name="T4" fmla="*/ 0 60000 65536"/>
              <a:gd name="T5" fmla="*/ 0 60000 65536"/>
              <a:gd name="T6" fmla="*/ 0 w 294"/>
              <a:gd name="T7" fmla="*/ 0 h 174"/>
              <a:gd name="T8" fmla="*/ 294 w 294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4" h="17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6" name="Freeform 93">
            <a:extLst>
              <a:ext uri="{FF2B5EF4-FFF2-40B4-BE49-F238E27FC236}">
                <a16:creationId xmlns:a16="http://schemas.microsoft.com/office/drawing/2014/main" id="{1504AC5D-D6C1-D049-A591-6F0963B988CC}"/>
              </a:ext>
            </a:extLst>
          </p:cNvPr>
          <p:cNvSpPr>
            <a:spLocks/>
          </p:cNvSpPr>
          <p:nvPr/>
        </p:nvSpPr>
        <p:spPr bwMode="auto">
          <a:xfrm>
            <a:off x="6928882" y="3950344"/>
            <a:ext cx="471636" cy="185708"/>
          </a:xfrm>
          <a:custGeom>
            <a:avLst/>
            <a:gdLst>
              <a:gd name="T0" fmla="*/ 0 w 378"/>
              <a:gd name="T1" fmla="*/ 2147483647 h 174"/>
              <a:gd name="T2" fmla="*/ 2147483647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7" name="Freeform 94">
            <a:extLst>
              <a:ext uri="{FF2B5EF4-FFF2-40B4-BE49-F238E27FC236}">
                <a16:creationId xmlns:a16="http://schemas.microsoft.com/office/drawing/2014/main" id="{49EE5ACA-6705-2D4D-9A89-77A1C64919B5}"/>
              </a:ext>
            </a:extLst>
          </p:cNvPr>
          <p:cNvSpPr>
            <a:spLocks/>
          </p:cNvSpPr>
          <p:nvPr/>
        </p:nvSpPr>
        <p:spPr bwMode="auto">
          <a:xfrm>
            <a:off x="7429102" y="3990818"/>
            <a:ext cx="154830" cy="380940"/>
          </a:xfrm>
          <a:custGeom>
            <a:avLst/>
            <a:gdLst>
              <a:gd name="T0" fmla="*/ 0 w 118"/>
              <a:gd name="T1" fmla="*/ 2147483647 h 500"/>
              <a:gd name="T2" fmla="*/ 2147483647 w 118"/>
              <a:gd name="T3" fmla="*/ 0 h 500"/>
              <a:gd name="T4" fmla="*/ 0 60000 65536"/>
              <a:gd name="T5" fmla="*/ 0 60000 65536"/>
              <a:gd name="T6" fmla="*/ 0 w 118"/>
              <a:gd name="T7" fmla="*/ 0 h 500"/>
              <a:gd name="T8" fmla="*/ 118 w 118"/>
              <a:gd name="T9" fmla="*/ 500 h 5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8" h="500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8" name="Freeform 95">
            <a:extLst>
              <a:ext uri="{FF2B5EF4-FFF2-40B4-BE49-F238E27FC236}">
                <a16:creationId xmlns:a16="http://schemas.microsoft.com/office/drawing/2014/main" id="{C75D3801-AA9A-394F-B133-0C907B494EA8}"/>
              </a:ext>
            </a:extLst>
          </p:cNvPr>
          <p:cNvSpPr>
            <a:spLocks/>
          </p:cNvSpPr>
          <p:nvPr/>
        </p:nvSpPr>
        <p:spPr bwMode="auto">
          <a:xfrm>
            <a:off x="6502504" y="4390806"/>
            <a:ext cx="552624" cy="55951"/>
          </a:xfrm>
          <a:custGeom>
            <a:avLst/>
            <a:gdLst>
              <a:gd name="T0" fmla="*/ 2147483647 w 370"/>
              <a:gd name="T1" fmla="*/ 2147483647 h 32"/>
              <a:gd name="T2" fmla="*/ 0 w 370"/>
              <a:gd name="T3" fmla="*/ 0 h 32"/>
              <a:gd name="T4" fmla="*/ 0 60000 65536"/>
              <a:gd name="T5" fmla="*/ 0 60000 65536"/>
              <a:gd name="T6" fmla="*/ 0 w 370"/>
              <a:gd name="T7" fmla="*/ 0 h 32"/>
              <a:gd name="T8" fmla="*/ 370 w 370"/>
              <a:gd name="T9" fmla="*/ 32 h 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0" h="32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9" name="Freeform 96">
            <a:extLst>
              <a:ext uri="{FF2B5EF4-FFF2-40B4-BE49-F238E27FC236}">
                <a16:creationId xmlns:a16="http://schemas.microsoft.com/office/drawing/2014/main" id="{22DFD150-DCC3-9C4E-B2A1-9978ADFC2D32}"/>
              </a:ext>
            </a:extLst>
          </p:cNvPr>
          <p:cNvSpPr>
            <a:spLocks/>
          </p:cNvSpPr>
          <p:nvPr/>
        </p:nvSpPr>
        <p:spPr bwMode="auto">
          <a:xfrm>
            <a:off x="6099946" y="3986057"/>
            <a:ext cx="145302" cy="319037"/>
          </a:xfrm>
          <a:custGeom>
            <a:avLst/>
            <a:gdLst>
              <a:gd name="T0" fmla="*/ 2147483647 w 176"/>
              <a:gd name="T1" fmla="*/ 2147483647 h 412"/>
              <a:gd name="T2" fmla="*/ 2147483647 w 176"/>
              <a:gd name="T3" fmla="*/ 2147483647 h 412"/>
              <a:gd name="T4" fmla="*/ 0 w 176"/>
              <a:gd name="T5" fmla="*/ 0 h 412"/>
              <a:gd name="T6" fmla="*/ 0 60000 65536"/>
              <a:gd name="T7" fmla="*/ 0 60000 65536"/>
              <a:gd name="T8" fmla="*/ 0 60000 65536"/>
              <a:gd name="T9" fmla="*/ 0 w 176"/>
              <a:gd name="T10" fmla="*/ 0 h 412"/>
              <a:gd name="T11" fmla="*/ 176 w 176"/>
              <a:gd name="T12" fmla="*/ 412 h 4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" h="412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FE2A56FD-5BF2-8A47-B917-EC5BDAE7B6D9}"/>
              </a:ext>
            </a:extLst>
          </p:cNvPr>
          <p:cNvGrpSpPr/>
          <p:nvPr/>
        </p:nvGrpSpPr>
        <p:grpSpPr>
          <a:xfrm>
            <a:off x="7289801" y="3817014"/>
            <a:ext cx="433524" cy="214280"/>
            <a:chOff x="7493876" y="2774731"/>
            <a:chExt cx="1481958" cy="894622"/>
          </a:xfrm>
        </p:grpSpPr>
        <p:sp>
          <p:nvSpPr>
            <p:cNvPr id="295" name="Freeform 294">
              <a:extLst>
                <a:ext uri="{FF2B5EF4-FFF2-40B4-BE49-F238E27FC236}">
                  <a16:creationId xmlns:a16="http://schemas.microsoft.com/office/drawing/2014/main" id="{A22F5E6C-8071-584B-A45A-61580F1DF3A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     </a:t>
              </a:r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19D9D590-1C6D-B940-8236-FB7A7C7C3E1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</a:t>
              </a:r>
            </a:p>
          </p:txBody>
        </p:sp>
        <p:grpSp>
          <p:nvGrpSpPr>
            <p:cNvPr id="297" name="Group 296">
              <a:extLst>
                <a:ext uri="{FF2B5EF4-FFF2-40B4-BE49-F238E27FC236}">
                  <a16:creationId xmlns:a16="http://schemas.microsoft.com/office/drawing/2014/main" id="{55AD85DE-1093-294C-A79D-C39AACCD04D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8" name="Freeform 297">
                <a:extLst>
                  <a:ext uri="{FF2B5EF4-FFF2-40B4-BE49-F238E27FC236}">
                    <a16:creationId xmlns:a16="http://schemas.microsoft.com/office/drawing/2014/main" id="{74555870-3136-5F47-A50A-B9C84ADD9B5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99" name="Freeform 298">
                <a:extLst>
                  <a:ext uri="{FF2B5EF4-FFF2-40B4-BE49-F238E27FC236}">
                    <a16:creationId xmlns:a16="http://schemas.microsoft.com/office/drawing/2014/main" id="{4C89C07A-54CC-1F4B-8662-219BDC60226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300" name="Freeform 299">
                <a:extLst>
                  <a:ext uri="{FF2B5EF4-FFF2-40B4-BE49-F238E27FC236}">
                    <a16:creationId xmlns:a16="http://schemas.microsoft.com/office/drawing/2014/main" id="{AD074A1D-33A9-FD4E-9502-6E1A7B8749F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301" name="Freeform 300">
                <a:extLst>
                  <a:ext uri="{FF2B5EF4-FFF2-40B4-BE49-F238E27FC236}">
                    <a16:creationId xmlns:a16="http://schemas.microsoft.com/office/drawing/2014/main" id="{CCD24AC6-75BD-7240-ACA1-858F993F761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87D364BE-067C-ED48-9F93-CCBD43D1F1FD}"/>
              </a:ext>
            </a:extLst>
          </p:cNvPr>
          <p:cNvGrpSpPr/>
          <p:nvPr/>
        </p:nvGrpSpPr>
        <p:grpSpPr>
          <a:xfrm>
            <a:off x="7013705" y="4307334"/>
            <a:ext cx="433524" cy="214280"/>
            <a:chOff x="7493876" y="2774731"/>
            <a:chExt cx="1481958" cy="894622"/>
          </a:xfrm>
        </p:grpSpPr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56103B33-85E9-6646-AD36-73F16468B3C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     </a:t>
              </a:r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A249CC8A-2DD9-A540-96D6-72B9DFE29F2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</a:t>
              </a:r>
            </a:p>
          </p:txBody>
        </p:sp>
        <p:grpSp>
          <p:nvGrpSpPr>
            <p:cNvPr id="290" name="Group 289">
              <a:extLst>
                <a:ext uri="{FF2B5EF4-FFF2-40B4-BE49-F238E27FC236}">
                  <a16:creationId xmlns:a16="http://schemas.microsoft.com/office/drawing/2014/main" id="{BB9841D9-85A4-6641-AFC4-673E96A51A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1F8ACD1E-2A08-8148-97FE-2327BF094A0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92" name="Freeform 291">
                <a:extLst>
                  <a:ext uri="{FF2B5EF4-FFF2-40B4-BE49-F238E27FC236}">
                    <a16:creationId xmlns:a16="http://schemas.microsoft.com/office/drawing/2014/main" id="{4E9748D8-5A01-D746-848B-32926B95C5C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93" name="Freeform 292">
                <a:extLst>
                  <a:ext uri="{FF2B5EF4-FFF2-40B4-BE49-F238E27FC236}">
                    <a16:creationId xmlns:a16="http://schemas.microsoft.com/office/drawing/2014/main" id="{FD69F9EC-EC8E-3148-A0CF-68ADE091607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94" name="Freeform 293">
                <a:extLst>
                  <a:ext uri="{FF2B5EF4-FFF2-40B4-BE49-F238E27FC236}">
                    <a16:creationId xmlns:a16="http://schemas.microsoft.com/office/drawing/2014/main" id="{0C246818-5046-3547-9748-C8A5F8D31AA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4D4971E8-AD3B-214C-97F6-17EC02BCA29D}"/>
              </a:ext>
            </a:extLst>
          </p:cNvPr>
          <p:cNvGrpSpPr/>
          <p:nvPr/>
        </p:nvGrpSpPr>
        <p:grpSpPr>
          <a:xfrm>
            <a:off x="6146349" y="4270832"/>
            <a:ext cx="433524" cy="214280"/>
            <a:chOff x="7493876" y="2774731"/>
            <a:chExt cx="1481958" cy="894622"/>
          </a:xfrm>
        </p:grpSpPr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9739AEF0-B1B8-F540-9C41-AE1C85694CA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     </a:t>
              </a:r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9A8C264F-EE1E-AE42-AD54-26038D64E2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</a:t>
              </a:r>
            </a:p>
          </p:txBody>
        </p: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C4315C5D-BBB1-1548-A740-5E5B96BEB87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id="{895B76F4-731F-1A42-B1DA-2147C72110E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0DD88259-DBF1-C849-9347-E21FCDE91C2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7F83BAF8-E480-3243-8D32-1B36CF28B4D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87" name="Freeform 286">
                <a:extLst>
                  <a:ext uri="{FF2B5EF4-FFF2-40B4-BE49-F238E27FC236}">
                    <a16:creationId xmlns:a16="http://schemas.microsoft.com/office/drawing/2014/main" id="{05F54ED9-26EA-304E-B1C7-6F58A4EB537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73201F79-4BE9-2E4A-9B0C-FB48F9222B08}"/>
              </a:ext>
            </a:extLst>
          </p:cNvPr>
          <p:cNvGrpSpPr/>
          <p:nvPr/>
        </p:nvGrpSpPr>
        <p:grpSpPr>
          <a:xfrm>
            <a:off x="6600474" y="3584283"/>
            <a:ext cx="433524" cy="214280"/>
            <a:chOff x="7493876" y="2774731"/>
            <a:chExt cx="1481958" cy="894622"/>
          </a:xfrm>
        </p:grpSpPr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B69ED55D-3ADE-7541-A833-BAED4178F4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     </a:t>
              </a:r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475EA0AA-3E1E-A848-A884-768A31DBCF2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</a:t>
              </a:r>
            </a:p>
          </p:txBody>
        </p: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33E36C01-9187-3C43-B7AF-0C810E75817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7E1D2CF9-8553-254D-99D3-498E60EF92F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id="{10BB4142-3B92-B24F-AF76-70C8728A34A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79" name="Freeform 278">
                <a:extLst>
                  <a:ext uri="{FF2B5EF4-FFF2-40B4-BE49-F238E27FC236}">
                    <a16:creationId xmlns:a16="http://schemas.microsoft.com/office/drawing/2014/main" id="{A8740BCE-7F97-7642-B163-168373E22B1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80" name="Freeform 279">
                <a:extLst>
                  <a:ext uri="{FF2B5EF4-FFF2-40B4-BE49-F238E27FC236}">
                    <a16:creationId xmlns:a16="http://schemas.microsoft.com/office/drawing/2014/main" id="{9B5C1122-8A18-FC4A-A85F-6F1A1A2BF1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2CAF0E6F-60BF-1240-A259-C66B643E89AC}"/>
              </a:ext>
            </a:extLst>
          </p:cNvPr>
          <p:cNvGrpSpPr/>
          <p:nvPr/>
        </p:nvGrpSpPr>
        <p:grpSpPr>
          <a:xfrm>
            <a:off x="6533470" y="4032662"/>
            <a:ext cx="433524" cy="214280"/>
            <a:chOff x="7493876" y="2774731"/>
            <a:chExt cx="1481958" cy="894622"/>
          </a:xfrm>
        </p:grpSpPr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4E5B85EA-9E84-A242-B1CC-71F987F7E59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     </a:t>
              </a:r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C034AB19-CDAE-D044-BA78-A52EC726959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</a:t>
              </a:r>
            </a:p>
          </p:txBody>
        </p: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9E108296-06B4-4949-A9AD-3C1FA5DCEA0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0" name="Freeform 269">
                <a:extLst>
                  <a:ext uri="{FF2B5EF4-FFF2-40B4-BE49-F238E27FC236}">
                    <a16:creationId xmlns:a16="http://schemas.microsoft.com/office/drawing/2014/main" id="{8530AB93-30E4-7A4B-88C4-61542A5A0AC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D239BC1C-F100-2448-A44B-0B1C3E017E2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7FCAA9D2-9640-064E-9D9B-F975C49ECB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73" name="Freeform 272">
                <a:extLst>
                  <a:ext uri="{FF2B5EF4-FFF2-40B4-BE49-F238E27FC236}">
                    <a16:creationId xmlns:a16="http://schemas.microsoft.com/office/drawing/2014/main" id="{645CEC1F-F8DD-F048-9976-7ECD558712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80B3CBF-96BC-A640-867D-5DE8C38FCAA4}"/>
              </a:ext>
            </a:extLst>
          </p:cNvPr>
          <p:cNvGrpSpPr/>
          <p:nvPr/>
        </p:nvGrpSpPr>
        <p:grpSpPr>
          <a:xfrm>
            <a:off x="5823461" y="3815385"/>
            <a:ext cx="433524" cy="214280"/>
            <a:chOff x="7493876" y="2774731"/>
            <a:chExt cx="1481958" cy="894622"/>
          </a:xfrm>
        </p:grpSpPr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E2DEA29E-E539-DD4A-8E78-F10B0CB91D3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     </a:t>
              </a:r>
            </a:p>
          </p:txBody>
        </p:sp>
        <p:sp>
          <p:nvSpPr>
            <p:cNvPr id="261" name="Oval 260">
              <a:extLst>
                <a:ext uri="{FF2B5EF4-FFF2-40B4-BE49-F238E27FC236}">
                  <a16:creationId xmlns:a16="http://schemas.microsoft.com/office/drawing/2014/main" id="{B75DAF39-296E-174B-9017-65859A66C61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/>
                </a:rPr>
                <a:t>              </a:t>
              </a:r>
            </a:p>
          </p:txBody>
        </p:sp>
        <p:grpSp>
          <p:nvGrpSpPr>
            <p:cNvPr id="262" name="Group 261">
              <a:extLst>
                <a:ext uri="{FF2B5EF4-FFF2-40B4-BE49-F238E27FC236}">
                  <a16:creationId xmlns:a16="http://schemas.microsoft.com/office/drawing/2014/main" id="{F88F2AE9-EF9D-9349-9FB8-E52CAD986B9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FB60E484-FF23-D44E-87D8-BB30525A1A1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B0FF7CDC-AB3A-6C44-8273-6FEA8A00EF4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65" name="Freeform 264">
                <a:extLst>
                  <a:ext uri="{FF2B5EF4-FFF2-40B4-BE49-F238E27FC236}">
                    <a16:creationId xmlns:a16="http://schemas.microsoft.com/office/drawing/2014/main" id="{D102FF9A-7D62-CC4B-8939-37FC1A1E61D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66" name="Freeform 265">
                <a:extLst>
                  <a:ext uri="{FF2B5EF4-FFF2-40B4-BE49-F238E27FC236}">
                    <a16:creationId xmlns:a16="http://schemas.microsoft.com/office/drawing/2014/main" id="{928B49DE-7679-8C46-A671-A7856D8F840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sp>
        <p:nvSpPr>
          <p:cNvPr id="179" name="Freeform 254">
            <a:extLst>
              <a:ext uri="{FF2B5EF4-FFF2-40B4-BE49-F238E27FC236}">
                <a16:creationId xmlns:a16="http://schemas.microsoft.com/office/drawing/2014/main" id="{4BD65FCE-B086-1C41-89A5-8DAF6BA0013D}"/>
              </a:ext>
            </a:extLst>
          </p:cNvPr>
          <p:cNvSpPr>
            <a:spLocks/>
          </p:cNvSpPr>
          <p:nvPr/>
        </p:nvSpPr>
        <p:spPr bwMode="auto">
          <a:xfrm>
            <a:off x="8384150" y="2630012"/>
            <a:ext cx="188119" cy="90963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80" name="Group 289">
            <a:extLst>
              <a:ext uri="{FF2B5EF4-FFF2-40B4-BE49-F238E27FC236}">
                <a16:creationId xmlns:a16="http://schemas.microsoft.com/office/drawing/2014/main" id="{282CC52C-6D00-A04B-884E-AF704D4FD9CC}"/>
              </a:ext>
            </a:extLst>
          </p:cNvPr>
          <p:cNvGrpSpPr>
            <a:grpSpLocks/>
          </p:cNvGrpSpPr>
          <p:nvPr/>
        </p:nvGrpSpPr>
        <p:grpSpPr bwMode="auto">
          <a:xfrm>
            <a:off x="8516310" y="3302715"/>
            <a:ext cx="173831" cy="330994"/>
            <a:chOff x="4140" y="429"/>
            <a:chExt cx="1425" cy="2396"/>
          </a:xfrm>
        </p:grpSpPr>
        <p:sp>
          <p:nvSpPr>
            <p:cNvPr id="228" name="Freeform 290">
              <a:extLst>
                <a:ext uri="{FF2B5EF4-FFF2-40B4-BE49-F238E27FC236}">
                  <a16:creationId xmlns:a16="http://schemas.microsoft.com/office/drawing/2014/main" id="{DD58842D-C583-744E-BFD5-323B2ED54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29" name="Rectangle 291">
              <a:extLst>
                <a:ext uri="{FF2B5EF4-FFF2-40B4-BE49-F238E27FC236}">
                  <a16:creationId xmlns:a16="http://schemas.microsoft.com/office/drawing/2014/main" id="{7A587CA9-D508-B244-898D-908A8BD8F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30" name="Freeform 292">
              <a:extLst>
                <a:ext uri="{FF2B5EF4-FFF2-40B4-BE49-F238E27FC236}">
                  <a16:creationId xmlns:a16="http://schemas.microsoft.com/office/drawing/2014/main" id="{15485B65-6A91-A741-B71C-C9054384F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1" name="Freeform 293">
              <a:extLst>
                <a:ext uri="{FF2B5EF4-FFF2-40B4-BE49-F238E27FC236}">
                  <a16:creationId xmlns:a16="http://schemas.microsoft.com/office/drawing/2014/main" id="{9FD462AB-E254-4B44-ACEE-57DF3FEA3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2" name="Rectangle 294">
              <a:extLst>
                <a:ext uri="{FF2B5EF4-FFF2-40B4-BE49-F238E27FC236}">
                  <a16:creationId xmlns:a16="http://schemas.microsoft.com/office/drawing/2014/main" id="{8B02D026-F14D-2740-A4A5-53851F0B2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33" name="Group 295">
              <a:extLst>
                <a:ext uri="{FF2B5EF4-FFF2-40B4-BE49-F238E27FC236}">
                  <a16:creationId xmlns:a16="http://schemas.microsoft.com/office/drawing/2014/main" id="{B0C25286-A814-9143-B593-142AD05ACA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8" name="AutoShape 296">
                <a:extLst>
                  <a:ext uri="{FF2B5EF4-FFF2-40B4-BE49-F238E27FC236}">
                    <a16:creationId xmlns:a16="http://schemas.microsoft.com/office/drawing/2014/main" id="{2F585279-173F-3044-B252-4EED42C34D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59" name="AutoShape 297">
                <a:extLst>
                  <a:ext uri="{FF2B5EF4-FFF2-40B4-BE49-F238E27FC236}">
                    <a16:creationId xmlns:a16="http://schemas.microsoft.com/office/drawing/2014/main" id="{C0B63C95-0F44-8E4E-AEF1-8EEACAC76C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34" name="Rectangle 298">
              <a:extLst>
                <a:ext uri="{FF2B5EF4-FFF2-40B4-BE49-F238E27FC236}">
                  <a16:creationId xmlns:a16="http://schemas.microsoft.com/office/drawing/2014/main" id="{640C9C7A-DAFB-DB46-B834-AEAC566FA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35" name="Group 299">
              <a:extLst>
                <a:ext uri="{FF2B5EF4-FFF2-40B4-BE49-F238E27FC236}">
                  <a16:creationId xmlns:a16="http://schemas.microsoft.com/office/drawing/2014/main" id="{23F48019-DD1C-564E-B574-A8D1DB03F6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6" name="AutoShape 300">
                <a:extLst>
                  <a:ext uri="{FF2B5EF4-FFF2-40B4-BE49-F238E27FC236}">
                    <a16:creationId xmlns:a16="http://schemas.microsoft.com/office/drawing/2014/main" id="{E4024405-5028-0C46-8622-FC0B3C8202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57" name="AutoShape 301">
                <a:extLst>
                  <a:ext uri="{FF2B5EF4-FFF2-40B4-BE49-F238E27FC236}">
                    <a16:creationId xmlns:a16="http://schemas.microsoft.com/office/drawing/2014/main" id="{A5F943AE-9009-0944-89F8-AA45045404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36" name="Rectangle 302">
              <a:extLst>
                <a:ext uri="{FF2B5EF4-FFF2-40B4-BE49-F238E27FC236}">
                  <a16:creationId xmlns:a16="http://schemas.microsoft.com/office/drawing/2014/main" id="{1D7CBC12-6E8F-5743-B297-791903B3F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37" name="Rectangle 303">
              <a:extLst>
                <a:ext uri="{FF2B5EF4-FFF2-40B4-BE49-F238E27FC236}">
                  <a16:creationId xmlns:a16="http://schemas.microsoft.com/office/drawing/2014/main" id="{C3850711-AC6C-D149-8913-D8083044D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38" name="Group 304">
              <a:extLst>
                <a:ext uri="{FF2B5EF4-FFF2-40B4-BE49-F238E27FC236}">
                  <a16:creationId xmlns:a16="http://schemas.microsoft.com/office/drawing/2014/main" id="{9D49FEB6-488F-2048-A11B-E06E76DBE7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4" name="AutoShape 305">
                <a:extLst>
                  <a:ext uri="{FF2B5EF4-FFF2-40B4-BE49-F238E27FC236}">
                    <a16:creationId xmlns:a16="http://schemas.microsoft.com/office/drawing/2014/main" id="{0B25DD4D-3C90-584F-8831-6C80F4C7A9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55" name="AutoShape 306">
                <a:extLst>
                  <a:ext uri="{FF2B5EF4-FFF2-40B4-BE49-F238E27FC236}">
                    <a16:creationId xmlns:a16="http://schemas.microsoft.com/office/drawing/2014/main" id="{B7F3D7FB-8973-D44C-AD5E-E00A8713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39" name="Freeform 307">
              <a:extLst>
                <a:ext uri="{FF2B5EF4-FFF2-40B4-BE49-F238E27FC236}">
                  <a16:creationId xmlns:a16="http://schemas.microsoft.com/office/drawing/2014/main" id="{43DC40CF-325A-0047-882C-F0B88908F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240" name="Group 308">
              <a:extLst>
                <a:ext uri="{FF2B5EF4-FFF2-40B4-BE49-F238E27FC236}">
                  <a16:creationId xmlns:a16="http://schemas.microsoft.com/office/drawing/2014/main" id="{F5FBB7ED-0006-594A-8F05-82D90CE672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2" name="AutoShape 309">
                <a:extLst>
                  <a:ext uri="{FF2B5EF4-FFF2-40B4-BE49-F238E27FC236}">
                    <a16:creationId xmlns:a16="http://schemas.microsoft.com/office/drawing/2014/main" id="{1A4A3E68-C445-A84F-A76F-8ADDE253BD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53" name="AutoShape 310">
                <a:extLst>
                  <a:ext uri="{FF2B5EF4-FFF2-40B4-BE49-F238E27FC236}">
                    <a16:creationId xmlns:a16="http://schemas.microsoft.com/office/drawing/2014/main" id="{A0077764-7657-B447-9665-316638C75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41" name="Rectangle 311">
              <a:extLst>
                <a:ext uri="{FF2B5EF4-FFF2-40B4-BE49-F238E27FC236}">
                  <a16:creationId xmlns:a16="http://schemas.microsoft.com/office/drawing/2014/main" id="{8B482C5C-EFF7-D349-8CCD-0F43172E8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2" name="Freeform 312">
              <a:extLst>
                <a:ext uri="{FF2B5EF4-FFF2-40B4-BE49-F238E27FC236}">
                  <a16:creationId xmlns:a16="http://schemas.microsoft.com/office/drawing/2014/main" id="{4021586C-DA67-AA41-BA88-7AEAD6F26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43" name="Freeform 313">
              <a:extLst>
                <a:ext uri="{FF2B5EF4-FFF2-40B4-BE49-F238E27FC236}">
                  <a16:creationId xmlns:a16="http://schemas.microsoft.com/office/drawing/2014/main" id="{3D9F60F4-9173-9246-8E1F-2C2859D17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44" name="Oval 314">
              <a:extLst>
                <a:ext uri="{FF2B5EF4-FFF2-40B4-BE49-F238E27FC236}">
                  <a16:creationId xmlns:a16="http://schemas.microsoft.com/office/drawing/2014/main" id="{8765AD34-763D-1F46-AA79-FB63EC399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5" name="Freeform 315">
              <a:extLst>
                <a:ext uri="{FF2B5EF4-FFF2-40B4-BE49-F238E27FC236}">
                  <a16:creationId xmlns:a16="http://schemas.microsoft.com/office/drawing/2014/main" id="{E10BDF5D-EA0F-F042-BD9B-6E36BFF56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46" name="AutoShape 316">
              <a:extLst>
                <a:ext uri="{FF2B5EF4-FFF2-40B4-BE49-F238E27FC236}">
                  <a16:creationId xmlns:a16="http://schemas.microsoft.com/office/drawing/2014/main" id="{6C729113-6D55-C84E-BE58-123F8F053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7" name="AutoShape 317">
              <a:extLst>
                <a:ext uri="{FF2B5EF4-FFF2-40B4-BE49-F238E27FC236}">
                  <a16:creationId xmlns:a16="http://schemas.microsoft.com/office/drawing/2014/main" id="{81EA52A6-99B7-3846-9B34-7CB52FA09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8" name="Oval 318">
              <a:extLst>
                <a:ext uri="{FF2B5EF4-FFF2-40B4-BE49-F238E27FC236}">
                  <a16:creationId xmlns:a16="http://schemas.microsoft.com/office/drawing/2014/main" id="{D941D592-57DE-E849-8C9C-58F0B9615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9" name="Oval 319">
              <a:extLst>
                <a:ext uri="{FF2B5EF4-FFF2-40B4-BE49-F238E27FC236}">
                  <a16:creationId xmlns:a16="http://schemas.microsoft.com/office/drawing/2014/main" id="{BE056CB0-2EDD-6D4A-957A-3CCB3F3B3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50" name="Oval 320">
              <a:extLst>
                <a:ext uri="{FF2B5EF4-FFF2-40B4-BE49-F238E27FC236}">
                  <a16:creationId xmlns:a16="http://schemas.microsoft.com/office/drawing/2014/main" id="{0996AC45-D45C-6E49-8EA2-6B239FB49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51" name="Rectangle 321">
              <a:extLst>
                <a:ext uri="{FF2B5EF4-FFF2-40B4-BE49-F238E27FC236}">
                  <a16:creationId xmlns:a16="http://schemas.microsoft.com/office/drawing/2014/main" id="{4AD2A6FD-B1C1-2846-85C2-F6D452B32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181" name="Freeform 270">
            <a:extLst>
              <a:ext uri="{FF2B5EF4-FFF2-40B4-BE49-F238E27FC236}">
                <a16:creationId xmlns:a16="http://schemas.microsoft.com/office/drawing/2014/main" id="{327C52FA-DE4A-E94F-8911-ABEE881AA22F}"/>
              </a:ext>
            </a:extLst>
          </p:cNvPr>
          <p:cNvSpPr>
            <a:spLocks/>
          </p:cNvSpPr>
          <p:nvPr/>
        </p:nvSpPr>
        <p:spPr bwMode="auto">
          <a:xfrm flipH="1">
            <a:off x="5107550" y="2586037"/>
            <a:ext cx="188119" cy="901304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82" name="Group 354">
            <a:extLst>
              <a:ext uri="{FF2B5EF4-FFF2-40B4-BE49-F238E27FC236}">
                <a16:creationId xmlns:a16="http://schemas.microsoft.com/office/drawing/2014/main" id="{249020EA-8359-DA4E-A6BD-01714A19478B}"/>
              </a:ext>
            </a:extLst>
          </p:cNvPr>
          <p:cNvGrpSpPr>
            <a:grpSpLocks/>
          </p:cNvGrpSpPr>
          <p:nvPr/>
        </p:nvGrpSpPr>
        <p:grpSpPr bwMode="auto">
          <a:xfrm>
            <a:off x="4803940" y="3289698"/>
            <a:ext cx="394097" cy="326231"/>
            <a:chOff x="-44" y="1473"/>
            <a:chExt cx="981" cy="1105"/>
          </a:xfrm>
        </p:grpSpPr>
        <p:pic>
          <p:nvPicPr>
            <p:cNvPr id="226" name="Picture 355" descr="desktop_computer_stylized_medium">
              <a:extLst>
                <a:ext uri="{FF2B5EF4-FFF2-40B4-BE49-F238E27FC236}">
                  <a16:creationId xmlns:a16="http://schemas.microsoft.com/office/drawing/2014/main" id="{F5E082B2-BADD-164A-983C-4F21EE8545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7" name="Freeform 356">
              <a:extLst>
                <a:ext uri="{FF2B5EF4-FFF2-40B4-BE49-F238E27FC236}">
                  <a16:creationId xmlns:a16="http://schemas.microsoft.com/office/drawing/2014/main" id="{079D48B4-8397-C148-BF34-3B142B76223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B24BA112-55AD-AC41-BD94-9D9DBD9F7E9A}"/>
              </a:ext>
            </a:extLst>
          </p:cNvPr>
          <p:cNvGrpSpPr/>
          <p:nvPr/>
        </p:nvGrpSpPr>
        <p:grpSpPr>
          <a:xfrm>
            <a:off x="5283965" y="2628808"/>
            <a:ext cx="538401" cy="865856"/>
            <a:chOff x="7664720" y="2799688"/>
            <a:chExt cx="717868" cy="1154474"/>
          </a:xfrm>
        </p:grpSpPr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1D5C8C48-4AA2-D144-9071-4FC46876C0CD}"/>
                </a:ext>
              </a:extLst>
            </p:cNvPr>
            <p:cNvSpPr/>
            <p:nvPr/>
          </p:nvSpPr>
          <p:spPr>
            <a:xfrm>
              <a:off x="7671781" y="2799688"/>
              <a:ext cx="702570" cy="11544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rgbClr val="0000A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C9115613-D043-F746-9E95-BE91F6C8BCC9}"/>
                </a:ext>
              </a:extLst>
            </p:cNvPr>
            <p:cNvCxnSpPr/>
            <p:nvPr/>
          </p:nvCxnSpPr>
          <p:spPr>
            <a:xfrm>
              <a:off x="7664720" y="3029172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74476B4D-7B72-FD42-B168-C58F9397FB9F}"/>
                </a:ext>
              </a:extLst>
            </p:cNvPr>
            <p:cNvCxnSpPr/>
            <p:nvPr/>
          </p:nvCxnSpPr>
          <p:spPr>
            <a:xfrm>
              <a:off x="7668839" y="3266304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893A87B8-2634-E14A-80D8-9E6D65DFA444}"/>
                </a:ext>
              </a:extLst>
            </p:cNvPr>
            <p:cNvCxnSpPr/>
            <p:nvPr/>
          </p:nvCxnSpPr>
          <p:spPr>
            <a:xfrm>
              <a:off x="7680018" y="3499906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84DDD5A1-E55B-8D44-8F53-EA448F2F5AB7}"/>
                </a:ext>
              </a:extLst>
            </p:cNvPr>
            <p:cNvCxnSpPr/>
            <p:nvPr/>
          </p:nvCxnSpPr>
          <p:spPr>
            <a:xfrm>
              <a:off x="7670015" y="3726448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D946DB51-76AF-794B-896C-CE798C356CDC}"/>
              </a:ext>
            </a:extLst>
          </p:cNvPr>
          <p:cNvGrpSpPr/>
          <p:nvPr/>
        </p:nvGrpSpPr>
        <p:grpSpPr>
          <a:xfrm>
            <a:off x="7857686" y="2633741"/>
            <a:ext cx="538401" cy="865856"/>
            <a:chOff x="7664720" y="2795550"/>
            <a:chExt cx="717868" cy="1154474"/>
          </a:xfrm>
        </p:grpSpPr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2945C805-FB4D-1F41-B9DC-8E71DE43D0DF}"/>
                </a:ext>
              </a:extLst>
            </p:cNvPr>
            <p:cNvSpPr/>
            <p:nvPr/>
          </p:nvSpPr>
          <p:spPr>
            <a:xfrm>
              <a:off x="7671781" y="2795550"/>
              <a:ext cx="702570" cy="11544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rgbClr val="0000A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5C0CB443-CBC2-9E45-9CB6-C744CDA9BFD1}"/>
                </a:ext>
              </a:extLst>
            </p:cNvPr>
            <p:cNvCxnSpPr/>
            <p:nvPr/>
          </p:nvCxnSpPr>
          <p:spPr>
            <a:xfrm>
              <a:off x="7664720" y="3029172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804DF73C-F88C-FA4D-8328-09984DEA993E}"/>
                </a:ext>
              </a:extLst>
            </p:cNvPr>
            <p:cNvCxnSpPr/>
            <p:nvPr/>
          </p:nvCxnSpPr>
          <p:spPr>
            <a:xfrm>
              <a:off x="7668839" y="3266304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F977C676-85FB-0F40-8B20-289C82EC6C10}"/>
                </a:ext>
              </a:extLst>
            </p:cNvPr>
            <p:cNvCxnSpPr/>
            <p:nvPr/>
          </p:nvCxnSpPr>
          <p:spPr>
            <a:xfrm>
              <a:off x="7680018" y="3499906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D0AB40D6-D3E3-F644-A0B4-C65086440100}"/>
                </a:ext>
              </a:extLst>
            </p:cNvPr>
            <p:cNvCxnSpPr/>
            <p:nvPr/>
          </p:nvCxnSpPr>
          <p:spPr>
            <a:xfrm>
              <a:off x="7670015" y="3726448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CD01A017-DD54-D843-8EFE-4E068B32A548}"/>
              </a:ext>
            </a:extLst>
          </p:cNvPr>
          <p:cNvGrpSpPr/>
          <p:nvPr/>
        </p:nvGrpSpPr>
        <p:grpSpPr>
          <a:xfrm>
            <a:off x="6650874" y="4041421"/>
            <a:ext cx="342526" cy="169911"/>
            <a:chOff x="6859123" y="5156933"/>
            <a:chExt cx="456701" cy="226548"/>
          </a:xfrm>
        </p:grpSpPr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A9C46B58-EB58-CD4B-901C-36557A6BBB8A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F310AA80-E5E5-9D45-B059-DBF356B23652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2B504DA0-0830-A247-BFB2-5B08B92F485C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89AA1B6E-8009-4F41-B5BE-F62AE9B4630F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69984DBE-4678-3045-8619-E36B03BB624E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334E391C-886C-FD40-90C5-307C327A8D88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8740E756-940A-C245-BFC2-46F263F13E78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3646C395-21B6-0B4A-B835-DCBA9C58427F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87911E2-4676-1041-AC82-896E82DBBF94}"/>
              </a:ext>
            </a:extLst>
          </p:cNvPr>
          <p:cNvGrpSpPr/>
          <p:nvPr/>
        </p:nvGrpSpPr>
        <p:grpSpPr>
          <a:xfrm>
            <a:off x="5664299" y="2928882"/>
            <a:ext cx="2296261" cy="1074980"/>
            <a:chOff x="7552398" y="2762175"/>
            <a:chExt cx="3061681" cy="1433307"/>
          </a:xfrm>
        </p:grpSpPr>
        <p:sp>
          <p:nvSpPr>
            <p:cNvPr id="306" name="Freeform 305">
              <a:extLst>
                <a:ext uri="{FF2B5EF4-FFF2-40B4-BE49-F238E27FC236}">
                  <a16:creationId xmlns:a16="http://schemas.microsoft.com/office/drawing/2014/main" id="{A047DABE-6D91-2B46-B457-9C4D910EAC34}"/>
                </a:ext>
              </a:extLst>
            </p:cNvPr>
            <p:cNvSpPr/>
            <p:nvPr/>
          </p:nvSpPr>
          <p:spPr>
            <a:xfrm flipH="1">
              <a:off x="9104671" y="2771139"/>
              <a:ext cx="1509408" cy="1424343"/>
            </a:xfrm>
            <a:custGeom>
              <a:avLst/>
              <a:gdLst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9408" h="1378340">
                  <a:moveTo>
                    <a:pt x="1509408" y="1378340"/>
                  </a:moveTo>
                  <a:cubicBezTo>
                    <a:pt x="1268229" y="509348"/>
                    <a:pt x="882368" y="54174"/>
                    <a:pt x="0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268EAC65-5523-F449-A3E7-F1059BFF90A8}"/>
                </a:ext>
              </a:extLst>
            </p:cNvPr>
            <p:cNvSpPr/>
            <p:nvPr/>
          </p:nvSpPr>
          <p:spPr>
            <a:xfrm>
              <a:off x="7552398" y="2762175"/>
              <a:ext cx="1509408" cy="1424343"/>
            </a:xfrm>
            <a:custGeom>
              <a:avLst/>
              <a:gdLst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9408" h="1378340">
                  <a:moveTo>
                    <a:pt x="1509408" y="1378340"/>
                  </a:moveTo>
                  <a:cubicBezTo>
                    <a:pt x="1268229" y="509348"/>
                    <a:pt x="882368" y="54174"/>
                    <a:pt x="0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CDE6A3E2-3661-2F4D-A6C8-724B4A3D05ED}"/>
              </a:ext>
            </a:extLst>
          </p:cNvPr>
          <p:cNvGrpSpPr/>
          <p:nvPr/>
        </p:nvGrpSpPr>
        <p:grpSpPr>
          <a:xfrm>
            <a:off x="5571432" y="2865237"/>
            <a:ext cx="2563742" cy="1278763"/>
            <a:chOff x="7428575" y="2677315"/>
            <a:chExt cx="3418322" cy="1705017"/>
          </a:xfrm>
        </p:grpSpPr>
        <p:sp>
          <p:nvSpPr>
            <p:cNvPr id="309" name="Freeform 308">
              <a:extLst>
                <a:ext uri="{FF2B5EF4-FFF2-40B4-BE49-F238E27FC236}">
                  <a16:creationId xmlns:a16="http://schemas.microsoft.com/office/drawing/2014/main" id="{B47BEEA4-E4B8-A64E-885F-14003C8F5A1B}"/>
                </a:ext>
              </a:extLst>
            </p:cNvPr>
            <p:cNvSpPr/>
            <p:nvPr/>
          </p:nvSpPr>
          <p:spPr>
            <a:xfrm>
              <a:off x="9335149" y="2701273"/>
              <a:ext cx="1406838" cy="1681059"/>
            </a:xfrm>
            <a:custGeom>
              <a:avLst/>
              <a:gdLst>
                <a:gd name="connsiteX0" fmla="*/ 0 w 1541303"/>
                <a:gd name="connsiteY0" fmla="*/ 1605191 h 1605191"/>
                <a:gd name="connsiteX1" fmla="*/ 539056 w 1541303"/>
                <a:gd name="connsiteY1" fmla="*/ 1389568 h 1605191"/>
                <a:gd name="connsiteX2" fmla="*/ 1541303 w 1541303"/>
                <a:gd name="connsiteY2" fmla="*/ 1369603 h 1605191"/>
                <a:gd name="connsiteX3" fmla="*/ 1533317 w 1541303"/>
                <a:gd name="connsiteY3" fmla="*/ 0 h 1605191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1541303 w 1541303"/>
                <a:gd name="connsiteY2" fmla="*/ 1445471 h 1681059"/>
                <a:gd name="connsiteX3" fmla="*/ 1525331 w 1541303"/>
                <a:gd name="connsiteY3" fmla="*/ 0 h 1681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1303" h="1681059">
                  <a:moveTo>
                    <a:pt x="0" y="1681059"/>
                  </a:moveTo>
                  <a:lnTo>
                    <a:pt x="539056" y="1465436"/>
                  </a:lnTo>
                  <a:lnTo>
                    <a:pt x="1541303" y="1445471"/>
                  </a:lnTo>
                  <a:lnTo>
                    <a:pt x="1525331" y="0"/>
                  </a:lnTo>
                </a:path>
              </a:pathLst>
            </a:custGeom>
            <a:noFill/>
            <a:ln w="4445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10" name="Freeform 309">
              <a:extLst>
                <a:ext uri="{FF2B5EF4-FFF2-40B4-BE49-F238E27FC236}">
                  <a16:creationId xmlns:a16="http://schemas.microsoft.com/office/drawing/2014/main" id="{304AE042-2E8A-D141-BC94-ED99460E627E}"/>
                </a:ext>
              </a:extLst>
            </p:cNvPr>
            <p:cNvSpPr/>
            <p:nvPr/>
          </p:nvSpPr>
          <p:spPr>
            <a:xfrm>
              <a:off x="7473006" y="2677315"/>
              <a:ext cx="1446868" cy="1701024"/>
            </a:xfrm>
            <a:custGeom>
              <a:avLst/>
              <a:gdLst>
                <a:gd name="connsiteX0" fmla="*/ 0 w 1549289"/>
                <a:gd name="connsiteY0" fmla="*/ 0 h 1701024"/>
                <a:gd name="connsiteX1" fmla="*/ 0 w 1549289"/>
                <a:gd name="connsiteY1" fmla="*/ 1485401 h 1701024"/>
                <a:gd name="connsiteX2" fmla="*/ 1030198 w 1549289"/>
                <a:gd name="connsiteY2" fmla="*/ 1453457 h 1701024"/>
                <a:gd name="connsiteX3" fmla="*/ 1549289 w 1549289"/>
                <a:gd name="connsiteY3" fmla="*/ 1701024 h 1701024"/>
                <a:gd name="connsiteX0" fmla="*/ 0 w 1549289"/>
                <a:gd name="connsiteY0" fmla="*/ 0 h 1701024"/>
                <a:gd name="connsiteX1" fmla="*/ 7986 w 1549289"/>
                <a:gd name="connsiteY1" fmla="*/ 1481408 h 1701024"/>
                <a:gd name="connsiteX2" fmla="*/ 1030198 w 1549289"/>
                <a:gd name="connsiteY2" fmla="*/ 1453457 h 1701024"/>
                <a:gd name="connsiteX3" fmla="*/ 1549289 w 1549289"/>
                <a:gd name="connsiteY3" fmla="*/ 1701024 h 1701024"/>
                <a:gd name="connsiteX0" fmla="*/ 0 w 1549289"/>
                <a:gd name="connsiteY0" fmla="*/ 0 h 1701024"/>
                <a:gd name="connsiteX1" fmla="*/ 7986 w 1549289"/>
                <a:gd name="connsiteY1" fmla="*/ 1481408 h 1701024"/>
                <a:gd name="connsiteX2" fmla="*/ 1030198 w 1549289"/>
                <a:gd name="connsiteY2" fmla="*/ 1485401 h 1701024"/>
                <a:gd name="connsiteX3" fmla="*/ 1549289 w 1549289"/>
                <a:gd name="connsiteY3" fmla="*/ 1701024 h 1701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9289" h="1701024">
                  <a:moveTo>
                    <a:pt x="0" y="0"/>
                  </a:moveTo>
                  <a:lnTo>
                    <a:pt x="7986" y="1481408"/>
                  </a:lnTo>
                  <a:lnTo>
                    <a:pt x="1030198" y="1485401"/>
                  </a:lnTo>
                  <a:lnTo>
                    <a:pt x="1549289" y="1701024"/>
                  </a:lnTo>
                </a:path>
              </a:pathLst>
            </a:custGeom>
            <a:noFill/>
            <a:ln w="381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272D3047-A7CC-1745-B040-00D1E25997AF}"/>
                </a:ext>
              </a:extLst>
            </p:cNvPr>
            <p:cNvSpPr txBox="1"/>
            <p:nvPr/>
          </p:nvSpPr>
          <p:spPr>
            <a:xfrm>
              <a:off x="10184578" y="3556613"/>
              <a:ext cx="662319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srgbClr val="5B9BD5">
                      <a:lumMod val="75000"/>
                    </a:srgbClr>
                  </a:solidFill>
                  <a:latin typeface="Calibri"/>
                </a:rPr>
                <a:t>data</a:t>
              </a: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BBCAFBB0-6D98-9742-AB87-26B3EE90BCAB}"/>
                </a:ext>
              </a:extLst>
            </p:cNvPr>
            <p:cNvSpPr txBox="1"/>
            <p:nvPr/>
          </p:nvSpPr>
          <p:spPr>
            <a:xfrm>
              <a:off x="7428575" y="3517694"/>
              <a:ext cx="662319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srgbClr val="5B9BD5">
                      <a:lumMod val="75000"/>
                    </a:srgbClr>
                  </a:solidFill>
                  <a:latin typeface="Calibri"/>
                </a:rPr>
                <a:t>data</a:t>
              </a:r>
            </a:p>
          </p:txBody>
        </p:sp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5DFB8599-7DDC-8447-ADE3-2DAD2C0402AB}"/>
              </a:ext>
            </a:extLst>
          </p:cNvPr>
          <p:cNvGrpSpPr/>
          <p:nvPr/>
        </p:nvGrpSpPr>
        <p:grpSpPr>
          <a:xfrm>
            <a:off x="5099714" y="2875683"/>
            <a:ext cx="3538638" cy="1370632"/>
            <a:chOff x="6799618" y="2691243"/>
            <a:chExt cx="4718184" cy="1827509"/>
          </a:xfrm>
        </p:grpSpPr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67AC42C5-3F9E-0D4E-B80B-DB0208D256F0}"/>
                </a:ext>
              </a:extLst>
            </p:cNvPr>
            <p:cNvSpPr/>
            <p:nvPr/>
          </p:nvSpPr>
          <p:spPr>
            <a:xfrm>
              <a:off x="7353946" y="2691243"/>
              <a:ext cx="3498244" cy="1827509"/>
            </a:xfrm>
            <a:custGeom>
              <a:avLst/>
              <a:gdLst>
                <a:gd name="connsiteX0" fmla="*/ 0 w 1541303"/>
                <a:gd name="connsiteY0" fmla="*/ 1605191 h 1605191"/>
                <a:gd name="connsiteX1" fmla="*/ 539056 w 1541303"/>
                <a:gd name="connsiteY1" fmla="*/ 1389568 h 1605191"/>
                <a:gd name="connsiteX2" fmla="*/ 1541303 w 1541303"/>
                <a:gd name="connsiteY2" fmla="*/ 1369603 h 1605191"/>
                <a:gd name="connsiteX3" fmla="*/ 1533317 w 1541303"/>
                <a:gd name="connsiteY3" fmla="*/ 0 h 1605191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1541303 w 1541303"/>
                <a:gd name="connsiteY2" fmla="*/ 1445471 h 1681059"/>
                <a:gd name="connsiteX3" fmla="*/ 1525331 w 1541303"/>
                <a:gd name="connsiteY3" fmla="*/ 0 h 1681059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920408 w 1541303"/>
                <a:gd name="connsiteY2" fmla="*/ 1455758 h 1681059"/>
                <a:gd name="connsiteX3" fmla="*/ 1541303 w 1541303"/>
                <a:gd name="connsiteY3" fmla="*/ 1445471 h 1681059"/>
                <a:gd name="connsiteX4" fmla="*/ 1525331 w 1541303"/>
                <a:gd name="connsiteY4" fmla="*/ 0 h 1681059"/>
                <a:gd name="connsiteX0" fmla="*/ 0 w 1541303"/>
                <a:gd name="connsiteY0" fmla="*/ 1681059 h 1681059"/>
                <a:gd name="connsiteX1" fmla="*/ 373242 w 1541303"/>
                <a:gd name="connsiteY1" fmla="*/ 1536549 h 1681059"/>
                <a:gd name="connsiteX2" fmla="*/ 539056 w 1541303"/>
                <a:gd name="connsiteY2" fmla="*/ 1465436 h 1681059"/>
                <a:gd name="connsiteX3" fmla="*/ 920408 w 1541303"/>
                <a:gd name="connsiteY3" fmla="*/ 1455758 h 1681059"/>
                <a:gd name="connsiteX4" fmla="*/ 1541303 w 1541303"/>
                <a:gd name="connsiteY4" fmla="*/ 1445471 h 1681059"/>
                <a:gd name="connsiteX5" fmla="*/ 1525331 w 1541303"/>
                <a:gd name="connsiteY5" fmla="*/ 0 h 1681059"/>
                <a:gd name="connsiteX0" fmla="*/ 0 w 1541303"/>
                <a:gd name="connsiteY0" fmla="*/ 1681059 h 1681059"/>
                <a:gd name="connsiteX1" fmla="*/ 373242 w 1541303"/>
                <a:gd name="connsiteY1" fmla="*/ 1536549 h 1681059"/>
                <a:gd name="connsiteX2" fmla="*/ 232427 w 1541303"/>
                <a:gd name="connsiteY2" fmla="*/ 1591633 h 1681059"/>
                <a:gd name="connsiteX3" fmla="*/ 539056 w 1541303"/>
                <a:gd name="connsiteY3" fmla="*/ 1465436 h 1681059"/>
                <a:gd name="connsiteX4" fmla="*/ 920408 w 1541303"/>
                <a:gd name="connsiteY4" fmla="*/ 1455758 h 1681059"/>
                <a:gd name="connsiteX5" fmla="*/ 1541303 w 1541303"/>
                <a:gd name="connsiteY5" fmla="*/ 1445471 h 1681059"/>
                <a:gd name="connsiteX6" fmla="*/ 1525331 w 1541303"/>
                <a:gd name="connsiteY6" fmla="*/ 0 h 1681059"/>
                <a:gd name="connsiteX0" fmla="*/ 0 w 3882856"/>
                <a:gd name="connsiteY0" fmla="*/ 142370 h 1591633"/>
                <a:gd name="connsiteX1" fmla="*/ 2714795 w 3882856"/>
                <a:gd name="connsiteY1" fmla="*/ 1536549 h 1591633"/>
                <a:gd name="connsiteX2" fmla="*/ 2573980 w 3882856"/>
                <a:gd name="connsiteY2" fmla="*/ 1591633 h 1591633"/>
                <a:gd name="connsiteX3" fmla="*/ 2880609 w 3882856"/>
                <a:gd name="connsiteY3" fmla="*/ 1465436 h 1591633"/>
                <a:gd name="connsiteX4" fmla="*/ 3261961 w 3882856"/>
                <a:gd name="connsiteY4" fmla="*/ 1455758 h 1591633"/>
                <a:gd name="connsiteX5" fmla="*/ 3882856 w 3882856"/>
                <a:gd name="connsiteY5" fmla="*/ 1445471 h 1591633"/>
                <a:gd name="connsiteX6" fmla="*/ 3866884 w 3882856"/>
                <a:gd name="connsiteY6" fmla="*/ 0 h 1591633"/>
                <a:gd name="connsiteX0" fmla="*/ 0 w 3882856"/>
                <a:gd name="connsiteY0" fmla="*/ 142370 h 1591633"/>
                <a:gd name="connsiteX1" fmla="*/ 2163604 w 3882856"/>
                <a:gd name="connsiteY1" fmla="*/ 1510843 h 1591633"/>
                <a:gd name="connsiteX2" fmla="*/ 2573980 w 3882856"/>
                <a:gd name="connsiteY2" fmla="*/ 1591633 h 1591633"/>
                <a:gd name="connsiteX3" fmla="*/ 2880609 w 3882856"/>
                <a:gd name="connsiteY3" fmla="*/ 1465436 h 1591633"/>
                <a:gd name="connsiteX4" fmla="*/ 3261961 w 3882856"/>
                <a:gd name="connsiteY4" fmla="*/ 1455758 h 1591633"/>
                <a:gd name="connsiteX5" fmla="*/ 3882856 w 3882856"/>
                <a:gd name="connsiteY5" fmla="*/ 1445471 h 1591633"/>
                <a:gd name="connsiteX6" fmla="*/ 3866884 w 3882856"/>
                <a:gd name="connsiteY6" fmla="*/ 0 h 1591633"/>
                <a:gd name="connsiteX0" fmla="*/ 33110 w 3915966"/>
                <a:gd name="connsiteY0" fmla="*/ 142370 h 1591633"/>
                <a:gd name="connsiteX1" fmla="*/ 0 w 3915966"/>
                <a:gd name="connsiteY1" fmla="*/ 1510843 h 1591633"/>
                <a:gd name="connsiteX2" fmla="*/ 2607090 w 3915966"/>
                <a:gd name="connsiteY2" fmla="*/ 1591633 h 1591633"/>
                <a:gd name="connsiteX3" fmla="*/ 2913719 w 3915966"/>
                <a:gd name="connsiteY3" fmla="*/ 1465436 h 1591633"/>
                <a:gd name="connsiteX4" fmla="*/ 3295071 w 3915966"/>
                <a:gd name="connsiteY4" fmla="*/ 1455758 h 1591633"/>
                <a:gd name="connsiteX5" fmla="*/ 3915966 w 3915966"/>
                <a:gd name="connsiteY5" fmla="*/ 1445471 h 1591633"/>
                <a:gd name="connsiteX6" fmla="*/ 3899994 w 3915966"/>
                <a:gd name="connsiteY6" fmla="*/ 0 h 1591633"/>
                <a:gd name="connsiteX0" fmla="*/ 33110 w 3915966"/>
                <a:gd name="connsiteY0" fmla="*/ 142370 h 1510843"/>
                <a:gd name="connsiteX1" fmla="*/ 0 w 3915966"/>
                <a:gd name="connsiteY1" fmla="*/ 1510843 h 1510843"/>
                <a:gd name="connsiteX2" fmla="*/ 1263312 w 3915966"/>
                <a:gd name="connsiteY2" fmla="*/ 1477792 h 1510843"/>
                <a:gd name="connsiteX3" fmla="*/ 2913719 w 3915966"/>
                <a:gd name="connsiteY3" fmla="*/ 1465436 h 1510843"/>
                <a:gd name="connsiteX4" fmla="*/ 3295071 w 3915966"/>
                <a:gd name="connsiteY4" fmla="*/ 1455758 h 1510843"/>
                <a:gd name="connsiteX5" fmla="*/ 3915966 w 3915966"/>
                <a:gd name="connsiteY5" fmla="*/ 1445471 h 1510843"/>
                <a:gd name="connsiteX6" fmla="*/ 3899994 w 3915966"/>
                <a:gd name="connsiteY6" fmla="*/ 0 h 1510843"/>
                <a:gd name="connsiteX0" fmla="*/ 33110 w 3915966"/>
                <a:gd name="connsiteY0" fmla="*/ 142370 h 1510843"/>
                <a:gd name="connsiteX1" fmla="*/ 0 w 3915966"/>
                <a:gd name="connsiteY1" fmla="*/ 1510843 h 1510843"/>
                <a:gd name="connsiteX2" fmla="*/ 1263312 w 3915966"/>
                <a:gd name="connsiteY2" fmla="*/ 1477792 h 1510843"/>
                <a:gd name="connsiteX3" fmla="*/ 2373740 w 3915966"/>
                <a:gd name="connsiteY3" fmla="*/ 1470447 h 1510843"/>
                <a:gd name="connsiteX4" fmla="*/ 2913719 w 3915966"/>
                <a:gd name="connsiteY4" fmla="*/ 1465436 h 1510843"/>
                <a:gd name="connsiteX5" fmla="*/ 3295071 w 3915966"/>
                <a:gd name="connsiteY5" fmla="*/ 1455758 h 1510843"/>
                <a:gd name="connsiteX6" fmla="*/ 3915966 w 3915966"/>
                <a:gd name="connsiteY6" fmla="*/ 1445471 h 1510843"/>
                <a:gd name="connsiteX7" fmla="*/ 3899994 w 3915966"/>
                <a:gd name="connsiteY7" fmla="*/ 0 h 1510843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2192692 w 3915966"/>
                <a:gd name="connsiteY3" fmla="*/ 1676095 h 1676095"/>
                <a:gd name="connsiteX4" fmla="*/ 2913719 w 3915966"/>
                <a:gd name="connsiteY4" fmla="*/ 1465436 h 1676095"/>
                <a:gd name="connsiteX5" fmla="*/ 3295071 w 3915966"/>
                <a:gd name="connsiteY5" fmla="*/ 1455758 h 1676095"/>
                <a:gd name="connsiteX6" fmla="*/ 3915966 w 3915966"/>
                <a:gd name="connsiteY6" fmla="*/ 1445471 h 1676095"/>
                <a:gd name="connsiteX7" fmla="*/ 3899994 w 3915966"/>
                <a:gd name="connsiteY7" fmla="*/ 0 h 1676095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1609316 w 3915966"/>
                <a:gd name="connsiteY3" fmla="*/ 1551238 h 1676095"/>
                <a:gd name="connsiteX4" fmla="*/ 2192692 w 3915966"/>
                <a:gd name="connsiteY4" fmla="*/ 1676095 h 1676095"/>
                <a:gd name="connsiteX5" fmla="*/ 2913719 w 3915966"/>
                <a:gd name="connsiteY5" fmla="*/ 1465436 h 1676095"/>
                <a:gd name="connsiteX6" fmla="*/ 3295071 w 3915966"/>
                <a:gd name="connsiteY6" fmla="*/ 1455758 h 1676095"/>
                <a:gd name="connsiteX7" fmla="*/ 3915966 w 3915966"/>
                <a:gd name="connsiteY7" fmla="*/ 1445471 h 1676095"/>
                <a:gd name="connsiteX8" fmla="*/ 3899994 w 3915966"/>
                <a:gd name="connsiteY8" fmla="*/ 0 h 1676095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1589200 w 3915966"/>
                <a:gd name="connsiteY3" fmla="*/ 1661407 h 1676095"/>
                <a:gd name="connsiteX4" fmla="*/ 2192692 w 3915966"/>
                <a:gd name="connsiteY4" fmla="*/ 1676095 h 1676095"/>
                <a:gd name="connsiteX5" fmla="*/ 2913719 w 3915966"/>
                <a:gd name="connsiteY5" fmla="*/ 1465436 h 1676095"/>
                <a:gd name="connsiteX6" fmla="*/ 3295071 w 3915966"/>
                <a:gd name="connsiteY6" fmla="*/ 1455758 h 1676095"/>
                <a:gd name="connsiteX7" fmla="*/ 3915966 w 3915966"/>
                <a:gd name="connsiteY7" fmla="*/ 1445471 h 1676095"/>
                <a:gd name="connsiteX8" fmla="*/ 3899994 w 3915966"/>
                <a:gd name="connsiteY8" fmla="*/ 0 h 1676095"/>
                <a:gd name="connsiteX0" fmla="*/ 17017 w 3915966"/>
                <a:gd name="connsiteY0" fmla="*/ 0 h 1838525"/>
                <a:gd name="connsiteX1" fmla="*/ 0 w 3915966"/>
                <a:gd name="connsiteY1" fmla="*/ 1673273 h 1838525"/>
                <a:gd name="connsiteX2" fmla="*/ 1263312 w 3915966"/>
                <a:gd name="connsiteY2" fmla="*/ 1640222 h 1838525"/>
                <a:gd name="connsiteX3" fmla="*/ 1589200 w 3915966"/>
                <a:gd name="connsiteY3" fmla="*/ 1823837 h 1838525"/>
                <a:gd name="connsiteX4" fmla="*/ 2192692 w 3915966"/>
                <a:gd name="connsiteY4" fmla="*/ 1838525 h 1838525"/>
                <a:gd name="connsiteX5" fmla="*/ 2913719 w 3915966"/>
                <a:gd name="connsiteY5" fmla="*/ 1627866 h 1838525"/>
                <a:gd name="connsiteX6" fmla="*/ 3295071 w 3915966"/>
                <a:gd name="connsiteY6" fmla="*/ 1618188 h 1838525"/>
                <a:gd name="connsiteX7" fmla="*/ 3915966 w 3915966"/>
                <a:gd name="connsiteY7" fmla="*/ 1607901 h 1838525"/>
                <a:gd name="connsiteX8" fmla="*/ 3899994 w 3915966"/>
                <a:gd name="connsiteY8" fmla="*/ 162430 h 1838525"/>
                <a:gd name="connsiteX0" fmla="*/ 0 w 3898949"/>
                <a:gd name="connsiteY0" fmla="*/ 0 h 1838525"/>
                <a:gd name="connsiteX1" fmla="*/ 19193 w 3898949"/>
                <a:gd name="connsiteY1" fmla="*/ 1581465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5137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9969 w 3898949"/>
                <a:gd name="connsiteY2" fmla="*/ 1566776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5946 w 3898949"/>
                <a:gd name="connsiteY2" fmla="*/ 1581465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5946 w 3898949"/>
                <a:gd name="connsiteY2" fmla="*/ 159248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896702 w 3898949"/>
                <a:gd name="connsiteY5" fmla="*/ 1627866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82977 w 3898949"/>
                <a:gd name="connsiteY8" fmla="*/ 162430 h 1827509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727724 w 3898949"/>
                <a:gd name="connsiteY5" fmla="*/ 1591143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82977 w 3898949"/>
                <a:gd name="connsiteY8" fmla="*/ 162430 h 1827509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727724 w 3898949"/>
                <a:gd name="connsiteY5" fmla="*/ 1591143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69708 w 3898949"/>
                <a:gd name="connsiteY8" fmla="*/ 113985 h 1827509"/>
                <a:gd name="connsiteX0" fmla="*/ 0 w 3869708"/>
                <a:gd name="connsiteY0" fmla="*/ 0 h 1827509"/>
                <a:gd name="connsiteX1" fmla="*/ 15169 w 3869708"/>
                <a:gd name="connsiteY1" fmla="*/ 1588809 h 1827509"/>
                <a:gd name="connsiteX2" fmla="*/ 1185946 w 3869708"/>
                <a:gd name="connsiteY2" fmla="*/ 1592482 h 1827509"/>
                <a:gd name="connsiteX3" fmla="*/ 1572183 w 3869708"/>
                <a:gd name="connsiteY3" fmla="*/ 1823837 h 1827509"/>
                <a:gd name="connsiteX4" fmla="*/ 2147513 w 3869708"/>
                <a:gd name="connsiteY4" fmla="*/ 1827509 h 1827509"/>
                <a:gd name="connsiteX5" fmla="*/ 2727724 w 3869708"/>
                <a:gd name="connsiteY5" fmla="*/ 1591143 h 1827509"/>
                <a:gd name="connsiteX6" fmla="*/ 3278054 w 3869708"/>
                <a:gd name="connsiteY6" fmla="*/ 1618188 h 1827509"/>
                <a:gd name="connsiteX7" fmla="*/ 3839239 w 3869708"/>
                <a:gd name="connsiteY7" fmla="*/ 1565511 h 1827509"/>
                <a:gd name="connsiteX8" fmla="*/ 3869708 w 3869708"/>
                <a:gd name="connsiteY8" fmla="*/ 113985 h 1827509"/>
                <a:gd name="connsiteX0" fmla="*/ 0 w 3839239"/>
                <a:gd name="connsiteY0" fmla="*/ 0 h 1827509"/>
                <a:gd name="connsiteX1" fmla="*/ 15169 w 3839239"/>
                <a:gd name="connsiteY1" fmla="*/ 1588809 h 1827509"/>
                <a:gd name="connsiteX2" fmla="*/ 1185946 w 3839239"/>
                <a:gd name="connsiteY2" fmla="*/ 1592482 h 1827509"/>
                <a:gd name="connsiteX3" fmla="*/ 1572183 w 3839239"/>
                <a:gd name="connsiteY3" fmla="*/ 1823837 h 1827509"/>
                <a:gd name="connsiteX4" fmla="*/ 2147513 w 3839239"/>
                <a:gd name="connsiteY4" fmla="*/ 1827509 h 1827509"/>
                <a:gd name="connsiteX5" fmla="*/ 2727724 w 3839239"/>
                <a:gd name="connsiteY5" fmla="*/ 1591143 h 1827509"/>
                <a:gd name="connsiteX6" fmla="*/ 3278054 w 3839239"/>
                <a:gd name="connsiteY6" fmla="*/ 1618188 h 1827509"/>
                <a:gd name="connsiteX7" fmla="*/ 3839239 w 3839239"/>
                <a:gd name="connsiteY7" fmla="*/ 1565511 h 1827509"/>
                <a:gd name="connsiteX8" fmla="*/ 3829902 w 3839239"/>
                <a:gd name="connsiteY8" fmla="*/ 126097 h 1827509"/>
                <a:gd name="connsiteX0" fmla="*/ 0 w 3839239"/>
                <a:gd name="connsiteY0" fmla="*/ 0 h 1827509"/>
                <a:gd name="connsiteX1" fmla="*/ 15169 w 3839239"/>
                <a:gd name="connsiteY1" fmla="*/ 1588809 h 1827509"/>
                <a:gd name="connsiteX2" fmla="*/ 1185946 w 3839239"/>
                <a:gd name="connsiteY2" fmla="*/ 1592482 h 1827509"/>
                <a:gd name="connsiteX3" fmla="*/ 1572183 w 3839239"/>
                <a:gd name="connsiteY3" fmla="*/ 1823837 h 1827509"/>
                <a:gd name="connsiteX4" fmla="*/ 2147513 w 3839239"/>
                <a:gd name="connsiteY4" fmla="*/ 1827509 h 1827509"/>
                <a:gd name="connsiteX5" fmla="*/ 2727724 w 3839239"/>
                <a:gd name="connsiteY5" fmla="*/ 1591143 h 1827509"/>
                <a:gd name="connsiteX6" fmla="*/ 3839239 w 3839239"/>
                <a:gd name="connsiteY6" fmla="*/ 1565511 h 1827509"/>
                <a:gd name="connsiteX7" fmla="*/ 3829902 w 3839239"/>
                <a:gd name="connsiteY7" fmla="*/ 126097 h 1827509"/>
                <a:gd name="connsiteX0" fmla="*/ 0 w 3832605"/>
                <a:gd name="connsiteY0" fmla="*/ 0 h 1827509"/>
                <a:gd name="connsiteX1" fmla="*/ 15169 w 3832605"/>
                <a:gd name="connsiteY1" fmla="*/ 1588809 h 1827509"/>
                <a:gd name="connsiteX2" fmla="*/ 1185946 w 3832605"/>
                <a:gd name="connsiteY2" fmla="*/ 1592482 h 1827509"/>
                <a:gd name="connsiteX3" fmla="*/ 1572183 w 3832605"/>
                <a:gd name="connsiteY3" fmla="*/ 1823837 h 1827509"/>
                <a:gd name="connsiteX4" fmla="*/ 2147513 w 3832605"/>
                <a:gd name="connsiteY4" fmla="*/ 1827509 h 1827509"/>
                <a:gd name="connsiteX5" fmla="*/ 2727724 w 3832605"/>
                <a:gd name="connsiteY5" fmla="*/ 1591143 h 1827509"/>
                <a:gd name="connsiteX6" fmla="*/ 3832605 w 3832605"/>
                <a:gd name="connsiteY6" fmla="*/ 1589734 h 1827509"/>
                <a:gd name="connsiteX7" fmla="*/ 3829902 w 3832605"/>
                <a:gd name="connsiteY7" fmla="*/ 126097 h 1827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32605" h="1827509">
                  <a:moveTo>
                    <a:pt x="0" y="0"/>
                  </a:moveTo>
                  <a:lnTo>
                    <a:pt x="15169" y="1588809"/>
                  </a:lnTo>
                  <a:lnTo>
                    <a:pt x="1185946" y="1592482"/>
                  </a:lnTo>
                  <a:lnTo>
                    <a:pt x="1572183" y="1823837"/>
                  </a:lnTo>
                  <a:lnTo>
                    <a:pt x="2147513" y="1827509"/>
                  </a:lnTo>
                  <a:lnTo>
                    <a:pt x="2727724" y="1591143"/>
                  </a:lnTo>
                  <a:lnTo>
                    <a:pt x="3832605" y="1589734"/>
                  </a:lnTo>
                  <a:cubicBezTo>
                    <a:pt x="3829493" y="1109929"/>
                    <a:pt x="3833014" y="605902"/>
                    <a:pt x="3829902" y="126097"/>
                  </a:cubicBezTo>
                </a:path>
              </a:pathLst>
            </a:custGeom>
            <a:noFill/>
            <a:ln w="25400">
              <a:solidFill>
                <a:srgbClr val="00B050"/>
              </a:solidFill>
              <a:headEnd type="triangl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4B1BE921-31E4-C342-B3CD-DD49B4829966}"/>
                </a:ext>
              </a:extLst>
            </p:cNvPr>
            <p:cNvSpPr txBox="1"/>
            <p:nvPr/>
          </p:nvSpPr>
          <p:spPr>
            <a:xfrm>
              <a:off x="6799618" y="3650736"/>
              <a:ext cx="708399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srgbClr val="00B050"/>
                  </a:solidFill>
                  <a:latin typeface="Calibri"/>
                </a:rPr>
                <a:t>ACKs</a:t>
              </a:r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E8B4DCFA-3A87-864C-A054-ED417A34E19F}"/>
                </a:ext>
              </a:extLst>
            </p:cNvPr>
            <p:cNvSpPr txBox="1"/>
            <p:nvPr/>
          </p:nvSpPr>
          <p:spPr>
            <a:xfrm>
              <a:off x="10809403" y="3772400"/>
              <a:ext cx="708399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srgbClr val="00B050"/>
                  </a:solidFill>
                  <a:latin typeface="Calibri"/>
                </a:rPr>
                <a:t>ACKs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FA18EA5-E5A9-6043-B7D4-AA1698F72E02}"/>
              </a:ext>
            </a:extLst>
          </p:cNvPr>
          <p:cNvSpPr txBox="1"/>
          <p:nvPr/>
        </p:nvSpPr>
        <p:spPr>
          <a:xfrm>
            <a:off x="6045916" y="2824318"/>
            <a:ext cx="16214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200" dirty="0">
                <a:solidFill>
                  <a:srgbClr val="C00000"/>
                </a:solidFill>
                <a:latin typeface="Calibri"/>
              </a:rPr>
              <a:t>explicit congestion info</a:t>
            </a:r>
          </a:p>
        </p:txBody>
      </p:sp>
      <p:sp>
        <p:nvSpPr>
          <p:cNvPr id="133" name="Rectangle 3">
            <a:extLst>
              <a:ext uri="{FF2B5EF4-FFF2-40B4-BE49-F238E27FC236}">
                <a16:creationId xmlns:a16="http://schemas.microsoft.com/office/drawing/2014/main" id="{5D568CC7-EA67-7743-9944-2BC5136F529F}"/>
              </a:ext>
            </a:extLst>
          </p:cNvPr>
          <p:cNvSpPr txBox="1">
            <a:spLocks noChangeArrowheads="1"/>
          </p:cNvSpPr>
          <p:nvPr/>
        </p:nvSpPr>
        <p:spPr>
          <a:xfrm>
            <a:off x="523568" y="2221476"/>
            <a:ext cx="4336026" cy="286607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sz="2625" dirty="0">
                <a:solidFill>
                  <a:srgbClr val="C00000"/>
                </a:solidFill>
                <a:latin typeface="Calibri"/>
              </a:rPr>
              <a:t>Network-assisted congestion control:</a:t>
            </a:r>
          </a:p>
          <a:p>
            <a:pPr marL="305991" indent="-208360" defTabSz="685800">
              <a:spcBef>
                <a:spcPts val="750"/>
              </a:spcBef>
              <a:defRPr/>
            </a:pPr>
            <a:r>
              <a:rPr lang="en-US" sz="2250" dirty="0">
                <a:solidFill>
                  <a:prstClr val="black"/>
                </a:solidFill>
                <a:latin typeface="Calibri"/>
              </a:rPr>
              <a:t>routers provide </a:t>
            </a:r>
            <a:r>
              <a:rPr lang="en-US" sz="2250" i="1" dirty="0">
                <a:solidFill>
                  <a:srgbClr val="C00000"/>
                </a:solidFill>
                <a:latin typeface="Calibri"/>
              </a:rPr>
              <a:t>direct</a:t>
            </a:r>
            <a:r>
              <a:rPr lang="en-US" sz="2250" dirty="0">
                <a:solidFill>
                  <a:prstClr val="black"/>
                </a:solidFill>
                <a:latin typeface="Calibri"/>
              </a:rPr>
              <a:t> feedback to sending/receiving hosts with flows passing through congested router</a:t>
            </a:r>
          </a:p>
          <a:p>
            <a:pPr marL="305991" indent="-208360" defTabSz="685800">
              <a:spcBef>
                <a:spcPts val="750"/>
              </a:spcBef>
              <a:defRPr/>
            </a:pPr>
            <a:r>
              <a:rPr lang="en-US" sz="2250" dirty="0">
                <a:solidFill>
                  <a:prstClr val="black"/>
                </a:solidFill>
                <a:latin typeface="Calibri"/>
              </a:rPr>
              <a:t>may indicate congestion level or explicitly set sending rate</a:t>
            </a:r>
          </a:p>
        </p:txBody>
      </p:sp>
    </p:spTree>
    <p:extLst>
      <p:ext uri="{BB962C8B-B14F-4D97-AF65-F5344CB8AC3E}">
        <p14:creationId xmlns:p14="http://schemas.microsoft.com/office/powerpoint/2010/main" val="3829885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7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9" grpId="0" build="p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719AE-B1B9-90B4-C7A9-C40C5C5D0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3"/>
            <a:ext cx="7886700" cy="4857748"/>
          </a:xfrm>
        </p:spPr>
        <p:txBody>
          <a:bodyPr>
            <a:normAutofit/>
          </a:bodyPr>
          <a:lstStyle/>
          <a:p>
            <a:r>
              <a:rPr lang="en-US" dirty="0"/>
              <a:t>Principles of congestion control</a:t>
            </a:r>
          </a:p>
          <a:p>
            <a:r>
              <a:rPr lang="en-US" dirty="0"/>
              <a:t>TCP congestion control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986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TCP congestion control: AIMD</a:t>
            </a:r>
            <a:endParaRPr lang="en-US" b="0" dirty="0"/>
          </a:p>
        </p:txBody>
      </p:sp>
      <p:sp>
        <p:nvSpPr>
          <p:cNvPr id="49" name="Slide Number Placeholder 2">
            <a:extLst>
              <a:ext uri="{FF2B5EF4-FFF2-40B4-BE49-F238E27FC236}">
                <a16:creationId xmlns:a16="http://schemas.microsoft.com/office/drawing/2014/main" id="{F67FBF66-1006-C849-9ABA-320AB4C17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Transport Layer: 3-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17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135" name="Rectangle 8">
            <a:extLst>
              <a:ext uri="{FF2B5EF4-FFF2-40B4-BE49-F238E27FC236}">
                <a16:creationId xmlns:a16="http://schemas.microsoft.com/office/drawing/2014/main" id="{C755821F-F513-514B-9B5B-FF9A16FD8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275" y="1733550"/>
            <a:ext cx="7705725" cy="108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19075" indent="-219075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100" i="1" dirty="0">
                <a:solidFill>
                  <a:srgbClr val="C00000"/>
                </a:solidFill>
                <a:latin typeface="Calibri" panose="020F0502020204030204"/>
                <a:ea typeface="ＭＳ Ｐゴシック" charset="0"/>
              </a:rPr>
              <a:t>approach: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senders can</a:t>
            </a:r>
            <a:r>
              <a:rPr lang="en-US" sz="2100" i="1" dirty="0">
                <a:solidFill>
                  <a:srgbClr val="FF0000"/>
                </a:solidFill>
                <a:latin typeface="Calibri" panose="020F0502020204030204"/>
                <a:ea typeface="ＭＳ Ｐゴシック" charset="0"/>
              </a:rPr>
              <a:t>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increase sending rate until packet loss (congestion) occurs, then decrease sending rate on loss event</a:t>
            </a:r>
            <a:endParaRPr lang="en-US" sz="2100" dirty="0">
              <a:solidFill>
                <a:prstClr val="black"/>
              </a:solidFill>
              <a:latin typeface="Gill Sans MT" charset="0"/>
              <a:ea typeface="ＭＳ Ｐゴシック" charset="0"/>
            </a:endParaRPr>
          </a:p>
        </p:txBody>
      </p:sp>
      <p:sp>
        <p:nvSpPr>
          <p:cNvPr id="141" name="Text Box 13">
            <a:extLst>
              <a:ext uri="{FF2B5EF4-FFF2-40B4-BE49-F238E27FC236}">
                <a16:creationId xmlns:a16="http://schemas.microsoft.com/office/drawing/2014/main" id="{2FD36304-869C-CE42-8550-F12B5FFE2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778" y="4142854"/>
            <a:ext cx="2124621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 defTabSz="685800">
              <a:defRPr/>
            </a:pPr>
            <a:r>
              <a:rPr lang="en-US" sz="2700" b="1" dirty="0">
                <a:solidFill>
                  <a:srgbClr val="0013A3"/>
                </a:solidFill>
                <a:latin typeface="Calibri" panose="020F0502020204030204"/>
              </a:rPr>
              <a:t>AIMD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sawtooth</a:t>
            </a:r>
          </a:p>
          <a:p>
            <a:pPr algn="r" defTabSz="685800"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behavior: </a:t>
            </a:r>
            <a:r>
              <a:rPr lang="en-US" sz="2100" i="1" dirty="0">
                <a:solidFill>
                  <a:srgbClr val="0013A3"/>
                </a:solidFill>
                <a:latin typeface="Calibri" panose="020F0502020204030204"/>
              </a:rPr>
              <a:t>probing</a:t>
            </a:r>
          </a:p>
          <a:p>
            <a:pPr algn="r" defTabSz="685800"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for bandwidth</a:t>
            </a:r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F39215FA-39B5-484D-8395-F0F1A1C5D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004" y="3688091"/>
            <a:ext cx="514350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36" name="Line 19">
            <a:extLst>
              <a:ext uri="{FF2B5EF4-FFF2-40B4-BE49-F238E27FC236}">
                <a16:creationId xmlns:a16="http://schemas.microsoft.com/office/drawing/2014/main" id="{D3F6ABF2-92A9-2C40-8D08-91E5460626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23642" y="4754890"/>
            <a:ext cx="127397" cy="12739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37" name="Line 20">
            <a:extLst>
              <a:ext uri="{FF2B5EF4-FFF2-40B4-BE49-F238E27FC236}">
                <a16:creationId xmlns:a16="http://schemas.microsoft.com/office/drawing/2014/main" id="{38434DE2-13CB-044F-991F-ED186F20040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373" y="4746556"/>
            <a:ext cx="0" cy="48220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38" name="Line 21">
            <a:extLst>
              <a:ext uri="{FF2B5EF4-FFF2-40B4-BE49-F238E27FC236}">
                <a16:creationId xmlns:a16="http://schemas.microsoft.com/office/drawing/2014/main" id="{1937BB13-75B0-4947-8F7E-C695263524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51039" y="4509622"/>
            <a:ext cx="736997" cy="73580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39" name="Line 22">
            <a:extLst>
              <a:ext uri="{FF2B5EF4-FFF2-40B4-BE49-F238E27FC236}">
                <a16:creationId xmlns:a16="http://schemas.microsoft.com/office/drawing/2014/main" id="{D3110501-FE57-9545-B9AC-7B103AF98E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702" y="4510812"/>
            <a:ext cx="0" cy="60126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41" name="Line 23">
            <a:extLst>
              <a:ext uri="{FF2B5EF4-FFF2-40B4-BE49-F238E27FC236}">
                <a16:creationId xmlns:a16="http://schemas.microsoft.com/office/drawing/2014/main" id="{AAAA55BA-D404-204C-AECA-45F566AECF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3749" y="4733460"/>
            <a:ext cx="394097" cy="39290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43" name="Line 24">
            <a:extLst>
              <a:ext uri="{FF2B5EF4-FFF2-40B4-BE49-F238E27FC236}">
                <a16:creationId xmlns:a16="http://schemas.microsoft.com/office/drawing/2014/main" id="{43AEBE7F-F2BB-5943-A7EA-ACC4591C9E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7845" y="4729888"/>
            <a:ext cx="0" cy="51673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44" name="Line 25">
            <a:extLst>
              <a:ext uri="{FF2B5EF4-FFF2-40B4-BE49-F238E27FC236}">
                <a16:creationId xmlns:a16="http://schemas.microsoft.com/office/drawing/2014/main" id="{6F7F0A4B-818C-8448-8543-A37DAD19EA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76181" y="4494144"/>
            <a:ext cx="727472" cy="73580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45" name="Line 26">
            <a:extLst>
              <a:ext uri="{FF2B5EF4-FFF2-40B4-BE49-F238E27FC236}">
                <a16:creationId xmlns:a16="http://schemas.microsoft.com/office/drawing/2014/main" id="{19538173-60A5-BC46-A9E4-74977602110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0080" y="4494144"/>
            <a:ext cx="8335" cy="62626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46" name="Line 29">
            <a:extLst>
              <a:ext uri="{FF2B5EF4-FFF2-40B4-BE49-F238E27FC236}">
                <a16:creationId xmlns:a16="http://schemas.microsoft.com/office/drawing/2014/main" id="{30FAE305-421D-C042-8E51-7C7D81EEF5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3651" y="4616778"/>
            <a:ext cx="500063" cy="5000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47" name="Line 30">
            <a:extLst>
              <a:ext uri="{FF2B5EF4-FFF2-40B4-BE49-F238E27FC236}">
                <a16:creationId xmlns:a16="http://schemas.microsoft.com/office/drawing/2014/main" id="{031213C2-BAEE-5346-905B-3F89E17160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3714" y="4606062"/>
            <a:ext cx="0" cy="56078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48" name="Line 31">
            <a:extLst>
              <a:ext uri="{FF2B5EF4-FFF2-40B4-BE49-F238E27FC236}">
                <a16:creationId xmlns:a16="http://schemas.microsoft.com/office/drawing/2014/main" id="{AEA390E0-709D-FA45-91DE-52C0460D60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96570" y="4416753"/>
            <a:ext cx="657225" cy="76080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Tahoma" charset="0"/>
              <a:ea typeface="ＭＳ Ｐゴシック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2C492E2-E058-BD40-8FFC-FCED8F0093C0}"/>
              </a:ext>
            </a:extLst>
          </p:cNvPr>
          <p:cNvGrpSpPr/>
          <p:nvPr/>
        </p:nvGrpSpPr>
        <p:grpSpPr>
          <a:xfrm>
            <a:off x="2487294" y="4048124"/>
            <a:ext cx="3543879" cy="1949361"/>
            <a:chOff x="3976793" y="3937000"/>
            <a:chExt cx="4725171" cy="2599148"/>
          </a:xfrm>
        </p:grpSpPr>
        <p:sp>
          <p:nvSpPr>
            <p:cNvPr id="54" name="Text Box 12">
              <a:extLst>
                <a:ext uri="{FF2B5EF4-FFF2-40B4-BE49-F238E27FC236}">
                  <a16:creationId xmlns:a16="http://schemas.microsoft.com/office/drawing/2014/main" id="{18CC901F-184A-1147-B991-15E650618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117142" y="4796651"/>
              <a:ext cx="2273300" cy="5539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050" dirty="0">
                  <a:solidFill>
                    <a:prstClr val="black"/>
                  </a:solidFill>
                  <a:latin typeface="Arial" charset="0"/>
                </a:rPr>
                <a:t>TCP sender  Sending rate</a:t>
              </a:r>
            </a:p>
          </p:txBody>
        </p:sp>
        <p:sp>
          <p:nvSpPr>
            <p:cNvPr id="55" name="Line 17">
              <a:extLst>
                <a:ext uri="{FF2B5EF4-FFF2-40B4-BE49-F238E27FC236}">
                  <a16:creationId xmlns:a16="http://schemas.microsoft.com/office/drawing/2014/main" id="{EF2F6AD0-B3EF-0B4C-88EA-BCCC113FD5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8589" y="6176341"/>
              <a:ext cx="41433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56" name="Line 18">
              <a:extLst>
                <a:ext uri="{FF2B5EF4-FFF2-40B4-BE49-F238E27FC236}">
                  <a16:creationId xmlns:a16="http://schemas.microsoft.com/office/drawing/2014/main" id="{11B2DFEF-102F-D74F-9B47-304A5DF4E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6600" y="4203700"/>
              <a:ext cx="877" cy="19742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58" name="Text Box 40">
              <a:extLst>
                <a:ext uri="{FF2B5EF4-FFF2-40B4-BE49-F238E27FC236}">
                  <a16:creationId xmlns:a16="http://schemas.microsoft.com/office/drawing/2014/main" id="{27E5BB5F-DA02-D949-9477-C50B724C71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5453" y="6166816"/>
              <a:ext cx="64376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200" dirty="0">
                  <a:solidFill>
                    <a:prstClr val="black"/>
                  </a:solidFill>
                </a:rPr>
                <a:t>time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E38AC8E-A4ED-7042-8221-EEFB417FF7BA}"/>
              </a:ext>
            </a:extLst>
          </p:cNvPr>
          <p:cNvGrpSpPr/>
          <p:nvPr/>
        </p:nvGrpSpPr>
        <p:grpSpPr>
          <a:xfrm>
            <a:off x="723900" y="2466975"/>
            <a:ext cx="3790950" cy="1428750"/>
            <a:chOff x="0" y="4533900"/>
            <a:chExt cx="4762500" cy="1905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9A0FF2-0607-BD44-8404-E086F64972BE}"/>
                </a:ext>
              </a:extLst>
            </p:cNvPr>
            <p:cNvSpPr/>
            <p:nvPr/>
          </p:nvSpPr>
          <p:spPr>
            <a:xfrm>
              <a:off x="406846" y="4737100"/>
              <a:ext cx="4334880" cy="14351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0" name="Rectangle 8">
              <a:extLst>
                <a:ext uri="{FF2B5EF4-FFF2-40B4-BE49-F238E27FC236}">
                  <a16:creationId xmlns:a16="http://schemas.microsoft.com/office/drawing/2014/main" id="{83C5ED77-5FA7-AC4C-AB2A-245D62DB4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991100"/>
              <a:ext cx="4762500" cy="1447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lvl="1" defTabSz="6858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defRPr/>
              </a:pPr>
              <a:r>
                <a:rPr lang="en-US" sz="1950" dirty="0">
                  <a:solidFill>
                    <a:prstClr val="black"/>
                  </a:solidFill>
                  <a:latin typeface="Calibri"/>
                  <a:ea typeface="ＭＳ Ｐゴシック" charset="0"/>
                </a:rPr>
                <a:t>increase sending rate </a:t>
              </a:r>
              <a:r>
                <a:rPr lang="en-US" sz="1950" dirty="0">
                  <a:solidFill>
                    <a:prstClr val="black"/>
                  </a:solidFill>
                  <a:latin typeface="Gill Sans MT" charset="0"/>
                  <a:ea typeface="ＭＳ Ｐゴシック" charset="0"/>
                </a:rPr>
                <a:t>by </a:t>
              </a:r>
              <a:r>
                <a:rPr lang="en-US" sz="1950" dirty="0">
                  <a:solidFill>
                    <a:prstClr val="black"/>
                  </a:solidFill>
                  <a:latin typeface="Calibri" panose="020F0502020204030204"/>
                  <a:ea typeface="ＭＳ Ｐゴシック" charset="0"/>
                </a:rPr>
                <a:t>1 maximum segment size every RTT until loss detected</a:t>
              </a:r>
              <a:endParaRPr lang="en-US" sz="1950" i="1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endParaRPr>
            </a:p>
          </p:txBody>
        </p:sp>
        <p:sp>
          <p:nvSpPr>
            <p:cNvPr id="136" name="Rectangle 8">
              <a:extLst>
                <a:ext uri="{FF2B5EF4-FFF2-40B4-BE49-F238E27FC236}">
                  <a16:creationId xmlns:a16="http://schemas.microsoft.com/office/drawing/2014/main" id="{91ECB6E6-4418-7243-B13D-E7E4DAE72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000" y="4533900"/>
              <a:ext cx="2667000" cy="444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defRPr/>
              </a:pPr>
              <a:r>
                <a:rPr lang="en-US" sz="2100" i="1" u="sng" dirty="0">
                  <a:solidFill>
                    <a:srgbClr val="00B050"/>
                  </a:solidFill>
                  <a:latin typeface="Calibri" panose="020F0502020204030204"/>
                  <a:ea typeface="ＭＳ Ｐゴシック" charset="0"/>
                </a:rPr>
                <a:t>A</a:t>
              </a:r>
              <a:r>
                <a:rPr lang="en-US" sz="2100" i="1" dirty="0">
                  <a:solidFill>
                    <a:srgbClr val="00B050"/>
                  </a:solidFill>
                  <a:latin typeface="Calibri" panose="020F0502020204030204"/>
                  <a:ea typeface="ＭＳ Ｐゴシック" charset="0"/>
                </a:rPr>
                <a:t>dditive </a:t>
              </a:r>
              <a:r>
                <a:rPr lang="en-US" sz="2100" i="1" u="sng" dirty="0">
                  <a:solidFill>
                    <a:srgbClr val="00B050"/>
                  </a:solidFill>
                  <a:latin typeface="Calibri" panose="020F0502020204030204"/>
                  <a:ea typeface="ＭＳ Ｐゴシック" charset="0"/>
                </a:rPr>
                <a:t>I</a:t>
              </a:r>
              <a:r>
                <a:rPr lang="en-US" sz="2100" i="1" dirty="0">
                  <a:solidFill>
                    <a:srgbClr val="00B050"/>
                  </a:solidFill>
                  <a:latin typeface="Calibri" panose="020F0502020204030204"/>
                  <a:ea typeface="ＭＳ Ｐゴシック" charset="0"/>
                </a:rPr>
                <a:t>ncrease</a:t>
              </a:r>
              <a:endParaRPr lang="en-US" sz="2100" dirty="0">
                <a:solidFill>
                  <a:srgbClr val="00B050"/>
                </a:solidFill>
                <a:latin typeface="Gill Sans MT" charset="0"/>
                <a:ea typeface="ＭＳ Ｐゴシック" charset="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9F4C833-80E3-E14A-98F5-D02EBF4C0AC6}"/>
              </a:ext>
            </a:extLst>
          </p:cNvPr>
          <p:cNvGrpSpPr/>
          <p:nvPr/>
        </p:nvGrpSpPr>
        <p:grpSpPr>
          <a:xfrm>
            <a:off x="4505325" y="2505075"/>
            <a:ext cx="3562350" cy="1066800"/>
            <a:chOff x="38100" y="4533900"/>
            <a:chExt cx="4749800" cy="1422400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ED9889A-D576-6948-99EB-B6AAAAF94FF1}"/>
                </a:ext>
              </a:extLst>
            </p:cNvPr>
            <p:cNvSpPr/>
            <p:nvPr/>
          </p:nvSpPr>
          <p:spPr>
            <a:xfrm>
              <a:off x="342900" y="4686300"/>
              <a:ext cx="4267200" cy="12700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5" name="Rectangle 8">
              <a:extLst>
                <a:ext uri="{FF2B5EF4-FFF2-40B4-BE49-F238E27FC236}">
                  <a16:creationId xmlns:a16="http://schemas.microsoft.com/office/drawing/2014/main" id="{12492D08-6387-3C44-BE8F-DFB7A535E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" y="4991100"/>
              <a:ext cx="4749800" cy="825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lvl="1" defTabSz="6858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defRPr/>
              </a:pPr>
              <a:r>
                <a:rPr lang="en-US" sz="1950" dirty="0">
                  <a:solidFill>
                    <a:prstClr val="black"/>
                  </a:solidFill>
                  <a:latin typeface="Calibri" panose="020F0502020204030204"/>
                  <a:ea typeface="ＭＳ Ｐゴシック" charset="0"/>
                </a:rPr>
                <a:t>cut sending rate in half at each loss event</a:t>
              </a:r>
              <a:endParaRPr lang="en-US" sz="1950" i="1" dirty="0">
                <a:solidFill>
                  <a:prstClr val="black"/>
                </a:solidFill>
                <a:latin typeface="Calibri"/>
                <a:ea typeface="ＭＳ Ｐゴシック" charset="0"/>
              </a:endParaRPr>
            </a:p>
            <a:p>
              <a:pPr marL="257175" indent="-257175" defTabSz="6858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0"/>
                <a:buChar char="v"/>
                <a:defRPr/>
              </a:pPr>
              <a:endParaRPr lang="en-US" sz="2100" dirty="0">
                <a:solidFill>
                  <a:prstClr val="black"/>
                </a:solidFill>
                <a:latin typeface="Gill Sans MT" charset="0"/>
                <a:ea typeface="ＭＳ Ｐゴシック" charset="0"/>
              </a:endParaRPr>
            </a:p>
          </p:txBody>
        </p:sp>
        <p:sp>
          <p:nvSpPr>
            <p:cNvPr id="66" name="Rectangle 8">
              <a:extLst>
                <a:ext uri="{FF2B5EF4-FFF2-40B4-BE49-F238E27FC236}">
                  <a16:creationId xmlns:a16="http://schemas.microsoft.com/office/drawing/2014/main" id="{4FA342B4-82DA-FE44-A283-F18BBA2F6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000" y="4533900"/>
              <a:ext cx="3746500" cy="444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6858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defRPr/>
              </a:pPr>
              <a:r>
                <a:rPr lang="en-US" sz="2100" i="1" u="sng" dirty="0">
                  <a:solidFill>
                    <a:srgbClr val="C00000"/>
                  </a:solidFill>
                  <a:latin typeface="Calibri" panose="020F0502020204030204"/>
                  <a:ea typeface="ＭＳ Ｐゴシック" charset="0"/>
                </a:rPr>
                <a:t>M</a:t>
              </a:r>
              <a:r>
                <a:rPr lang="en-US" sz="2100" i="1" dirty="0">
                  <a:solidFill>
                    <a:srgbClr val="C00000"/>
                  </a:solidFill>
                  <a:latin typeface="Calibri" panose="020F0502020204030204"/>
                  <a:ea typeface="ＭＳ Ｐゴシック" charset="0"/>
                </a:rPr>
                <a:t>ultiplicative </a:t>
              </a:r>
              <a:r>
                <a:rPr lang="en-US" sz="2100" i="1" u="sng" dirty="0">
                  <a:solidFill>
                    <a:srgbClr val="C00000"/>
                  </a:solidFill>
                  <a:latin typeface="Calibri" panose="020F0502020204030204"/>
                  <a:ea typeface="ＭＳ Ｐゴシック" charset="0"/>
                </a:rPr>
                <a:t>D</a:t>
              </a:r>
              <a:r>
                <a:rPr lang="en-US" sz="2100" i="1" dirty="0">
                  <a:solidFill>
                    <a:srgbClr val="C00000"/>
                  </a:solidFill>
                  <a:latin typeface="Calibri" panose="020F0502020204030204"/>
                  <a:ea typeface="ＭＳ Ｐゴシック" charset="0"/>
                </a:rPr>
                <a:t>ecrease</a:t>
              </a:r>
              <a:endParaRPr lang="en-US" sz="2100" dirty="0">
                <a:solidFill>
                  <a:srgbClr val="C00000"/>
                </a:solidFill>
                <a:latin typeface="Gill Sans MT" charset="0"/>
                <a:ea typeface="ＭＳ Ｐゴシック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8B9E571-5EFE-DF45-ABEE-F217088B731C}"/>
              </a:ext>
            </a:extLst>
          </p:cNvPr>
          <p:cNvGrpSpPr/>
          <p:nvPr/>
        </p:nvGrpSpPr>
        <p:grpSpPr>
          <a:xfrm>
            <a:off x="2964707" y="3695701"/>
            <a:ext cx="2699426" cy="1193462"/>
            <a:chOff x="3965643" y="3797300"/>
            <a:chExt cx="3599234" cy="1591283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98081F5-35B5-A849-A6DC-D92ECEF0752A}"/>
                </a:ext>
              </a:extLst>
            </p:cNvPr>
            <p:cNvGrpSpPr/>
            <p:nvPr/>
          </p:nvGrpSpPr>
          <p:grpSpPr>
            <a:xfrm>
              <a:off x="3965643" y="4159386"/>
              <a:ext cx="3599234" cy="1229197"/>
              <a:chOff x="3965643" y="4159386"/>
              <a:chExt cx="3599234" cy="1229197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01079667-0DAA-D94E-A312-DB3C9977FD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72128" y="4163438"/>
                <a:ext cx="0" cy="1056262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E4E7717F-1A0D-FF4E-812D-3FD618E538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80128" y="4163438"/>
                <a:ext cx="0" cy="1221362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4D125F63-AD27-6B45-AE19-4ABD9BFAAB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95630" y="4163438"/>
                <a:ext cx="0" cy="1225145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072EFC86-C803-E843-B374-808FCECBC3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64941" y="4171542"/>
                <a:ext cx="0" cy="1204339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519D5D13-5D07-4C47-B49B-8AC41BCDCF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94500" y="4165056"/>
                <a:ext cx="0" cy="1193800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449C30FB-E09A-8645-AF59-0F93ED23D5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59743" y="4159386"/>
                <a:ext cx="0" cy="1106520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9CE80244-8AE8-9244-8BD7-F7A494EF70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5643" y="4162357"/>
                <a:ext cx="3599234" cy="0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A3311EB-6DA1-BE40-8300-E0A7E76CCC9C}"/>
                </a:ext>
              </a:extLst>
            </p:cNvPr>
            <p:cNvCxnSpPr/>
            <p:nvPr/>
          </p:nvCxnSpPr>
          <p:spPr>
            <a:xfrm>
              <a:off x="5651500" y="3797300"/>
              <a:ext cx="0" cy="381000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6745885-D0C9-5C4A-8189-6C1C08532D61}"/>
              </a:ext>
            </a:extLst>
          </p:cNvPr>
          <p:cNvGrpSpPr/>
          <p:nvPr/>
        </p:nvGrpSpPr>
        <p:grpSpPr>
          <a:xfrm>
            <a:off x="3081337" y="3574256"/>
            <a:ext cx="2864645" cy="1271588"/>
            <a:chOff x="4108450" y="3622675"/>
            <a:chExt cx="3819526" cy="1695450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CE8174FE-3375-6647-833E-1BBA1779B8E0}"/>
                </a:ext>
              </a:extLst>
            </p:cNvPr>
            <p:cNvGrpSpPr/>
            <p:nvPr/>
          </p:nvGrpSpPr>
          <p:grpSpPr>
            <a:xfrm>
              <a:off x="4108450" y="3975100"/>
              <a:ext cx="3819526" cy="1343025"/>
              <a:chOff x="4108450" y="3975100"/>
              <a:chExt cx="3819526" cy="1343025"/>
            </a:xfrm>
          </p:grpSpPr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D9182BCB-9C63-4F4E-9BFE-C6ED53E720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45350" y="3981450"/>
                <a:ext cx="679450" cy="125412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3A530988-F896-F240-A4FD-4D4D80C11F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08450" y="3975100"/>
                <a:ext cx="3816350" cy="133985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6D2A9933-F916-0E46-A509-25FD8F0018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70475" y="3978275"/>
                <a:ext cx="2854325" cy="129857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BDE4AE1E-DD47-A648-8E75-B628D3E56B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07050" y="3984625"/>
                <a:ext cx="2320926" cy="133350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2C801921-8F99-4345-AADF-C79B5379AB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65900" y="3984625"/>
                <a:ext cx="1358900" cy="119380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E7A7E738-8F7C-B641-98A4-26125EAB1AA9}"/>
                </a:ext>
              </a:extLst>
            </p:cNvPr>
            <p:cNvCxnSpPr/>
            <p:nvPr/>
          </p:nvCxnSpPr>
          <p:spPr>
            <a:xfrm flipV="1">
              <a:off x="7921625" y="3622675"/>
              <a:ext cx="0" cy="3587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389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/>
      <p:bldP spid="36" grpId="0" animBg="1"/>
      <p:bldP spid="37" grpId="0" animBg="1"/>
      <p:bldP spid="38" grpId="0" animBg="1"/>
      <p:bldP spid="39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/>
              <a:t>TCP AIMD: more</a:t>
            </a:r>
            <a:endParaRPr lang="en-US" b="0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DCE9A74-28EC-4B49-833C-3052DE209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Transport Layer: 3-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18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135" name="Rectangle 8">
            <a:extLst>
              <a:ext uri="{FF2B5EF4-FFF2-40B4-BE49-F238E27FC236}">
                <a16:creationId xmlns:a16="http://schemas.microsoft.com/office/drawing/2014/main" id="{C755821F-F513-514B-9B5B-FF9A16FD8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275" y="1878330"/>
            <a:ext cx="7385685" cy="1325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defRPr/>
            </a:pPr>
            <a:r>
              <a:rPr lang="en-US" sz="2100" i="1" dirty="0">
                <a:solidFill>
                  <a:srgbClr val="C00000"/>
                </a:solidFill>
                <a:latin typeface="Calibri" panose="020F0502020204030204"/>
                <a:ea typeface="ＭＳ Ｐゴシック" charset="0"/>
              </a:rPr>
              <a:t>Multiplicative decrease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detail:  sending rate is </a:t>
            </a:r>
          </a:p>
          <a:p>
            <a:pPr marL="304800" indent="-228600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Cut in half on loss detected by triple duplicate ACK (TCP Reno)</a:t>
            </a:r>
          </a:p>
          <a:p>
            <a:pPr marL="304800" indent="-228600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Cut to 1 MSS (maximum segment size) when loss detected by timeout (TCP Tahoe)</a:t>
            </a:r>
          </a:p>
          <a:p>
            <a:pPr marL="304800" indent="-228600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endParaRPr lang="en-US" sz="2100" dirty="0">
              <a:solidFill>
                <a:prstClr val="black"/>
              </a:solidFill>
              <a:latin typeface="Calibri" panose="020F0502020204030204"/>
              <a:ea typeface="ＭＳ Ｐゴシック" charset="0"/>
            </a:endParaRPr>
          </a:p>
          <a:p>
            <a:pPr marL="219075" indent="-219075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endParaRPr lang="en-US" sz="2100" dirty="0">
              <a:solidFill>
                <a:prstClr val="black"/>
              </a:solidFill>
              <a:latin typeface="Gill Sans MT" charset="0"/>
              <a:ea typeface="ＭＳ Ｐゴシック" charset="0"/>
            </a:endParaRPr>
          </a:p>
        </p:txBody>
      </p:sp>
      <p:sp>
        <p:nvSpPr>
          <p:cNvPr id="49" name="Rectangle 8">
            <a:extLst>
              <a:ext uri="{FF2B5EF4-FFF2-40B4-BE49-F238E27FC236}">
                <a16:creationId xmlns:a16="http://schemas.microsoft.com/office/drawing/2014/main" id="{FEB15F8D-408A-A649-8405-2EA6EA738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795" y="3379470"/>
            <a:ext cx="7385685" cy="1325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Why</a:t>
            </a:r>
            <a:r>
              <a:rPr lang="en-US" sz="2100" i="1" dirty="0">
                <a:solidFill>
                  <a:srgbClr val="C00000"/>
                </a:solidFill>
                <a:latin typeface="Calibri" panose="020F0502020204030204"/>
                <a:ea typeface="ＭＳ Ｐゴシック" charset="0"/>
              </a:rPr>
              <a:t> </a:t>
            </a:r>
            <a:r>
              <a:rPr lang="en-US" sz="2100" u="sng" dirty="0">
                <a:solidFill>
                  <a:srgbClr val="C00000"/>
                </a:solidFill>
                <a:latin typeface="Calibri" panose="020F0502020204030204"/>
                <a:ea typeface="ＭＳ Ｐゴシック" charset="0"/>
              </a:rPr>
              <a:t>A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I</a:t>
            </a:r>
            <a:r>
              <a:rPr lang="en-US" sz="2100" u="sng" dirty="0">
                <a:solidFill>
                  <a:srgbClr val="C00000"/>
                </a:solidFill>
                <a:latin typeface="Calibri" panose="020F0502020204030204"/>
                <a:ea typeface="ＭＳ Ｐゴシック" charset="0"/>
              </a:rPr>
              <a:t>M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D</a:t>
            </a:r>
            <a:r>
              <a:rPr lang="en-US" sz="2100" dirty="0">
                <a:solidFill>
                  <a:srgbClr val="C00000"/>
                </a:solidFill>
                <a:latin typeface="Calibri" panose="020F0502020204030204"/>
                <a:ea typeface="ＭＳ Ｐゴシック" charset="0"/>
              </a:rPr>
              <a:t>?</a:t>
            </a:r>
            <a:r>
              <a:rPr lang="en-US" sz="2100" i="1" dirty="0">
                <a:solidFill>
                  <a:srgbClr val="C00000"/>
                </a:solidFill>
                <a:latin typeface="Calibri" panose="020F0502020204030204"/>
                <a:ea typeface="ＭＳ Ｐゴシック" charset="0"/>
              </a:rPr>
              <a:t>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 </a:t>
            </a:r>
          </a:p>
          <a:p>
            <a:pPr marL="304800" indent="-228600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AIMD – a distributed, asynchronous algorithm – has been shown to:</a:t>
            </a:r>
          </a:p>
          <a:p>
            <a:pPr marL="517922" lvl="1" indent="-213122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optimize congested flow rates network wide!</a:t>
            </a:r>
          </a:p>
          <a:p>
            <a:pPr marL="517922" lvl="1" indent="-213122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ＭＳ Ｐゴシック" charset="0"/>
              </a:rPr>
              <a:t>have desirable stability properties</a:t>
            </a:r>
          </a:p>
          <a:p>
            <a:pPr marL="76200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defRPr/>
            </a:pPr>
            <a:endParaRPr lang="en-US" sz="2100" dirty="0">
              <a:solidFill>
                <a:prstClr val="black"/>
              </a:solidFill>
              <a:latin typeface="Calibri" panose="020F0502020204030204"/>
              <a:ea typeface="ＭＳ Ｐゴシック" charset="0"/>
            </a:endParaRPr>
          </a:p>
          <a:p>
            <a:pPr marL="219075" indent="-219075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endParaRPr lang="en-US" sz="2100" dirty="0">
              <a:solidFill>
                <a:prstClr val="black"/>
              </a:solidFill>
              <a:latin typeface="Gill Sans MT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91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TCP congestion control: details</a:t>
            </a:r>
            <a:endParaRPr lang="en-US" b="0" dirty="0"/>
          </a:p>
        </p:txBody>
      </p:sp>
      <p:sp>
        <p:nvSpPr>
          <p:cNvPr id="88" name="Slide Number Placeholder 2">
            <a:extLst>
              <a:ext uri="{FF2B5EF4-FFF2-40B4-BE49-F238E27FC236}">
                <a16:creationId xmlns:a16="http://schemas.microsoft.com/office/drawing/2014/main" id="{F3E09B12-4970-4049-B7E9-4060B63F1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Transport Layer: 3-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19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52FB642-7743-D04C-959D-0819117703FA}"/>
              </a:ext>
            </a:extLst>
          </p:cNvPr>
          <p:cNvGrpSpPr/>
          <p:nvPr/>
        </p:nvGrpSpPr>
        <p:grpSpPr>
          <a:xfrm>
            <a:off x="837367" y="4485846"/>
            <a:ext cx="7525583" cy="1271588"/>
            <a:chOff x="1116489" y="4838128"/>
            <a:chExt cx="10034111" cy="16954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C3AD1E1-01ED-504A-8B9E-72DE11AF70D1}"/>
                </a:ext>
              </a:extLst>
            </p:cNvPr>
            <p:cNvSpPr/>
            <p:nvPr/>
          </p:nvSpPr>
          <p:spPr>
            <a:xfrm>
              <a:off x="5989208" y="4895568"/>
              <a:ext cx="5161392" cy="3651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02" name="Rectangle 3">
              <a:extLst>
                <a:ext uri="{FF2B5EF4-FFF2-40B4-BE49-F238E27FC236}">
                  <a16:creationId xmlns:a16="http://schemas.microsoft.com/office/drawing/2014/main" id="{A0DE5D89-38AB-C14E-891D-428C6A0ADF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489" y="4838128"/>
              <a:ext cx="9628822" cy="1695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  <a:ext uri="{FAA26D3D-D897-4be2-8F04-BA451C77F1D7}">
                <ma14:placeholderFlag xmlns:ma14="http://schemas.microsoft.com/office/mac/drawingml/2011/main" xmlns="" val="1"/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lvl1pPr marL="284163" indent="-284163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687388" indent="-230188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 marL="213122" indent="-213122" defTabSz="685800">
                <a:lnSpc>
                  <a:spcPct val="90000"/>
                </a:lnSpc>
                <a:buFont typeface="Wingdings" charset="2"/>
                <a:buChar char="§"/>
                <a:defRPr/>
              </a:pPr>
              <a:r>
                <a:rPr lang="en-US" sz="2100" kern="0" dirty="0">
                  <a:solidFill>
                    <a:srgbClr val="000000"/>
                  </a:solidFill>
                  <a:latin typeface="Calibri" panose="020F0502020204030204"/>
                  <a:cs typeface="+mn-cs"/>
                </a:rPr>
                <a:t>TCP sender limits transmission:</a:t>
              </a:r>
            </a:p>
            <a:p>
              <a:pPr marL="213122" indent="-213122" defTabSz="685800">
                <a:lnSpc>
                  <a:spcPct val="90000"/>
                </a:lnSpc>
                <a:buFont typeface="Wingdings" charset="2"/>
                <a:buChar char="§"/>
                <a:defRPr/>
              </a:pPr>
              <a:r>
                <a:rPr lang="en-US" sz="2100" kern="0" dirty="0">
                  <a:solidFill>
                    <a:srgbClr val="000000"/>
                  </a:solidFill>
                  <a:latin typeface="Courier" pitchFamily="2" charset="0"/>
                  <a:cs typeface="+mn-cs"/>
                </a:rPr>
                <a:t>cwnd </a:t>
              </a:r>
              <a:r>
                <a:rPr lang="en-US" sz="2100" kern="0" dirty="0">
                  <a:solidFill>
                    <a:srgbClr val="000000"/>
                  </a:solidFill>
                  <a:latin typeface="Calibri" panose="020F0502020204030204"/>
                  <a:cs typeface="+mn-cs"/>
                </a:rPr>
                <a:t>is dynamically adjusted in response to observed network congestion (implementing TCP congestion control)</a:t>
              </a:r>
            </a:p>
            <a:p>
              <a:pPr marL="213122" indent="-213122" defTabSz="685800">
                <a:buFont typeface="Wingdings" charset="2"/>
                <a:buChar char="§"/>
                <a:defRPr/>
              </a:pPr>
              <a:endParaRPr lang="en-US" sz="2100" kern="0" dirty="0">
                <a:solidFill>
                  <a:srgbClr val="000000"/>
                </a:solidFill>
                <a:latin typeface="Gill Sans MT"/>
                <a:cs typeface="+mn-cs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3A34342-F85F-A641-8C18-F113159FACD0}"/>
                </a:ext>
              </a:extLst>
            </p:cNvPr>
            <p:cNvGrpSpPr/>
            <p:nvPr/>
          </p:nvGrpSpPr>
          <p:grpSpPr>
            <a:xfrm>
              <a:off x="6040008" y="4887177"/>
              <a:ext cx="4923962" cy="427880"/>
              <a:chOff x="5614194" y="4809655"/>
              <a:chExt cx="4923962" cy="427880"/>
            </a:xfrm>
          </p:grpSpPr>
          <p:sp>
            <p:nvSpPr>
              <p:cNvPr id="181" name="Text Box 71">
                <a:extLst>
                  <a:ext uri="{FF2B5EF4-FFF2-40B4-BE49-F238E27FC236}">
                    <a16:creationId xmlns:a16="http://schemas.microsoft.com/office/drawing/2014/main" id="{77C08B5B-9AE1-D240-830E-26ECD6D166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14194" y="4868630"/>
                <a:ext cx="4395788" cy="3689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marL="225425" indent="-225425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169069" indent="-169069" defTabSz="6858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defRPr/>
                </a:pPr>
                <a:r>
                  <a:rPr lang="en-US" sz="1350" b="1" dirty="0">
                    <a:solidFill>
                      <a:srgbClr val="000000"/>
                    </a:solidFill>
                    <a:latin typeface="Courier New" charset="0"/>
                  </a:rPr>
                  <a:t>LastByteSent- LastByteAcked</a:t>
                </a:r>
                <a:endParaRPr lang="en-US" sz="1350" dirty="0">
                  <a:solidFill>
                    <a:srgbClr val="000000"/>
                  </a:solidFill>
                  <a:latin typeface="Courier New" charset="0"/>
                </a:endParaRP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FED586FE-6CBA-AA48-85C7-A1A11BDABF7D}"/>
                  </a:ext>
                </a:extLst>
              </p:cNvPr>
              <p:cNvGrpSpPr/>
              <p:nvPr/>
            </p:nvGrpSpPr>
            <p:grpSpPr>
              <a:xfrm>
                <a:off x="9383138" y="4809655"/>
                <a:ext cx="1155018" cy="400110"/>
                <a:chOff x="7675859" y="4768381"/>
                <a:chExt cx="1155018" cy="400110"/>
              </a:xfrm>
            </p:grpSpPr>
            <p:grpSp>
              <p:nvGrpSpPr>
                <p:cNvPr id="182" name="Group 74">
                  <a:extLst>
                    <a:ext uri="{FF2B5EF4-FFF2-40B4-BE49-F238E27FC236}">
                      <a16:creationId xmlns:a16="http://schemas.microsoft.com/office/drawing/2014/main" id="{059D1AF2-00E8-024F-B782-BBF97100FEB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675859" y="4789024"/>
                  <a:ext cx="414338" cy="369888"/>
                  <a:chOff x="2038" y="2097"/>
                  <a:chExt cx="261" cy="233"/>
                </a:xfrm>
              </p:grpSpPr>
              <p:sp>
                <p:nvSpPr>
                  <p:cNvPr id="183" name="Text Box 72">
                    <a:extLst>
                      <a:ext uri="{FF2B5EF4-FFF2-40B4-BE49-F238E27FC236}">
                        <a16:creationId xmlns:a16="http://schemas.microsoft.com/office/drawing/2014/main" id="{50EA1644-3183-7A41-97FA-03AEA0F526B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38" y="2097"/>
                    <a:ext cx="261" cy="23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algn="ctr"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1200" b="1" kern="0" dirty="0">
                        <a:solidFill>
                          <a:srgbClr val="000000"/>
                        </a:solidFill>
                      </a:rPr>
                      <a:t>&lt;</a:t>
                    </a:r>
                  </a:p>
                </p:txBody>
              </p:sp>
              <p:sp>
                <p:nvSpPr>
                  <p:cNvPr id="184" name="Line 73">
                    <a:extLst>
                      <a:ext uri="{FF2B5EF4-FFF2-40B4-BE49-F238E27FC236}">
                        <a16:creationId xmlns:a16="http://schemas.microsoft.com/office/drawing/2014/main" id="{B966005D-C4C4-C547-86E3-65FDA3A33E1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33" y="2269"/>
                    <a:ext cx="85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algn="ctr"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Tahoma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185" name="Text Box 75">
                  <a:extLst>
                    <a:ext uri="{FF2B5EF4-FFF2-40B4-BE49-F238E27FC236}">
                      <a16:creationId xmlns:a16="http://schemas.microsoft.com/office/drawing/2014/main" id="{4F80A37A-B578-A447-95BD-D5D7AC31E6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028948" y="4768381"/>
                  <a:ext cx="801929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b="1" dirty="0">
                      <a:solidFill>
                        <a:srgbClr val="000000"/>
                      </a:solidFill>
                      <a:latin typeface="Courier New" charset="0"/>
                    </a:rPr>
                    <a:t>cwnd</a:t>
                  </a:r>
                </a:p>
              </p:txBody>
            </p:sp>
          </p:grpSp>
        </p:grpSp>
      </p:grpSp>
      <p:sp>
        <p:nvSpPr>
          <p:cNvPr id="165" name="Rectangle 47">
            <a:extLst>
              <a:ext uri="{FF2B5EF4-FFF2-40B4-BE49-F238E27FC236}">
                <a16:creationId xmlns:a16="http://schemas.microsoft.com/office/drawing/2014/main" id="{DE6B816E-28FD-F042-BAC6-6005321F7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666" y="3053080"/>
            <a:ext cx="3377559" cy="80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EB66EB-894C-A043-A360-C60A865F68A4}"/>
              </a:ext>
            </a:extLst>
          </p:cNvPr>
          <p:cNvGrpSpPr/>
          <p:nvPr/>
        </p:nvGrpSpPr>
        <p:grpSpPr>
          <a:xfrm>
            <a:off x="966789" y="2994029"/>
            <a:ext cx="950851" cy="669361"/>
            <a:chOff x="1289051" y="2849038"/>
            <a:chExt cx="1267801" cy="892480"/>
          </a:xfrm>
        </p:grpSpPr>
        <p:sp>
          <p:nvSpPr>
            <p:cNvPr id="168" name="Freeform 53">
              <a:extLst>
                <a:ext uri="{FF2B5EF4-FFF2-40B4-BE49-F238E27FC236}">
                  <a16:creationId xmlns:a16="http://schemas.microsoft.com/office/drawing/2014/main" id="{E3EEFD92-7050-9249-80C1-240C22D52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9283" y="2849038"/>
              <a:ext cx="187569" cy="464732"/>
            </a:xfrm>
            <a:custGeom>
              <a:avLst/>
              <a:gdLst>
                <a:gd name="T0" fmla="*/ 2147483647 w 91"/>
                <a:gd name="T1" fmla="*/ 0 h 242"/>
                <a:gd name="T2" fmla="*/ 2147483647 w 91"/>
                <a:gd name="T3" fmla="*/ 2147483647 h 242"/>
                <a:gd name="T4" fmla="*/ 0 w 91"/>
                <a:gd name="T5" fmla="*/ 2147483647 h 2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242">
                  <a:moveTo>
                    <a:pt x="91" y="0"/>
                  </a:moveTo>
                  <a:lnTo>
                    <a:pt x="88" y="242"/>
                  </a:lnTo>
                  <a:lnTo>
                    <a:pt x="0" y="242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0" name="Text Box 57">
              <a:extLst>
                <a:ext uri="{FF2B5EF4-FFF2-40B4-BE49-F238E27FC236}">
                  <a16:creationId xmlns:a16="http://schemas.microsoft.com/office/drawing/2014/main" id="{4DCFBA68-55DB-2E45-83BC-59D80627D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9051" y="3119811"/>
              <a:ext cx="1047724" cy="6217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alibri" panose="020F0502020204030204"/>
                </a:rPr>
                <a:t>last byte</a:t>
              </a:r>
            </a:p>
            <a:p>
              <a:pPr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alibri" panose="020F0502020204030204"/>
                </a:rPr>
                <a:t>ACKed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8C3752B-025F-E94F-8654-13F54E9C670F}"/>
              </a:ext>
            </a:extLst>
          </p:cNvPr>
          <p:cNvGrpSpPr/>
          <p:nvPr/>
        </p:nvGrpSpPr>
        <p:grpSpPr>
          <a:xfrm>
            <a:off x="2868063" y="3068909"/>
            <a:ext cx="1319468" cy="985511"/>
            <a:chOff x="3824084" y="2948877"/>
            <a:chExt cx="1759290" cy="1314014"/>
          </a:xfrm>
        </p:grpSpPr>
        <p:sp>
          <p:nvSpPr>
            <p:cNvPr id="172" name="Text Box 59">
              <a:extLst>
                <a:ext uri="{FF2B5EF4-FFF2-40B4-BE49-F238E27FC236}">
                  <a16:creationId xmlns:a16="http://schemas.microsoft.com/office/drawing/2014/main" id="{44BFDC0C-7E1F-194B-B1D5-936A105689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9525" y="3890482"/>
              <a:ext cx="1603849" cy="3724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alibri" panose="020F0502020204030204"/>
                </a:rPr>
                <a:t>last byte sent</a:t>
              </a:r>
            </a:p>
          </p:txBody>
        </p:sp>
        <p:sp>
          <p:nvSpPr>
            <p:cNvPr id="180" name="Freeform 69">
              <a:extLst>
                <a:ext uri="{FF2B5EF4-FFF2-40B4-BE49-F238E27FC236}">
                  <a16:creationId xmlns:a16="http://schemas.microsoft.com/office/drawing/2014/main" id="{33A90F9A-C7CE-C44A-B81F-BFED1356069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824084" y="2948877"/>
              <a:ext cx="190240" cy="1102896"/>
            </a:xfrm>
            <a:custGeom>
              <a:avLst/>
              <a:gdLst>
                <a:gd name="T0" fmla="*/ 2147483647 w 91"/>
                <a:gd name="T1" fmla="*/ 0 h 242"/>
                <a:gd name="T2" fmla="*/ 2147483647 w 91"/>
                <a:gd name="T3" fmla="*/ 2147483647 h 242"/>
                <a:gd name="T4" fmla="*/ 0 w 91"/>
                <a:gd name="T5" fmla="*/ 2147483647 h 242"/>
                <a:gd name="T6" fmla="*/ 0 60000 65536"/>
                <a:gd name="T7" fmla="*/ 0 60000 65536"/>
                <a:gd name="T8" fmla="*/ 0 60000 65536"/>
                <a:gd name="connsiteX0" fmla="*/ 9412 w 9670"/>
                <a:gd name="connsiteY0" fmla="*/ 0 h 9938"/>
                <a:gd name="connsiteX1" fmla="*/ 9670 w 9670"/>
                <a:gd name="connsiteY1" fmla="*/ 9938 h 9938"/>
                <a:gd name="connsiteX2" fmla="*/ 0 w 9670"/>
                <a:gd name="connsiteY2" fmla="*/ 9938 h 9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" h="9938">
                  <a:moveTo>
                    <a:pt x="9412" y="0"/>
                  </a:moveTo>
                  <a:lnTo>
                    <a:pt x="9670" y="9938"/>
                  </a:lnTo>
                  <a:lnTo>
                    <a:pt x="0" y="9938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CF5997-36CB-D147-BC28-3AEB4C853BEA}"/>
              </a:ext>
            </a:extLst>
          </p:cNvPr>
          <p:cNvGrpSpPr/>
          <p:nvPr/>
        </p:nvGrpSpPr>
        <p:grpSpPr>
          <a:xfrm>
            <a:off x="966789" y="1826499"/>
            <a:ext cx="3481387" cy="1122880"/>
            <a:chOff x="1289051" y="1292332"/>
            <a:chExt cx="4641849" cy="1497173"/>
          </a:xfrm>
        </p:grpSpPr>
        <p:sp>
          <p:nvSpPr>
            <p:cNvPr id="104" name="Rectangle 12">
              <a:extLst>
                <a:ext uri="{FF2B5EF4-FFF2-40B4-BE49-F238E27FC236}">
                  <a16:creationId xmlns:a16="http://schemas.microsoft.com/office/drawing/2014/main" id="{04993FEE-920A-A241-8D22-76E5FD7EE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0854" y="2034797"/>
              <a:ext cx="86000" cy="752789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33CC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05" name="Rectangle 13">
              <a:extLst>
                <a:ext uri="{FF2B5EF4-FFF2-40B4-BE49-F238E27FC236}">
                  <a16:creationId xmlns:a16="http://schemas.microsoft.com/office/drawing/2014/main" id="{18E83275-ACB2-EC4C-B6DC-CBDA17C3A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8805" y="2036716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06" name="Rectangle 14">
              <a:extLst>
                <a:ext uri="{FF2B5EF4-FFF2-40B4-BE49-F238E27FC236}">
                  <a16:creationId xmlns:a16="http://schemas.microsoft.com/office/drawing/2014/main" id="{DAC860B7-5379-0C49-8B6D-4F42EEEC8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8852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07" name="Rectangle 15">
              <a:extLst>
                <a:ext uri="{FF2B5EF4-FFF2-40B4-BE49-F238E27FC236}">
                  <a16:creationId xmlns:a16="http://schemas.microsoft.com/office/drawing/2014/main" id="{850E3686-28F1-ED45-BCA0-8626CD94C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6801" y="2034797"/>
              <a:ext cx="86000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08" name="Rectangle 16">
              <a:extLst>
                <a:ext uri="{FF2B5EF4-FFF2-40B4-BE49-F238E27FC236}">
                  <a16:creationId xmlns:a16="http://schemas.microsoft.com/office/drawing/2014/main" id="{2B67993F-458E-AA4F-8BDA-DD554E74E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653" y="2034797"/>
              <a:ext cx="86000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09" name="Rectangle 17">
              <a:extLst>
                <a:ext uri="{FF2B5EF4-FFF2-40B4-BE49-F238E27FC236}">
                  <a16:creationId xmlns:a16="http://schemas.microsoft.com/office/drawing/2014/main" id="{0FAD288D-252F-5745-BF73-6A260AA67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0604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10" name="Rectangle 18">
              <a:extLst>
                <a:ext uri="{FF2B5EF4-FFF2-40B4-BE49-F238E27FC236}">
                  <a16:creationId xmlns:a16="http://schemas.microsoft.com/office/drawing/2014/main" id="{F50804B5-A9B0-B741-A2CB-DC3CFBF38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2261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11" name="Rectangle 19">
              <a:extLst>
                <a:ext uri="{FF2B5EF4-FFF2-40B4-BE49-F238E27FC236}">
                  <a16:creationId xmlns:a16="http://schemas.microsoft.com/office/drawing/2014/main" id="{E9319E92-5123-8943-BEB7-081DA31AB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8113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12" name="Rectangle 20">
              <a:extLst>
                <a:ext uri="{FF2B5EF4-FFF2-40B4-BE49-F238E27FC236}">
                  <a16:creationId xmlns:a16="http://schemas.microsoft.com/office/drawing/2014/main" id="{C56329EF-B8DA-E848-8471-F7AB6A81A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3965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13" name="Rectangle 21">
              <a:extLst>
                <a:ext uri="{FF2B5EF4-FFF2-40B4-BE49-F238E27FC236}">
                  <a16:creationId xmlns:a16="http://schemas.microsoft.com/office/drawing/2014/main" id="{B6EA82BD-4235-744C-8CC2-3D0E84463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4500" y="2034797"/>
              <a:ext cx="86000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14" name="Rectangle 22">
              <a:extLst>
                <a:ext uri="{FF2B5EF4-FFF2-40B4-BE49-F238E27FC236}">
                  <a16:creationId xmlns:a16="http://schemas.microsoft.com/office/drawing/2014/main" id="{3AB484C5-F544-AD4F-AC56-F33B38DBB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4547" y="2036716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15" name="Rectangle 23">
              <a:extLst>
                <a:ext uri="{FF2B5EF4-FFF2-40B4-BE49-F238E27FC236}">
                  <a16:creationId xmlns:a16="http://schemas.microsoft.com/office/drawing/2014/main" id="{1DD6947E-4A84-9D4E-B2FC-3A5E7F6D1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2498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16" name="Rectangle 24">
              <a:extLst>
                <a:ext uri="{FF2B5EF4-FFF2-40B4-BE49-F238E27FC236}">
                  <a16:creationId xmlns:a16="http://schemas.microsoft.com/office/drawing/2014/main" id="{2A55A81B-B032-0840-A48D-1D5352A23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447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17" name="Rectangle 25">
              <a:extLst>
                <a:ext uri="{FF2B5EF4-FFF2-40B4-BE49-F238E27FC236}">
                  <a16:creationId xmlns:a16="http://schemas.microsoft.com/office/drawing/2014/main" id="{EBC4122E-0CCF-1548-9A66-7DCD08E74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8397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18" name="Rectangle 26">
              <a:extLst>
                <a:ext uri="{FF2B5EF4-FFF2-40B4-BE49-F238E27FC236}">
                  <a16:creationId xmlns:a16="http://schemas.microsoft.com/office/drawing/2014/main" id="{DB7235A0-624C-DB45-8BCC-3CE6B9164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4249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19" name="Rectangle 27">
              <a:extLst>
                <a:ext uri="{FF2B5EF4-FFF2-40B4-BE49-F238E27FC236}">
                  <a16:creationId xmlns:a16="http://schemas.microsoft.com/office/drawing/2014/main" id="{345917A5-9719-BB4F-9C0B-ACD89A8BB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5907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20" name="Rectangle 28">
              <a:extLst>
                <a:ext uri="{FF2B5EF4-FFF2-40B4-BE49-F238E27FC236}">
                  <a16:creationId xmlns:a16="http://schemas.microsoft.com/office/drawing/2014/main" id="{4C1474B9-991E-6847-8B01-DE0C95138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1759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21" name="Rectangle 29">
              <a:extLst>
                <a:ext uri="{FF2B5EF4-FFF2-40B4-BE49-F238E27FC236}">
                  <a16:creationId xmlns:a16="http://schemas.microsoft.com/office/drawing/2014/main" id="{1FEE069D-BAD8-8A43-9829-68BF4DBC5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9708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22" name="Rectangle 30">
              <a:extLst>
                <a:ext uri="{FF2B5EF4-FFF2-40B4-BE49-F238E27FC236}">
                  <a16:creationId xmlns:a16="http://schemas.microsoft.com/office/drawing/2014/main" id="{F6A54E32-B859-A84C-B9EB-275C556CD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170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23" name="Rectangle 31">
              <a:extLst>
                <a:ext uri="{FF2B5EF4-FFF2-40B4-BE49-F238E27FC236}">
                  <a16:creationId xmlns:a16="http://schemas.microsoft.com/office/drawing/2014/main" id="{F693AF70-5D12-874C-A1FE-39895AB51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022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24" name="Rectangle 32">
              <a:extLst>
                <a:ext uri="{FF2B5EF4-FFF2-40B4-BE49-F238E27FC236}">
                  <a16:creationId xmlns:a16="http://schemas.microsoft.com/office/drawing/2014/main" id="{8AF2AC6B-DBDA-9B44-8499-2FA57D219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778" y="2032876"/>
              <a:ext cx="85998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25" name="Rectangle 33">
              <a:extLst>
                <a:ext uri="{FF2B5EF4-FFF2-40B4-BE49-F238E27FC236}">
                  <a16:creationId xmlns:a16="http://schemas.microsoft.com/office/drawing/2014/main" id="{3C5EC589-0EEE-AA43-956D-7E1A6B8E7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8435" y="2032876"/>
              <a:ext cx="85998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26" name="Rectangle 34">
              <a:extLst>
                <a:ext uri="{FF2B5EF4-FFF2-40B4-BE49-F238E27FC236}">
                  <a16:creationId xmlns:a16="http://schemas.microsoft.com/office/drawing/2014/main" id="{00489FD8-0BA0-844E-AA41-BDE801D2E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384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27" name="Rectangle 35">
              <a:extLst>
                <a:ext uri="{FF2B5EF4-FFF2-40B4-BE49-F238E27FC236}">
                  <a16:creationId xmlns:a16="http://schemas.microsoft.com/office/drawing/2014/main" id="{7CDE0EFB-7CC4-304D-AD89-8FC08C1FB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2236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28" name="Rectangle 36">
              <a:extLst>
                <a:ext uri="{FF2B5EF4-FFF2-40B4-BE49-F238E27FC236}">
                  <a16:creationId xmlns:a16="http://schemas.microsoft.com/office/drawing/2014/main" id="{6EECC216-B56D-D043-93ED-F50164EF4E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698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29" name="Rectangle 37">
              <a:extLst>
                <a:ext uri="{FF2B5EF4-FFF2-40B4-BE49-F238E27FC236}">
                  <a16:creationId xmlns:a16="http://schemas.microsoft.com/office/drawing/2014/main" id="{2DDF4004-027D-3448-8C19-8E608E214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5550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30" name="Rectangle 38">
              <a:extLst>
                <a:ext uri="{FF2B5EF4-FFF2-40B4-BE49-F238E27FC236}">
                  <a16:creationId xmlns:a16="http://schemas.microsoft.com/office/drawing/2014/main" id="{66B062CA-DE3B-DE43-ABC0-B0129B267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3501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31" name="Rectangle 39">
              <a:extLst>
                <a:ext uri="{FF2B5EF4-FFF2-40B4-BE49-F238E27FC236}">
                  <a16:creationId xmlns:a16="http://schemas.microsoft.com/office/drawing/2014/main" id="{B8FF22AA-6251-9B4A-8B71-33B1C663B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1450" y="2036716"/>
              <a:ext cx="86000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32" name="Rectangle 40">
              <a:extLst>
                <a:ext uri="{FF2B5EF4-FFF2-40B4-BE49-F238E27FC236}">
                  <a16:creationId xmlns:a16="http://schemas.microsoft.com/office/drawing/2014/main" id="{FAB9104E-A760-C644-B315-33CD7DEB1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9400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33" name="Rectangle 41">
              <a:extLst>
                <a:ext uri="{FF2B5EF4-FFF2-40B4-BE49-F238E27FC236}">
                  <a16:creationId xmlns:a16="http://schemas.microsoft.com/office/drawing/2014/main" id="{84289F99-D270-C140-AA7A-F6C4AFA07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9448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34" name="Rectangle 42">
              <a:extLst>
                <a:ext uri="{FF2B5EF4-FFF2-40B4-BE49-F238E27FC236}">
                  <a16:creationId xmlns:a16="http://schemas.microsoft.com/office/drawing/2014/main" id="{CDFBFB7B-6E55-9045-8777-DB8B3B13C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5300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37" name="Rectangle 43">
              <a:extLst>
                <a:ext uri="{FF2B5EF4-FFF2-40B4-BE49-F238E27FC236}">
                  <a16:creationId xmlns:a16="http://schemas.microsoft.com/office/drawing/2014/main" id="{AD3CDD9F-C7EC-964D-A02B-C8B9C75CC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1152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38" name="Rectangle 44">
              <a:extLst>
                <a:ext uri="{FF2B5EF4-FFF2-40B4-BE49-F238E27FC236}">
                  <a16:creationId xmlns:a16="http://schemas.microsoft.com/office/drawing/2014/main" id="{A68B931F-B222-6643-B4DE-15E3E8354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2809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63" name="Rectangle 45">
              <a:extLst>
                <a:ext uri="{FF2B5EF4-FFF2-40B4-BE49-F238E27FC236}">
                  <a16:creationId xmlns:a16="http://schemas.microsoft.com/office/drawing/2014/main" id="{7D3A9CBD-AC18-2744-9564-5C628A27F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0759" y="2034797"/>
              <a:ext cx="86000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64" name="Rectangle 46">
              <a:extLst>
                <a:ext uri="{FF2B5EF4-FFF2-40B4-BE49-F238E27FC236}">
                  <a16:creationId xmlns:a16="http://schemas.microsoft.com/office/drawing/2014/main" id="{7BD5CB89-7651-AC4B-B6A7-CB76771F9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6611" y="2034797"/>
              <a:ext cx="86000" cy="752789"/>
            </a:xfrm>
            <a:prstGeom prst="rect">
              <a:avLst/>
            </a:pr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66" name="Rectangle 48">
              <a:extLst>
                <a:ext uri="{FF2B5EF4-FFF2-40B4-BE49-F238E27FC236}">
                  <a16:creationId xmlns:a16="http://schemas.microsoft.com/office/drawing/2014/main" id="{22B83E8B-5347-B046-AB4A-F500B639B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7488" y="1902290"/>
              <a:ext cx="4503412" cy="1075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73" name="Text Box 61">
              <a:extLst>
                <a:ext uri="{FF2B5EF4-FFF2-40B4-BE49-F238E27FC236}">
                  <a16:creationId xmlns:a16="http://schemas.microsoft.com/office/drawing/2014/main" id="{EC2166A2-B157-124D-AD95-CDDC7B2DDC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6764" y="1648799"/>
              <a:ext cx="673689" cy="322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50" b="1" dirty="0">
                  <a:solidFill>
                    <a:srgbClr val="000000"/>
                  </a:solidFill>
                  <a:latin typeface="Courier New" charset="0"/>
                </a:rPr>
                <a:t>cwnd</a:t>
              </a:r>
              <a:endParaRPr lang="en-US" sz="1050" b="1" i="1" dirty="0">
                <a:solidFill>
                  <a:srgbClr val="000000"/>
                </a:solidFill>
                <a:latin typeface="Courier New" charset="0"/>
              </a:endParaRPr>
            </a:p>
          </p:txBody>
        </p:sp>
        <p:grpSp>
          <p:nvGrpSpPr>
            <p:cNvPr id="174" name="Group 62">
              <a:extLst>
                <a:ext uri="{FF2B5EF4-FFF2-40B4-BE49-F238E27FC236}">
                  <a16:creationId xmlns:a16="http://schemas.microsoft.com/office/drawing/2014/main" id="{A2ECB346-2348-1D42-A5A0-3073BBFAF7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22141" y="1750580"/>
              <a:ext cx="591506" cy="142108"/>
              <a:chOff x="4250" y="1692"/>
              <a:chExt cx="374" cy="86"/>
            </a:xfrm>
          </p:grpSpPr>
          <p:sp>
            <p:nvSpPr>
              <p:cNvPr id="175" name="Line 63">
                <a:extLst>
                  <a:ext uri="{FF2B5EF4-FFF2-40B4-BE49-F238E27FC236}">
                    <a16:creationId xmlns:a16="http://schemas.microsoft.com/office/drawing/2014/main" id="{D8AB4372-6622-194F-8B2C-95E11AB4BD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0" y="1738"/>
                <a:ext cx="374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76" name="Line 64">
                <a:extLst>
                  <a:ext uri="{FF2B5EF4-FFF2-40B4-BE49-F238E27FC236}">
                    <a16:creationId xmlns:a16="http://schemas.microsoft.com/office/drawing/2014/main" id="{90113FC4-9E6C-1344-9A19-D18BED38D2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1" y="1692"/>
                <a:ext cx="0" cy="8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65">
              <a:extLst>
                <a:ext uri="{FF2B5EF4-FFF2-40B4-BE49-F238E27FC236}">
                  <a16:creationId xmlns:a16="http://schemas.microsoft.com/office/drawing/2014/main" id="{DA340DC1-A02D-8B4C-B20C-F58E960E37E4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2650352" y="1773625"/>
              <a:ext cx="616676" cy="149790"/>
              <a:chOff x="4250" y="1692"/>
              <a:chExt cx="374" cy="86"/>
            </a:xfrm>
          </p:grpSpPr>
          <p:sp>
            <p:nvSpPr>
              <p:cNvPr id="178" name="Line 66">
                <a:extLst>
                  <a:ext uri="{FF2B5EF4-FFF2-40B4-BE49-F238E27FC236}">
                    <a16:creationId xmlns:a16="http://schemas.microsoft.com/office/drawing/2014/main" id="{996A9ACA-B6A9-274C-AF8C-6FDF8BEA33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0" y="1746"/>
                <a:ext cx="374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79" name="Line 67">
                <a:extLst>
                  <a:ext uri="{FF2B5EF4-FFF2-40B4-BE49-F238E27FC236}">
                    <a16:creationId xmlns:a16="http://schemas.microsoft.com/office/drawing/2014/main" id="{1CAF8AD6-4F2D-AF41-B54A-FA702FB44D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32" y="1700"/>
                <a:ext cx="0" cy="8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87" name="Text Box 78">
              <a:extLst>
                <a:ext uri="{FF2B5EF4-FFF2-40B4-BE49-F238E27FC236}">
                  <a16:creationId xmlns:a16="http://schemas.microsoft.com/office/drawing/2014/main" id="{084366A9-52AF-9848-912D-70AD364BF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9051" y="1292332"/>
              <a:ext cx="3279104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alibri" panose="020F0502020204030204"/>
                </a:rPr>
                <a:t>sender sequence number space </a:t>
              </a:r>
            </a:p>
          </p:txBody>
        </p:sp>
      </p:grpSp>
      <p:sp>
        <p:nvSpPr>
          <p:cNvPr id="198" name="Line 51">
            <a:extLst>
              <a:ext uri="{FF2B5EF4-FFF2-40B4-BE49-F238E27FC236}">
                <a16:creationId xmlns:a16="http://schemas.microsoft.com/office/drawing/2014/main" id="{E6E4B0C6-1414-3D4F-93A5-CCA3CEEBB66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1645" y="3013916"/>
            <a:ext cx="525031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F77D345-5DCD-C84A-8957-E4F03648FFCF}"/>
              </a:ext>
            </a:extLst>
          </p:cNvPr>
          <p:cNvGrpSpPr/>
          <p:nvPr/>
        </p:nvGrpSpPr>
        <p:grpSpPr>
          <a:xfrm>
            <a:off x="3153127" y="3076963"/>
            <a:ext cx="1319374" cy="736019"/>
            <a:chOff x="4204169" y="2959619"/>
            <a:chExt cx="1759165" cy="981359"/>
          </a:xfrm>
        </p:grpSpPr>
        <p:sp>
          <p:nvSpPr>
            <p:cNvPr id="199" name="Freeform 69">
              <a:extLst>
                <a:ext uri="{FF2B5EF4-FFF2-40B4-BE49-F238E27FC236}">
                  <a16:creationId xmlns:a16="http://schemas.microsoft.com/office/drawing/2014/main" id="{59B379E2-D8BE-6243-B6FF-8D00B68FA2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204169" y="2959619"/>
              <a:ext cx="190240" cy="549834"/>
            </a:xfrm>
            <a:custGeom>
              <a:avLst/>
              <a:gdLst>
                <a:gd name="T0" fmla="*/ 2147483647 w 91"/>
                <a:gd name="T1" fmla="*/ 0 h 242"/>
                <a:gd name="T2" fmla="*/ 2147483647 w 91"/>
                <a:gd name="T3" fmla="*/ 2147483647 h 242"/>
                <a:gd name="T4" fmla="*/ 0 w 91"/>
                <a:gd name="T5" fmla="*/ 2147483647 h 242"/>
                <a:gd name="T6" fmla="*/ 0 60000 65536"/>
                <a:gd name="T7" fmla="*/ 0 60000 65536"/>
                <a:gd name="T8" fmla="*/ 0 60000 65536"/>
                <a:gd name="connsiteX0" fmla="*/ 9412 w 9670"/>
                <a:gd name="connsiteY0" fmla="*/ 0 h 9938"/>
                <a:gd name="connsiteX1" fmla="*/ 9670 w 9670"/>
                <a:gd name="connsiteY1" fmla="*/ 9938 h 9938"/>
                <a:gd name="connsiteX2" fmla="*/ 0 w 9670"/>
                <a:gd name="connsiteY2" fmla="*/ 9938 h 9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" h="9938">
                  <a:moveTo>
                    <a:pt x="9412" y="0"/>
                  </a:moveTo>
                  <a:lnTo>
                    <a:pt x="9670" y="9938"/>
                  </a:lnTo>
                  <a:lnTo>
                    <a:pt x="0" y="9938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</a:endParaRPr>
            </a:p>
          </p:txBody>
        </p:sp>
        <p:sp>
          <p:nvSpPr>
            <p:cNvPr id="200" name="Text Box 59">
              <a:extLst>
                <a:ext uri="{FF2B5EF4-FFF2-40B4-BE49-F238E27FC236}">
                  <a16:creationId xmlns:a16="http://schemas.microsoft.com/office/drawing/2014/main" id="{D18ACC8C-E30F-2B43-A012-02A119CFD5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9485" y="3319270"/>
              <a:ext cx="1603849" cy="6217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alibri" panose="020F0502020204030204"/>
                </a:rPr>
                <a:t>available but not used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DAB0D8A-F035-A446-BFCD-CB14C1FE358B}"/>
              </a:ext>
            </a:extLst>
          </p:cNvPr>
          <p:cNvGrpSpPr/>
          <p:nvPr/>
        </p:nvGrpSpPr>
        <p:grpSpPr>
          <a:xfrm>
            <a:off x="5385197" y="1949053"/>
            <a:ext cx="3444470" cy="1926397"/>
            <a:chOff x="7180262" y="1455737"/>
            <a:chExt cx="4592627" cy="2568529"/>
          </a:xfrm>
        </p:grpSpPr>
        <p:sp>
          <p:nvSpPr>
            <p:cNvPr id="103" name="Rectangle 4">
              <a:extLst>
                <a:ext uri="{FF2B5EF4-FFF2-40B4-BE49-F238E27FC236}">
                  <a16:creationId xmlns:a16="http://schemas.microsoft.com/office/drawing/2014/main" id="{3906FFA2-1D5C-7540-9050-9ADF128402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0262" y="1455737"/>
              <a:ext cx="4592627" cy="2447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  <a:ext uri="{FAA26D3D-D897-4be2-8F04-BA451C77F1D7}">
                <ma14:placeholderFlag xmlns:ma14="http://schemas.microsoft.com/office/mac/drawingml/2011/main" xmlns="" val="1"/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lvl1pPr marL="284163" indent="-284163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687388" indent="-230188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 marL="213122" indent="-213122" defTabSz="685800">
                <a:buNone/>
                <a:defRPr/>
              </a:pPr>
              <a:r>
                <a:rPr lang="en-US" sz="2100" kern="0" dirty="0">
                  <a:solidFill>
                    <a:srgbClr val="000000"/>
                  </a:solidFill>
                  <a:latin typeface="Calibri" panose="020F0502020204030204"/>
                  <a:cs typeface="+mn-cs"/>
                </a:rPr>
                <a:t>TCP sending behavior:</a:t>
              </a:r>
            </a:p>
            <a:p>
              <a:pPr marL="213122" indent="-213122" defTabSz="685800">
                <a:buFont typeface="Wingdings" charset="2"/>
                <a:buChar char="§"/>
                <a:defRPr/>
              </a:pPr>
              <a:r>
                <a:rPr lang="en-US" sz="2100" i="1" kern="0" dirty="0">
                  <a:solidFill>
                    <a:srgbClr val="000000"/>
                  </a:solidFill>
                  <a:latin typeface="Calibri" panose="020F0502020204030204"/>
                  <a:cs typeface="+mn-cs"/>
                </a:rPr>
                <a:t>roughly:</a:t>
              </a:r>
              <a:r>
                <a:rPr lang="en-US" sz="2100" kern="0" dirty="0">
                  <a:solidFill>
                    <a:srgbClr val="000000"/>
                  </a:solidFill>
                  <a:latin typeface="Calibri" panose="020F0502020204030204"/>
                  <a:cs typeface="+mn-cs"/>
                </a:rPr>
                <a:t> send </a:t>
              </a:r>
              <a:r>
                <a:rPr lang="en-US" sz="2100" kern="0" dirty="0">
                  <a:solidFill>
                    <a:srgbClr val="000000"/>
                  </a:solidFill>
                  <a:latin typeface="Courier" pitchFamily="2" charset="0"/>
                  <a:cs typeface="+mn-cs"/>
                </a:rPr>
                <a:t>cwnd</a:t>
              </a:r>
              <a:r>
                <a:rPr lang="en-US" sz="2100" kern="0" dirty="0">
                  <a:solidFill>
                    <a:srgbClr val="000000"/>
                  </a:solidFill>
                  <a:latin typeface="Calibri" panose="020F0502020204030204"/>
                  <a:cs typeface="+mn-cs"/>
                </a:rPr>
                <a:t> bytes, wait RTT for ACKS, then send more bytes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7FB518A-5432-5D44-890D-C8AC56EDFDD2}"/>
                </a:ext>
              </a:extLst>
            </p:cNvPr>
            <p:cNvGrpSpPr/>
            <p:nvPr/>
          </p:nvGrpSpPr>
          <p:grpSpPr>
            <a:xfrm>
              <a:off x="7510646" y="3110983"/>
              <a:ext cx="3754046" cy="913283"/>
              <a:chOff x="6837170" y="3035314"/>
              <a:chExt cx="3754046" cy="913283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803E68F-787C-134C-96B7-EA9979048F4F}"/>
                  </a:ext>
                </a:extLst>
              </p:cNvPr>
              <p:cNvSpPr/>
              <p:nvPr/>
            </p:nvSpPr>
            <p:spPr>
              <a:xfrm>
                <a:off x="6839655" y="3035314"/>
                <a:ext cx="3751561" cy="88311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C32ED096-06AB-7A4D-A7B5-17961E51AD24}"/>
                  </a:ext>
                </a:extLst>
              </p:cNvPr>
              <p:cNvGrpSpPr/>
              <p:nvPr/>
            </p:nvGrpSpPr>
            <p:grpSpPr>
              <a:xfrm>
                <a:off x="6837170" y="3107220"/>
                <a:ext cx="3696485" cy="841377"/>
                <a:chOff x="6662549" y="3614745"/>
                <a:chExt cx="3696485" cy="841377"/>
              </a:xfrm>
            </p:grpSpPr>
            <p:sp>
              <p:nvSpPr>
                <p:cNvPr id="188" name="Text Box 79">
                  <a:extLst>
                    <a:ext uri="{FF2B5EF4-FFF2-40B4-BE49-F238E27FC236}">
                      <a16:creationId xmlns:a16="http://schemas.microsoft.com/office/drawing/2014/main" id="{15B5BFBD-DF38-5B40-87E5-F81F37DAA7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62549" y="3723809"/>
                  <a:ext cx="1455441" cy="55399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2100" dirty="0">
                      <a:solidFill>
                        <a:srgbClr val="000000"/>
                      </a:solidFill>
                      <a:latin typeface="Calibri" panose="020F0502020204030204"/>
                    </a:rPr>
                    <a:t>TCP rate</a:t>
                  </a:r>
                  <a:endParaRPr lang="en-US" sz="1800" dirty="0">
                    <a:solidFill>
                      <a:srgbClr val="000000"/>
                    </a:solidFill>
                    <a:latin typeface="Calibri" panose="020F0502020204030204"/>
                  </a:endParaRPr>
                </a:p>
              </p:txBody>
            </p:sp>
            <p:grpSp>
              <p:nvGrpSpPr>
                <p:cNvPr id="189" name="Group 82">
                  <a:extLst>
                    <a:ext uri="{FF2B5EF4-FFF2-40B4-BE49-F238E27FC236}">
                      <a16:creationId xmlns:a16="http://schemas.microsoft.com/office/drawing/2014/main" id="{0CAF5E9A-5B2C-B84F-AC89-1EFE7DC4B6A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748588" y="3776667"/>
                  <a:ext cx="931863" cy="474663"/>
                  <a:chOff x="4214" y="2517"/>
                  <a:chExt cx="587" cy="299"/>
                </a:xfrm>
              </p:grpSpPr>
              <p:sp>
                <p:nvSpPr>
                  <p:cNvPr id="190" name="Text Box 80">
                    <a:extLst>
                      <a:ext uri="{FF2B5EF4-FFF2-40B4-BE49-F238E27FC236}">
                        <a16:creationId xmlns:a16="http://schemas.microsoft.com/office/drawing/2014/main" id="{36C86FAE-252E-5441-8D9C-64BC30C08F2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16" y="2517"/>
                    <a:ext cx="585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algn="ctr"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1350" kern="0" dirty="0">
                        <a:solidFill>
                          <a:srgbClr val="000000"/>
                        </a:solidFill>
                      </a:rPr>
                      <a:t>~</a:t>
                    </a:r>
                  </a:p>
                </p:txBody>
              </p:sp>
              <p:sp>
                <p:nvSpPr>
                  <p:cNvPr id="191" name="Text Box 81">
                    <a:extLst>
                      <a:ext uri="{FF2B5EF4-FFF2-40B4-BE49-F238E27FC236}">
                        <a16:creationId xmlns:a16="http://schemas.microsoft.com/office/drawing/2014/main" id="{CFDD21D8-7DD6-9E4E-82CD-89F60D95E89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14" y="2564"/>
                    <a:ext cx="585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algn="ctr"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1350" kern="0" dirty="0">
                        <a:solidFill>
                          <a:srgbClr val="000000"/>
                        </a:solidFill>
                      </a:rPr>
                      <a:t>~</a:t>
                    </a:r>
                  </a:p>
                </p:txBody>
              </p:sp>
            </p:grpSp>
            <p:grpSp>
              <p:nvGrpSpPr>
                <p:cNvPr id="192" name="Group 86">
                  <a:extLst>
                    <a:ext uri="{FF2B5EF4-FFF2-40B4-BE49-F238E27FC236}">
                      <a16:creationId xmlns:a16="http://schemas.microsoft.com/office/drawing/2014/main" id="{A6A8A6BC-4690-FD46-A7A2-F81368063A9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291512" y="3614745"/>
                  <a:ext cx="981074" cy="841377"/>
                  <a:chOff x="4317" y="2509"/>
                  <a:chExt cx="618" cy="530"/>
                </a:xfrm>
              </p:grpSpPr>
              <p:sp>
                <p:nvSpPr>
                  <p:cNvPr id="193" name="Text Box 83">
                    <a:extLst>
                      <a:ext uri="{FF2B5EF4-FFF2-40B4-BE49-F238E27FC236}">
                        <a16:creationId xmlns:a16="http://schemas.microsoft.com/office/drawing/2014/main" id="{2EABE0BC-E93A-7840-BC78-8917BD66E87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17" y="2509"/>
                    <a:ext cx="618" cy="3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algn="ctr"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1800" kern="0" dirty="0">
                        <a:solidFill>
                          <a:srgbClr val="000000"/>
                        </a:solidFill>
                        <a:latin typeface="Courier" pitchFamily="2" charset="0"/>
                      </a:rPr>
                      <a:t>cwnd</a:t>
                    </a:r>
                  </a:p>
                </p:txBody>
              </p:sp>
              <p:sp>
                <p:nvSpPr>
                  <p:cNvPr id="194" name="Text Box 84">
                    <a:extLst>
                      <a:ext uri="{FF2B5EF4-FFF2-40B4-BE49-F238E27FC236}">
                        <a16:creationId xmlns:a16="http://schemas.microsoft.com/office/drawing/2014/main" id="{FC380433-330D-4342-82B3-E71BEB72AF0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79" y="2729"/>
                    <a:ext cx="501" cy="3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algn="ctr"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1800" kern="0" dirty="0">
                        <a:solidFill>
                          <a:srgbClr val="000000"/>
                        </a:solidFill>
                      </a:rPr>
                      <a:t>RTT</a:t>
                    </a:r>
                  </a:p>
                </p:txBody>
              </p:sp>
              <p:sp>
                <p:nvSpPr>
                  <p:cNvPr id="195" name="Line 85">
                    <a:extLst>
                      <a:ext uri="{FF2B5EF4-FFF2-40B4-BE49-F238E27FC236}">
                        <a16:creationId xmlns:a16="http://schemas.microsoft.com/office/drawing/2014/main" id="{1B9F9DB8-E2FB-AE45-88BA-CC221F1D659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430" y="2763"/>
                    <a:ext cx="384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algn="ctr"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500" kern="0" dirty="0">
                      <a:solidFill>
                        <a:srgbClr val="000000"/>
                      </a:solidFill>
                      <a:latin typeface="Tahoma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196" name="Text Box 87">
                  <a:extLst>
                    <a:ext uri="{FF2B5EF4-FFF2-40B4-BE49-F238E27FC236}">
                      <a16:creationId xmlns:a16="http://schemas.microsoft.com/office/drawing/2014/main" id="{2A51BBA4-2F14-2F4F-A04D-EFFFF36AF4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112538" y="3823464"/>
                  <a:ext cx="1246496" cy="4308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500" kern="0" dirty="0">
                      <a:solidFill>
                        <a:srgbClr val="000000"/>
                      </a:solidFill>
                      <a:latin typeface="Calibri" panose="020F0502020204030204"/>
                    </a:rPr>
                    <a:t>bytes/sec</a:t>
                  </a:r>
                </a:p>
              </p:txBody>
            </p:sp>
          </p:grp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B0449D2-8107-EC4E-BA6E-0B53574C5B7E}"/>
              </a:ext>
            </a:extLst>
          </p:cNvPr>
          <p:cNvGrpSpPr/>
          <p:nvPr/>
        </p:nvGrpSpPr>
        <p:grpSpPr>
          <a:xfrm>
            <a:off x="1745323" y="3012751"/>
            <a:ext cx="1245685" cy="1057469"/>
            <a:chOff x="2327097" y="2874002"/>
            <a:chExt cx="1660913" cy="1409958"/>
          </a:xfrm>
        </p:grpSpPr>
        <p:sp>
          <p:nvSpPr>
            <p:cNvPr id="171" name="Text Box 58">
              <a:extLst>
                <a:ext uri="{FF2B5EF4-FFF2-40B4-BE49-F238E27FC236}">
                  <a16:creationId xmlns:a16="http://schemas.microsoft.com/office/drawing/2014/main" id="{245049EB-D632-CE4C-A587-BA819860D4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7097" y="3412952"/>
              <a:ext cx="1660913" cy="87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350" kern="0" dirty="0">
                  <a:solidFill>
                    <a:srgbClr val="000000"/>
                  </a:solidFill>
                  <a:latin typeface="Calibri" panose="020F0502020204030204"/>
                </a:rPr>
                <a:t>sent, but not-yet ACKed </a:t>
              </a:r>
            </a:p>
            <a:p>
              <a:pPr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350" kern="0" dirty="0">
                  <a:solidFill>
                    <a:srgbClr val="000000"/>
                  </a:solidFill>
                  <a:latin typeface="Calibri" panose="020F0502020204030204"/>
                </a:rPr>
                <a:t>(“</a:t>
              </a:r>
              <a:r>
                <a:rPr lang="en-US" altLang="ja-JP" sz="1350" kern="0" dirty="0">
                  <a:solidFill>
                    <a:srgbClr val="000000"/>
                  </a:solidFill>
                  <a:latin typeface="Calibri" panose="020F0502020204030204"/>
                </a:rPr>
                <a:t>in-flight”)</a:t>
              </a:r>
              <a:endParaRPr lang="en-US" altLang="en-US" sz="1200" kern="0" dirty="0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036A4AF-C412-6643-BB9E-A6741086FD03}"/>
                </a:ext>
              </a:extLst>
            </p:cNvPr>
            <p:cNvGrpSpPr/>
            <p:nvPr/>
          </p:nvGrpSpPr>
          <p:grpSpPr>
            <a:xfrm>
              <a:off x="2644060" y="2874002"/>
              <a:ext cx="1201888" cy="658131"/>
              <a:chOff x="2644060" y="2874003"/>
              <a:chExt cx="1201888" cy="635450"/>
            </a:xfrm>
          </p:grpSpPr>
          <p:sp>
            <p:nvSpPr>
              <p:cNvPr id="167" name="Line 51">
                <a:extLst>
                  <a:ext uri="{FF2B5EF4-FFF2-40B4-BE49-F238E27FC236}">
                    <a16:creationId xmlns:a16="http://schemas.microsoft.com/office/drawing/2014/main" id="{82259C8B-8E68-3B45-95EF-6297D889F7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4060" y="2874003"/>
                <a:ext cx="1201888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9E977076-799D-1F4B-B884-156CBD02FF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50877" y="2898008"/>
                <a:ext cx="0" cy="6114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36382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TCP slow start 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07BF2-46C8-4013-7911-8A362E542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4" name="Slide Number Placeholder 2">
            <a:extLst>
              <a:ext uri="{FF2B5EF4-FFF2-40B4-BE49-F238E27FC236}">
                <a16:creationId xmlns:a16="http://schemas.microsoft.com/office/drawing/2014/main" id="{E6BF77EC-AB9F-944C-99D2-21B2DB400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Transport Layer: 3-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20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8A57114D-913B-0446-AF23-3E8C1F4B81CA}"/>
              </a:ext>
            </a:extLst>
          </p:cNvPr>
          <p:cNvSpPr txBox="1">
            <a:spLocks noChangeArrowheads="1"/>
          </p:cNvSpPr>
          <p:nvPr/>
        </p:nvSpPr>
        <p:spPr>
          <a:xfrm>
            <a:off x="857250" y="1895475"/>
            <a:ext cx="3838575" cy="391069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5275" indent="-197644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when connection begins, increase rate exponentially until first loss event:</a:t>
            </a:r>
          </a:p>
          <a:p>
            <a:pPr marL="521494" lvl="1" indent="-173831" defTabSz="685800">
              <a:spcBef>
                <a:spcPts val="375"/>
              </a:spcBef>
              <a:buFont typeface="Arial"/>
              <a:buChar char="•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initially </a:t>
            </a:r>
            <a:r>
              <a:rPr lang="en-US" sz="2100" b="1" dirty="0">
                <a:solidFill>
                  <a:prstClr val="black"/>
                </a:solidFill>
                <a:latin typeface="Courier New" charset="0"/>
              </a:rPr>
              <a:t>cwnd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= 1 MSS</a:t>
            </a:r>
          </a:p>
          <a:p>
            <a:pPr marL="521494" lvl="1" indent="-173831" defTabSz="685800">
              <a:spcBef>
                <a:spcPts val="375"/>
              </a:spcBef>
              <a:buFont typeface="Arial"/>
              <a:buChar char="•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double </a:t>
            </a:r>
            <a:r>
              <a:rPr lang="en-US" sz="2100" b="1" dirty="0">
                <a:solidFill>
                  <a:prstClr val="black"/>
                </a:solidFill>
                <a:latin typeface="Courier New" charset="0"/>
              </a:rPr>
              <a:t>cwnd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every RTT</a:t>
            </a:r>
          </a:p>
          <a:p>
            <a:pPr marL="521494" lvl="1" indent="-173831" defTabSz="685800">
              <a:spcBef>
                <a:spcPts val="375"/>
              </a:spcBef>
              <a:buFont typeface="Arial"/>
              <a:buChar char="•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done by incrementing </a:t>
            </a:r>
            <a:r>
              <a:rPr lang="en-US" sz="2100" b="1" dirty="0">
                <a:solidFill>
                  <a:prstClr val="black"/>
                </a:solidFill>
                <a:latin typeface="Courier New" charset="0"/>
              </a:rPr>
              <a:t>cwnd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for every ACK received</a:t>
            </a:r>
          </a:p>
        </p:txBody>
      </p:sp>
      <p:sp>
        <p:nvSpPr>
          <p:cNvPr id="224" name="Line 6">
            <a:extLst>
              <a:ext uri="{FF2B5EF4-FFF2-40B4-BE49-F238E27FC236}">
                <a16:creationId xmlns:a16="http://schemas.microsoft.com/office/drawing/2014/main" id="{6A528287-EE91-2148-8BF9-9042AB1CFB64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8807" y="2587193"/>
            <a:ext cx="1878806" cy="264319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25" name="Text Box 8">
            <a:extLst>
              <a:ext uri="{FF2B5EF4-FFF2-40B4-BE49-F238E27FC236}">
                <a16:creationId xmlns:a16="http://schemas.microsoft.com/office/drawing/2014/main" id="{BF8683E2-9BD1-4641-8269-1F97FE166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377" y="1733514"/>
            <a:ext cx="694485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dirty="0">
                <a:solidFill>
                  <a:srgbClr val="000000"/>
                </a:solidFill>
                <a:latin typeface="Arial" charset="0"/>
              </a:rPr>
              <a:t>Host A</a:t>
            </a:r>
          </a:p>
        </p:txBody>
      </p:sp>
      <p:sp>
        <p:nvSpPr>
          <p:cNvPr id="226" name="Text Box 9">
            <a:extLst>
              <a:ext uri="{FF2B5EF4-FFF2-40B4-BE49-F238E27FC236}">
                <a16:creationId xmlns:a16="http://schemas.microsoft.com/office/drawing/2014/main" id="{C49CE5EE-9C21-9E4F-B95D-B87D2E6CA9D2}"/>
              </a:ext>
            </a:extLst>
          </p:cNvPr>
          <p:cNvSpPr txBox="1">
            <a:spLocks noChangeArrowheads="1"/>
          </p:cNvSpPr>
          <p:nvPr/>
        </p:nvSpPr>
        <p:spPr bwMode="auto">
          <a:xfrm rot="408567">
            <a:off x="6414032" y="2549532"/>
            <a:ext cx="965329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50" dirty="0">
                <a:solidFill>
                  <a:srgbClr val="000000"/>
                </a:solidFill>
                <a:latin typeface="Arial" charset="0"/>
              </a:rPr>
              <a:t>one segment</a:t>
            </a:r>
            <a:endParaRPr lang="en-US" sz="75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228" name="Text Box 12">
            <a:extLst>
              <a:ext uri="{FF2B5EF4-FFF2-40B4-BE49-F238E27FC236}">
                <a16:creationId xmlns:a16="http://schemas.microsoft.com/office/drawing/2014/main" id="{51858FD0-9B85-8441-9B12-8875189F6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8209" y="1722799"/>
            <a:ext cx="70404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dirty="0">
                <a:solidFill>
                  <a:srgbClr val="000000"/>
                </a:solidFill>
                <a:latin typeface="Arial" charset="0"/>
              </a:rPr>
              <a:t>Host B</a:t>
            </a:r>
          </a:p>
        </p:txBody>
      </p:sp>
      <p:sp>
        <p:nvSpPr>
          <p:cNvPr id="229" name="Line 13">
            <a:extLst>
              <a:ext uri="{FF2B5EF4-FFF2-40B4-BE49-F238E27FC236}">
                <a16:creationId xmlns:a16="http://schemas.microsoft.com/office/drawing/2014/main" id="{A18AC8EC-DBD1-E34E-B3EA-D3876A5303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5235" y="2447889"/>
            <a:ext cx="0" cy="2886075"/>
          </a:xfrm>
          <a:prstGeom prst="line">
            <a:avLst/>
          </a:prstGeom>
          <a:noFill/>
          <a:ln w="19050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230" name="Line 14">
            <a:extLst>
              <a:ext uri="{FF2B5EF4-FFF2-40B4-BE49-F238E27FC236}">
                <a16:creationId xmlns:a16="http://schemas.microsoft.com/office/drawing/2014/main" id="{77B3310E-1B60-414E-9423-328982307B1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71185" y="2476464"/>
            <a:ext cx="0" cy="2886075"/>
          </a:xfrm>
          <a:prstGeom prst="line">
            <a:avLst/>
          </a:prstGeom>
          <a:noFill/>
          <a:ln w="19050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69B56F2-B7D2-5247-8C5B-11CDFE50D6C7}"/>
              </a:ext>
            </a:extLst>
          </p:cNvPr>
          <p:cNvGrpSpPr/>
          <p:nvPr/>
        </p:nvGrpSpPr>
        <p:grpSpPr>
          <a:xfrm>
            <a:off x="5428492" y="2559808"/>
            <a:ext cx="253916" cy="622697"/>
            <a:chOff x="7237996" y="2270077"/>
            <a:chExt cx="338555" cy="830263"/>
          </a:xfrm>
        </p:grpSpPr>
        <p:sp>
          <p:nvSpPr>
            <p:cNvPr id="227" name="Text Box 10">
              <a:extLst>
                <a:ext uri="{FF2B5EF4-FFF2-40B4-BE49-F238E27FC236}">
                  <a16:creationId xmlns:a16="http://schemas.microsoft.com/office/drawing/2014/main" id="{A25707E3-FE96-074A-AE26-F8222C4C39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109970" y="2493708"/>
              <a:ext cx="594608" cy="3385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50" dirty="0">
                  <a:solidFill>
                    <a:srgbClr val="000000"/>
                  </a:solidFill>
                  <a:latin typeface="Arial" charset="0"/>
                </a:rPr>
                <a:t>RTT</a:t>
              </a:r>
              <a:endParaRPr lang="en-US" sz="75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31" name="Line 15">
              <a:extLst>
                <a:ext uri="{FF2B5EF4-FFF2-40B4-BE49-F238E27FC236}">
                  <a16:creationId xmlns:a16="http://schemas.microsoft.com/office/drawing/2014/main" id="{1BE79FAE-9CDC-7B45-A6C0-E89FC9FC23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99338" y="2270077"/>
              <a:ext cx="4762" cy="2190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32" name="Line 16">
              <a:extLst>
                <a:ext uri="{FF2B5EF4-FFF2-40B4-BE49-F238E27FC236}">
                  <a16:creationId xmlns:a16="http://schemas.microsoft.com/office/drawing/2014/main" id="{59A77926-4B5A-AC4A-B560-0B735D6BC7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8863" y="2876502"/>
              <a:ext cx="4762" cy="2238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233" name="Line 17">
            <a:extLst>
              <a:ext uri="{FF2B5EF4-FFF2-40B4-BE49-F238E27FC236}">
                <a16:creationId xmlns:a16="http://schemas.microsoft.com/office/drawing/2014/main" id="{6F1B852B-55C3-8747-96CA-AA2F2AB5E5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70948" y="2890802"/>
            <a:ext cx="1878806" cy="264319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grpSp>
        <p:nvGrpSpPr>
          <p:cNvPr id="234" name="Group 18">
            <a:extLst>
              <a:ext uri="{FF2B5EF4-FFF2-40B4-BE49-F238E27FC236}">
                <a16:creationId xmlns:a16="http://schemas.microsoft.com/office/drawing/2014/main" id="{065B59AF-8C8D-9041-B965-0C2B0A5F8CEF}"/>
              </a:ext>
            </a:extLst>
          </p:cNvPr>
          <p:cNvGrpSpPr>
            <a:grpSpLocks/>
          </p:cNvGrpSpPr>
          <p:nvPr/>
        </p:nvGrpSpPr>
        <p:grpSpPr bwMode="auto">
          <a:xfrm>
            <a:off x="7331867" y="4947006"/>
            <a:ext cx="511968" cy="300037"/>
            <a:chOff x="3296" y="3527"/>
            <a:chExt cx="430" cy="252"/>
          </a:xfrm>
        </p:grpSpPr>
        <p:sp>
          <p:nvSpPr>
            <p:cNvPr id="235" name="Rectangle 19">
              <a:extLst>
                <a:ext uri="{FF2B5EF4-FFF2-40B4-BE49-F238E27FC236}">
                  <a16:creationId xmlns:a16="http://schemas.microsoft.com/office/drawing/2014/main" id="{87C76A64-BE9B-B84D-B23B-73554D8DC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2" y="3576"/>
              <a:ext cx="324" cy="1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36" name="Text Box 20">
              <a:extLst>
                <a:ext uri="{FF2B5EF4-FFF2-40B4-BE49-F238E27FC236}">
                  <a16:creationId xmlns:a16="http://schemas.microsoft.com/office/drawing/2014/main" id="{0453126D-C0BC-5F4F-8DBD-30CD1FA8A1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6" y="3527"/>
              <a:ext cx="43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Arial" charset="0"/>
                </a:rPr>
                <a:t>time</a:t>
              </a:r>
              <a:endParaRPr lang="en-US" sz="750" kern="0" dirty="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100408E-3418-754E-97D5-873085045522}"/>
              </a:ext>
            </a:extLst>
          </p:cNvPr>
          <p:cNvGrpSpPr/>
          <p:nvPr/>
        </p:nvGrpSpPr>
        <p:grpSpPr>
          <a:xfrm>
            <a:off x="5688806" y="3172980"/>
            <a:ext cx="1882379" cy="328613"/>
            <a:chOff x="7585075" y="3087640"/>
            <a:chExt cx="2509838" cy="438150"/>
          </a:xfrm>
        </p:grpSpPr>
        <p:sp>
          <p:nvSpPr>
            <p:cNvPr id="237" name="Line 21">
              <a:extLst>
                <a:ext uri="{FF2B5EF4-FFF2-40B4-BE49-F238E27FC236}">
                  <a16:creationId xmlns:a16="http://schemas.microsoft.com/office/drawing/2014/main" id="{9884C69B-71B1-0942-8DD7-4BADAC4C58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9838" y="3087640"/>
              <a:ext cx="2505075" cy="352425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38" name="Line 22">
              <a:extLst>
                <a:ext uri="{FF2B5EF4-FFF2-40B4-BE49-F238E27FC236}">
                  <a16:creationId xmlns:a16="http://schemas.microsoft.com/office/drawing/2014/main" id="{51BC13AD-02C4-1049-8BE5-DF4431F84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5075" y="3173365"/>
              <a:ext cx="2505075" cy="352425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604703D-5DBE-F940-8D53-F844A095856D}"/>
              </a:ext>
            </a:extLst>
          </p:cNvPr>
          <p:cNvGrpSpPr/>
          <p:nvPr/>
        </p:nvGrpSpPr>
        <p:grpSpPr>
          <a:xfrm>
            <a:off x="5668567" y="3630181"/>
            <a:ext cx="1916906" cy="459581"/>
            <a:chOff x="7558088" y="3697240"/>
            <a:chExt cx="2555875" cy="612775"/>
          </a:xfrm>
        </p:grpSpPr>
        <p:sp>
          <p:nvSpPr>
            <p:cNvPr id="239" name="Line 23">
              <a:extLst>
                <a:ext uri="{FF2B5EF4-FFF2-40B4-BE49-F238E27FC236}">
                  <a16:creationId xmlns:a16="http://schemas.microsoft.com/office/drawing/2014/main" id="{4B52376E-4BCD-9A4A-845B-15A59AA4FC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85075" y="3697240"/>
              <a:ext cx="2528888" cy="36195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0" name="Line 24">
              <a:extLst>
                <a:ext uri="{FF2B5EF4-FFF2-40B4-BE49-F238E27FC236}">
                  <a16:creationId xmlns:a16="http://schemas.microsoft.com/office/drawing/2014/main" id="{645C0ACA-0EDA-5E4A-9046-377D9678C0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58088" y="3957590"/>
              <a:ext cx="2505075" cy="352425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241" name="Text Box 25">
            <a:extLst>
              <a:ext uri="{FF2B5EF4-FFF2-40B4-BE49-F238E27FC236}">
                <a16:creationId xmlns:a16="http://schemas.microsoft.com/office/drawing/2014/main" id="{01076F6F-B790-D24D-9445-FAC03A5C45E4}"/>
              </a:ext>
            </a:extLst>
          </p:cNvPr>
          <p:cNvSpPr txBox="1">
            <a:spLocks noChangeArrowheads="1"/>
          </p:cNvSpPr>
          <p:nvPr/>
        </p:nvSpPr>
        <p:spPr bwMode="auto">
          <a:xfrm rot="408567">
            <a:off x="6413386" y="3138891"/>
            <a:ext cx="1016625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50" dirty="0">
                <a:solidFill>
                  <a:srgbClr val="000000"/>
                </a:solidFill>
                <a:latin typeface="Arial" charset="0"/>
              </a:rPr>
              <a:t>two segments</a:t>
            </a:r>
            <a:endParaRPr lang="en-US" sz="75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242" name="Text Box 26">
            <a:extLst>
              <a:ext uri="{FF2B5EF4-FFF2-40B4-BE49-F238E27FC236}">
                <a16:creationId xmlns:a16="http://schemas.microsoft.com/office/drawing/2014/main" id="{1B8C0342-7E57-2343-86AD-47B5AB1AA675}"/>
              </a:ext>
            </a:extLst>
          </p:cNvPr>
          <p:cNvSpPr txBox="1">
            <a:spLocks noChangeArrowheads="1"/>
          </p:cNvSpPr>
          <p:nvPr/>
        </p:nvSpPr>
        <p:spPr bwMode="auto">
          <a:xfrm rot="408567">
            <a:off x="6481938" y="3899700"/>
            <a:ext cx="1039067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50" dirty="0">
                <a:solidFill>
                  <a:srgbClr val="000000"/>
                </a:solidFill>
                <a:latin typeface="Arial" charset="0"/>
              </a:rPr>
              <a:t>four segments</a:t>
            </a:r>
            <a:endParaRPr lang="en-US" sz="750" dirty="0">
              <a:solidFill>
                <a:srgbClr val="000000"/>
              </a:solidFill>
              <a:latin typeface="Times New Roman" charset="0"/>
            </a:endParaRPr>
          </a:p>
        </p:txBody>
      </p:sp>
      <p:grpSp>
        <p:nvGrpSpPr>
          <p:cNvPr id="243" name="Group 27">
            <a:extLst>
              <a:ext uri="{FF2B5EF4-FFF2-40B4-BE49-F238E27FC236}">
                <a16:creationId xmlns:a16="http://schemas.microsoft.com/office/drawing/2014/main" id="{B634F089-4244-B04A-8749-7ACF0E0264A8}"/>
              </a:ext>
            </a:extLst>
          </p:cNvPr>
          <p:cNvGrpSpPr>
            <a:grpSpLocks/>
          </p:cNvGrpSpPr>
          <p:nvPr/>
        </p:nvGrpSpPr>
        <p:grpSpPr bwMode="auto">
          <a:xfrm>
            <a:off x="5685238" y="3926646"/>
            <a:ext cx="1889522" cy="489347"/>
            <a:chOff x="3954" y="2214"/>
            <a:chExt cx="1587" cy="411"/>
          </a:xfrm>
        </p:grpSpPr>
        <p:sp>
          <p:nvSpPr>
            <p:cNvPr id="244" name="Line 28">
              <a:extLst>
                <a:ext uri="{FF2B5EF4-FFF2-40B4-BE49-F238E27FC236}">
                  <a16:creationId xmlns:a16="http://schemas.microsoft.com/office/drawing/2014/main" id="{6F92F39D-0B5B-8944-8B48-2B288C8AA1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3" y="2214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5" name="Line 29">
              <a:extLst>
                <a:ext uri="{FF2B5EF4-FFF2-40B4-BE49-F238E27FC236}">
                  <a16:creationId xmlns:a16="http://schemas.microsoft.com/office/drawing/2014/main" id="{C48577E5-7DD4-034F-9CF0-3D303E956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4" y="2274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6" name="Line 30">
              <a:extLst>
                <a:ext uri="{FF2B5EF4-FFF2-40B4-BE49-F238E27FC236}">
                  <a16:creationId xmlns:a16="http://schemas.microsoft.com/office/drawing/2014/main" id="{B96B9B7F-8E30-7743-AEDD-727B51D6B2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3" y="2340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47" name="Line 31">
              <a:extLst>
                <a:ext uri="{FF2B5EF4-FFF2-40B4-BE49-F238E27FC236}">
                  <a16:creationId xmlns:a16="http://schemas.microsoft.com/office/drawing/2014/main" id="{B83505EC-39A5-D64D-8E5C-39A07A090F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7" y="2403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248" name="Group 32">
            <a:extLst>
              <a:ext uri="{FF2B5EF4-FFF2-40B4-BE49-F238E27FC236}">
                <a16:creationId xmlns:a16="http://schemas.microsoft.com/office/drawing/2014/main" id="{00C5C000-11E9-BE42-9849-B1B7B9E99FE0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899547" y="4212395"/>
            <a:ext cx="1671638" cy="453629"/>
            <a:chOff x="3954" y="2214"/>
            <a:chExt cx="1587" cy="411"/>
          </a:xfrm>
        </p:grpSpPr>
        <p:sp>
          <p:nvSpPr>
            <p:cNvPr id="249" name="Line 33">
              <a:extLst>
                <a:ext uri="{FF2B5EF4-FFF2-40B4-BE49-F238E27FC236}">
                  <a16:creationId xmlns:a16="http://schemas.microsoft.com/office/drawing/2014/main" id="{4332886D-58A3-5C48-9DD4-0435A9D31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3" y="2214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50" name="Line 34">
              <a:extLst>
                <a:ext uri="{FF2B5EF4-FFF2-40B4-BE49-F238E27FC236}">
                  <a16:creationId xmlns:a16="http://schemas.microsoft.com/office/drawing/2014/main" id="{C0026D13-F3ED-354E-AB62-DED685C67E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4" y="2274"/>
              <a:ext cx="1578" cy="22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51" name="Line 35">
              <a:extLst>
                <a:ext uri="{FF2B5EF4-FFF2-40B4-BE49-F238E27FC236}">
                  <a16:creationId xmlns:a16="http://schemas.microsoft.com/office/drawing/2014/main" id="{36EDBC83-2FCD-4D49-9A45-B0773BAEE3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3" y="2340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52" name="Line 36">
              <a:extLst>
                <a:ext uri="{FF2B5EF4-FFF2-40B4-BE49-F238E27FC236}">
                  <a16:creationId xmlns:a16="http://schemas.microsoft.com/office/drawing/2014/main" id="{8BA1B8D7-7D1E-2947-8988-7C4595578C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7" y="2403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253" name="Group 43">
            <a:extLst>
              <a:ext uri="{FF2B5EF4-FFF2-40B4-BE49-F238E27FC236}">
                <a16:creationId xmlns:a16="http://schemas.microsoft.com/office/drawing/2014/main" id="{D0982D30-E871-F344-B80E-157861960777}"/>
              </a:ext>
            </a:extLst>
          </p:cNvPr>
          <p:cNvGrpSpPr>
            <a:grpSpLocks/>
          </p:cNvGrpSpPr>
          <p:nvPr/>
        </p:nvGrpSpPr>
        <p:grpSpPr bwMode="auto">
          <a:xfrm>
            <a:off x="5356622" y="1976402"/>
            <a:ext cx="490538" cy="451247"/>
            <a:chOff x="-44" y="1473"/>
            <a:chExt cx="981" cy="1105"/>
          </a:xfrm>
        </p:grpSpPr>
        <p:pic>
          <p:nvPicPr>
            <p:cNvPr id="254" name="Picture 44" descr="desktop_computer_stylized_medium">
              <a:extLst>
                <a:ext uri="{FF2B5EF4-FFF2-40B4-BE49-F238E27FC236}">
                  <a16:creationId xmlns:a16="http://schemas.microsoft.com/office/drawing/2014/main" id="{0C5F9445-24EE-C948-8E49-3FEF71FC59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5" name="Freeform 45">
              <a:extLst>
                <a:ext uri="{FF2B5EF4-FFF2-40B4-BE49-F238E27FC236}">
                  <a16:creationId xmlns:a16="http://schemas.microsoft.com/office/drawing/2014/main" id="{568D3F7F-13C8-1742-BB47-FC4C8107BA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256" name="Group 46">
            <a:extLst>
              <a:ext uri="{FF2B5EF4-FFF2-40B4-BE49-F238E27FC236}">
                <a16:creationId xmlns:a16="http://schemas.microsoft.com/office/drawing/2014/main" id="{514EF769-BED4-DE47-BE55-0913ABFB155D}"/>
              </a:ext>
            </a:extLst>
          </p:cNvPr>
          <p:cNvGrpSpPr>
            <a:grpSpLocks/>
          </p:cNvGrpSpPr>
          <p:nvPr/>
        </p:nvGrpSpPr>
        <p:grpSpPr bwMode="auto">
          <a:xfrm>
            <a:off x="7408069" y="1987118"/>
            <a:ext cx="286941" cy="410765"/>
            <a:chOff x="4140" y="429"/>
            <a:chExt cx="1425" cy="2396"/>
          </a:xfrm>
        </p:grpSpPr>
        <p:sp>
          <p:nvSpPr>
            <p:cNvPr id="257" name="Freeform 47">
              <a:extLst>
                <a:ext uri="{FF2B5EF4-FFF2-40B4-BE49-F238E27FC236}">
                  <a16:creationId xmlns:a16="http://schemas.microsoft.com/office/drawing/2014/main" id="{9A7FEAB4-C4F3-E042-96AB-2FC0D99EA4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58" name="Rectangle 48">
              <a:extLst>
                <a:ext uri="{FF2B5EF4-FFF2-40B4-BE49-F238E27FC236}">
                  <a16:creationId xmlns:a16="http://schemas.microsoft.com/office/drawing/2014/main" id="{0E59C13E-BE84-BA48-8D46-C29C02703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47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59" name="Freeform 49">
              <a:extLst>
                <a:ext uri="{FF2B5EF4-FFF2-40B4-BE49-F238E27FC236}">
                  <a16:creationId xmlns:a16="http://schemas.microsoft.com/office/drawing/2014/main" id="{CF502E49-4DFE-2340-8749-43933F838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60" name="Freeform 50">
              <a:extLst>
                <a:ext uri="{FF2B5EF4-FFF2-40B4-BE49-F238E27FC236}">
                  <a16:creationId xmlns:a16="http://schemas.microsoft.com/office/drawing/2014/main" id="{C8ED811D-DAEF-B141-A80E-204FE9D19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61" name="Rectangle 51">
              <a:extLst>
                <a:ext uri="{FF2B5EF4-FFF2-40B4-BE49-F238E27FC236}">
                  <a16:creationId xmlns:a16="http://schemas.microsoft.com/office/drawing/2014/main" id="{E540E7B8-30E6-B846-823A-6925D9600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3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62" name="Group 52">
              <a:extLst>
                <a:ext uri="{FF2B5EF4-FFF2-40B4-BE49-F238E27FC236}">
                  <a16:creationId xmlns:a16="http://schemas.microsoft.com/office/drawing/2014/main" id="{DE3F2659-D2D6-6C4C-9DF4-EEDFBE720D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87" name="AutoShape 53">
                <a:extLst>
                  <a:ext uri="{FF2B5EF4-FFF2-40B4-BE49-F238E27FC236}">
                    <a16:creationId xmlns:a16="http://schemas.microsoft.com/office/drawing/2014/main" id="{0ABA0FE6-EF08-7D42-838B-AEB8F18739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5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88" name="AutoShape 54">
                <a:extLst>
                  <a:ext uri="{FF2B5EF4-FFF2-40B4-BE49-F238E27FC236}">
                    <a16:creationId xmlns:a16="http://schemas.microsoft.com/office/drawing/2014/main" id="{AD5B052B-FFFB-424E-B4B9-AC7809F4BB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79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63" name="Rectangle 55">
              <a:extLst>
                <a:ext uri="{FF2B5EF4-FFF2-40B4-BE49-F238E27FC236}">
                  <a16:creationId xmlns:a16="http://schemas.microsoft.com/office/drawing/2014/main" id="{E9301038-767E-E14B-8FDB-B55EE9CA1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9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64" name="Group 56">
              <a:extLst>
                <a:ext uri="{FF2B5EF4-FFF2-40B4-BE49-F238E27FC236}">
                  <a16:creationId xmlns:a16="http://schemas.microsoft.com/office/drawing/2014/main" id="{2654E7B8-586D-8C4D-A5CD-CC6977E955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85" name="AutoShape 57">
                <a:extLst>
                  <a:ext uri="{FF2B5EF4-FFF2-40B4-BE49-F238E27FC236}">
                    <a16:creationId xmlns:a16="http://schemas.microsoft.com/office/drawing/2014/main" id="{4E195FC5-FC94-1542-9BBD-0BDFF1D5C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5"/>
                <a:ext cx="723" cy="14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86" name="AutoShape 58">
                <a:extLst>
                  <a:ext uri="{FF2B5EF4-FFF2-40B4-BE49-F238E27FC236}">
                    <a16:creationId xmlns:a16="http://schemas.microsoft.com/office/drawing/2014/main" id="{7E2D9C3B-E255-964C-9508-E66C9FF597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0"/>
                <a:ext cx="694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65" name="Rectangle 59">
              <a:extLst>
                <a:ext uri="{FF2B5EF4-FFF2-40B4-BE49-F238E27FC236}">
                  <a16:creationId xmlns:a16="http://schemas.microsoft.com/office/drawing/2014/main" id="{0D35C755-AFBC-C143-94D5-E34C8F255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66" name="Rectangle 60">
              <a:extLst>
                <a:ext uri="{FF2B5EF4-FFF2-40B4-BE49-F238E27FC236}">
                  <a16:creationId xmlns:a16="http://schemas.microsoft.com/office/drawing/2014/main" id="{8990E763-A8F8-E645-8A01-F6B16D853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8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267" name="Group 61">
              <a:extLst>
                <a:ext uri="{FF2B5EF4-FFF2-40B4-BE49-F238E27FC236}">
                  <a16:creationId xmlns:a16="http://schemas.microsoft.com/office/drawing/2014/main" id="{6F65B17F-5946-9A47-9972-2B907C0598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83" name="AutoShape 62">
                <a:extLst>
                  <a:ext uri="{FF2B5EF4-FFF2-40B4-BE49-F238E27FC236}">
                    <a16:creationId xmlns:a16="http://schemas.microsoft.com/office/drawing/2014/main" id="{F08D8399-0C1A-1847-A17B-5B4FDBE7FA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71"/>
                <a:ext cx="722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84" name="AutoShape 63">
                <a:extLst>
                  <a:ext uri="{FF2B5EF4-FFF2-40B4-BE49-F238E27FC236}">
                    <a16:creationId xmlns:a16="http://schemas.microsoft.com/office/drawing/2014/main" id="{99FEA9D9-F58C-C34F-AA76-A96DFE0CE7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2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68" name="Freeform 64">
              <a:extLst>
                <a:ext uri="{FF2B5EF4-FFF2-40B4-BE49-F238E27FC236}">
                  <a16:creationId xmlns:a16="http://schemas.microsoft.com/office/drawing/2014/main" id="{76F83DEB-6CB2-5740-875B-1B89844BE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269" name="Group 65">
              <a:extLst>
                <a:ext uri="{FF2B5EF4-FFF2-40B4-BE49-F238E27FC236}">
                  <a16:creationId xmlns:a16="http://schemas.microsoft.com/office/drawing/2014/main" id="{7398C74D-4650-204D-91E2-CBB3BD6419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81" name="AutoShape 66">
                <a:extLst>
                  <a:ext uri="{FF2B5EF4-FFF2-40B4-BE49-F238E27FC236}">
                    <a16:creationId xmlns:a16="http://schemas.microsoft.com/office/drawing/2014/main" id="{039023CA-977C-5946-9E46-D41AFAF2B1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9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82" name="AutoShape 67">
                <a:extLst>
                  <a:ext uri="{FF2B5EF4-FFF2-40B4-BE49-F238E27FC236}">
                    <a16:creationId xmlns:a16="http://schemas.microsoft.com/office/drawing/2014/main" id="{A95F4972-A071-D241-8DB3-965104C3ED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0"/>
                <a:ext cx="700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270" name="Rectangle 68">
              <a:extLst>
                <a:ext uri="{FF2B5EF4-FFF2-40B4-BE49-F238E27FC236}">
                  <a16:creationId xmlns:a16="http://schemas.microsoft.com/office/drawing/2014/main" id="{87EA3775-452B-1C4A-BCB4-1F82D746E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5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71" name="Freeform 69">
              <a:extLst>
                <a:ext uri="{FF2B5EF4-FFF2-40B4-BE49-F238E27FC236}">
                  <a16:creationId xmlns:a16="http://schemas.microsoft.com/office/drawing/2014/main" id="{45913A8B-722F-4340-A919-72B4EE032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72" name="Freeform 70">
              <a:extLst>
                <a:ext uri="{FF2B5EF4-FFF2-40B4-BE49-F238E27FC236}">
                  <a16:creationId xmlns:a16="http://schemas.microsoft.com/office/drawing/2014/main" id="{2676EFF8-49E0-8440-A1AD-B54B20D4F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73" name="Oval 71">
              <a:extLst>
                <a:ext uri="{FF2B5EF4-FFF2-40B4-BE49-F238E27FC236}">
                  <a16:creationId xmlns:a16="http://schemas.microsoft.com/office/drawing/2014/main" id="{1F85A707-5AE3-F64D-94EF-B9C82DB6D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74" name="Freeform 72">
              <a:extLst>
                <a:ext uri="{FF2B5EF4-FFF2-40B4-BE49-F238E27FC236}">
                  <a16:creationId xmlns:a16="http://schemas.microsoft.com/office/drawing/2014/main" id="{CAAAAF2D-30B7-D84B-BF96-1507DDCB2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75" name="AutoShape 73">
              <a:extLst>
                <a:ext uri="{FF2B5EF4-FFF2-40B4-BE49-F238E27FC236}">
                  <a16:creationId xmlns:a16="http://schemas.microsoft.com/office/drawing/2014/main" id="{BA3EE2C3-2176-8A45-B380-5804587A3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76" name="AutoShape 74">
              <a:extLst>
                <a:ext uri="{FF2B5EF4-FFF2-40B4-BE49-F238E27FC236}">
                  <a16:creationId xmlns:a16="http://schemas.microsoft.com/office/drawing/2014/main" id="{08D47FAF-BF1B-1F44-985D-760303B47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4"/>
              <a:ext cx="1070" cy="7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77" name="Oval 75">
              <a:extLst>
                <a:ext uri="{FF2B5EF4-FFF2-40B4-BE49-F238E27FC236}">
                  <a16:creationId xmlns:a16="http://schemas.microsoft.com/office/drawing/2014/main" id="{AF962D89-4DC3-CB40-AD48-4E975B0F2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0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78" name="Oval 76">
              <a:extLst>
                <a:ext uri="{FF2B5EF4-FFF2-40B4-BE49-F238E27FC236}">
                  <a16:creationId xmlns:a16="http://schemas.microsoft.com/office/drawing/2014/main" id="{BA8014D1-6702-5849-87C3-1AE05DDF6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7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9" name="Oval 77">
              <a:extLst>
                <a:ext uri="{FF2B5EF4-FFF2-40B4-BE49-F238E27FC236}">
                  <a16:creationId xmlns:a16="http://schemas.microsoft.com/office/drawing/2014/main" id="{3083C069-59B7-F047-91ED-17672B32B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280" name="Rectangle 78">
              <a:extLst>
                <a:ext uri="{FF2B5EF4-FFF2-40B4-BE49-F238E27FC236}">
                  <a16:creationId xmlns:a16="http://schemas.microsoft.com/office/drawing/2014/main" id="{A0E616B9-1439-8B49-B42F-245B61F6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2"/>
              <a:ext cx="83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sp>
        <p:nvSpPr>
          <p:cNvPr id="73" name="Rectangle 3">
            <a:extLst>
              <a:ext uri="{FF2B5EF4-FFF2-40B4-BE49-F238E27FC236}">
                <a16:creationId xmlns:a16="http://schemas.microsoft.com/office/drawing/2014/main" id="{E8DFB3C6-E718-DE4A-87C1-CF7178F7C295}"/>
              </a:ext>
            </a:extLst>
          </p:cNvPr>
          <p:cNvSpPr txBox="1">
            <a:spLocks noChangeArrowheads="1"/>
          </p:cNvSpPr>
          <p:nvPr/>
        </p:nvSpPr>
        <p:spPr>
          <a:xfrm>
            <a:off x="876300" y="4305300"/>
            <a:ext cx="3838575" cy="142875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5275" indent="-197644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400" i="1" dirty="0">
                <a:solidFill>
                  <a:srgbClr val="CC0000"/>
                </a:solidFill>
                <a:latin typeface="Calibri" panose="020F0502020204030204"/>
              </a:rPr>
              <a:t>summary: 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initial rate is slow, but ramps up exponentially fast</a:t>
            </a:r>
          </a:p>
        </p:txBody>
      </p:sp>
    </p:spTree>
    <p:extLst>
      <p:ext uri="{BB962C8B-B14F-4D97-AF65-F5344CB8AC3E}">
        <p14:creationId xmlns:p14="http://schemas.microsoft.com/office/powerpoint/2010/main" val="3185277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" grpId="0" animBg="1"/>
      <p:bldP spid="226" grpId="0"/>
      <p:bldP spid="233" grpId="0" animBg="1"/>
      <p:bldP spid="241" grpId="0"/>
      <p:bldP spid="242" grpId="0"/>
      <p:bldP spid="7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36525"/>
            <a:ext cx="7461613" cy="772796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TCP: from slow start to congestion avoidance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A5FED-9E13-C73E-752E-DC942B12D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632F645E-415D-7B49-B6B8-127E8033C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Transport Layer: 3-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21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76" name="Rectangle 3">
            <a:extLst>
              <a:ext uri="{FF2B5EF4-FFF2-40B4-BE49-F238E27FC236}">
                <a16:creationId xmlns:a16="http://schemas.microsoft.com/office/drawing/2014/main" id="{2C9AD9FD-A93B-FF4D-B019-6827A14601C2}"/>
              </a:ext>
            </a:extLst>
          </p:cNvPr>
          <p:cNvSpPr txBox="1">
            <a:spLocks noChangeArrowheads="1"/>
          </p:cNvSpPr>
          <p:nvPr/>
        </p:nvSpPr>
        <p:spPr>
          <a:xfrm>
            <a:off x="714375" y="1894249"/>
            <a:ext cx="3790950" cy="142875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sz="2100" i="1" dirty="0">
                <a:solidFill>
                  <a:srgbClr val="C00000"/>
                </a:solidFill>
                <a:latin typeface="Calibri" panose="020F0502020204030204"/>
              </a:rPr>
              <a:t>Q: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when should the exponential increase switch to linear? </a:t>
            </a:r>
          </a:p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sz="2100" i="1" dirty="0">
                <a:solidFill>
                  <a:srgbClr val="C00000"/>
                </a:solidFill>
                <a:latin typeface="Calibri" panose="020F0502020204030204"/>
              </a:rPr>
              <a:t>A: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when </a:t>
            </a:r>
            <a:r>
              <a:rPr lang="en-US" sz="2100" b="1" dirty="0">
                <a:solidFill>
                  <a:prstClr val="black"/>
                </a:solidFill>
                <a:latin typeface="Courier New" charset="0"/>
              </a:rPr>
              <a:t>cwnd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gets to 1/2 of its value before timeout.</a:t>
            </a:r>
          </a:p>
        </p:txBody>
      </p:sp>
      <p:sp>
        <p:nvSpPr>
          <p:cNvPr id="77" name="Rectangle 4">
            <a:extLst>
              <a:ext uri="{FF2B5EF4-FFF2-40B4-BE49-F238E27FC236}">
                <a16:creationId xmlns:a16="http://schemas.microsoft.com/office/drawing/2014/main" id="{38B71F69-39D9-954A-BA33-6A5861B7704D}"/>
              </a:ext>
            </a:extLst>
          </p:cNvPr>
          <p:cNvSpPr txBox="1">
            <a:spLocks noChangeArrowheads="1"/>
          </p:cNvSpPr>
          <p:nvPr/>
        </p:nvSpPr>
        <p:spPr>
          <a:xfrm>
            <a:off x="714375" y="3503974"/>
            <a:ext cx="3695700" cy="142875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Calibri" panose="020F0502020204030204"/>
              </a:rPr>
              <a:t>Implementation:</a:t>
            </a:r>
          </a:p>
          <a:p>
            <a:pPr marL="264319" indent="-166688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variable </a:t>
            </a:r>
            <a:r>
              <a:rPr lang="en-US" sz="1800" b="1" dirty="0">
                <a:solidFill>
                  <a:prstClr val="black"/>
                </a:solidFill>
                <a:latin typeface="Courier New" charset="0"/>
              </a:rPr>
              <a:t>ssthresh</a:t>
            </a:r>
            <a:r>
              <a:rPr lang="en-US" sz="1800" dirty="0">
                <a:solidFill>
                  <a:prstClr val="black"/>
                </a:solidFill>
                <a:latin typeface="Courier New" charset="0"/>
              </a:rPr>
              <a:t> </a:t>
            </a:r>
          </a:p>
          <a:p>
            <a:pPr marL="264319" indent="-166688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on loss event, </a:t>
            </a:r>
            <a:r>
              <a:rPr lang="en-US" sz="1800" b="1" dirty="0">
                <a:solidFill>
                  <a:prstClr val="black"/>
                </a:solidFill>
                <a:latin typeface="Courier New" charset="0"/>
              </a:rPr>
              <a:t>ssthresh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is set to 1/2 of </a:t>
            </a:r>
            <a:r>
              <a:rPr lang="en-US" sz="1800" b="1" dirty="0">
                <a:solidFill>
                  <a:prstClr val="black"/>
                </a:solidFill>
                <a:latin typeface="Courier New" charset="0"/>
              </a:rPr>
              <a:t>cwnd</a:t>
            </a:r>
            <a:r>
              <a:rPr lang="en-US" sz="1800" dirty="0">
                <a:solidFill>
                  <a:prstClr val="black"/>
                </a:solidFill>
                <a:latin typeface="Courier New" charset="0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just before loss event</a:t>
            </a:r>
          </a:p>
        </p:txBody>
      </p:sp>
      <p:pic>
        <p:nvPicPr>
          <p:cNvPr id="79" name="Picture 7">
            <a:extLst>
              <a:ext uri="{FF2B5EF4-FFF2-40B4-BE49-F238E27FC236}">
                <a16:creationId xmlns:a16="http://schemas.microsoft.com/office/drawing/2014/main" id="{E19775EA-E95E-BD43-909F-67A89A00E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040" y="2274259"/>
            <a:ext cx="4152662" cy="2368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80" name="TextBox 1">
            <a:extLst>
              <a:ext uri="{FF2B5EF4-FFF2-40B4-BE49-F238E27FC236}">
                <a16:creationId xmlns:a16="http://schemas.microsoft.com/office/drawing/2014/main" id="{E6044695-E347-A24B-9CB7-78BC77131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1" y="5458734"/>
            <a:ext cx="7317581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r>
              <a:rPr lang="en-US" altLang="en-US" sz="1050" dirty="0">
                <a:solidFill>
                  <a:prstClr val="black"/>
                </a:solidFill>
                <a:latin typeface="Arial" panose="020B0604020202020204" pitchFamily="34" charset="0"/>
              </a:rPr>
              <a:t>* Check out the online interactive exercises for more examples: h</a:t>
            </a:r>
            <a:r>
              <a:rPr lang="en-US" altLang="en-US" sz="900" dirty="0">
                <a:solidFill>
                  <a:prstClr val="black"/>
                </a:solidFill>
                <a:latin typeface="Arial" panose="020B0604020202020204" pitchFamily="34" charset="0"/>
              </a:rPr>
              <a:t>ttp://gaia.cs.umass.edu/kurose_ross/interactive/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5A3F5F-F42B-F04E-BB6A-D57835C29067}"/>
              </a:ext>
            </a:extLst>
          </p:cNvPr>
          <p:cNvSpPr/>
          <p:nvPr/>
        </p:nvSpPr>
        <p:spPr>
          <a:xfrm>
            <a:off x="5888831" y="3726657"/>
            <a:ext cx="638175" cy="150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BEA2FA-AD20-B940-ADBA-D9DD40684573}"/>
              </a:ext>
            </a:extLst>
          </p:cNvPr>
          <p:cNvSpPr/>
          <p:nvPr/>
        </p:nvSpPr>
        <p:spPr>
          <a:xfrm>
            <a:off x="5757863" y="3800476"/>
            <a:ext cx="638175" cy="342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2B7EED-D8C9-284D-9A93-58D1D9D47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225" y="3710623"/>
            <a:ext cx="752475" cy="175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9E33F83-60EE-F54A-B838-917BE2E70995}"/>
              </a:ext>
            </a:extLst>
          </p:cNvPr>
          <p:cNvSpPr/>
          <p:nvPr/>
        </p:nvSpPr>
        <p:spPr>
          <a:xfrm>
            <a:off x="6896100" y="2276475"/>
            <a:ext cx="1600200" cy="186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184EDA-6A29-2941-A0A9-C122E26F942B}"/>
              </a:ext>
            </a:extLst>
          </p:cNvPr>
          <p:cNvSpPr txBox="1"/>
          <p:nvPr/>
        </p:nvSpPr>
        <p:spPr>
          <a:xfrm>
            <a:off x="6800850" y="2505075"/>
            <a:ext cx="27924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350" b="1" dirty="0">
                <a:solidFill>
                  <a:srgbClr val="FF0000"/>
                </a:solidFill>
                <a:latin typeface="Calibri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721094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80" grpId="0"/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Summary: TCP congestion control</a:t>
            </a:r>
            <a:endParaRPr lang="en-US" b="0" dirty="0"/>
          </a:p>
        </p:txBody>
      </p:sp>
      <p:sp>
        <p:nvSpPr>
          <p:cNvPr id="109" name="Slide Number Placeholder 2">
            <a:extLst>
              <a:ext uri="{FF2B5EF4-FFF2-40B4-BE49-F238E27FC236}">
                <a16:creationId xmlns:a16="http://schemas.microsoft.com/office/drawing/2014/main" id="{C089E069-434F-034B-BDE6-6D2F3D363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Transport Layer: 3-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22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grpSp>
        <p:nvGrpSpPr>
          <p:cNvPr id="120" name="Group 240">
            <a:extLst>
              <a:ext uri="{FF2B5EF4-FFF2-40B4-BE49-F238E27FC236}">
                <a16:creationId xmlns:a16="http://schemas.microsoft.com/office/drawing/2014/main" id="{B8318BC0-AA34-2B4C-984C-EDCF98015A80}"/>
              </a:ext>
            </a:extLst>
          </p:cNvPr>
          <p:cNvGrpSpPr>
            <a:grpSpLocks/>
          </p:cNvGrpSpPr>
          <p:nvPr/>
        </p:nvGrpSpPr>
        <p:grpSpPr bwMode="auto">
          <a:xfrm>
            <a:off x="3781425" y="3083206"/>
            <a:ext cx="1600200" cy="636985"/>
            <a:chOff x="2168" y="1727"/>
            <a:chExt cx="1344" cy="535"/>
          </a:xfrm>
        </p:grpSpPr>
        <p:grpSp>
          <p:nvGrpSpPr>
            <p:cNvPr id="121" name="Group 171">
              <a:extLst>
                <a:ext uri="{FF2B5EF4-FFF2-40B4-BE49-F238E27FC236}">
                  <a16:creationId xmlns:a16="http://schemas.microsoft.com/office/drawing/2014/main" id="{D4CA30E0-0C2B-AE49-9354-140DEA72FE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1727"/>
              <a:ext cx="1166" cy="535"/>
              <a:chOff x="2256" y="1727"/>
              <a:chExt cx="1166" cy="535"/>
            </a:xfrm>
          </p:grpSpPr>
          <p:sp>
            <p:nvSpPr>
              <p:cNvPr id="123" name="Text Box 172">
                <a:extLst>
                  <a:ext uri="{FF2B5EF4-FFF2-40B4-BE49-F238E27FC236}">
                    <a16:creationId xmlns:a16="http://schemas.microsoft.com/office/drawing/2014/main" id="{FF8E7E11-C655-8C41-BFE2-A6DA1E4868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1727"/>
                <a:ext cx="419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50" kern="0" dirty="0">
                    <a:solidFill>
                      <a:srgbClr val="000000"/>
                    </a:solidFill>
                    <a:latin typeface="Arial" charset="0"/>
                  </a:rPr>
                  <a:t>timeout</a:t>
                </a:r>
              </a:p>
            </p:txBody>
          </p:sp>
          <p:sp>
            <p:nvSpPr>
              <p:cNvPr id="124" name="Text Box 173">
                <a:extLst>
                  <a:ext uri="{FF2B5EF4-FFF2-40B4-BE49-F238E27FC236}">
                    <a16:creationId xmlns:a16="http://schemas.microsoft.com/office/drawing/2014/main" id="{781154BA-9409-094D-BBC4-EE21CE6996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1838"/>
                <a:ext cx="1166" cy="4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 defTabSz="685800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50" kern="0" dirty="0">
                    <a:solidFill>
                      <a:srgbClr val="000000"/>
                    </a:solidFill>
                    <a:latin typeface="Arial" charset="0"/>
                  </a:rPr>
                  <a:t>ssthresh = cwnd/2</a:t>
                </a:r>
              </a:p>
              <a:p>
                <a:pPr algn="ctr" defTabSz="685800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50" kern="0" dirty="0">
                    <a:solidFill>
                      <a:srgbClr val="000000"/>
                    </a:solidFill>
                    <a:latin typeface="Arial" charset="0"/>
                  </a:rPr>
                  <a:t>cwnd = 1 MSS</a:t>
                </a:r>
              </a:p>
              <a:p>
                <a:pPr algn="ctr" defTabSz="685800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50" kern="0" dirty="0">
                    <a:solidFill>
                      <a:srgbClr val="000000"/>
                    </a:solidFill>
                    <a:latin typeface="Arial" charset="0"/>
                  </a:rPr>
                  <a:t>dupACKcount = 0</a:t>
                </a:r>
              </a:p>
              <a:p>
                <a:pPr algn="ctr" defTabSz="685800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50" i="1" kern="0" dirty="0">
                    <a:solidFill>
                      <a:srgbClr val="000099"/>
                    </a:solidFill>
                    <a:latin typeface="Arial" charset="0"/>
                  </a:rPr>
                  <a:t>retransmit missing segment</a:t>
                </a:r>
                <a:r>
                  <a:rPr lang="en-US" sz="900" kern="0" dirty="0">
                    <a:solidFill>
                      <a:srgbClr val="000000"/>
                    </a:solidFill>
                    <a:latin typeface="Arial" charset="0"/>
                  </a:rPr>
                  <a:t> </a:t>
                </a:r>
              </a:p>
            </p:txBody>
          </p:sp>
          <p:sp>
            <p:nvSpPr>
              <p:cNvPr id="125" name="Line 174">
                <a:extLst>
                  <a:ext uri="{FF2B5EF4-FFF2-40B4-BE49-F238E27FC236}">
                    <a16:creationId xmlns:a16="http://schemas.microsoft.com/office/drawing/2014/main" id="{23E8607A-0151-5141-A774-0AAB4333EC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1" y="1857"/>
                <a:ext cx="69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22" name="Line 175">
              <a:extLst>
                <a:ext uri="{FF2B5EF4-FFF2-40B4-BE49-F238E27FC236}">
                  <a16:creationId xmlns:a16="http://schemas.microsoft.com/office/drawing/2014/main" id="{480EB5CD-B8F2-AD46-B2D4-50FE6302F9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8" y="1734"/>
              <a:ext cx="13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26" name="Group 239">
            <a:extLst>
              <a:ext uri="{FF2B5EF4-FFF2-40B4-BE49-F238E27FC236}">
                <a16:creationId xmlns:a16="http://schemas.microsoft.com/office/drawing/2014/main" id="{BEAEB11D-18E7-8047-A552-B728B0628FCC}"/>
              </a:ext>
            </a:extLst>
          </p:cNvPr>
          <p:cNvGrpSpPr>
            <a:grpSpLocks/>
          </p:cNvGrpSpPr>
          <p:nvPr/>
        </p:nvGrpSpPr>
        <p:grpSpPr bwMode="auto">
          <a:xfrm>
            <a:off x="3804047" y="2726021"/>
            <a:ext cx="1600200" cy="322660"/>
            <a:chOff x="2187" y="1427"/>
            <a:chExt cx="1344" cy="271"/>
          </a:xfrm>
        </p:grpSpPr>
        <p:sp>
          <p:nvSpPr>
            <p:cNvPr id="127" name="Line 176">
              <a:extLst>
                <a:ext uri="{FF2B5EF4-FFF2-40B4-BE49-F238E27FC236}">
                  <a16:creationId xmlns:a16="http://schemas.microsoft.com/office/drawing/2014/main" id="{D84A4978-7B73-A04D-B0FB-C9ECAA3BFB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87" y="1673"/>
              <a:ext cx="13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28" name="Text Box 181">
              <a:extLst>
                <a:ext uri="{FF2B5EF4-FFF2-40B4-BE49-F238E27FC236}">
                  <a16:creationId xmlns:a16="http://schemas.microsoft.com/office/drawing/2014/main" id="{67AF987A-C53D-534B-8C98-26557C3B4E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1" y="1543"/>
              <a:ext cx="210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 defTabSz="68580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750" kern="0" dirty="0">
                  <a:solidFill>
                    <a:srgbClr val="000000"/>
                  </a:solidFill>
                  <a:latin typeface="Symbol" charset="0"/>
                </a:rPr>
                <a:t>L</a:t>
              </a:r>
              <a:endParaRPr lang="en-US" sz="900" kern="0" dirty="0">
                <a:solidFill>
                  <a:srgbClr val="000000"/>
                </a:solidFill>
                <a:latin typeface="Symbol" charset="0"/>
              </a:endParaRPr>
            </a:p>
          </p:txBody>
        </p:sp>
        <p:sp>
          <p:nvSpPr>
            <p:cNvPr id="129" name="Line 182">
              <a:extLst>
                <a:ext uri="{FF2B5EF4-FFF2-40B4-BE49-F238E27FC236}">
                  <a16:creationId xmlns:a16="http://schemas.microsoft.com/office/drawing/2014/main" id="{0957FCBB-06D0-8E4D-B983-2F2597BDE0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2" y="1554"/>
              <a:ext cx="53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30" name="Group 183">
              <a:extLst>
                <a:ext uri="{FF2B5EF4-FFF2-40B4-BE49-F238E27FC236}">
                  <a16:creationId xmlns:a16="http://schemas.microsoft.com/office/drawing/2014/main" id="{2A6AF175-C9C0-F044-9ECF-011972294E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6" y="1427"/>
              <a:ext cx="739" cy="174"/>
              <a:chOff x="2458" y="1450"/>
              <a:chExt cx="739" cy="174"/>
            </a:xfrm>
          </p:grpSpPr>
          <p:sp>
            <p:nvSpPr>
              <p:cNvPr id="131" name="Text Box 184">
                <a:extLst>
                  <a:ext uri="{FF2B5EF4-FFF2-40B4-BE49-F238E27FC236}">
                    <a16:creationId xmlns:a16="http://schemas.microsoft.com/office/drawing/2014/main" id="{69E43EDF-5B05-364C-B439-379F8E8E54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8" y="1450"/>
                <a:ext cx="739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50" kern="0" dirty="0">
                    <a:solidFill>
                      <a:srgbClr val="000000"/>
                    </a:solidFill>
                    <a:latin typeface="Arial" charset="0"/>
                  </a:rPr>
                  <a:t>cwnd &gt; ssthresh</a:t>
                </a:r>
              </a:p>
            </p:txBody>
          </p:sp>
          <p:sp>
            <p:nvSpPr>
              <p:cNvPr id="132" name="Line 185">
                <a:extLst>
                  <a:ext uri="{FF2B5EF4-FFF2-40B4-BE49-F238E27FC236}">
                    <a16:creationId xmlns:a16="http://schemas.microsoft.com/office/drawing/2014/main" id="{A2D5E496-DCFA-5A4E-A6E2-D2DB456893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24" y="1557"/>
                <a:ext cx="4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133" name="Group 242">
            <a:extLst>
              <a:ext uri="{FF2B5EF4-FFF2-40B4-BE49-F238E27FC236}">
                <a16:creationId xmlns:a16="http://schemas.microsoft.com/office/drawing/2014/main" id="{47D1413D-A42B-8C4D-87CC-5C4E42849EFF}"/>
              </a:ext>
            </a:extLst>
          </p:cNvPr>
          <p:cNvGrpSpPr>
            <a:grpSpLocks/>
          </p:cNvGrpSpPr>
          <p:nvPr/>
        </p:nvGrpSpPr>
        <p:grpSpPr bwMode="auto">
          <a:xfrm>
            <a:off x="5311378" y="1942590"/>
            <a:ext cx="2139553" cy="1809750"/>
            <a:chOff x="3453" y="797"/>
            <a:chExt cx="1797" cy="1520"/>
          </a:xfrm>
        </p:grpSpPr>
        <p:grpSp>
          <p:nvGrpSpPr>
            <p:cNvPr id="134" name="Group 164">
              <a:extLst>
                <a:ext uri="{FF2B5EF4-FFF2-40B4-BE49-F238E27FC236}">
                  <a16:creationId xmlns:a16="http://schemas.microsoft.com/office/drawing/2014/main" id="{13A111CF-BAAF-8E4B-AD25-85FAC53390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4" y="1330"/>
              <a:ext cx="858" cy="771"/>
              <a:chOff x="2275" y="2021"/>
              <a:chExt cx="858" cy="771"/>
            </a:xfrm>
          </p:grpSpPr>
          <p:sp>
            <p:nvSpPr>
              <p:cNvPr id="146" name="Oval 165">
                <a:extLst>
                  <a:ext uri="{FF2B5EF4-FFF2-40B4-BE49-F238E27FC236}">
                    <a16:creationId xmlns:a16="http://schemas.microsoft.com/office/drawing/2014/main" id="{7F0D89BB-B178-8C49-9E72-934506A1B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3" y="2021"/>
                <a:ext cx="800" cy="754"/>
              </a:xfrm>
              <a:prstGeom prst="ellipse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47" name="Text Box 166">
                <a:extLst>
                  <a:ext uri="{FF2B5EF4-FFF2-40B4-BE49-F238E27FC236}">
                    <a16:creationId xmlns:a16="http://schemas.microsoft.com/office/drawing/2014/main" id="{F3628968-0539-164C-B861-FF5A02A982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75" y="2191"/>
                <a:ext cx="858" cy="6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350" kern="0" dirty="0">
                    <a:solidFill>
                      <a:srgbClr val="000000"/>
                    </a:solidFill>
                    <a:latin typeface="Arial" charset="0"/>
                  </a:rPr>
                  <a:t>congestion</a:t>
                </a:r>
              </a:p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350" kern="0" dirty="0">
                    <a:solidFill>
                      <a:srgbClr val="000000"/>
                    </a:solidFill>
                    <a:latin typeface="Arial" charset="0"/>
                  </a:rPr>
                  <a:t>avoidance </a:t>
                </a:r>
              </a:p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grpSp>
          <p:nvGrpSpPr>
            <p:cNvPr id="135" name="Group 190">
              <a:extLst>
                <a:ext uri="{FF2B5EF4-FFF2-40B4-BE49-F238E27FC236}">
                  <a16:creationId xmlns:a16="http://schemas.microsoft.com/office/drawing/2014/main" id="{412FAE5F-D426-1A41-B7BF-9EE3E24BCC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3" y="797"/>
              <a:ext cx="1542" cy="583"/>
              <a:chOff x="3476" y="915"/>
              <a:chExt cx="1542" cy="583"/>
            </a:xfrm>
          </p:grpSpPr>
          <p:sp>
            <p:nvSpPr>
              <p:cNvPr id="142" name="Text Box 191">
                <a:extLst>
                  <a:ext uri="{FF2B5EF4-FFF2-40B4-BE49-F238E27FC236}">
                    <a16:creationId xmlns:a16="http://schemas.microsoft.com/office/drawing/2014/main" id="{44318C88-BEF5-7146-AE72-3458C7D49F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6" y="1037"/>
                <a:ext cx="1542" cy="46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 defTabSz="68580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cwnd = cwnd + MSS*(MSS/cwnd)</a:t>
                </a:r>
              </a:p>
              <a:p>
                <a:pPr algn="ctr" defTabSz="68580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dupACKcount = 0</a:t>
                </a:r>
              </a:p>
              <a:p>
                <a:pPr algn="ctr" defTabSz="68580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i="1" kern="0" dirty="0">
                    <a:solidFill>
                      <a:srgbClr val="000099"/>
                    </a:solidFill>
                    <a:latin typeface="Arial" charset="0"/>
                  </a:rPr>
                  <a:t>transmit new segment(s), as allowed</a:t>
                </a:r>
              </a:p>
              <a:p>
                <a:pPr algn="ctr" defTabSz="6858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50" i="1" kern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43" name="Line 192">
                <a:extLst>
                  <a:ext uri="{FF2B5EF4-FFF2-40B4-BE49-F238E27FC236}">
                    <a16:creationId xmlns:a16="http://schemas.microsoft.com/office/drawing/2014/main" id="{EC5DE775-BD59-2247-B940-402844468A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1054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44" name="Text Box 193">
                <a:extLst>
                  <a:ext uri="{FF2B5EF4-FFF2-40B4-BE49-F238E27FC236}">
                    <a16:creationId xmlns:a16="http://schemas.microsoft.com/office/drawing/2014/main" id="{1953AC16-16E8-A640-AE22-73DEDE1D31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74" y="915"/>
                <a:ext cx="511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new ACK</a:t>
                </a:r>
              </a:p>
            </p:txBody>
          </p:sp>
        </p:grpSp>
        <p:sp>
          <p:nvSpPr>
            <p:cNvPr id="136" name="Freeform 195">
              <a:extLst>
                <a:ext uri="{FF2B5EF4-FFF2-40B4-BE49-F238E27FC236}">
                  <a16:creationId xmlns:a16="http://schemas.microsoft.com/office/drawing/2014/main" id="{4555525A-5282-E944-A402-41F5363AC763}"/>
                </a:ext>
              </a:extLst>
            </p:cNvPr>
            <p:cNvSpPr>
              <a:spLocks/>
            </p:cNvSpPr>
            <p:nvPr/>
          </p:nvSpPr>
          <p:spPr bwMode="auto">
            <a:xfrm rot="9705213">
              <a:off x="4212" y="1145"/>
              <a:ext cx="333" cy="452"/>
            </a:xfrm>
            <a:custGeom>
              <a:avLst/>
              <a:gdLst>
                <a:gd name="T0" fmla="*/ 112 w 376"/>
                <a:gd name="T1" fmla="*/ 306 h 452"/>
                <a:gd name="T2" fmla="*/ 24 w 376"/>
                <a:gd name="T3" fmla="*/ 269 h 452"/>
                <a:gd name="T4" fmla="*/ 62 w 376"/>
                <a:gd name="T5" fmla="*/ 0 h 4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6" h="452">
                  <a:moveTo>
                    <a:pt x="376" y="306"/>
                  </a:moveTo>
                  <a:cubicBezTo>
                    <a:pt x="332" y="380"/>
                    <a:pt x="164" y="452"/>
                    <a:pt x="82" y="269"/>
                  </a:cubicBezTo>
                  <a:cubicBezTo>
                    <a:pt x="0" y="86"/>
                    <a:pt x="66" y="18"/>
                    <a:pt x="208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137" name="Group 196">
              <a:extLst>
                <a:ext uri="{FF2B5EF4-FFF2-40B4-BE49-F238E27FC236}">
                  <a16:creationId xmlns:a16="http://schemas.microsoft.com/office/drawing/2014/main" id="{9CDBEBEA-0E7D-9247-8F24-8B50DDA321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70" y="1909"/>
              <a:ext cx="780" cy="408"/>
              <a:chOff x="4235" y="2922"/>
              <a:chExt cx="780" cy="408"/>
            </a:xfrm>
          </p:grpSpPr>
          <p:sp>
            <p:nvSpPr>
              <p:cNvPr id="139" name="Text Box 197">
                <a:extLst>
                  <a:ext uri="{FF2B5EF4-FFF2-40B4-BE49-F238E27FC236}">
                    <a16:creationId xmlns:a16="http://schemas.microsoft.com/office/drawing/2014/main" id="{F06A41AE-1F53-A747-A3E3-199BBEDFE5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35" y="3062"/>
                <a:ext cx="780" cy="2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 defTabSz="6858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dupACKcount++</a:t>
                </a:r>
              </a:p>
              <a:p>
                <a:pPr algn="ctr" defTabSz="6858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50" kern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40" name="Line 198">
                <a:extLst>
                  <a:ext uri="{FF2B5EF4-FFF2-40B4-BE49-F238E27FC236}">
                    <a16:creationId xmlns:a16="http://schemas.microsoft.com/office/drawing/2014/main" id="{115AC45A-332B-D742-9EEC-EB81F6D52D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3" y="3071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41" name="Text Box 199">
                <a:extLst>
                  <a:ext uri="{FF2B5EF4-FFF2-40B4-BE49-F238E27FC236}">
                    <a16:creationId xmlns:a16="http://schemas.microsoft.com/office/drawing/2014/main" id="{6DB70069-D3EA-8747-8535-1CB6F40D1A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5" y="2922"/>
                <a:ext cx="695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duplicate ACK</a:t>
                </a:r>
              </a:p>
            </p:txBody>
          </p:sp>
        </p:grpSp>
        <p:sp>
          <p:nvSpPr>
            <p:cNvPr id="138" name="Freeform 200">
              <a:extLst>
                <a:ext uri="{FF2B5EF4-FFF2-40B4-BE49-F238E27FC236}">
                  <a16:creationId xmlns:a16="http://schemas.microsoft.com/office/drawing/2014/main" id="{0667830A-5A65-8243-809F-9599C40170E1}"/>
                </a:ext>
              </a:extLst>
            </p:cNvPr>
            <p:cNvSpPr>
              <a:spLocks/>
            </p:cNvSpPr>
            <p:nvPr/>
          </p:nvSpPr>
          <p:spPr bwMode="auto">
            <a:xfrm rot="-7516021">
              <a:off x="4290" y="1673"/>
              <a:ext cx="333" cy="452"/>
            </a:xfrm>
            <a:custGeom>
              <a:avLst/>
              <a:gdLst>
                <a:gd name="T0" fmla="*/ 112 w 376"/>
                <a:gd name="T1" fmla="*/ 306 h 452"/>
                <a:gd name="T2" fmla="*/ 24 w 376"/>
                <a:gd name="T3" fmla="*/ 269 h 452"/>
                <a:gd name="T4" fmla="*/ 62 w 376"/>
                <a:gd name="T5" fmla="*/ 0 h 4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6" h="452">
                  <a:moveTo>
                    <a:pt x="376" y="306"/>
                  </a:moveTo>
                  <a:cubicBezTo>
                    <a:pt x="332" y="380"/>
                    <a:pt x="164" y="452"/>
                    <a:pt x="82" y="269"/>
                  </a:cubicBezTo>
                  <a:cubicBezTo>
                    <a:pt x="0" y="86"/>
                    <a:pt x="66" y="18"/>
                    <a:pt x="208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48" name="Group 245">
            <a:extLst>
              <a:ext uri="{FF2B5EF4-FFF2-40B4-BE49-F238E27FC236}">
                <a16:creationId xmlns:a16="http://schemas.microsoft.com/office/drawing/2014/main" id="{A4501140-CDDA-3942-AE4A-E53AAAF4E371}"/>
              </a:ext>
            </a:extLst>
          </p:cNvPr>
          <p:cNvGrpSpPr>
            <a:grpSpLocks/>
          </p:cNvGrpSpPr>
          <p:nvPr/>
        </p:nvGrpSpPr>
        <p:grpSpPr bwMode="auto">
          <a:xfrm>
            <a:off x="4211243" y="4517911"/>
            <a:ext cx="2628902" cy="1341835"/>
            <a:chOff x="2529" y="2960"/>
            <a:chExt cx="2208" cy="1127"/>
          </a:xfrm>
        </p:grpSpPr>
        <p:grpSp>
          <p:nvGrpSpPr>
            <p:cNvPr id="149" name="Group 167">
              <a:extLst>
                <a:ext uri="{FF2B5EF4-FFF2-40B4-BE49-F238E27FC236}">
                  <a16:creationId xmlns:a16="http://schemas.microsoft.com/office/drawing/2014/main" id="{46D8A9BF-D4B3-C644-AE85-4535FBE080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29" y="2960"/>
              <a:ext cx="820" cy="786"/>
              <a:chOff x="2445" y="3045"/>
              <a:chExt cx="820" cy="786"/>
            </a:xfrm>
          </p:grpSpPr>
          <p:sp>
            <p:nvSpPr>
              <p:cNvPr id="155" name="Oval 168">
                <a:extLst>
                  <a:ext uri="{FF2B5EF4-FFF2-40B4-BE49-F238E27FC236}">
                    <a16:creationId xmlns:a16="http://schemas.microsoft.com/office/drawing/2014/main" id="{273F9850-79CE-154A-9851-2B7886F3C1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4" y="3045"/>
                <a:ext cx="800" cy="754"/>
              </a:xfrm>
              <a:prstGeom prst="ellipse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56" name="Text Box 169">
                <a:extLst>
                  <a:ext uri="{FF2B5EF4-FFF2-40B4-BE49-F238E27FC236}">
                    <a16:creationId xmlns:a16="http://schemas.microsoft.com/office/drawing/2014/main" id="{65FE5AF3-8597-FF4E-9C17-4817547D4F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5" y="3212"/>
                <a:ext cx="200" cy="4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  <a:latin typeface="Arial" charset="0"/>
                  </a:rPr>
                  <a:t> </a:t>
                </a:r>
              </a:p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57" name="Text Box 170">
                <a:extLst>
                  <a:ext uri="{FF2B5EF4-FFF2-40B4-BE49-F238E27FC236}">
                    <a16:creationId xmlns:a16="http://schemas.microsoft.com/office/drawing/2014/main" id="{8568651A-5DCC-2242-83C4-76AC890933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5" y="3172"/>
                <a:ext cx="820" cy="6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  <a:latin typeface="Arial" charset="0"/>
                  </a:rPr>
                  <a:t>fast</a:t>
                </a:r>
              </a:p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  <a:latin typeface="Arial" charset="0"/>
                  </a:rPr>
                  <a:t>recovery </a:t>
                </a:r>
              </a:p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sp>
          <p:nvSpPr>
            <p:cNvPr id="150" name="Freeform 220">
              <a:extLst>
                <a:ext uri="{FF2B5EF4-FFF2-40B4-BE49-F238E27FC236}">
                  <a16:creationId xmlns:a16="http://schemas.microsoft.com/office/drawing/2014/main" id="{F8DEF746-89F6-DD47-9435-3FA8C98BF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5" y="3708"/>
              <a:ext cx="384" cy="161"/>
            </a:xfrm>
            <a:custGeom>
              <a:avLst/>
              <a:gdLst>
                <a:gd name="T0" fmla="*/ 317 w 384"/>
                <a:gd name="T1" fmla="*/ 0 h 161"/>
                <a:gd name="T2" fmla="*/ 189 w 384"/>
                <a:gd name="T3" fmla="*/ 155 h 161"/>
                <a:gd name="T4" fmla="*/ 59 w 384"/>
                <a:gd name="T5" fmla="*/ 13 h 1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161">
                  <a:moveTo>
                    <a:pt x="317" y="0"/>
                  </a:moveTo>
                  <a:cubicBezTo>
                    <a:pt x="384" y="42"/>
                    <a:pt x="378" y="149"/>
                    <a:pt x="189" y="155"/>
                  </a:cubicBezTo>
                  <a:cubicBezTo>
                    <a:pt x="0" y="161"/>
                    <a:pt x="3" y="87"/>
                    <a:pt x="59" y="13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151" name="Group 221">
              <a:extLst>
                <a:ext uri="{FF2B5EF4-FFF2-40B4-BE49-F238E27FC236}">
                  <a16:creationId xmlns:a16="http://schemas.microsoft.com/office/drawing/2014/main" id="{08A0BDC4-47ED-4A4B-B585-919226219B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1" y="3592"/>
              <a:ext cx="1546" cy="495"/>
              <a:chOff x="3542" y="3496"/>
              <a:chExt cx="1546" cy="495"/>
            </a:xfrm>
          </p:grpSpPr>
          <p:sp>
            <p:nvSpPr>
              <p:cNvPr id="152" name="Text Box 222">
                <a:extLst>
                  <a:ext uri="{FF2B5EF4-FFF2-40B4-BE49-F238E27FC236}">
                    <a16:creationId xmlns:a16="http://schemas.microsoft.com/office/drawing/2014/main" id="{762B1387-82BE-254E-BE6D-3685255682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6" y="3632"/>
                <a:ext cx="1542" cy="3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defTabSz="685800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cwnd = cwnd + MSS</a:t>
                </a:r>
              </a:p>
              <a:p>
                <a:pPr defTabSz="685800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i="1" kern="0" dirty="0">
                    <a:solidFill>
                      <a:srgbClr val="000099"/>
                    </a:solidFill>
                    <a:latin typeface="Arial" charset="0"/>
                  </a:rPr>
                  <a:t>transmit new segment(s), as allowed</a:t>
                </a:r>
              </a:p>
              <a:p>
                <a:pPr defTabSz="6858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50" i="1" kern="0" dirty="0">
                  <a:solidFill>
                    <a:srgbClr val="808080"/>
                  </a:solidFill>
                  <a:latin typeface="Arial" charset="0"/>
                </a:endParaRPr>
              </a:p>
            </p:txBody>
          </p:sp>
          <p:sp>
            <p:nvSpPr>
              <p:cNvPr id="153" name="Line 223">
                <a:extLst>
                  <a:ext uri="{FF2B5EF4-FFF2-40B4-BE49-F238E27FC236}">
                    <a16:creationId xmlns:a16="http://schemas.microsoft.com/office/drawing/2014/main" id="{7058B91F-5545-B546-B726-F5E1D8BF2C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3645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54" name="Text Box 224">
                <a:extLst>
                  <a:ext uri="{FF2B5EF4-FFF2-40B4-BE49-F238E27FC236}">
                    <a16:creationId xmlns:a16="http://schemas.microsoft.com/office/drawing/2014/main" id="{873E83D9-4BDC-D54A-8707-136424BDB7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2" y="3496"/>
                <a:ext cx="695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duplicate ACK</a:t>
                </a:r>
              </a:p>
            </p:txBody>
          </p:sp>
        </p:grpSp>
      </p:grpSp>
      <p:grpSp>
        <p:nvGrpSpPr>
          <p:cNvPr id="158" name="Group 246">
            <a:extLst>
              <a:ext uri="{FF2B5EF4-FFF2-40B4-BE49-F238E27FC236}">
                <a16:creationId xmlns:a16="http://schemas.microsoft.com/office/drawing/2014/main" id="{B8412DA9-2D8B-1C4F-98FE-2059BE8959A7}"/>
              </a:ext>
            </a:extLst>
          </p:cNvPr>
          <p:cNvGrpSpPr>
            <a:grpSpLocks/>
          </p:cNvGrpSpPr>
          <p:nvPr/>
        </p:nvGrpSpPr>
        <p:grpSpPr bwMode="auto">
          <a:xfrm>
            <a:off x="1766888" y="3528505"/>
            <a:ext cx="3057526" cy="1504951"/>
            <a:chOff x="476" y="2129"/>
            <a:chExt cx="2568" cy="1264"/>
          </a:xfrm>
        </p:grpSpPr>
        <p:grpSp>
          <p:nvGrpSpPr>
            <p:cNvPr id="159" name="Group 212">
              <a:extLst>
                <a:ext uri="{FF2B5EF4-FFF2-40B4-BE49-F238E27FC236}">
                  <a16:creationId xmlns:a16="http://schemas.microsoft.com/office/drawing/2014/main" id="{27BF6FD0-68C2-FB4E-A15D-7CB02F36F0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" y="2818"/>
              <a:ext cx="1291" cy="575"/>
              <a:chOff x="335" y="2768"/>
              <a:chExt cx="1291" cy="575"/>
            </a:xfrm>
          </p:grpSpPr>
          <p:sp>
            <p:nvSpPr>
              <p:cNvPr id="166" name="Text Box 213">
                <a:extLst>
                  <a:ext uri="{FF2B5EF4-FFF2-40B4-BE49-F238E27FC236}">
                    <a16:creationId xmlns:a16="http://schemas.microsoft.com/office/drawing/2014/main" id="{835AEF52-2056-D649-96F2-661A3FFF18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5" y="2912"/>
                <a:ext cx="1200" cy="4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r" defTabSz="6858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ssthresh= cwnd/2</a:t>
                </a:r>
              </a:p>
              <a:p>
                <a:pPr algn="r" defTabSz="6858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cwnd = ssthresh + 3</a:t>
                </a:r>
              </a:p>
              <a:p>
                <a:pPr algn="r" defTabSz="6858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i="1" kern="0" dirty="0">
                    <a:solidFill>
                      <a:srgbClr val="000099"/>
                    </a:solidFill>
                    <a:latin typeface="Arial" charset="0"/>
                  </a:rPr>
                  <a:t>retransmit missing segment</a:t>
                </a:r>
              </a:p>
              <a:p>
                <a:pPr algn="r" defTabSz="6858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50" kern="0" dirty="0">
                  <a:solidFill>
                    <a:srgbClr val="808080"/>
                  </a:solidFill>
                  <a:latin typeface="Arial" charset="0"/>
                </a:endParaRPr>
              </a:p>
            </p:txBody>
          </p:sp>
          <p:sp>
            <p:nvSpPr>
              <p:cNvPr id="167" name="Line 214">
                <a:extLst>
                  <a:ext uri="{FF2B5EF4-FFF2-40B4-BE49-F238E27FC236}">
                    <a16:creationId xmlns:a16="http://schemas.microsoft.com/office/drawing/2014/main" id="{B74A6245-A319-3040-A4FD-51070B3029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5" y="2913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68" name="Text Box 215">
                <a:extLst>
                  <a:ext uri="{FF2B5EF4-FFF2-40B4-BE49-F238E27FC236}">
                    <a16:creationId xmlns:a16="http://schemas.microsoft.com/office/drawing/2014/main" id="{92605A3F-01AC-204D-8ED2-AD8024A64F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1" y="2768"/>
                <a:ext cx="875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dupACKcount == 3</a:t>
                </a:r>
              </a:p>
            </p:txBody>
          </p:sp>
        </p:grpSp>
        <p:grpSp>
          <p:nvGrpSpPr>
            <p:cNvPr id="160" name="Group 216">
              <a:extLst>
                <a:ext uri="{FF2B5EF4-FFF2-40B4-BE49-F238E27FC236}">
                  <a16:creationId xmlns:a16="http://schemas.microsoft.com/office/drawing/2014/main" id="{88759198-6D7D-C744-9B7A-D82AAED1D6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3" y="2454"/>
              <a:ext cx="1231" cy="570"/>
              <a:chOff x="419" y="2872"/>
              <a:chExt cx="1231" cy="570"/>
            </a:xfrm>
          </p:grpSpPr>
          <p:sp>
            <p:nvSpPr>
              <p:cNvPr id="163" name="Text Box 217">
                <a:extLst>
                  <a:ext uri="{FF2B5EF4-FFF2-40B4-BE49-F238E27FC236}">
                    <a16:creationId xmlns:a16="http://schemas.microsoft.com/office/drawing/2014/main" id="{D4ECB2B0-F2B3-8C4C-BF69-C3CF649CE9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9" y="2872"/>
                <a:ext cx="435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timeout</a:t>
                </a:r>
              </a:p>
            </p:txBody>
          </p:sp>
          <p:sp>
            <p:nvSpPr>
              <p:cNvPr id="164" name="Text Box 218">
                <a:extLst>
                  <a:ext uri="{FF2B5EF4-FFF2-40B4-BE49-F238E27FC236}">
                    <a16:creationId xmlns:a16="http://schemas.microsoft.com/office/drawing/2014/main" id="{2E4D69CF-352A-DC44-ABC3-90682BEB83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" y="2989"/>
                <a:ext cx="1231" cy="4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defTabSz="685800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ssthresh = cwnd/2</a:t>
                </a:r>
              </a:p>
              <a:p>
                <a:pPr defTabSz="685800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cwnd = 1 </a:t>
                </a:r>
              </a:p>
              <a:p>
                <a:pPr defTabSz="685800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dupACKcount = 0</a:t>
                </a:r>
              </a:p>
              <a:p>
                <a:pPr defTabSz="685800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i="1" kern="0" dirty="0">
                    <a:solidFill>
                      <a:srgbClr val="000099"/>
                    </a:solidFill>
                    <a:latin typeface="Arial" charset="0"/>
                  </a:rPr>
                  <a:t>retransmit missing segment</a:t>
                </a:r>
                <a:r>
                  <a:rPr lang="en-US" sz="1050" kern="0" dirty="0">
                    <a:solidFill>
                      <a:srgbClr val="000000"/>
                    </a:solidFill>
                    <a:latin typeface="Arial" charset="0"/>
                  </a:rPr>
                  <a:t> </a:t>
                </a:r>
              </a:p>
            </p:txBody>
          </p:sp>
          <p:sp>
            <p:nvSpPr>
              <p:cNvPr id="165" name="Line 219">
                <a:extLst>
                  <a:ext uri="{FF2B5EF4-FFF2-40B4-BE49-F238E27FC236}">
                    <a16:creationId xmlns:a16="http://schemas.microsoft.com/office/drawing/2014/main" id="{87674141-7331-B643-AD17-90663185B0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1" y="3014"/>
                <a:ext cx="69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61" name="Freeform 225">
              <a:extLst>
                <a:ext uri="{FF2B5EF4-FFF2-40B4-BE49-F238E27FC236}">
                  <a16:creationId xmlns:a16="http://schemas.microsoft.com/office/drawing/2014/main" id="{D0DF1910-CE16-3F4D-82F2-6661A32D13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" y="2129"/>
              <a:ext cx="740" cy="1146"/>
            </a:xfrm>
            <a:custGeom>
              <a:avLst/>
              <a:gdLst>
                <a:gd name="T0" fmla="*/ 0 w 740"/>
                <a:gd name="T1" fmla="*/ 0 h 1146"/>
                <a:gd name="T2" fmla="*/ 0 w 740"/>
                <a:gd name="T3" fmla="*/ 1146 h 1146"/>
                <a:gd name="T4" fmla="*/ 740 w 740"/>
                <a:gd name="T5" fmla="*/ 1146 h 11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0" h="1146">
                  <a:moveTo>
                    <a:pt x="0" y="0"/>
                  </a:moveTo>
                  <a:lnTo>
                    <a:pt x="0" y="1146"/>
                  </a:lnTo>
                  <a:lnTo>
                    <a:pt x="740" y="114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62" name="Freeform 226">
              <a:extLst>
                <a:ext uri="{FF2B5EF4-FFF2-40B4-BE49-F238E27FC236}">
                  <a16:creationId xmlns:a16="http://schemas.microsoft.com/office/drawing/2014/main" id="{C17ADBE8-E774-7744-9627-8EAB27CA4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2146"/>
              <a:ext cx="700" cy="1051"/>
            </a:xfrm>
            <a:custGeom>
              <a:avLst/>
              <a:gdLst>
                <a:gd name="T0" fmla="*/ 700 w 700"/>
                <a:gd name="T1" fmla="*/ 1051 h 1051"/>
                <a:gd name="T2" fmla="*/ 0 w 700"/>
                <a:gd name="T3" fmla="*/ 1051 h 1051"/>
                <a:gd name="T4" fmla="*/ 0 w 700"/>
                <a:gd name="T5" fmla="*/ 0 h 10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0" h="1051">
                  <a:moveTo>
                    <a:pt x="700" y="1051"/>
                  </a:moveTo>
                  <a:lnTo>
                    <a:pt x="0" y="105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69" name="Group 244">
            <a:extLst>
              <a:ext uri="{FF2B5EF4-FFF2-40B4-BE49-F238E27FC236}">
                <a16:creationId xmlns:a16="http://schemas.microsoft.com/office/drawing/2014/main" id="{E119EB29-C756-884C-BC38-0987621B3623}"/>
              </a:ext>
            </a:extLst>
          </p:cNvPr>
          <p:cNvGrpSpPr>
            <a:grpSpLocks/>
          </p:cNvGrpSpPr>
          <p:nvPr/>
        </p:nvGrpSpPr>
        <p:grpSpPr bwMode="auto">
          <a:xfrm>
            <a:off x="5213749" y="3522547"/>
            <a:ext cx="2320529" cy="1496614"/>
            <a:chOff x="3371" y="2124"/>
            <a:chExt cx="1949" cy="1257"/>
          </a:xfrm>
        </p:grpSpPr>
        <p:grpSp>
          <p:nvGrpSpPr>
            <p:cNvPr id="170" name="Group 201">
              <a:extLst>
                <a:ext uri="{FF2B5EF4-FFF2-40B4-BE49-F238E27FC236}">
                  <a16:creationId xmlns:a16="http://schemas.microsoft.com/office/drawing/2014/main" id="{4F04D146-2950-3743-B95A-4A10EFF81D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0" y="2796"/>
              <a:ext cx="1200" cy="585"/>
              <a:chOff x="4142" y="2802"/>
              <a:chExt cx="1200" cy="585"/>
            </a:xfrm>
          </p:grpSpPr>
          <p:sp>
            <p:nvSpPr>
              <p:cNvPr id="172" name="Text Box 202">
                <a:extLst>
                  <a:ext uri="{FF2B5EF4-FFF2-40B4-BE49-F238E27FC236}">
                    <a16:creationId xmlns:a16="http://schemas.microsoft.com/office/drawing/2014/main" id="{9BFA3E4C-9614-6849-975F-C63A42B818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42" y="2956"/>
                <a:ext cx="1200" cy="4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defTabSz="6858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ssthresh= cwnd/2</a:t>
                </a:r>
              </a:p>
              <a:p>
                <a:pPr defTabSz="6858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cwnd = ssthresh + 3</a:t>
                </a:r>
              </a:p>
              <a:p>
                <a:pPr defTabSz="6858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i="1" kern="0" dirty="0">
                    <a:solidFill>
                      <a:srgbClr val="000099"/>
                    </a:solidFill>
                    <a:latin typeface="Arial" charset="0"/>
                  </a:rPr>
                  <a:t>retransmit missing segment</a:t>
                </a:r>
              </a:p>
              <a:p>
                <a:pPr defTabSz="6858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50" i="1" kern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73" name="Line 203">
                <a:extLst>
                  <a:ext uri="{FF2B5EF4-FFF2-40B4-BE49-F238E27FC236}">
                    <a16:creationId xmlns:a16="http://schemas.microsoft.com/office/drawing/2014/main" id="{0526C70E-8831-7543-9A32-E54939C11F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1" y="2950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74" name="Text Box 204">
                <a:extLst>
                  <a:ext uri="{FF2B5EF4-FFF2-40B4-BE49-F238E27FC236}">
                    <a16:creationId xmlns:a16="http://schemas.microsoft.com/office/drawing/2014/main" id="{E38A96D7-56D5-4A41-8FD3-090F5E1651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54" y="2802"/>
                <a:ext cx="875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dupACKcount == 3</a:t>
                </a:r>
              </a:p>
            </p:txBody>
          </p:sp>
        </p:grpSp>
        <p:sp>
          <p:nvSpPr>
            <p:cNvPr id="171" name="Freeform 227">
              <a:extLst>
                <a:ext uri="{FF2B5EF4-FFF2-40B4-BE49-F238E27FC236}">
                  <a16:creationId xmlns:a16="http://schemas.microsoft.com/office/drawing/2014/main" id="{88695EF7-3EC6-874B-9CFA-5F89AE2AD67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71" y="2124"/>
              <a:ext cx="740" cy="1146"/>
            </a:xfrm>
            <a:custGeom>
              <a:avLst/>
              <a:gdLst>
                <a:gd name="T0" fmla="*/ 0 w 740"/>
                <a:gd name="T1" fmla="*/ 0 h 1146"/>
                <a:gd name="T2" fmla="*/ 0 w 740"/>
                <a:gd name="T3" fmla="*/ 1146 h 1146"/>
                <a:gd name="T4" fmla="*/ 740 w 740"/>
                <a:gd name="T5" fmla="*/ 1146 h 11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0" h="1146">
                  <a:moveTo>
                    <a:pt x="0" y="0"/>
                  </a:moveTo>
                  <a:lnTo>
                    <a:pt x="0" y="1146"/>
                  </a:lnTo>
                  <a:lnTo>
                    <a:pt x="740" y="114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75" name="Group 243">
            <a:extLst>
              <a:ext uri="{FF2B5EF4-FFF2-40B4-BE49-F238E27FC236}">
                <a16:creationId xmlns:a16="http://schemas.microsoft.com/office/drawing/2014/main" id="{0C2B747B-2F42-7146-A691-54156D653646}"/>
              </a:ext>
            </a:extLst>
          </p:cNvPr>
          <p:cNvGrpSpPr>
            <a:grpSpLocks/>
          </p:cNvGrpSpPr>
          <p:nvPr/>
        </p:nvGrpSpPr>
        <p:grpSpPr bwMode="auto">
          <a:xfrm>
            <a:off x="4988720" y="3541600"/>
            <a:ext cx="1006079" cy="1290638"/>
            <a:chOff x="3182" y="2140"/>
            <a:chExt cx="845" cy="1084"/>
          </a:xfrm>
        </p:grpSpPr>
        <p:sp>
          <p:nvSpPr>
            <p:cNvPr id="176" name="Freeform 228">
              <a:extLst>
                <a:ext uri="{FF2B5EF4-FFF2-40B4-BE49-F238E27FC236}">
                  <a16:creationId xmlns:a16="http://schemas.microsoft.com/office/drawing/2014/main" id="{BFB3D697-0B16-7148-BB51-FD8EA08C4A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27" y="2140"/>
              <a:ext cx="700" cy="1051"/>
            </a:xfrm>
            <a:custGeom>
              <a:avLst/>
              <a:gdLst>
                <a:gd name="T0" fmla="*/ 700 w 700"/>
                <a:gd name="T1" fmla="*/ 1051 h 1051"/>
                <a:gd name="T2" fmla="*/ 0 w 700"/>
                <a:gd name="T3" fmla="*/ 1051 h 1051"/>
                <a:gd name="T4" fmla="*/ 0 w 700"/>
                <a:gd name="T5" fmla="*/ 0 h 10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0" h="1051">
                  <a:moveTo>
                    <a:pt x="700" y="1051"/>
                  </a:moveTo>
                  <a:lnTo>
                    <a:pt x="0" y="105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177" name="Group 229">
              <a:extLst>
                <a:ext uri="{FF2B5EF4-FFF2-40B4-BE49-F238E27FC236}">
                  <a16:creationId xmlns:a16="http://schemas.microsoft.com/office/drawing/2014/main" id="{93E7F93E-B410-1B4A-BF61-0D2CB5DE5C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2" y="2649"/>
              <a:ext cx="826" cy="575"/>
              <a:chOff x="974" y="3496"/>
              <a:chExt cx="826" cy="575"/>
            </a:xfrm>
          </p:grpSpPr>
          <p:sp>
            <p:nvSpPr>
              <p:cNvPr id="178" name="Text Box 230">
                <a:extLst>
                  <a:ext uri="{FF2B5EF4-FFF2-40B4-BE49-F238E27FC236}">
                    <a16:creationId xmlns:a16="http://schemas.microsoft.com/office/drawing/2014/main" id="{FAD437E2-871A-9848-91F5-5E5990E013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4" y="3640"/>
                <a:ext cx="826" cy="4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r" defTabSz="6858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cwnd = ssthresh</a:t>
                </a:r>
              </a:p>
              <a:p>
                <a:pPr algn="r" defTabSz="6858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dupACKcount = 0</a:t>
                </a:r>
              </a:p>
              <a:p>
                <a:pPr algn="r" defTabSz="6858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788" kern="0" dirty="0">
                  <a:solidFill>
                    <a:srgbClr val="000000"/>
                  </a:solidFill>
                  <a:latin typeface="Arial" charset="0"/>
                </a:endParaRPr>
              </a:p>
              <a:p>
                <a:pPr algn="r" defTabSz="6858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50" kern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grpSp>
            <p:nvGrpSpPr>
              <p:cNvPr id="179" name="Group 231">
                <a:extLst>
                  <a:ext uri="{FF2B5EF4-FFF2-40B4-BE49-F238E27FC236}">
                    <a16:creationId xmlns:a16="http://schemas.microsoft.com/office/drawing/2014/main" id="{E00D3831-3686-434C-A9FB-CC62A89C2D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90" y="3496"/>
                <a:ext cx="582" cy="179"/>
                <a:chOff x="1190" y="3496"/>
                <a:chExt cx="582" cy="179"/>
              </a:xfrm>
            </p:grpSpPr>
            <p:sp>
              <p:nvSpPr>
                <p:cNvPr id="180" name="Line 232">
                  <a:extLst>
                    <a:ext uri="{FF2B5EF4-FFF2-40B4-BE49-F238E27FC236}">
                      <a16:creationId xmlns:a16="http://schemas.microsoft.com/office/drawing/2014/main" id="{97E85298-2987-D742-8F32-C0FF7A3D4B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90" y="3641"/>
                  <a:ext cx="53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000000"/>
                    </a:solidFill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181" name="Text Box 233">
                  <a:extLst>
                    <a:ext uri="{FF2B5EF4-FFF2-40B4-BE49-F238E27FC236}">
                      <a16:creationId xmlns:a16="http://schemas.microsoft.com/office/drawing/2014/main" id="{3BF52C9D-20DA-2242-A28A-394E7476B8A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47" y="3496"/>
                  <a:ext cx="525" cy="1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algn="r" defTabSz="6858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788" kern="0" dirty="0">
                      <a:solidFill>
                        <a:srgbClr val="000000"/>
                      </a:solidFill>
                      <a:latin typeface="Arial" charset="0"/>
                    </a:rPr>
                    <a:t>New ACK</a:t>
                  </a:r>
                </a:p>
              </p:txBody>
            </p:sp>
          </p:grpSp>
        </p:grpSp>
      </p:grpSp>
      <p:grpSp>
        <p:nvGrpSpPr>
          <p:cNvPr id="182" name="Group 241">
            <a:extLst>
              <a:ext uri="{FF2B5EF4-FFF2-40B4-BE49-F238E27FC236}">
                <a16:creationId xmlns:a16="http://schemas.microsoft.com/office/drawing/2014/main" id="{CDA92C42-F115-FC40-A5F8-C407673481F7}"/>
              </a:ext>
            </a:extLst>
          </p:cNvPr>
          <p:cNvGrpSpPr>
            <a:grpSpLocks/>
          </p:cNvGrpSpPr>
          <p:nvPr/>
        </p:nvGrpSpPr>
        <p:grpSpPr bwMode="auto">
          <a:xfrm>
            <a:off x="1764506" y="2016408"/>
            <a:ext cx="3858815" cy="2053830"/>
            <a:chOff x="474" y="859"/>
            <a:chExt cx="3241" cy="1725"/>
          </a:xfrm>
        </p:grpSpPr>
        <p:grpSp>
          <p:nvGrpSpPr>
            <p:cNvPr id="183" name="Group 161">
              <a:extLst>
                <a:ext uri="{FF2B5EF4-FFF2-40B4-BE49-F238E27FC236}">
                  <a16:creationId xmlns:a16="http://schemas.microsoft.com/office/drawing/2014/main" id="{7F0341B7-207C-3E40-8EC6-5911313C06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9" y="1320"/>
              <a:ext cx="800" cy="754"/>
              <a:chOff x="996" y="1773"/>
              <a:chExt cx="800" cy="754"/>
            </a:xfrm>
          </p:grpSpPr>
          <p:sp>
            <p:nvSpPr>
              <p:cNvPr id="204" name="Oval 162">
                <a:extLst>
                  <a:ext uri="{FF2B5EF4-FFF2-40B4-BE49-F238E27FC236}">
                    <a16:creationId xmlns:a16="http://schemas.microsoft.com/office/drawing/2014/main" id="{85E503DF-C6D4-9C4A-947F-F93B4C816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6" y="1773"/>
                <a:ext cx="800" cy="754"/>
              </a:xfrm>
              <a:prstGeom prst="ellipse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05" name="Text Box 163">
                <a:extLst>
                  <a:ext uri="{FF2B5EF4-FFF2-40B4-BE49-F238E27FC236}">
                    <a16:creationId xmlns:a16="http://schemas.microsoft.com/office/drawing/2014/main" id="{30575E3B-F1CE-CF43-A7C5-219046488B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9" y="1946"/>
                <a:ext cx="524" cy="4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  <a:latin typeface="Arial" charset="0"/>
                  </a:rPr>
                  <a:t>slow </a:t>
                </a:r>
              </a:p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  <a:latin typeface="Arial" charset="0"/>
                  </a:rPr>
                  <a:t>start</a:t>
                </a:r>
              </a:p>
            </p:txBody>
          </p:sp>
        </p:grpSp>
        <p:grpSp>
          <p:nvGrpSpPr>
            <p:cNvPr id="184" name="Group 177">
              <a:extLst>
                <a:ext uri="{FF2B5EF4-FFF2-40B4-BE49-F238E27FC236}">
                  <a16:creationId xmlns:a16="http://schemas.microsoft.com/office/drawing/2014/main" id="{5836A4F2-D62D-B147-A532-A57E3C2474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" y="2026"/>
              <a:ext cx="1231" cy="558"/>
              <a:chOff x="362" y="2713"/>
              <a:chExt cx="1231" cy="558"/>
            </a:xfrm>
          </p:grpSpPr>
          <p:sp>
            <p:nvSpPr>
              <p:cNvPr id="201" name="Text Box 178">
                <a:extLst>
                  <a:ext uri="{FF2B5EF4-FFF2-40B4-BE49-F238E27FC236}">
                    <a16:creationId xmlns:a16="http://schemas.microsoft.com/office/drawing/2014/main" id="{1852AE28-C2EC-5542-A261-91B127FC6E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7" y="2713"/>
                <a:ext cx="435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timeout</a:t>
                </a:r>
              </a:p>
            </p:txBody>
          </p:sp>
          <p:sp>
            <p:nvSpPr>
              <p:cNvPr id="202" name="Text Box 179">
                <a:extLst>
                  <a:ext uri="{FF2B5EF4-FFF2-40B4-BE49-F238E27FC236}">
                    <a16:creationId xmlns:a16="http://schemas.microsoft.com/office/drawing/2014/main" id="{238E26A7-D428-7446-B0EA-57A95D6A24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2" y="2840"/>
                <a:ext cx="1231" cy="4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 defTabSz="6858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ssthresh = cwnd/2 </a:t>
                </a:r>
              </a:p>
              <a:p>
                <a:pPr algn="ctr" defTabSz="6858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cwnd = 1 MSS</a:t>
                </a:r>
              </a:p>
              <a:p>
                <a:pPr algn="ctr" defTabSz="6858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dupACKcount = 0</a:t>
                </a:r>
              </a:p>
              <a:p>
                <a:pPr algn="ctr" defTabSz="6858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i="1" kern="0" dirty="0">
                    <a:solidFill>
                      <a:srgbClr val="000099"/>
                    </a:solidFill>
                    <a:latin typeface="Arial" charset="0"/>
                  </a:rPr>
                  <a:t>retransmit missing segment</a:t>
                </a:r>
                <a:r>
                  <a:rPr lang="en-US" sz="1050" kern="0" dirty="0">
                    <a:solidFill>
                      <a:srgbClr val="000000"/>
                    </a:solidFill>
                    <a:latin typeface="Arial" charset="0"/>
                  </a:rPr>
                  <a:t> </a:t>
                </a:r>
              </a:p>
            </p:txBody>
          </p:sp>
          <p:sp>
            <p:nvSpPr>
              <p:cNvPr id="203" name="Line 180">
                <a:extLst>
                  <a:ext uri="{FF2B5EF4-FFF2-40B4-BE49-F238E27FC236}">
                    <a16:creationId xmlns:a16="http://schemas.microsoft.com/office/drawing/2014/main" id="{4D339203-1563-3844-9642-20DAA4DBE4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9" y="2855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185" name="Group 186">
              <a:extLst>
                <a:ext uri="{FF2B5EF4-FFF2-40B4-BE49-F238E27FC236}">
                  <a16:creationId xmlns:a16="http://schemas.microsoft.com/office/drawing/2014/main" id="{F5B6412F-86EA-644E-B751-4756A58400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73" y="960"/>
              <a:ext cx="1542" cy="580"/>
              <a:chOff x="2683" y="798"/>
              <a:chExt cx="1542" cy="580"/>
            </a:xfrm>
          </p:grpSpPr>
          <p:sp>
            <p:nvSpPr>
              <p:cNvPr id="198" name="Text Box 187">
                <a:extLst>
                  <a:ext uri="{FF2B5EF4-FFF2-40B4-BE49-F238E27FC236}">
                    <a16:creationId xmlns:a16="http://schemas.microsoft.com/office/drawing/2014/main" id="{33745650-56D6-E74A-A07A-E27A588095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3" y="917"/>
                <a:ext cx="1542" cy="46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defTabSz="68580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cwnd = cwnd+MSS</a:t>
                </a:r>
              </a:p>
              <a:p>
                <a:pPr defTabSz="68580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dupACKcount = 0</a:t>
                </a:r>
              </a:p>
              <a:p>
                <a:pPr defTabSz="68580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i="1" kern="0" dirty="0">
                    <a:solidFill>
                      <a:srgbClr val="000099"/>
                    </a:solidFill>
                    <a:latin typeface="Arial" charset="0"/>
                  </a:rPr>
                  <a:t>transmit new segment(s), as allowed</a:t>
                </a:r>
              </a:p>
              <a:p>
                <a:pPr defTabSz="6858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50" kern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99" name="Line 188">
                <a:extLst>
                  <a:ext uri="{FF2B5EF4-FFF2-40B4-BE49-F238E27FC236}">
                    <a16:creationId xmlns:a16="http://schemas.microsoft.com/office/drawing/2014/main" id="{77E99221-132E-174B-8CBE-C1A955C064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4" y="934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200" name="Text Box 189">
                <a:extLst>
                  <a:ext uri="{FF2B5EF4-FFF2-40B4-BE49-F238E27FC236}">
                    <a16:creationId xmlns:a16="http://schemas.microsoft.com/office/drawing/2014/main" id="{321F9ADE-2971-8D42-964D-F2D594BDE5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97" y="798"/>
                <a:ext cx="511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new ACK</a:t>
                </a:r>
              </a:p>
            </p:txBody>
          </p:sp>
        </p:grpSp>
        <p:sp>
          <p:nvSpPr>
            <p:cNvPr id="186" name="Freeform 205">
              <a:extLst>
                <a:ext uri="{FF2B5EF4-FFF2-40B4-BE49-F238E27FC236}">
                  <a16:creationId xmlns:a16="http://schemas.microsoft.com/office/drawing/2014/main" id="{B9844AE8-814B-7A49-BCA7-110579E99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" y="1129"/>
              <a:ext cx="313" cy="201"/>
            </a:xfrm>
            <a:custGeom>
              <a:avLst/>
              <a:gdLst>
                <a:gd name="T0" fmla="*/ 25 w 313"/>
                <a:gd name="T1" fmla="*/ 169 h 201"/>
                <a:gd name="T2" fmla="*/ 153 w 313"/>
                <a:gd name="T3" fmla="*/ 7 h 201"/>
                <a:gd name="T4" fmla="*/ 258 w 313"/>
                <a:gd name="T5" fmla="*/ 201 h 2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7" name="Freeform 206">
              <a:extLst>
                <a:ext uri="{FF2B5EF4-FFF2-40B4-BE49-F238E27FC236}">
                  <a16:creationId xmlns:a16="http://schemas.microsoft.com/office/drawing/2014/main" id="{750DB278-39B5-E245-8F7C-23929FAC1479}"/>
                </a:ext>
              </a:extLst>
            </p:cNvPr>
            <p:cNvSpPr>
              <a:spLocks/>
            </p:cNvSpPr>
            <p:nvPr/>
          </p:nvSpPr>
          <p:spPr bwMode="auto">
            <a:xfrm rot="2575893">
              <a:off x="1950" y="1316"/>
              <a:ext cx="313" cy="201"/>
            </a:xfrm>
            <a:custGeom>
              <a:avLst/>
              <a:gdLst>
                <a:gd name="T0" fmla="*/ 25 w 313"/>
                <a:gd name="T1" fmla="*/ 169 h 201"/>
                <a:gd name="T2" fmla="*/ 153 w 313"/>
                <a:gd name="T3" fmla="*/ 7 h 201"/>
                <a:gd name="T4" fmla="*/ 258 w 313"/>
                <a:gd name="T5" fmla="*/ 201 h 2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188" name="Group 207">
              <a:extLst>
                <a:ext uri="{FF2B5EF4-FFF2-40B4-BE49-F238E27FC236}">
                  <a16:creationId xmlns:a16="http://schemas.microsoft.com/office/drawing/2014/main" id="{4E427184-7EF7-C840-827D-A9660DD49F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26" y="859"/>
              <a:ext cx="780" cy="408"/>
              <a:chOff x="4235" y="2922"/>
              <a:chExt cx="780" cy="408"/>
            </a:xfrm>
          </p:grpSpPr>
          <p:sp>
            <p:nvSpPr>
              <p:cNvPr id="195" name="Text Box 208">
                <a:extLst>
                  <a:ext uri="{FF2B5EF4-FFF2-40B4-BE49-F238E27FC236}">
                    <a16:creationId xmlns:a16="http://schemas.microsoft.com/office/drawing/2014/main" id="{7E5221C3-2422-AB42-AB8F-F98DF12DC4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35" y="3062"/>
                <a:ext cx="780" cy="2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 defTabSz="6858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dupACKcount++</a:t>
                </a:r>
              </a:p>
              <a:p>
                <a:pPr algn="ctr" defTabSz="6858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050" kern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96" name="Line 209">
                <a:extLst>
                  <a:ext uri="{FF2B5EF4-FFF2-40B4-BE49-F238E27FC236}">
                    <a16:creationId xmlns:a16="http://schemas.microsoft.com/office/drawing/2014/main" id="{0ED363ED-03C6-214E-BEF4-679C860950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3" y="3071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97" name="Text Box 210">
                <a:extLst>
                  <a:ext uri="{FF2B5EF4-FFF2-40B4-BE49-F238E27FC236}">
                    <a16:creationId xmlns:a16="http://schemas.microsoft.com/office/drawing/2014/main" id="{2593DC72-BD77-FC4D-AA2D-CA14FF49E8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5" y="2922"/>
                <a:ext cx="695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duplicate ACK</a:t>
                </a:r>
              </a:p>
            </p:txBody>
          </p:sp>
        </p:grpSp>
        <p:sp>
          <p:nvSpPr>
            <p:cNvPr id="189" name="Freeform 211">
              <a:extLst>
                <a:ext uri="{FF2B5EF4-FFF2-40B4-BE49-F238E27FC236}">
                  <a16:creationId xmlns:a16="http://schemas.microsoft.com/office/drawing/2014/main" id="{3E6B1AA0-4286-9245-837B-6CBC21CE7E5B}"/>
                </a:ext>
              </a:extLst>
            </p:cNvPr>
            <p:cNvSpPr>
              <a:spLocks/>
            </p:cNvSpPr>
            <p:nvPr/>
          </p:nvSpPr>
          <p:spPr bwMode="auto">
            <a:xfrm rot="-8222029">
              <a:off x="1204" y="1903"/>
              <a:ext cx="313" cy="201"/>
            </a:xfrm>
            <a:custGeom>
              <a:avLst/>
              <a:gdLst>
                <a:gd name="T0" fmla="*/ 25 w 313"/>
                <a:gd name="T1" fmla="*/ 169 h 201"/>
                <a:gd name="T2" fmla="*/ 153 w 313"/>
                <a:gd name="T3" fmla="*/ 7 h 201"/>
                <a:gd name="T4" fmla="*/ 258 w 313"/>
                <a:gd name="T5" fmla="*/ 201 h 2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90" name="Line 234">
              <a:extLst>
                <a:ext uri="{FF2B5EF4-FFF2-40B4-BE49-F238E27FC236}">
                  <a16:creationId xmlns:a16="http://schemas.microsoft.com/office/drawing/2014/main" id="{F4D43A0C-EE6E-EC4A-8B33-48E0CE84AD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" y="1649"/>
              <a:ext cx="75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91" name="Group 235">
              <a:extLst>
                <a:ext uri="{FF2B5EF4-FFF2-40B4-BE49-F238E27FC236}">
                  <a16:creationId xmlns:a16="http://schemas.microsoft.com/office/drawing/2014/main" id="{A04F248C-CB56-5341-9121-CD7548EA20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" y="1255"/>
              <a:ext cx="826" cy="449"/>
              <a:chOff x="497" y="936"/>
              <a:chExt cx="826" cy="449"/>
            </a:xfrm>
          </p:grpSpPr>
          <p:sp>
            <p:nvSpPr>
              <p:cNvPr id="192" name="Text Box 236">
                <a:extLst>
                  <a:ext uri="{FF2B5EF4-FFF2-40B4-BE49-F238E27FC236}">
                    <a16:creationId xmlns:a16="http://schemas.microsoft.com/office/drawing/2014/main" id="{DFCAD05B-CECB-F74A-83C0-04809C5640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936"/>
                <a:ext cx="213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Symbol" charset="0"/>
                  </a:rPr>
                  <a:t>L</a:t>
                </a:r>
              </a:p>
            </p:txBody>
          </p:sp>
          <p:sp>
            <p:nvSpPr>
              <p:cNvPr id="193" name="Text Box 237">
                <a:extLst>
                  <a:ext uri="{FF2B5EF4-FFF2-40B4-BE49-F238E27FC236}">
                    <a16:creationId xmlns:a16="http://schemas.microsoft.com/office/drawing/2014/main" id="{74E71529-C1EB-3448-B321-63BB937B34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7" y="1063"/>
                <a:ext cx="826" cy="3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 defTabSz="6858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cwnd = 1 MSS</a:t>
                </a:r>
              </a:p>
              <a:p>
                <a:pPr algn="ctr" defTabSz="6858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ssthresh = 64 KB</a:t>
                </a:r>
              </a:p>
              <a:p>
                <a:pPr algn="ctr" defTabSz="6858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788" kern="0" dirty="0">
                    <a:solidFill>
                      <a:srgbClr val="000000"/>
                    </a:solidFill>
                    <a:latin typeface="Arial" charset="0"/>
                  </a:rPr>
                  <a:t>dupACKcount = 0</a:t>
                </a:r>
                <a:endParaRPr lang="en-US" sz="1050" kern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94" name="Line 238">
                <a:extLst>
                  <a:ext uri="{FF2B5EF4-FFF2-40B4-BE49-F238E27FC236}">
                    <a16:creationId xmlns:a16="http://schemas.microsoft.com/office/drawing/2014/main" id="{6EA26674-D5C9-9744-9287-ED272FC851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1" y="1078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Tahoma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206" name="Group 255">
            <a:extLst>
              <a:ext uri="{FF2B5EF4-FFF2-40B4-BE49-F238E27FC236}">
                <a16:creationId xmlns:a16="http://schemas.microsoft.com/office/drawing/2014/main" id="{A2B043F7-099D-4D44-B22F-E06E9FF1DB1B}"/>
              </a:ext>
            </a:extLst>
          </p:cNvPr>
          <p:cNvGrpSpPr>
            <a:grpSpLocks/>
          </p:cNvGrpSpPr>
          <p:nvPr/>
        </p:nvGrpSpPr>
        <p:grpSpPr bwMode="auto">
          <a:xfrm>
            <a:off x="1803797" y="3093924"/>
            <a:ext cx="2375297" cy="984647"/>
            <a:chOff x="509" y="1766"/>
            <a:chExt cx="1995" cy="827"/>
          </a:xfrm>
        </p:grpSpPr>
        <p:pic>
          <p:nvPicPr>
            <p:cNvPr id="207" name="Picture 252">
              <a:extLst>
                <a:ext uri="{FF2B5EF4-FFF2-40B4-BE49-F238E27FC236}">
                  <a16:creationId xmlns:a16="http://schemas.microsoft.com/office/drawing/2014/main" id="{13117D26-6951-3D4A-A5F0-C71B4A0E49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09" y="1992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208" name="Picture 253">
              <a:extLst>
                <a:ext uri="{FF2B5EF4-FFF2-40B4-BE49-F238E27FC236}">
                  <a16:creationId xmlns:a16="http://schemas.microsoft.com/office/drawing/2014/main" id="{DB7493BD-9E6A-CC43-BB12-1EF71B377E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242" y="1766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209" name="Picture 254">
              <a:extLst>
                <a:ext uri="{FF2B5EF4-FFF2-40B4-BE49-F238E27FC236}">
                  <a16:creationId xmlns:a16="http://schemas.microsoft.com/office/drawing/2014/main" id="{919A68A3-008C-A945-88F7-16E52DA210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164" y="2348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210" name="Group 297">
            <a:extLst>
              <a:ext uri="{FF2B5EF4-FFF2-40B4-BE49-F238E27FC236}">
                <a16:creationId xmlns:a16="http://schemas.microsoft.com/office/drawing/2014/main" id="{439C2129-4880-6149-9CCA-EB3347A6F350}"/>
              </a:ext>
            </a:extLst>
          </p:cNvPr>
          <p:cNvGrpSpPr>
            <a:grpSpLocks/>
          </p:cNvGrpSpPr>
          <p:nvPr/>
        </p:nvGrpSpPr>
        <p:grpSpPr bwMode="auto">
          <a:xfrm>
            <a:off x="3826669" y="1763996"/>
            <a:ext cx="3250406" cy="2432447"/>
            <a:chOff x="2205" y="641"/>
            <a:chExt cx="2730" cy="2043"/>
          </a:xfrm>
        </p:grpSpPr>
        <p:grpSp>
          <p:nvGrpSpPr>
            <p:cNvPr id="211" name="Group 282">
              <a:extLst>
                <a:ext uri="{FF2B5EF4-FFF2-40B4-BE49-F238E27FC236}">
                  <a16:creationId xmlns:a16="http://schemas.microsoft.com/office/drawing/2014/main" id="{6BDFE812-AF51-D241-B4AE-BA4F204E8D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1" y="2381"/>
              <a:ext cx="583" cy="303"/>
              <a:chOff x="1166" y="3601"/>
              <a:chExt cx="583" cy="303"/>
            </a:xfrm>
          </p:grpSpPr>
          <p:grpSp>
            <p:nvGrpSpPr>
              <p:cNvPr id="222" name="Group 283">
                <a:extLst>
                  <a:ext uri="{FF2B5EF4-FFF2-40B4-BE49-F238E27FC236}">
                    <a16:creationId xmlns:a16="http://schemas.microsoft.com/office/drawing/2014/main" id="{82205633-61E5-A34B-80F4-B06EBB50B0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224" name="Picture 284">
                  <a:extLst>
                    <a:ext uri="{FF2B5EF4-FFF2-40B4-BE49-F238E27FC236}">
                      <a16:creationId xmlns:a16="http://schemas.microsoft.com/office/drawing/2014/main" id="{123D55D6-C521-5C4A-A99B-9A81EB8858B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225" name="Rectangle 285">
                  <a:extLst>
                    <a:ext uri="{FF2B5EF4-FFF2-40B4-BE49-F238E27FC236}">
                      <a16:creationId xmlns:a16="http://schemas.microsoft.com/office/drawing/2014/main" id="{5A2AADA4-95A5-1140-A8E2-F7E1D634D7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dirty="0">
                    <a:solidFill>
                      <a:srgbClr val="000000"/>
                    </a:solidFill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23" name="Text Box 286">
                <a:extLst>
                  <a:ext uri="{FF2B5EF4-FFF2-40B4-BE49-F238E27FC236}">
                    <a16:creationId xmlns:a16="http://schemas.microsoft.com/office/drawing/2014/main" id="{A04DE5D7-1E27-9345-953B-F2F6817401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74" y="3633"/>
                <a:ext cx="397" cy="2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900" b="1" i="1" dirty="0">
                    <a:solidFill>
                      <a:srgbClr val="3333CC"/>
                    </a:solidFill>
                    <a:latin typeface="Comic Sans MS" charset="0"/>
                  </a:rPr>
                  <a:t>New</a:t>
                </a:r>
              </a:p>
              <a:p>
                <a:pPr algn="ctr" defTabSz="6858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900" b="1" i="1" dirty="0">
                    <a:solidFill>
                      <a:srgbClr val="3333CC"/>
                    </a:solidFill>
                    <a:latin typeface="Comic Sans MS" charset="0"/>
                  </a:rPr>
                  <a:t>ACK!</a:t>
                </a:r>
              </a:p>
            </p:txBody>
          </p:sp>
        </p:grpSp>
        <p:grpSp>
          <p:nvGrpSpPr>
            <p:cNvPr id="212" name="Group 287">
              <a:extLst>
                <a:ext uri="{FF2B5EF4-FFF2-40B4-BE49-F238E27FC236}">
                  <a16:creationId xmlns:a16="http://schemas.microsoft.com/office/drawing/2014/main" id="{0901017F-3507-C540-B99D-306E862349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5" y="700"/>
              <a:ext cx="583" cy="303"/>
              <a:chOff x="1166" y="3601"/>
              <a:chExt cx="583" cy="303"/>
            </a:xfrm>
          </p:grpSpPr>
          <p:grpSp>
            <p:nvGrpSpPr>
              <p:cNvPr id="218" name="Group 288">
                <a:extLst>
                  <a:ext uri="{FF2B5EF4-FFF2-40B4-BE49-F238E27FC236}">
                    <a16:creationId xmlns:a16="http://schemas.microsoft.com/office/drawing/2014/main" id="{6BA56D00-0006-F044-83B1-AAE6B00446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220" name="Picture 289">
                  <a:extLst>
                    <a:ext uri="{FF2B5EF4-FFF2-40B4-BE49-F238E27FC236}">
                      <a16:creationId xmlns:a16="http://schemas.microsoft.com/office/drawing/2014/main" id="{C017D357-3300-D245-BAF6-F1F404699D4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221" name="Rectangle 290">
                  <a:extLst>
                    <a:ext uri="{FF2B5EF4-FFF2-40B4-BE49-F238E27FC236}">
                      <a16:creationId xmlns:a16="http://schemas.microsoft.com/office/drawing/2014/main" id="{71EEC757-0CB1-5245-8660-0181A2DC62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dirty="0">
                    <a:solidFill>
                      <a:srgbClr val="000000"/>
                    </a:solidFill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19" name="Text Box 291">
                <a:extLst>
                  <a:ext uri="{FF2B5EF4-FFF2-40B4-BE49-F238E27FC236}">
                    <a16:creationId xmlns:a16="http://schemas.microsoft.com/office/drawing/2014/main" id="{FEBEF8FC-A920-4A49-A1BF-3B6F2FA29D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74" y="3633"/>
                <a:ext cx="397" cy="2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900" b="1" i="1" dirty="0">
                    <a:solidFill>
                      <a:srgbClr val="3333CC"/>
                    </a:solidFill>
                    <a:latin typeface="Comic Sans MS" charset="0"/>
                  </a:rPr>
                  <a:t>New</a:t>
                </a:r>
              </a:p>
              <a:p>
                <a:pPr algn="ctr" defTabSz="6858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900" b="1" i="1" dirty="0">
                    <a:solidFill>
                      <a:srgbClr val="3333CC"/>
                    </a:solidFill>
                    <a:latin typeface="Comic Sans MS" charset="0"/>
                  </a:rPr>
                  <a:t>ACK!</a:t>
                </a:r>
              </a:p>
            </p:txBody>
          </p:sp>
        </p:grpSp>
        <p:grpSp>
          <p:nvGrpSpPr>
            <p:cNvPr id="213" name="Group 292">
              <a:extLst>
                <a:ext uri="{FF2B5EF4-FFF2-40B4-BE49-F238E27FC236}">
                  <a16:creationId xmlns:a16="http://schemas.microsoft.com/office/drawing/2014/main" id="{2201CF4D-D367-D544-9B09-D38B651E98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52" y="641"/>
              <a:ext cx="583" cy="303"/>
              <a:chOff x="1166" y="3601"/>
              <a:chExt cx="583" cy="303"/>
            </a:xfrm>
          </p:grpSpPr>
          <p:grpSp>
            <p:nvGrpSpPr>
              <p:cNvPr id="214" name="Group 293">
                <a:extLst>
                  <a:ext uri="{FF2B5EF4-FFF2-40B4-BE49-F238E27FC236}">
                    <a16:creationId xmlns:a16="http://schemas.microsoft.com/office/drawing/2014/main" id="{255AC563-CE69-7346-8853-7B52DB2C39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216" name="Picture 294">
                  <a:extLst>
                    <a:ext uri="{FF2B5EF4-FFF2-40B4-BE49-F238E27FC236}">
                      <a16:creationId xmlns:a16="http://schemas.microsoft.com/office/drawing/2014/main" id="{3CFEE67E-B886-8D4D-9258-34C8D95DCDA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217" name="Rectangle 295">
                  <a:extLst>
                    <a:ext uri="{FF2B5EF4-FFF2-40B4-BE49-F238E27FC236}">
                      <a16:creationId xmlns:a16="http://schemas.microsoft.com/office/drawing/2014/main" id="{E84E7D88-9214-BA40-BC66-CD8AA28583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dirty="0">
                    <a:solidFill>
                      <a:srgbClr val="000000"/>
                    </a:solidFill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15" name="Text Box 296">
                <a:extLst>
                  <a:ext uri="{FF2B5EF4-FFF2-40B4-BE49-F238E27FC236}">
                    <a16:creationId xmlns:a16="http://schemas.microsoft.com/office/drawing/2014/main" id="{C078F33E-5513-B743-BE29-CF96B31ECD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74" y="3633"/>
                <a:ext cx="397" cy="2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900" b="1" i="1" dirty="0">
                    <a:solidFill>
                      <a:srgbClr val="3333CC"/>
                    </a:solidFill>
                    <a:latin typeface="Comic Sans MS" charset="0"/>
                  </a:rPr>
                  <a:t>New</a:t>
                </a:r>
              </a:p>
              <a:p>
                <a:pPr algn="ctr" defTabSz="6858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900" b="1" i="1" dirty="0">
                    <a:solidFill>
                      <a:srgbClr val="3333CC"/>
                    </a:solidFill>
                    <a:latin typeface="Comic Sans MS" charset="0"/>
                  </a:rPr>
                  <a:t>ACK!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4041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roup 232">
            <a:extLst>
              <a:ext uri="{FF2B5EF4-FFF2-40B4-BE49-F238E27FC236}">
                <a16:creationId xmlns:a16="http://schemas.microsoft.com/office/drawing/2014/main" id="{6307814C-A578-6844-80F3-3EBEBD46801B}"/>
              </a:ext>
            </a:extLst>
          </p:cNvPr>
          <p:cNvGrpSpPr/>
          <p:nvPr/>
        </p:nvGrpSpPr>
        <p:grpSpPr>
          <a:xfrm>
            <a:off x="1687711" y="3755723"/>
            <a:ext cx="5768579" cy="1933844"/>
            <a:chOff x="2151063" y="3594045"/>
            <a:chExt cx="7691438" cy="2578459"/>
          </a:xfrm>
        </p:grpSpPr>
        <p:sp>
          <p:nvSpPr>
            <p:cNvPr id="234" name="Freeform 2">
              <a:extLst>
                <a:ext uri="{FF2B5EF4-FFF2-40B4-BE49-F238E27FC236}">
                  <a16:creationId xmlns:a16="http://schemas.microsoft.com/office/drawing/2014/main" id="{90AEE0A7-8DFE-E54C-9D65-202740436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9957" y="4691367"/>
              <a:ext cx="2849563" cy="1481137"/>
            </a:xfrm>
            <a:custGeom>
              <a:avLst/>
              <a:gdLst>
                <a:gd name="T0" fmla="*/ 2147483647 w 1794"/>
                <a:gd name="T1" fmla="*/ 2147483647 h 933"/>
                <a:gd name="T2" fmla="*/ 2147483647 w 1794"/>
                <a:gd name="T3" fmla="*/ 2147483647 h 933"/>
                <a:gd name="T4" fmla="*/ 2147483647 w 1794"/>
                <a:gd name="T5" fmla="*/ 2147483647 h 933"/>
                <a:gd name="T6" fmla="*/ 2147483647 w 1794"/>
                <a:gd name="T7" fmla="*/ 2147483647 h 933"/>
                <a:gd name="T8" fmla="*/ 2147483647 w 1794"/>
                <a:gd name="T9" fmla="*/ 2147483647 h 933"/>
                <a:gd name="T10" fmla="*/ 2147483647 w 1794"/>
                <a:gd name="T11" fmla="*/ 2147483647 h 933"/>
                <a:gd name="T12" fmla="*/ 2147483647 w 1794"/>
                <a:gd name="T13" fmla="*/ 2147483647 h 933"/>
                <a:gd name="T14" fmla="*/ 2147483647 w 1794"/>
                <a:gd name="T15" fmla="*/ 2147483647 h 933"/>
                <a:gd name="T16" fmla="*/ 2147483647 w 1794"/>
                <a:gd name="T17" fmla="*/ 2147483647 h 933"/>
                <a:gd name="T18" fmla="*/ 2147483647 w 1794"/>
                <a:gd name="T19" fmla="*/ 2147483647 h 933"/>
                <a:gd name="T20" fmla="*/ 2147483647 w 1794"/>
                <a:gd name="T21" fmla="*/ 2147483647 h 9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94"/>
                <a:gd name="T34" fmla="*/ 0 h 933"/>
                <a:gd name="T35" fmla="*/ 1794 w 1794"/>
                <a:gd name="T36" fmla="*/ 933 h 9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DE5C1FE8-8C99-9941-8BE3-939EFFCAAAB0}"/>
                </a:ext>
              </a:extLst>
            </p:cNvPr>
            <p:cNvGrpSpPr/>
            <p:nvPr/>
          </p:nvGrpSpPr>
          <p:grpSpPr>
            <a:xfrm>
              <a:off x="5035264" y="5554092"/>
              <a:ext cx="496248" cy="260542"/>
              <a:chOff x="7141236" y="6068702"/>
              <a:chExt cx="496248" cy="260542"/>
            </a:xfrm>
          </p:grpSpPr>
          <p:sp>
            <p:nvSpPr>
              <p:cNvPr id="397" name="Freeform 396">
                <a:extLst>
                  <a:ext uri="{FF2B5EF4-FFF2-40B4-BE49-F238E27FC236}">
                    <a16:creationId xmlns:a16="http://schemas.microsoft.com/office/drawing/2014/main" id="{39D330E3-C044-054C-869F-09C6BD03FF36}"/>
                  </a:ext>
                </a:extLst>
              </p:cNvPr>
              <p:cNvSpPr/>
              <p:nvPr/>
            </p:nvSpPr>
            <p:spPr>
              <a:xfrm>
                <a:off x="7141236" y="6158887"/>
                <a:ext cx="496248" cy="170357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E40000"/>
                  </a:gs>
                  <a:gs pos="21000">
                    <a:schemeClr val="bg1"/>
                  </a:gs>
                  <a:gs pos="51000">
                    <a:srgbClr val="ED356A"/>
                  </a:gs>
                  <a:gs pos="100000">
                    <a:srgbClr val="E40000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     </a:t>
                </a:r>
              </a:p>
            </p:txBody>
          </p:sp>
          <p:sp>
            <p:nvSpPr>
              <p:cNvPr id="398" name="Oval 397">
                <a:extLst>
                  <a:ext uri="{FF2B5EF4-FFF2-40B4-BE49-F238E27FC236}">
                    <a16:creationId xmlns:a16="http://schemas.microsoft.com/office/drawing/2014/main" id="{34A677DD-14B8-B54F-8E7D-FB60B9C560A6}"/>
                  </a:ext>
                </a:extLst>
              </p:cNvPr>
              <p:cNvSpPr/>
              <p:nvPr/>
            </p:nvSpPr>
            <p:spPr>
              <a:xfrm>
                <a:off x="7141522" y="6068702"/>
                <a:ext cx="495647" cy="168664"/>
              </a:xfrm>
              <a:prstGeom prst="ellipse">
                <a:avLst/>
              </a:prstGeom>
              <a:solidFill>
                <a:srgbClr val="FA376E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</a:t>
                </a:r>
              </a:p>
            </p:txBody>
          </p:sp>
          <p:grpSp>
            <p:nvGrpSpPr>
              <p:cNvPr id="399" name="Group 398">
                <a:extLst>
                  <a:ext uri="{FF2B5EF4-FFF2-40B4-BE49-F238E27FC236}">
                    <a16:creationId xmlns:a16="http://schemas.microsoft.com/office/drawing/2014/main" id="{4E85C207-060D-3D49-8660-980FC224A927}"/>
                  </a:ext>
                </a:extLst>
              </p:cNvPr>
              <p:cNvGrpSpPr/>
              <p:nvPr/>
            </p:nvGrpSpPr>
            <p:grpSpPr>
              <a:xfrm>
                <a:off x="7214834" y="6090139"/>
                <a:ext cx="348960" cy="123931"/>
                <a:chOff x="7786941" y="2884917"/>
                <a:chExt cx="897649" cy="353919"/>
              </a:xfrm>
            </p:grpSpPr>
            <p:sp>
              <p:nvSpPr>
                <p:cNvPr id="400" name="Freeform 399">
                  <a:extLst>
                    <a:ext uri="{FF2B5EF4-FFF2-40B4-BE49-F238E27FC236}">
                      <a16:creationId xmlns:a16="http://schemas.microsoft.com/office/drawing/2014/main" id="{5219831F-5533-2C48-AC8A-F1612725666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401" name="Freeform 400">
                  <a:extLst>
                    <a:ext uri="{FF2B5EF4-FFF2-40B4-BE49-F238E27FC236}">
                      <a16:creationId xmlns:a16="http://schemas.microsoft.com/office/drawing/2014/main" id="{3FA22E6E-25E2-8444-A94B-B9F8F9AED72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402" name="Freeform 401">
                  <a:extLst>
                    <a:ext uri="{FF2B5EF4-FFF2-40B4-BE49-F238E27FC236}">
                      <a16:creationId xmlns:a16="http://schemas.microsoft.com/office/drawing/2014/main" id="{F7747A7C-8EA9-6C48-8F13-A0694FF961E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403" name="Freeform 402">
                  <a:extLst>
                    <a:ext uri="{FF2B5EF4-FFF2-40B4-BE49-F238E27FC236}">
                      <a16:creationId xmlns:a16="http://schemas.microsoft.com/office/drawing/2014/main" id="{AE551E9F-7776-7F4E-AA8D-EB09AE1181A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FFB3D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6E5418A9-37BD-EC47-B574-97E826D7250C}"/>
                </a:ext>
              </a:extLst>
            </p:cNvPr>
            <p:cNvGrpSpPr/>
            <p:nvPr/>
          </p:nvGrpSpPr>
          <p:grpSpPr>
            <a:xfrm>
              <a:off x="6131364" y="5156690"/>
              <a:ext cx="496248" cy="260542"/>
              <a:chOff x="7493876" y="2774731"/>
              <a:chExt cx="1481958" cy="894622"/>
            </a:xfrm>
          </p:grpSpPr>
          <p:sp>
            <p:nvSpPr>
              <p:cNvPr id="390" name="Freeform 389">
                <a:extLst>
                  <a:ext uri="{FF2B5EF4-FFF2-40B4-BE49-F238E27FC236}">
                    <a16:creationId xmlns:a16="http://schemas.microsoft.com/office/drawing/2014/main" id="{F5B5A25A-2C95-5B4C-8FB7-F605783EFA4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     </a:t>
                </a:r>
              </a:p>
            </p:txBody>
          </p:sp>
          <p:sp>
            <p:nvSpPr>
              <p:cNvPr id="391" name="Oval 390">
                <a:extLst>
                  <a:ext uri="{FF2B5EF4-FFF2-40B4-BE49-F238E27FC236}">
                    <a16:creationId xmlns:a16="http://schemas.microsoft.com/office/drawing/2014/main" id="{2CA4169C-067D-4A49-A081-369DAD0C224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</a:t>
                </a:r>
              </a:p>
            </p:txBody>
          </p:sp>
          <p:grpSp>
            <p:nvGrpSpPr>
              <p:cNvPr id="392" name="Group 391">
                <a:extLst>
                  <a:ext uri="{FF2B5EF4-FFF2-40B4-BE49-F238E27FC236}">
                    <a16:creationId xmlns:a16="http://schemas.microsoft.com/office/drawing/2014/main" id="{50519048-C46F-D546-9050-61CEAF77017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3" name="Freeform 392">
                  <a:extLst>
                    <a:ext uri="{FF2B5EF4-FFF2-40B4-BE49-F238E27FC236}">
                      <a16:creationId xmlns:a16="http://schemas.microsoft.com/office/drawing/2014/main" id="{49DCBD6C-E987-154F-AD91-DB2A356012F2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94" name="Freeform 393">
                  <a:extLst>
                    <a:ext uri="{FF2B5EF4-FFF2-40B4-BE49-F238E27FC236}">
                      <a16:creationId xmlns:a16="http://schemas.microsoft.com/office/drawing/2014/main" id="{14404909-E9A6-8C4B-9B51-D2EE4A4B84F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95" name="Freeform 394">
                  <a:extLst>
                    <a:ext uri="{FF2B5EF4-FFF2-40B4-BE49-F238E27FC236}">
                      <a16:creationId xmlns:a16="http://schemas.microsoft.com/office/drawing/2014/main" id="{292519AF-5EB3-DF4F-982E-EC0AA7D01C2A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96" name="Freeform 395">
                  <a:extLst>
                    <a:ext uri="{FF2B5EF4-FFF2-40B4-BE49-F238E27FC236}">
                      <a16:creationId xmlns:a16="http://schemas.microsoft.com/office/drawing/2014/main" id="{EB30AB85-DF1C-CD4E-AD52-9098D09C7CEF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98728E54-1D17-4D45-A363-F346E81E05F7}"/>
                </a:ext>
              </a:extLst>
            </p:cNvPr>
            <p:cNvGrpSpPr/>
            <p:nvPr/>
          </p:nvGrpSpPr>
          <p:grpSpPr>
            <a:xfrm>
              <a:off x="5122533" y="4861037"/>
              <a:ext cx="496248" cy="260542"/>
              <a:chOff x="7493876" y="2774731"/>
              <a:chExt cx="1481958" cy="894622"/>
            </a:xfrm>
          </p:grpSpPr>
          <p:sp>
            <p:nvSpPr>
              <p:cNvPr id="383" name="Freeform 382">
                <a:extLst>
                  <a:ext uri="{FF2B5EF4-FFF2-40B4-BE49-F238E27FC236}">
                    <a16:creationId xmlns:a16="http://schemas.microsoft.com/office/drawing/2014/main" id="{CE4775B1-C508-CF42-AEA5-07A2A815F684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     </a:t>
                </a: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92C69B4D-7678-184E-A724-7AD76CCE85E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</a:t>
                </a:r>
              </a:p>
            </p:txBody>
          </p:sp>
          <p:grpSp>
            <p:nvGrpSpPr>
              <p:cNvPr id="385" name="Group 384">
                <a:extLst>
                  <a:ext uri="{FF2B5EF4-FFF2-40B4-BE49-F238E27FC236}">
                    <a16:creationId xmlns:a16="http://schemas.microsoft.com/office/drawing/2014/main" id="{0E43C550-6DB2-3343-9C12-122696B8D87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86" name="Freeform 385">
                  <a:extLst>
                    <a:ext uri="{FF2B5EF4-FFF2-40B4-BE49-F238E27FC236}">
                      <a16:creationId xmlns:a16="http://schemas.microsoft.com/office/drawing/2014/main" id="{1D2E27C1-1C8A-FE4C-9AED-47BBDC59C585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87" name="Freeform 386">
                  <a:extLst>
                    <a:ext uri="{FF2B5EF4-FFF2-40B4-BE49-F238E27FC236}">
                      <a16:creationId xmlns:a16="http://schemas.microsoft.com/office/drawing/2014/main" id="{4EEDA6B4-A3DC-D842-8F1F-A5E715D2B79C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88" name="Freeform 387">
                  <a:extLst>
                    <a:ext uri="{FF2B5EF4-FFF2-40B4-BE49-F238E27FC236}">
                      <a16:creationId xmlns:a16="http://schemas.microsoft.com/office/drawing/2014/main" id="{ED38D75D-6112-D540-88E9-E2A095CC44F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89" name="Freeform 388">
                  <a:extLst>
                    <a:ext uri="{FF2B5EF4-FFF2-40B4-BE49-F238E27FC236}">
                      <a16:creationId xmlns:a16="http://schemas.microsoft.com/office/drawing/2014/main" id="{33E74EAF-39D5-314C-B4A9-A9073DB5D35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F485FA0C-AC91-3E4D-AA1D-2D248BAC624D}"/>
                </a:ext>
              </a:extLst>
            </p:cNvPr>
            <p:cNvGrpSpPr/>
            <p:nvPr/>
          </p:nvGrpSpPr>
          <p:grpSpPr>
            <a:xfrm>
              <a:off x="4450588" y="5823254"/>
              <a:ext cx="496248" cy="260542"/>
              <a:chOff x="7493876" y="2774731"/>
              <a:chExt cx="1481958" cy="894622"/>
            </a:xfrm>
          </p:grpSpPr>
          <p:sp>
            <p:nvSpPr>
              <p:cNvPr id="376" name="Freeform 375">
                <a:extLst>
                  <a:ext uri="{FF2B5EF4-FFF2-40B4-BE49-F238E27FC236}">
                    <a16:creationId xmlns:a16="http://schemas.microsoft.com/office/drawing/2014/main" id="{237EDD32-5C1C-FD4C-8E41-6323EE48F961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     </a:t>
                </a:r>
              </a:p>
            </p:txBody>
          </p:sp>
          <p:sp>
            <p:nvSpPr>
              <p:cNvPr id="377" name="Oval 376">
                <a:extLst>
                  <a:ext uri="{FF2B5EF4-FFF2-40B4-BE49-F238E27FC236}">
                    <a16:creationId xmlns:a16="http://schemas.microsoft.com/office/drawing/2014/main" id="{3AA2CC76-F113-C14C-984F-346FA0D1B8A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</a:t>
                </a:r>
              </a:p>
            </p:txBody>
          </p: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id="{7E39A53A-6A4C-9447-8041-9F0D2A00ED0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79" name="Freeform 378">
                  <a:extLst>
                    <a:ext uri="{FF2B5EF4-FFF2-40B4-BE49-F238E27FC236}">
                      <a16:creationId xmlns:a16="http://schemas.microsoft.com/office/drawing/2014/main" id="{FD65F441-AFFF-784A-9E7E-A12401A5055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80" name="Freeform 379">
                  <a:extLst>
                    <a:ext uri="{FF2B5EF4-FFF2-40B4-BE49-F238E27FC236}">
                      <a16:creationId xmlns:a16="http://schemas.microsoft.com/office/drawing/2014/main" id="{BDC2E7FE-33B7-6444-B08B-904F22DE214D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81" name="Freeform 380">
                  <a:extLst>
                    <a:ext uri="{FF2B5EF4-FFF2-40B4-BE49-F238E27FC236}">
                      <a16:creationId xmlns:a16="http://schemas.microsoft.com/office/drawing/2014/main" id="{41F78A03-BAD1-9143-B9CC-1AB179094EBD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82" name="Freeform 381">
                  <a:extLst>
                    <a:ext uri="{FF2B5EF4-FFF2-40B4-BE49-F238E27FC236}">
                      <a16:creationId xmlns:a16="http://schemas.microsoft.com/office/drawing/2014/main" id="{64595B59-938C-5946-9606-2F6D25849D5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9DABF91B-74EC-F349-B2CC-4C1F22F9D513}"/>
                </a:ext>
              </a:extLst>
            </p:cNvPr>
            <p:cNvGrpSpPr/>
            <p:nvPr/>
          </p:nvGrpSpPr>
          <p:grpSpPr>
            <a:xfrm>
              <a:off x="4094463" y="5164346"/>
              <a:ext cx="496248" cy="260542"/>
              <a:chOff x="7493876" y="2774731"/>
              <a:chExt cx="1481958" cy="894622"/>
            </a:xfrm>
          </p:grpSpPr>
          <p:sp>
            <p:nvSpPr>
              <p:cNvPr id="369" name="Freeform 368">
                <a:extLst>
                  <a:ext uri="{FF2B5EF4-FFF2-40B4-BE49-F238E27FC236}">
                    <a16:creationId xmlns:a16="http://schemas.microsoft.com/office/drawing/2014/main" id="{BDEA1EA3-F38A-6B4E-B686-E5B780B4664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     </a:t>
                </a:r>
              </a:p>
            </p:txBody>
          </p:sp>
          <p:sp>
            <p:nvSpPr>
              <p:cNvPr id="370" name="Oval 369">
                <a:extLst>
                  <a:ext uri="{FF2B5EF4-FFF2-40B4-BE49-F238E27FC236}">
                    <a16:creationId xmlns:a16="http://schemas.microsoft.com/office/drawing/2014/main" id="{40277417-D775-4543-81D3-CBD8429CBC93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</a:t>
                </a:r>
              </a:p>
            </p:txBody>
          </p:sp>
          <p:grpSp>
            <p:nvGrpSpPr>
              <p:cNvPr id="371" name="Group 370">
                <a:extLst>
                  <a:ext uri="{FF2B5EF4-FFF2-40B4-BE49-F238E27FC236}">
                    <a16:creationId xmlns:a16="http://schemas.microsoft.com/office/drawing/2014/main" id="{12C08043-1778-D344-B495-58F751C8DA7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72" name="Freeform 371">
                  <a:extLst>
                    <a:ext uri="{FF2B5EF4-FFF2-40B4-BE49-F238E27FC236}">
                      <a16:creationId xmlns:a16="http://schemas.microsoft.com/office/drawing/2014/main" id="{AF8DCC46-AFF6-0D40-AA78-E93A5D6A572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73" name="Freeform 372">
                  <a:extLst>
                    <a:ext uri="{FF2B5EF4-FFF2-40B4-BE49-F238E27FC236}">
                      <a16:creationId xmlns:a16="http://schemas.microsoft.com/office/drawing/2014/main" id="{42D06E2B-58AF-804D-B3AC-A51B2995006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74" name="Freeform 373">
                  <a:extLst>
                    <a:ext uri="{FF2B5EF4-FFF2-40B4-BE49-F238E27FC236}">
                      <a16:creationId xmlns:a16="http://schemas.microsoft.com/office/drawing/2014/main" id="{C85306DF-5055-4A49-A2D5-B311428D9DA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75" name="Freeform 374">
                  <a:extLst>
                    <a:ext uri="{FF2B5EF4-FFF2-40B4-BE49-F238E27FC236}">
                      <a16:creationId xmlns:a16="http://schemas.microsoft.com/office/drawing/2014/main" id="{6886B3FF-5963-1C43-9ED1-FAFD9E75F4FB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  <p:sp>
          <p:nvSpPr>
            <p:cNvPr id="240" name="Text Box 8">
              <a:extLst>
                <a:ext uri="{FF2B5EF4-FFF2-40B4-BE49-F238E27FC236}">
                  <a16:creationId xmlns:a16="http://schemas.microsoft.com/office/drawing/2014/main" id="{CA617F7E-E61C-4A43-A504-B5C466B5B3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5207" y="3594045"/>
              <a:ext cx="85963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i="1" dirty="0">
                  <a:solidFill>
                    <a:srgbClr val="000099"/>
                  </a:solidFill>
                  <a:latin typeface="Arial" panose="020B0604020202020204" pitchFamily="34" charset="0"/>
                </a:rPr>
                <a:t>source</a:t>
              </a:r>
              <a:endParaRPr lang="en-US" altLang="en-US" sz="1500" i="1" dirty="0">
                <a:solidFill>
                  <a:srgbClr val="0000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1" name="Freeform 10">
              <a:extLst>
                <a:ext uri="{FF2B5EF4-FFF2-40B4-BE49-F238E27FC236}">
                  <a16:creationId xmlns:a16="http://schemas.microsoft.com/office/drawing/2014/main" id="{0F2A6D6D-FD54-8441-8EE4-93E3032F733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481263" y="3925832"/>
              <a:ext cx="326408" cy="1262816"/>
            </a:xfrm>
            <a:custGeom>
              <a:avLst/>
              <a:gdLst>
                <a:gd name="T0" fmla="*/ 2147483647 w 12213"/>
                <a:gd name="T1" fmla="*/ 2147483647 h 10000"/>
                <a:gd name="T2" fmla="*/ 0 w 12213"/>
                <a:gd name="T3" fmla="*/ 0 h 10000"/>
                <a:gd name="T4" fmla="*/ 0 w 12213"/>
                <a:gd name="T5" fmla="*/ 2147483647 h 10000"/>
                <a:gd name="T6" fmla="*/ 2147483647 w 12213"/>
                <a:gd name="T7" fmla="*/ 2147483647 h 10000"/>
                <a:gd name="T8" fmla="*/ 2147483647 w 12213"/>
                <a:gd name="T9" fmla="*/ 2147483647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213" h="10000">
                  <a:moveTo>
                    <a:pt x="11726" y="4661"/>
                  </a:moveTo>
                  <a:lnTo>
                    <a:pt x="0" y="0"/>
                  </a:lnTo>
                  <a:lnTo>
                    <a:pt x="0" y="10000"/>
                  </a:lnTo>
                  <a:lnTo>
                    <a:pt x="12213" y="6473"/>
                  </a:lnTo>
                  <a:lnTo>
                    <a:pt x="11726" y="4661"/>
                  </a:lnTo>
                  <a:close/>
                </a:path>
              </a:pathLst>
            </a:custGeom>
            <a:gradFill rotWithShape="1">
              <a:gsLst>
                <a:gs pos="0">
                  <a:srgbClr val="3333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42" name="Rectangle 23">
              <a:extLst>
                <a:ext uri="{FF2B5EF4-FFF2-40B4-BE49-F238E27FC236}">
                  <a16:creationId xmlns:a16="http://schemas.microsoft.com/office/drawing/2014/main" id="{DC6E8990-AF84-814A-9D80-6AD45A374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326" y="3909956"/>
              <a:ext cx="1062368" cy="129063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243" name="Rectangle 24">
              <a:extLst>
                <a:ext uri="{FF2B5EF4-FFF2-40B4-BE49-F238E27FC236}">
                  <a16:creationId xmlns:a16="http://schemas.microsoft.com/office/drawing/2014/main" id="{95E55C84-C49E-3943-9F63-9BEC1F225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4638" y="3949645"/>
              <a:ext cx="1066800" cy="12319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200" kern="0" dirty="0">
                <a:solidFill>
                  <a:srgbClr val="000000"/>
                </a:solidFill>
              </a:endParaRPr>
            </a:p>
          </p:txBody>
        </p:sp>
        <p:sp>
          <p:nvSpPr>
            <p:cNvPr id="244" name="Line 25">
              <a:extLst>
                <a:ext uri="{FF2B5EF4-FFF2-40B4-BE49-F238E27FC236}">
                  <a16:creationId xmlns:a16="http://schemas.microsoft.com/office/drawing/2014/main" id="{CCF93ADE-A301-C143-8C67-E051B1982D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4638" y="4227457"/>
              <a:ext cx="1058862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45" name="Text Box 26">
              <a:extLst>
                <a:ext uri="{FF2B5EF4-FFF2-40B4-BE49-F238E27FC236}">
                  <a16:creationId xmlns:a16="http://schemas.microsoft.com/office/drawing/2014/main" id="{42EB455E-53D5-394F-8D6D-3CD680F095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3604" y="3957054"/>
              <a:ext cx="1104900" cy="1289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50" kern="0" dirty="0">
                  <a:solidFill>
                    <a:srgbClr val="FFFFFF">
                      <a:lumMod val="75000"/>
                    </a:srgbClr>
                  </a:solidFill>
                </a:rPr>
                <a:t>application</a:t>
              </a:r>
            </a:p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50" b="1" kern="0" dirty="0">
                  <a:solidFill>
                    <a:srgbClr val="0000A3"/>
                  </a:solidFill>
                </a:rPr>
                <a:t>TCP</a:t>
              </a:r>
            </a:p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50" kern="0" dirty="0">
                  <a:solidFill>
                    <a:srgbClr val="FFFFFF">
                      <a:lumMod val="75000"/>
                    </a:srgbClr>
                  </a:solidFill>
                </a:rPr>
                <a:t>network</a:t>
              </a:r>
            </a:p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50" kern="0" dirty="0">
                  <a:solidFill>
                    <a:srgbClr val="FFFFFF">
                      <a:lumMod val="75000"/>
                    </a:srgbClr>
                  </a:solidFill>
                </a:rPr>
                <a:t>link</a:t>
              </a:r>
            </a:p>
            <a:p>
              <a:pPr algn="ctr" defTabSz="68580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50" kern="0" dirty="0">
                  <a:solidFill>
                    <a:srgbClr val="FFFFFF">
                      <a:lumMod val="75000"/>
                    </a:srgbClr>
                  </a:solidFill>
                </a:rPr>
                <a:t>physical</a:t>
              </a:r>
            </a:p>
          </p:txBody>
        </p:sp>
        <p:grpSp>
          <p:nvGrpSpPr>
            <p:cNvPr id="246" name="Group 190">
              <a:extLst>
                <a:ext uri="{FF2B5EF4-FFF2-40B4-BE49-F238E27FC236}">
                  <a16:creationId xmlns:a16="http://schemas.microsoft.com/office/drawing/2014/main" id="{8BA07847-1FE2-924D-A5E8-177866F607CF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2151063" y="4424307"/>
              <a:ext cx="673100" cy="701675"/>
              <a:chOff x="-44" y="1473"/>
              <a:chExt cx="981" cy="1105"/>
            </a:xfrm>
          </p:grpSpPr>
          <p:pic>
            <p:nvPicPr>
              <p:cNvPr id="367" name="Picture 191" descr="desktop_computer_stylized_medium">
                <a:extLst>
                  <a:ext uri="{FF2B5EF4-FFF2-40B4-BE49-F238E27FC236}">
                    <a16:creationId xmlns:a16="http://schemas.microsoft.com/office/drawing/2014/main" id="{D956BEE7-202E-E34B-AB91-3BD63A623C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8" name="Freeform 192">
                <a:extLst>
                  <a:ext uri="{FF2B5EF4-FFF2-40B4-BE49-F238E27FC236}">
                    <a16:creationId xmlns:a16="http://schemas.microsoft.com/office/drawing/2014/main" id="{F17D9F48-C0E3-0D40-9073-0128DAB7053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3382 w 356"/>
                  <a:gd name="T3" fmla="*/ 3172 h 368"/>
                  <a:gd name="T4" fmla="*/ 51464 w 356"/>
                  <a:gd name="T5" fmla="*/ 66095 h 368"/>
                  <a:gd name="T6" fmla="*/ 11342 w 356"/>
                  <a:gd name="T7" fmla="*/ 8266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47" name="Line 25">
              <a:extLst>
                <a:ext uri="{FF2B5EF4-FFF2-40B4-BE49-F238E27FC236}">
                  <a16:creationId xmlns:a16="http://schemas.microsoft.com/office/drawing/2014/main" id="{74193E7E-ABF4-AB48-B6B3-AD7103E05A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400" y="4456057"/>
              <a:ext cx="1058863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48" name="Line 25">
              <a:extLst>
                <a:ext uri="{FF2B5EF4-FFF2-40B4-BE49-F238E27FC236}">
                  <a16:creationId xmlns:a16="http://schemas.microsoft.com/office/drawing/2014/main" id="{CB00E451-A7AE-EE4F-8835-AF9F763069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4163" y="4684657"/>
              <a:ext cx="1058862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49" name="Line 25">
              <a:extLst>
                <a:ext uri="{FF2B5EF4-FFF2-40B4-BE49-F238E27FC236}">
                  <a16:creationId xmlns:a16="http://schemas.microsoft.com/office/drawing/2014/main" id="{9325FC7F-231E-2049-993E-53047EAC0A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7338" y="4924370"/>
              <a:ext cx="1060450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250" name="Group 3">
              <a:extLst>
                <a:ext uri="{FF2B5EF4-FFF2-40B4-BE49-F238E27FC236}">
                  <a16:creationId xmlns:a16="http://schemas.microsoft.com/office/drawing/2014/main" id="{91CBB0DC-066D-D545-9A42-554B9369F9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91153" y="3673978"/>
              <a:ext cx="2051348" cy="1635196"/>
              <a:chOff x="4879281" y="4007261"/>
              <a:chExt cx="2050287" cy="1634446"/>
            </a:xfrm>
          </p:grpSpPr>
          <p:sp>
            <p:nvSpPr>
              <p:cNvPr id="267" name="Text Box 54">
                <a:extLst>
                  <a:ext uri="{FF2B5EF4-FFF2-40B4-BE49-F238E27FC236}">
                    <a16:creationId xmlns:a16="http://schemas.microsoft.com/office/drawing/2014/main" id="{4B1FADB6-C548-2742-A709-144F432B18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79281" y="4007261"/>
                <a:ext cx="1233033" cy="369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200" i="1" kern="0" dirty="0">
                    <a:solidFill>
                      <a:srgbClr val="000099"/>
                    </a:solidFill>
                    <a:latin typeface="Arial" panose="020B0604020202020204" pitchFamily="34" charset="0"/>
                  </a:rPr>
                  <a:t>destination</a:t>
                </a:r>
                <a:endParaRPr lang="en-US" altLang="en-US" sz="1500" i="1" kern="0" dirty="0">
                  <a:solidFill>
                    <a:srgbClr val="000099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68" name="Group 2">
                <a:extLst>
                  <a:ext uri="{FF2B5EF4-FFF2-40B4-BE49-F238E27FC236}">
                    <a16:creationId xmlns:a16="http://schemas.microsoft.com/office/drawing/2014/main" id="{8402BF20-88C0-8D4F-80FD-F2C70469D9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27179" y="4319856"/>
                <a:ext cx="2002389" cy="1321851"/>
                <a:chOff x="1305623" y="4714561"/>
                <a:chExt cx="2002389" cy="1321851"/>
              </a:xfrm>
            </p:grpSpPr>
            <p:sp>
              <p:nvSpPr>
                <p:cNvPr id="269" name="Freeform 10">
                  <a:extLst>
                    <a:ext uri="{FF2B5EF4-FFF2-40B4-BE49-F238E27FC236}">
                      <a16:creationId xmlns:a16="http://schemas.microsoft.com/office/drawing/2014/main" id="{7DDAA735-CA37-A94C-8CA1-EF813CE453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6569" y="4714561"/>
                  <a:ext cx="288261" cy="1290044"/>
                </a:xfrm>
                <a:custGeom>
                  <a:avLst/>
                  <a:gdLst>
                    <a:gd name="T0" fmla="*/ 2147483647 w 267"/>
                    <a:gd name="T1" fmla="*/ 2147483647 h 1186"/>
                    <a:gd name="T2" fmla="*/ 0 w 267"/>
                    <a:gd name="T3" fmla="*/ 0 h 1186"/>
                    <a:gd name="T4" fmla="*/ 0 w 267"/>
                    <a:gd name="T5" fmla="*/ 2147483647 h 1186"/>
                    <a:gd name="T6" fmla="*/ 2147483647 w 267"/>
                    <a:gd name="T7" fmla="*/ 2147483647 h 1186"/>
                    <a:gd name="T8" fmla="*/ 2147483647 w 267"/>
                    <a:gd name="T9" fmla="*/ 2147483647 h 118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7"/>
                    <a:gd name="T16" fmla="*/ 0 h 1186"/>
                    <a:gd name="T17" fmla="*/ 267 w 267"/>
                    <a:gd name="T18" fmla="*/ 1186 h 118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7" h="1186">
                      <a:moveTo>
                        <a:pt x="254" y="466"/>
                      </a:moveTo>
                      <a:lnTo>
                        <a:pt x="0" y="0"/>
                      </a:lnTo>
                      <a:lnTo>
                        <a:pt x="0" y="1186"/>
                      </a:lnTo>
                      <a:lnTo>
                        <a:pt x="267" y="652"/>
                      </a:lnTo>
                      <a:lnTo>
                        <a:pt x="254" y="466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3333CC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270" name="Rectangle 23">
                  <a:extLst>
                    <a:ext uri="{FF2B5EF4-FFF2-40B4-BE49-F238E27FC236}">
                      <a16:creationId xmlns:a16="http://schemas.microsoft.com/office/drawing/2014/main" id="{BF86F11D-FABB-9D40-B265-1177D7DBB7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8616" y="4722494"/>
                  <a:ext cx="1045433" cy="1271290"/>
                </a:xfrm>
                <a:prstGeom prst="rect">
                  <a:avLst/>
                </a:pr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1200" kern="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1" name="Rectangle 24">
                  <a:extLst>
                    <a:ext uri="{FF2B5EF4-FFF2-40B4-BE49-F238E27FC236}">
                      <a16:creationId xmlns:a16="http://schemas.microsoft.com/office/drawing/2014/main" id="{2212FAEC-F044-1C4B-8B14-241E43D2CF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1249" y="4752754"/>
                  <a:ext cx="1067215" cy="1231976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1200" kern="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2" name="Line 25">
                  <a:extLst>
                    <a:ext uri="{FF2B5EF4-FFF2-40B4-BE49-F238E27FC236}">
                      <a16:creationId xmlns:a16="http://schemas.microsoft.com/office/drawing/2014/main" id="{DC3501DC-43AA-8B44-B7F6-96A070284A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41249" y="5031313"/>
                  <a:ext cx="1059231" cy="288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273" name="Text Box 26">
                  <a:extLst>
                    <a:ext uri="{FF2B5EF4-FFF2-40B4-BE49-F238E27FC236}">
                      <a16:creationId xmlns:a16="http://schemas.microsoft.com/office/drawing/2014/main" id="{69C842DB-6938-8446-A480-C9D5EA9045C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05623" y="4747333"/>
                  <a:ext cx="1104328" cy="12890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050" kern="0" dirty="0">
                      <a:solidFill>
                        <a:srgbClr val="FFFFFF">
                          <a:lumMod val="75000"/>
                        </a:srgbClr>
                      </a:solidFill>
                    </a:rPr>
                    <a:t>application</a:t>
                  </a:r>
                </a:p>
                <a:p>
                  <a:pPr algn="ctr" defTabSz="685800" eaLnBrk="0" fontAlgn="base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050" b="1" kern="0" dirty="0">
                      <a:solidFill>
                        <a:srgbClr val="0000A3"/>
                      </a:solidFill>
                    </a:rPr>
                    <a:t>TCP</a:t>
                  </a:r>
                </a:p>
                <a:p>
                  <a:pPr algn="ctr" defTabSz="685800" eaLnBrk="0" fontAlgn="base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050" kern="0" dirty="0">
                      <a:solidFill>
                        <a:srgbClr val="FFFFFF">
                          <a:lumMod val="75000"/>
                        </a:srgbClr>
                      </a:solidFill>
                    </a:rPr>
                    <a:t>network</a:t>
                  </a:r>
                </a:p>
                <a:p>
                  <a:pPr algn="ctr" defTabSz="685800" eaLnBrk="0" fontAlgn="base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050" kern="0" dirty="0">
                      <a:solidFill>
                        <a:srgbClr val="FFFFFF">
                          <a:lumMod val="75000"/>
                        </a:srgbClr>
                      </a:solidFill>
                    </a:rPr>
                    <a:t>link</a:t>
                  </a:r>
                </a:p>
                <a:p>
                  <a:pPr algn="ctr" defTabSz="685800" eaLnBrk="0" fontAlgn="base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050" kern="0" dirty="0">
                      <a:solidFill>
                        <a:srgbClr val="FFFFFF">
                          <a:lumMod val="75000"/>
                        </a:srgbClr>
                      </a:solidFill>
                    </a:rPr>
                    <a:t>physical</a:t>
                  </a:r>
                </a:p>
              </p:txBody>
            </p:sp>
            <p:grpSp>
              <p:nvGrpSpPr>
                <p:cNvPr id="274" name="Group 190">
                  <a:extLst>
                    <a:ext uri="{FF2B5EF4-FFF2-40B4-BE49-F238E27FC236}">
                      <a16:creationId xmlns:a16="http://schemas.microsoft.com/office/drawing/2014/main" id="{C39AA8F4-A384-D14F-835C-118627DBC0E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2634682" y="5076164"/>
                  <a:ext cx="673330" cy="701684"/>
                  <a:chOff x="-44" y="1473"/>
                  <a:chExt cx="981" cy="1105"/>
                </a:xfrm>
              </p:grpSpPr>
              <p:pic>
                <p:nvPicPr>
                  <p:cNvPr id="365" name="Picture 191" descr="desktop_computer_stylized_medium">
                    <a:extLst>
                      <a:ext uri="{FF2B5EF4-FFF2-40B4-BE49-F238E27FC236}">
                        <a16:creationId xmlns:a16="http://schemas.microsoft.com/office/drawing/2014/main" id="{75D69348-5F97-F745-AD7B-8737FF9EC2A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66" name="Freeform 192">
                    <a:extLst>
                      <a:ext uri="{FF2B5EF4-FFF2-40B4-BE49-F238E27FC236}">
                        <a16:creationId xmlns:a16="http://schemas.microsoft.com/office/drawing/2014/main" id="{DE7B5F06-F0E7-0B4D-B440-DE1381D866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43382 w 356"/>
                      <a:gd name="T3" fmla="*/ 3172 h 368"/>
                      <a:gd name="T4" fmla="*/ 51464 w 356"/>
                      <a:gd name="T5" fmla="*/ 66095 h 368"/>
                      <a:gd name="T6" fmla="*/ 11342 w 356"/>
                      <a:gd name="T7" fmla="*/ 82660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pPr algn="ctr"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endParaRPr>
                  </a:p>
                </p:txBody>
              </p:sp>
            </p:grpSp>
            <p:sp>
              <p:nvSpPr>
                <p:cNvPr id="331" name="Line 25">
                  <a:extLst>
                    <a:ext uri="{FF2B5EF4-FFF2-40B4-BE49-F238E27FC236}">
                      <a16:creationId xmlns:a16="http://schemas.microsoft.com/office/drawing/2014/main" id="{B63E05C1-D79C-3140-8770-0DC5B61A7B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45720" y="5260213"/>
                  <a:ext cx="1059231" cy="288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56" name="Line 25">
                  <a:extLst>
                    <a:ext uri="{FF2B5EF4-FFF2-40B4-BE49-F238E27FC236}">
                      <a16:creationId xmlns:a16="http://schemas.microsoft.com/office/drawing/2014/main" id="{0DB8D764-C7DD-D749-8DAA-C861760CFB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50191" y="5489113"/>
                  <a:ext cx="1059231" cy="288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64" name="Line 25">
                  <a:extLst>
                    <a:ext uri="{FF2B5EF4-FFF2-40B4-BE49-F238E27FC236}">
                      <a16:creationId xmlns:a16="http://schemas.microsoft.com/office/drawing/2014/main" id="{89F6EF96-2E93-7247-8F32-49111F2DD2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54662" y="5728213"/>
                  <a:ext cx="1059231" cy="288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endParaRPr>
                </a:p>
              </p:txBody>
            </p:sp>
          </p:grpSp>
        </p:grpSp>
        <p:sp>
          <p:nvSpPr>
            <p:cNvPr id="251" name="Freeform 6">
              <a:extLst>
                <a:ext uri="{FF2B5EF4-FFF2-40B4-BE49-F238E27FC236}">
                  <a16:creationId xmlns:a16="http://schemas.microsoft.com/office/drawing/2014/main" id="{166198F4-4235-5446-BB65-8864D4EEC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1324" y="4994579"/>
              <a:ext cx="542925" cy="295275"/>
            </a:xfrm>
            <a:custGeom>
              <a:avLst/>
              <a:gdLst>
                <a:gd name="T0" fmla="*/ 0 w 342"/>
                <a:gd name="T1" fmla="*/ 2147483647 h 186"/>
                <a:gd name="T2" fmla="*/ 214748364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52" name="Freeform 91">
              <a:extLst>
                <a:ext uri="{FF2B5EF4-FFF2-40B4-BE49-F238E27FC236}">
                  <a16:creationId xmlns:a16="http://schemas.microsoft.com/office/drawing/2014/main" id="{53DCE39E-C8A8-5641-9833-00C813F7C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2724" y="4988229"/>
              <a:ext cx="506413" cy="307975"/>
            </a:xfrm>
            <a:custGeom>
              <a:avLst/>
              <a:gdLst>
                <a:gd name="T0" fmla="*/ 0 w 318"/>
                <a:gd name="T1" fmla="*/ 0 h 194"/>
                <a:gd name="T2" fmla="*/ 2147483647 w 318"/>
                <a:gd name="T3" fmla="*/ 2147483647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53" name="Freeform 92">
              <a:extLst>
                <a:ext uri="{FF2B5EF4-FFF2-40B4-BE49-F238E27FC236}">
                  <a16:creationId xmlns:a16="http://schemas.microsoft.com/office/drawing/2014/main" id="{9E088270-3C1F-CF47-B4CB-AED303A1A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512" y="5380342"/>
              <a:ext cx="481012" cy="238125"/>
            </a:xfrm>
            <a:custGeom>
              <a:avLst/>
              <a:gdLst>
                <a:gd name="T0" fmla="*/ 0 w 294"/>
                <a:gd name="T1" fmla="*/ 0 h 174"/>
                <a:gd name="T2" fmla="*/ 2147483647 w 294"/>
                <a:gd name="T3" fmla="*/ 2147483647 h 174"/>
                <a:gd name="T4" fmla="*/ 0 60000 65536"/>
                <a:gd name="T5" fmla="*/ 0 60000 65536"/>
                <a:gd name="T6" fmla="*/ 0 w 294"/>
                <a:gd name="T7" fmla="*/ 0 h 174"/>
                <a:gd name="T8" fmla="*/ 294 w 294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4" h="17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54" name="Freeform 93">
              <a:extLst>
                <a:ext uri="{FF2B5EF4-FFF2-40B4-BE49-F238E27FC236}">
                  <a16:creationId xmlns:a16="http://schemas.microsoft.com/office/drawing/2014/main" id="{D4F6429E-0B93-254B-B841-2127CDD890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5249" y="5356529"/>
              <a:ext cx="630238" cy="247650"/>
            </a:xfrm>
            <a:custGeom>
              <a:avLst/>
              <a:gdLst>
                <a:gd name="T0" fmla="*/ 0 w 378"/>
                <a:gd name="T1" fmla="*/ 2147483647 h 174"/>
                <a:gd name="T2" fmla="*/ 2147483647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55" name="Freeform 94">
              <a:extLst>
                <a:ext uri="{FF2B5EF4-FFF2-40B4-BE49-F238E27FC236}">
                  <a16:creationId xmlns:a16="http://schemas.microsoft.com/office/drawing/2014/main" id="{2BEA6A4B-6ACC-E548-AF57-1F438259A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3587" y="5410504"/>
              <a:ext cx="206375" cy="508000"/>
            </a:xfrm>
            <a:custGeom>
              <a:avLst/>
              <a:gdLst>
                <a:gd name="T0" fmla="*/ 0 w 118"/>
                <a:gd name="T1" fmla="*/ 2147483647 h 500"/>
                <a:gd name="T2" fmla="*/ 2147483647 w 118"/>
                <a:gd name="T3" fmla="*/ 0 h 500"/>
                <a:gd name="T4" fmla="*/ 0 60000 65536"/>
                <a:gd name="T5" fmla="*/ 0 60000 65536"/>
                <a:gd name="T6" fmla="*/ 0 w 118"/>
                <a:gd name="T7" fmla="*/ 0 h 500"/>
                <a:gd name="T8" fmla="*/ 118 w 118"/>
                <a:gd name="T9" fmla="*/ 500 h 5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500">
                  <a:moveTo>
                    <a:pt x="0" y="500"/>
                  </a:moveTo>
                  <a:lnTo>
                    <a:pt x="11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56" name="Freeform 95">
              <a:extLst>
                <a:ext uri="{FF2B5EF4-FFF2-40B4-BE49-F238E27FC236}">
                  <a16:creationId xmlns:a16="http://schemas.microsoft.com/office/drawing/2014/main" id="{E3BE3C0E-7D89-C047-99C2-2E6475D4F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6923" y="5943904"/>
              <a:ext cx="970395" cy="81756"/>
            </a:xfrm>
            <a:custGeom>
              <a:avLst/>
              <a:gdLst>
                <a:gd name="T0" fmla="*/ 2147483647 w 370"/>
                <a:gd name="T1" fmla="*/ 2147483647 h 32"/>
                <a:gd name="T2" fmla="*/ 0 w 370"/>
                <a:gd name="T3" fmla="*/ 0 h 32"/>
                <a:gd name="T4" fmla="*/ 0 60000 65536"/>
                <a:gd name="T5" fmla="*/ 0 60000 65536"/>
                <a:gd name="T6" fmla="*/ 0 w 370"/>
                <a:gd name="T7" fmla="*/ 0 h 32"/>
                <a:gd name="T8" fmla="*/ 370 w 370"/>
                <a:gd name="T9" fmla="*/ 32 h 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0" h="32">
                  <a:moveTo>
                    <a:pt x="370" y="3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57" name="Freeform 96">
              <a:extLst>
                <a:ext uri="{FF2B5EF4-FFF2-40B4-BE49-F238E27FC236}">
                  <a16:creationId xmlns:a16="http://schemas.microsoft.com/office/drawing/2014/main" id="{4762AE60-0604-904D-A97A-70A37FFB5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349" y="5424888"/>
              <a:ext cx="193675" cy="404716"/>
            </a:xfrm>
            <a:custGeom>
              <a:avLst/>
              <a:gdLst>
                <a:gd name="T0" fmla="*/ 2147483647 w 176"/>
                <a:gd name="T1" fmla="*/ 2147483647 h 412"/>
                <a:gd name="T2" fmla="*/ 2147483647 w 176"/>
                <a:gd name="T3" fmla="*/ 2147483647 h 412"/>
                <a:gd name="T4" fmla="*/ 0 w 176"/>
                <a:gd name="T5" fmla="*/ 0 h 412"/>
                <a:gd name="T6" fmla="*/ 0 60000 65536"/>
                <a:gd name="T7" fmla="*/ 0 60000 65536"/>
                <a:gd name="T8" fmla="*/ 0 60000 65536"/>
                <a:gd name="T9" fmla="*/ 0 w 176"/>
                <a:gd name="T10" fmla="*/ 0 h 412"/>
                <a:gd name="T11" fmla="*/ 176 w 176"/>
                <a:gd name="T12" fmla="*/ 412 h 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" h="412">
                  <a:moveTo>
                    <a:pt x="162" y="408"/>
                  </a:moveTo>
                  <a:lnTo>
                    <a:pt x="176" y="41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58" name="Freeform 7">
              <a:extLst>
                <a:ext uri="{FF2B5EF4-FFF2-40B4-BE49-F238E27FC236}">
                  <a16:creationId xmlns:a16="http://schemas.microsoft.com/office/drawing/2014/main" id="{65218BE6-60A3-C64E-AE98-FE5F4FDCBA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9610" y="4423977"/>
              <a:ext cx="5073926" cy="1298611"/>
            </a:xfrm>
            <a:custGeom>
              <a:avLst/>
              <a:gdLst>
                <a:gd name="T0" fmla="*/ 0 w 5156094"/>
                <a:gd name="T1" fmla="*/ 0 h 1509215"/>
                <a:gd name="T2" fmla="*/ 6961 w 5156094"/>
                <a:gd name="T3" fmla="*/ 1168047 h 1509215"/>
                <a:gd name="T4" fmla="*/ 1131015 w 5156094"/>
                <a:gd name="T5" fmla="*/ 1170389 h 1509215"/>
                <a:gd name="T6" fmla="*/ 1755021 w 5156094"/>
                <a:gd name="T7" fmla="*/ 1490285 h 1509215"/>
                <a:gd name="T8" fmla="*/ 2207298 w 5156094"/>
                <a:gd name="T9" fmla="*/ 1510706 h 1509215"/>
                <a:gd name="T10" fmla="*/ 2988945 w 5156094"/>
                <a:gd name="T11" fmla="*/ 1198737 h 1509215"/>
                <a:gd name="T12" fmla="*/ 3391674 w 5156094"/>
                <a:gd name="T13" fmla="*/ 1210330 h 1509215"/>
                <a:gd name="T14" fmla="*/ 5156412 w 5156094"/>
                <a:gd name="T15" fmla="*/ 1199641 h 1509215"/>
                <a:gd name="T16" fmla="*/ 5126696 w 5156094"/>
                <a:gd name="T17" fmla="*/ 64147 h 15092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connsiteX0" fmla="*/ 0 w 5156094"/>
                <a:gd name="connsiteY0" fmla="*/ 0 h 1559667"/>
                <a:gd name="connsiteX1" fmla="*/ 6961 w 5156094"/>
                <a:gd name="connsiteY1" fmla="*/ 1166894 h 1559667"/>
                <a:gd name="connsiteX2" fmla="*/ 1130946 w 5156094"/>
                <a:gd name="connsiteY2" fmla="*/ 1169234 h 1559667"/>
                <a:gd name="connsiteX3" fmla="*/ 1824854 w 5156094"/>
                <a:gd name="connsiteY3" fmla="*/ 1559667 h 1559667"/>
                <a:gd name="connsiteX4" fmla="*/ 2207163 w 5156094"/>
                <a:gd name="connsiteY4" fmla="*/ 1509215 h 1559667"/>
                <a:gd name="connsiteX5" fmla="*/ 2988762 w 5156094"/>
                <a:gd name="connsiteY5" fmla="*/ 1197554 h 1559667"/>
                <a:gd name="connsiteX6" fmla="*/ 3391464 w 5156094"/>
                <a:gd name="connsiteY6" fmla="*/ 1209136 h 1559667"/>
                <a:gd name="connsiteX7" fmla="*/ 5156094 w 5156094"/>
                <a:gd name="connsiteY7" fmla="*/ 1198456 h 1559667"/>
                <a:gd name="connsiteX8" fmla="*/ 5126381 w 5156094"/>
                <a:gd name="connsiteY8" fmla="*/ 64084 h 1559667"/>
                <a:gd name="connsiteX0" fmla="*/ 0 w 5156094"/>
                <a:gd name="connsiteY0" fmla="*/ 0 h 1559667"/>
                <a:gd name="connsiteX1" fmla="*/ 6961 w 5156094"/>
                <a:gd name="connsiteY1" fmla="*/ 1166894 h 1559667"/>
                <a:gd name="connsiteX2" fmla="*/ 1130946 w 5156094"/>
                <a:gd name="connsiteY2" fmla="*/ 1169234 h 1559667"/>
                <a:gd name="connsiteX3" fmla="*/ 1824854 w 5156094"/>
                <a:gd name="connsiteY3" fmla="*/ 1559667 h 1559667"/>
                <a:gd name="connsiteX4" fmla="*/ 2145216 w 5156094"/>
                <a:gd name="connsiteY4" fmla="*/ 1553959 h 1559667"/>
                <a:gd name="connsiteX5" fmla="*/ 2988762 w 5156094"/>
                <a:gd name="connsiteY5" fmla="*/ 1197554 h 1559667"/>
                <a:gd name="connsiteX6" fmla="*/ 3391464 w 5156094"/>
                <a:gd name="connsiteY6" fmla="*/ 1209136 h 1559667"/>
                <a:gd name="connsiteX7" fmla="*/ 5156094 w 5156094"/>
                <a:gd name="connsiteY7" fmla="*/ 1198456 h 1559667"/>
                <a:gd name="connsiteX8" fmla="*/ 5126381 w 5156094"/>
                <a:gd name="connsiteY8" fmla="*/ 64084 h 1559667"/>
                <a:gd name="connsiteX0" fmla="*/ 0 w 5156094"/>
                <a:gd name="connsiteY0" fmla="*/ 0 h 1559667"/>
                <a:gd name="connsiteX1" fmla="*/ 6961 w 5156094"/>
                <a:gd name="connsiteY1" fmla="*/ 1166894 h 1559667"/>
                <a:gd name="connsiteX2" fmla="*/ 1130946 w 5156094"/>
                <a:gd name="connsiteY2" fmla="*/ 1169234 h 1559667"/>
                <a:gd name="connsiteX3" fmla="*/ 1824854 w 5156094"/>
                <a:gd name="connsiteY3" fmla="*/ 1559667 h 1559667"/>
                <a:gd name="connsiteX4" fmla="*/ 2145216 w 5156094"/>
                <a:gd name="connsiteY4" fmla="*/ 1553959 h 1559667"/>
                <a:gd name="connsiteX5" fmla="*/ 2930257 w 5156094"/>
                <a:gd name="connsiteY5" fmla="*/ 1152811 h 1559667"/>
                <a:gd name="connsiteX6" fmla="*/ 3391464 w 5156094"/>
                <a:gd name="connsiteY6" fmla="*/ 1209136 h 1559667"/>
                <a:gd name="connsiteX7" fmla="*/ 5156094 w 5156094"/>
                <a:gd name="connsiteY7" fmla="*/ 1198456 h 1559667"/>
                <a:gd name="connsiteX8" fmla="*/ 5126381 w 5156094"/>
                <a:gd name="connsiteY8" fmla="*/ 64084 h 1559667"/>
                <a:gd name="connsiteX0" fmla="*/ 0 w 5156094"/>
                <a:gd name="connsiteY0" fmla="*/ 0 h 1559667"/>
                <a:gd name="connsiteX1" fmla="*/ 6961 w 5156094"/>
                <a:gd name="connsiteY1" fmla="*/ 1166894 h 1559667"/>
                <a:gd name="connsiteX2" fmla="*/ 1130946 w 5156094"/>
                <a:gd name="connsiteY2" fmla="*/ 1169234 h 1559667"/>
                <a:gd name="connsiteX3" fmla="*/ 1824854 w 5156094"/>
                <a:gd name="connsiteY3" fmla="*/ 1559667 h 1559667"/>
                <a:gd name="connsiteX4" fmla="*/ 2145216 w 5156094"/>
                <a:gd name="connsiteY4" fmla="*/ 1553959 h 1559667"/>
                <a:gd name="connsiteX5" fmla="*/ 2930257 w 5156094"/>
                <a:gd name="connsiteY5" fmla="*/ 1152811 h 1559667"/>
                <a:gd name="connsiteX6" fmla="*/ 5156094 w 5156094"/>
                <a:gd name="connsiteY6" fmla="*/ 1198456 h 1559667"/>
                <a:gd name="connsiteX7" fmla="*/ 5126381 w 5156094"/>
                <a:gd name="connsiteY7" fmla="*/ 64084 h 155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56094" h="1559667">
                  <a:moveTo>
                    <a:pt x="0" y="0"/>
                  </a:moveTo>
                  <a:cubicBezTo>
                    <a:pt x="2320" y="388965"/>
                    <a:pt x="4641" y="777929"/>
                    <a:pt x="6961" y="1166894"/>
                  </a:cubicBezTo>
                  <a:lnTo>
                    <a:pt x="1130946" y="1169234"/>
                  </a:lnTo>
                  <a:lnTo>
                    <a:pt x="1824854" y="1559667"/>
                  </a:lnTo>
                  <a:lnTo>
                    <a:pt x="2145216" y="1553959"/>
                  </a:lnTo>
                  <a:lnTo>
                    <a:pt x="2930257" y="1152811"/>
                  </a:lnTo>
                  <a:lnTo>
                    <a:pt x="5156094" y="1198456"/>
                  </a:lnTo>
                  <a:lnTo>
                    <a:pt x="5126381" y="64084"/>
                  </a:lnTo>
                </a:path>
              </a:pathLst>
            </a:custGeom>
            <a:noFill/>
            <a:ln w="2222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BA9F4108-2318-8145-849E-8BAD67BD3C2B}"/>
                </a:ext>
              </a:extLst>
            </p:cNvPr>
            <p:cNvGrpSpPr/>
            <p:nvPr/>
          </p:nvGrpSpPr>
          <p:grpSpPr>
            <a:xfrm>
              <a:off x="5868328" y="5862061"/>
              <a:ext cx="496248" cy="260542"/>
              <a:chOff x="7493876" y="2774731"/>
              <a:chExt cx="1481958" cy="894622"/>
            </a:xfrm>
          </p:grpSpPr>
          <p:sp>
            <p:nvSpPr>
              <p:cNvPr id="260" name="Freeform 259">
                <a:extLst>
                  <a:ext uri="{FF2B5EF4-FFF2-40B4-BE49-F238E27FC236}">
                    <a16:creationId xmlns:a16="http://schemas.microsoft.com/office/drawing/2014/main" id="{A9497A97-449F-CB45-B630-229DEE85F9A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     </a:t>
                </a:r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BCDE6187-B288-FC4A-9C8F-942276637727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</a:t>
                </a:r>
              </a:p>
            </p:txBody>
          </p:sp>
          <p:grpSp>
            <p:nvGrpSpPr>
              <p:cNvPr id="262" name="Group 261">
                <a:extLst>
                  <a:ext uri="{FF2B5EF4-FFF2-40B4-BE49-F238E27FC236}">
                    <a16:creationId xmlns:a16="http://schemas.microsoft.com/office/drawing/2014/main" id="{C73034EC-E40A-6648-92A0-7262DE08A4C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63" name="Freeform 262">
                  <a:extLst>
                    <a:ext uri="{FF2B5EF4-FFF2-40B4-BE49-F238E27FC236}">
                      <a16:creationId xmlns:a16="http://schemas.microsoft.com/office/drawing/2014/main" id="{182D8880-3D63-F346-B7BB-1267F093CAA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64" name="Freeform 263">
                  <a:extLst>
                    <a:ext uri="{FF2B5EF4-FFF2-40B4-BE49-F238E27FC236}">
                      <a16:creationId xmlns:a16="http://schemas.microsoft.com/office/drawing/2014/main" id="{E38BC1DC-FFC3-CA42-98B9-07E8C5E84B2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65" name="Freeform 264">
                  <a:extLst>
                    <a:ext uri="{FF2B5EF4-FFF2-40B4-BE49-F238E27FC236}">
                      <a16:creationId xmlns:a16="http://schemas.microsoft.com/office/drawing/2014/main" id="{30D56D8E-C34F-4F47-9E6C-D516E06290C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66" name="Freeform 265">
                  <a:extLst>
                    <a:ext uri="{FF2B5EF4-FFF2-40B4-BE49-F238E27FC236}">
                      <a16:creationId xmlns:a16="http://schemas.microsoft.com/office/drawing/2014/main" id="{C2B06637-7BFA-2849-A10B-4A03CB76E581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Explicit congestion notification </a:t>
            </a:r>
            <a:r>
              <a:rPr lang="en-US" sz="2700" dirty="0"/>
              <a:t>(ECN)</a:t>
            </a:r>
            <a:endParaRPr lang="en-US" b="0" dirty="0"/>
          </a:p>
        </p:txBody>
      </p:sp>
      <p:sp>
        <p:nvSpPr>
          <p:cNvPr id="121" name="Slide Number Placeholder 2">
            <a:extLst>
              <a:ext uri="{FF2B5EF4-FFF2-40B4-BE49-F238E27FC236}">
                <a16:creationId xmlns:a16="http://schemas.microsoft.com/office/drawing/2014/main" id="{4FCB648B-CD96-D64D-8CCB-A39CAC1D9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Transport Layer: 3-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23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22F5639-C13F-8347-B6CF-B5A700C7EA84}"/>
              </a:ext>
            </a:extLst>
          </p:cNvPr>
          <p:cNvSpPr txBox="1">
            <a:spLocks noChangeArrowheads="1"/>
          </p:cNvSpPr>
          <p:nvPr/>
        </p:nvSpPr>
        <p:spPr>
          <a:xfrm>
            <a:off x="539729" y="1813099"/>
            <a:ext cx="8383190" cy="196516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 indent="0" defTabSz="685800">
              <a:spcBef>
                <a:spcPts val="750"/>
              </a:spcBef>
              <a:buNone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TCP deployments often implement </a:t>
            </a:r>
            <a:r>
              <a:rPr lang="en-US" sz="2100" i="1" dirty="0">
                <a:solidFill>
                  <a:srgbClr val="C00000"/>
                </a:solidFill>
                <a:latin typeface="Calibri" panose="020F0502020204030204"/>
              </a:rPr>
              <a:t>network-assisted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congestion control:</a:t>
            </a:r>
          </a:p>
          <a:p>
            <a:pPr marL="342900" indent="-161925" defTabSz="685800">
              <a:spcBef>
                <a:spcPts val="300"/>
              </a:spcBef>
              <a:buFont typeface="Wingdings" charset="2"/>
              <a:buChar char="§"/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two bits in IP header (ToS field) marked </a:t>
            </a:r>
            <a:r>
              <a:rPr lang="en-US" sz="1800" i="1" dirty="0">
                <a:solidFill>
                  <a:srgbClr val="C00000"/>
                </a:solidFill>
                <a:latin typeface="Calibri" panose="020F0502020204030204"/>
              </a:rPr>
              <a:t>by network router</a:t>
            </a:r>
            <a:r>
              <a:rPr lang="en-US" sz="1800" dirty="0">
                <a:solidFill>
                  <a:srgbClr val="C00000"/>
                </a:solidFill>
                <a:latin typeface="Calibri" panose="020F0502020204030204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to indicate congestion</a:t>
            </a:r>
          </a:p>
          <a:p>
            <a:pPr marL="600075" lvl="1" indent="-161925" defTabSz="685800">
              <a:spcBef>
                <a:spcPts val="300"/>
              </a:spcBef>
              <a:buClr>
                <a:srgbClr val="0000A3"/>
              </a:buClr>
              <a:defRPr/>
            </a:pP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policy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to determine marking chosen by network operator</a:t>
            </a:r>
          </a:p>
          <a:p>
            <a:pPr marL="342900" indent="-161925" defTabSz="685800">
              <a:spcBef>
                <a:spcPts val="300"/>
              </a:spcBef>
              <a:buFont typeface="Wingdings" charset="2"/>
              <a:buChar char="§"/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congestion indication carried to destination</a:t>
            </a:r>
          </a:p>
          <a:p>
            <a:pPr marL="342900" indent="-161925" defTabSz="685800">
              <a:spcBef>
                <a:spcPts val="300"/>
              </a:spcBef>
              <a:buFont typeface="Wingdings" charset="2"/>
              <a:buChar char="§"/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destination sets ECE bit on ACK segment to notify sender of congestion</a:t>
            </a:r>
          </a:p>
          <a:p>
            <a:pPr marL="342900" indent="-161925" defTabSz="685800">
              <a:spcBef>
                <a:spcPts val="300"/>
              </a:spcBef>
              <a:buFont typeface="Wingdings" charset="2"/>
              <a:buChar char="§"/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involves both IP 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(IP header ECN bit marking)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and TCP 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(TCP header C,E bit marking)</a:t>
            </a: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C8849046-14FD-4644-B620-44B96406B954}"/>
              </a:ext>
            </a:extLst>
          </p:cNvPr>
          <p:cNvGrpSpPr>
            <a:grpSpLocks/>
          </p:cNvGrpSpPr>
          <p:nvPr/>
        </p:nvGrpSpPr>
        <p:grpSpPr bwMode="auto">
          <a:xfrm>
            <a:off x="2419945" y="5121801"/>
            <a:ext cx="1120379" cy="253917"/>
            <a:chOff x="1502428" y="5844331"/>
            <a:chExt cx="1493249" cy="338338"/>
          </a:xfrm>
        </p:grpSpPr>
        <p:grpSp>
          <p:nvGrpSpPr>
            <p:cNvPr id="283" name="Group 274">
              <a:extLst>
                <a:ext uri="{FF2B5EF4-FFF2-40B4-BE49-F238E27FC236}">
                  <a16:creationId xmlns:a16="http://schemas.microsoft.com/office/drawing/2014/main" id="{D4A58484-7F9A-8E42-8B98-2EEE2F1F31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2428" y="5844331"/>
              <a:ext cx="1493249" cy="338338"/>
              <a:chOff x="3621632" y="5775938"/>
              <a:chExt cx="1493249" cy="338338"/>
            </a:xfrm>
          </p:grpSpPr>
          <p:grpSp>
            <p:nvGrpSpPr>
              <p:cNvPr id="285" name="Group 275">
                <a:extLst>
                  <a:ext uri="{FF2B5EF4-FFF2-40B4-BE49-F238E27FC236}">
                    <a16:creationId xmlns:a16="http://schemas.microsoft.com/office/drawing/2014/main" id="{B7F414D2-F213-4442-B30E-7406937FD2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99159" y="5783287"/>
                <a:ext cx="806697" cy="257416"/>
                <a:chOff x="-2975754" y="4128742"/>
                <a:chExt cx="1258600" cy="450696"/>
              </a:xfrm>
            </p:grpSpPr>
            <p:sp>
              <p:nvSpPr>
                <p:cNvPr id="287" name="Rectangle 286">
                  <a:extLst>
                    <a:ext uri="{FF2B5EF4-FFF2-40B4-BE49-F238E27FC236}">
                      <a16:creationId xmlns:a16="http://schemas.microsoft.com/office/drawing/2014/main" id="{C5C66AE2-F8B6-3C47-B4BE-66EE478EB9B7}"/>
                    </a:ext>
                  </a:extLst>
                </p:cNvPr>
                <p:cNvSpPr/>
                <p:nvPr/>
              </p:nvSpPr>
              <p:spPr>
                <a:xfrm>
                  <a:off x="-2903722" y="4135317"/>
                  <a:ext cx="1151258" cy="341655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rgbClr val="00CC99">
                      <a:lumMod val="50000"/>
                    </a:srgbClr>
                  </a:solidFill>
                </a:ln>
              </p:spPr>
              <p:txBody>
                <a:bodyPr wrap="none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88" name="Rectangle 287">
                  <a:extLst>
                    <a:ext uri="{FF2B5EF4-FFF2-40B4-BE49-F238E27FC236}">
                      <a16:creationId xmlns:a16="http://schemas.microsoft.com/office/drawing/2014/main" id="{2052E598-5C0D-CA41-8C58-28B633036FB2}"/>
                    </a:ext>
                  </a:extLst>
                </p:cNvPr>
                <p:cNvSpPr/>
                <p:nvPr/>
              </p:nvSpPr>
              <p:spPr>
                <a:xfrm>
                  <a:off x="-2968093" y="4221426"/>
                  <a:ext cx="1148783" cy="344432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rgbClr val="00CC99">
                      <a:lumMod val="50000"/>
                    </a:srgbClr>
                  </a:solidFill>
                </a:ln>
              </p:spPr>
              <p:txBody>
                <a:bodyPr wrap="none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89" name="Freeform 288">
                  <a:extLst>
                    <a:ext uri="{FF2B5EF4-FFF2-40B4-BE49-F238E27FC236}">
                      <a16:creationId xmlns:a16="http://schemas.microsoft.com/office/drawing/2014/main" id="{113FD0E1-39AF-5E4A-80DC-7B59A17D468C}"/>
                    </a:ext>
                  </a:extLst>
                </p:cNvPr>
                <p:cNvSpPr/>
                <p:nvPr/>
              </p:nvSpPr>
              <p:spPr>
                <a:xfrm>
                  <a:off x="-2975522" y="4129762"/>
                  <a:ext cx="1223057" cy="94441"/>
                </a:xfrm>
                <a:custGeom>
                  <a:avLst/>
                  <a:gdLst>
                    <a:gd name="connsiteX0" fmla="*/ 0 w 1223105"/>
                    <a:gd name="connsiteY0" fmla="*/ 89042 h 89042"/>
                    <a:gd name="connsiteX1" fmla="*/ 70293 w 1223105"/>
                    <a:gd name="connsiteY1" fmla="*/ 0 h 89042"/>
                    <a:gd name="connsiteX2" fmla="*/ 1223105 w 1223105"/>
                    <a:gd name="connsiteY2" fmla="*/ 4687 h 89042"/>
                    <a:gd name="connsiteX3" fmla="*/ 1148126 w 1223105"/>
                    <a:gd name="connsiteY3" fmla="*/ 84356 h 89042"/>
                    <a:gd name="connsiteX4" fmla="*/ 0 w 1223105"/>
                    <a:gd name="connsiteY4" fmla="*/ 89042 h 89042"/>
                    <a:gd name="connsiteX0" fmla="*/ 0 w 1223105"/>
                    <a:gd name="connsiteY0" fmla="*/ 89042 h 103102"/>
                    <a:gd name="connsiteX1" fmla="*/ 70293 w 1223105"/>
                    <a:gd name="connsiteY1" fmla="*/ 0 h 103102"/>
                    <a:gd name="connsiteX2" fmla="*/ 1223105 w 1223105"/>
                    <a:gd name="connsiteY2" fmla="*/ 4687 h 103102"/>
                    <a:gd name="connsiteX3" fmla="*/ 1148126 w 1223105"/>
                    <a:gd name="connsiteY3" fmla="*/ 103102 h 103102"/>
                    <a:gd name="connsiteX4" fmla="*/ 0 w 1223105"/>
                    <a:gd name="connsiteY4" fmla="*/ 89042 h 103102"/>
                    <a:gd name="connsiteX0" fmla="*/ 0 w 1223105"/>
                    <a:gd name="connsiteY0" fmla="*/ 89042 h 93730"/>
                    <a:gd name="connsiteX1" fmla="*/ 70293 w 1223105"/>
                    <a:gd name="connsiteY1" fmla="*/ 0 h 93730"/>
                    <a:gd name="connsiteX2" fmla="*/ 1223105 w 1223105"/>
                    <a:gd name="connsiteY2" fmla="*/ 4687 h 93730"/>
                    <a:gd name="connsiteX3" fmla="*/ 1143439 w 1223105"/>
                    <a:gd name="connsiteY3" fmla="*/ 93730 h 93730"/>
                    <a:gd name="connsiteX4" fmla="*/ 0 w 1223105"/>
                    <a:gd name="connsiteY4" fmla="*/ 89042 h 93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105" h="93730">
                      <a:moveTo>
                        <a:pt x="0" y="89042"/>
                      </a:moveTo>
                      <a:lnTo>
                        <a:pt x="70293" y="0"/>
                      </a:lnTo>
                      <a:lnTo>
                        <a:pt x="1223105" y="4687"/>
                      </a:lnTo>
                      <a:lnTo>
                        <a:pt x="1143439" y="93730"/>
                      </a:lnTo>
                      <a:lnTo>
                        <a:pt x="0" y="89042"/>
                      </a:lnTo>
                      <a:close/>
                    </a:path>
                  </a:pathLst>
                </a:custGeom>
                <a:solidFill>
                  <a:srgbClr val="AAE2CA">
                    <a:lumMod val="50000"/>
                  </a:srgbClr>
                </a:solidFill>
              </p:spPr>
              <p:txBody>
                <a:bodyPr wrap="none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90" name="Freeform 289">
                  <a:extLst>
                    <a:ext uri="{FF2B5EF4-FFF2-40B4-BE49-F238E27FC236}">
                      <a16:creationId xmlns:a16="http://schemas.microsoft.com/office/drawing/2014/main" id="{FE01C2D5-10A9-FE4C-858A-18EDBA471911}"/>
                    </a:ext>
                  </a:extLst>
                </p:cNvPr>
                <p:cNvSpPr/>
                <p:nvPr/>
              </p:nvSpPr>
              <p:spPr>
                <a:xfrm rot="21211447" flipV="1">
                  <a:off x="-1853972" y="4146428"/>
                  <a:ext cx="136170" cy="433318"/>
                </a:xfrm>
                <a:custGeom>
                  <a:avLst/>
                  <a:gdLst>
                    <a:gd name="connsiteX0" fmla="*/ 0 w 1223105"/>
                    <a:gd name="connsiteY0" fmla="*/ 89042 h 89042"/>
                    <a:gd name="connsiteX1" fmla="*/ 70293 w 1223105"/>
                    <a:gd name="connsiteY1" fmla="*/ 0 h 89042"/>
                    <a:gd name="connsiteX2" fmla="*/ 1223105 w 1223105"/>
                    <a:gd name="connsiteY2" fmla="*/ 4687 h 89042"/>
                    <a:gd name="connsiteX3" fmla="*/ 1148126 w 1223105"/>
                    <a:gd name="connsiteY3" fmla="*/ 84356 h 89042"/>
                    <a:gd name="connsiteX4" fmla="*/ 0 w 1223105"/>
                    <a:gd name="connsiteY4" fmla="*/ 89042 h 89042"/>
                    <a:gd name="connsiteX0" fmla="*/ 0 w 1223105"/>
                    <a:gd name="connsiteY0" fmla="*/ 89042 h 103102"/>
                    <a:gd name="connsiteX1" fmla="*/ 70293 w 1223105"/>
                    <a:gd name="connsiteY1" fmla="*/ 0 h 103102"/>
                    <a:gd name="connsiteX2" fmla="*/ 1223105 w 1223105"/>
                    <a:gd name="connsiteY2" fmla="*/ 4687 h 103102"/>
                    <a:gd name="connsiteX3" fmla="*/ 1148126 w 1223105"/>
                    <a:gd name="connsiteY3" fmla="*/ 103102 h 103102"/>
                    <a:gd name="connsiteX4" fmla="*/ 0 w 1223105"/>
                    <a:gd name="connsiteY4" fmla="*/ 89042 h 103102"/>
                    <a:gd name="connsiteX0" fmla="*/ 0 w 1223105"/>
                    <a:gd name="connsiteY0" fmla="*/ 89042 h 93730"/>
                    <a:gd name="connsiteX1" fmla="*/ 70293 w 1223105"/>
                    <a:gd name="connsiteY1" fmla="*/ 0 h 93730"/>
                    <a:gd name="connsiteX2" fmla="*/ 1223105 w 1223105"/>
                    <a:gd name="connsiteY2" fmla="*/ 4687 h 93730"/>
                    <a:gd name="connsiteX3" fmla="*/ 1143439 w 1223105"/>
                    <a:gd name="connsiteY3" fmla="*/ 93730 h 93730"/>
                    <a:gd name="connsiteX4" fmla="*/ 0 w 1223105"/>
                    <a:gd name="connsiteY4" fmla="*/ 89042 h 93730"/>
                    <a:gd name="connsiteX0" fmla="*/ 0 w 1143439"/>
                    <a:gd name="connsiteY0" fmla="*/ 604462 h 609150"/>
                    <a:gd name="connsiteX1" fmla="*/ 70293 w 1143439"/>
                    <a:gd name="connsiteY1" fmla="*/ 515420 h 609150"/>
                    <a:gd name="connsiteX2" fmla="*/ 1048102 w 1143439"/>
                    <a:gd name="connsiteY2" fmla="*/ 0 h 609150"/>
                    <a:gd name="connsiteX3" fmla="*/ 1143439 w 1143439"/>
                    <a:gd name="connsiteY3" fmla="*/ 609150 h 609150"/>
                    <a:gd name="connsiteX4" fmla="*/ 0 w 1143439"/>
                    <a:gd name="connsiteY4" fmla="*/ 604462 h 609150"/>
                    <a:gd name="connsiteX0" fmla="*/ 0 w 1143439"/>
                    <a:gd name="connsiteY0" fmla="*/ 750108 h 754796"/>
                    <a:gd name="connsiteX1" fmla="*/ 958091 w 1143439"/>
                    <a:gd name="connsiteY1" fmla="*/ 0 h 754796"/>
                    <a:gd name="connsiteX2" fmla="*/ 1048102 w 1143439"/>
                    <a:gd name="connsiteY2" fmla="*/ 145646 h 754796"/>
                    <a:gd name="connsiteX3" fmla="*/ 1143439 w 1143439"/>
                    <a:gd name="connsiteY3" fmla="*/ 754796 h 754796"/>
                    <a:gd name="connsiteX4" fmla="*/ 0 w 1143439"/>
                    <a:gd name="connsiteY4" fmla="*/ 750108 h 754796"/>
                    <a:gd name="connsiteX0" fmla="*/ 28193 w 185348"/>
                    <a:gd name="connsiteY0" fmla="*/ 675301 h 754796"/>
                    <a:gd name="connsiteX1" fmla="*/ 0 w 185348"/>
                    <a:gd name="connsiteY1" fmla="*/ 0 h 754796"/>
                    <a:gd name="connsiteX2" fmla="*/ 90011 w 185348"/>
                    <a:gd name="connsiteY2" fmla="*/ 145646 h 754796"/>
                    <a:gd name="connsiteX3" fmla="*/ 185348 w 185348"/>
                    <a:gd name="connsiteY3" fmla="*/ 754796 h 754796"/>
                    <a:gd name="connsiteX4" fmla="*/ 28193 w 185348"/>
                    <a:gd name="connsiteY4" fmla="*/ 675301 h 754796"/>
                    <a:gd name="connsiteX0" fmla="*/ 28193 w 133700"/>
                    <a:gd name="connsiteY0" fmla="*/ 675301 h 844174"/>
                    <a:gd name="connsiteX1" fmla="*/ 0 w 133700"/>
                    <a:gd name="connsiteY1" fmla="*/ 0 h 844174"/>
                    <a:gd name="connsiteX2" fmla="*/ 90011 w 133700"/>
                    <a:gd name="connsiteY2" fmla="*/ 145646 h 844174"/>
                    <a:gd name="connsiteX3" fmla="*/ 133700 w 133700"/>
                    <a:gd name="connsiteY3" fmla="*/ 844173 h 844174"/>
                    <a:gd name="connsiteX4" fmla="*/ 28193 w 133700"/>
                    <a:gd name="connsiteY4" fmla="*/ 675301 h 844174"/>
                    <a:gd name="connsiteX0" fmla="*/ 33377 w 133700"/>
                    <a:gd name="connsiteY0" fmla="*/ 683762 h 844174"/>
                    <a:gd name="connsiteX1" fmla="*/ 0 w 133700"/>
                    <a:gd name="connsiteY1" fmla="*/ 0 h 844174"/>
                    <a:gd name="connsiteX2" fmla="*/ 90011 w 133700"/>
                    <a:gd name="connsiteY2" fmla="*/ 145646 h 844174"/>
                    <a:gd name="connsiteX3" fmla="*/ 133700 w 133700"/>
                    <a:gd name="connsiteY3" fmla="*/ 844173 h 844174"/>
                    <a:gd name="connsiteX4" fmla="*/ 33377 w 133700"/>
                    <a:gd name="connsiteY4" fmla="*/ 683762 h 844174"/>
                    <a:gd name="connsiteX0" fmla="*/ 87868 w 188191"/>
                    <a:gd name="connsiteY0" fmla="*/ 816127 h 976539"/>
                    <a:gd name="connsiteX1" fmla="*/ 0 w 188191"/>
                    <a:gd name="connsiteY1" fmla="*/ 0 h 976539"/>
                    <a:gd name="connsiteX2" fmla="*/ 144502 w 188191"/>
                    <a:gd name="connsiteY2" fmla="*/ 278011 h 976539"/>
                    <a:gd name="connsiteX3" fmla="*/ 188191 w 188191"/>
                    <a:gd name="connsiteY3" fmla="*/ 976538 h 976539"/>
                    <a:gd name="connsiteX4" fmla="*/ 87868 w 188191"/>
                    <a:gd name="connsiteY4" fmla="*/ 816127 h 976539"/>
                    <a:gd name="connsiteX0" fmla="*/ 32848 w 133171"/>
                    <a:gd name="connsiteY0" fmla="*/ 674219 h 834631"/>
                    <a:gd name="connsiteX1" fmla="*/ 0 w 133171"/>
                    <a:gd name="connsiteY1" fmla="*/ 1 h 834631"/>
                    <a:gd name="connsiteX2" fmla="*/ 89482 w 133171"/>
                    <a:gd name="connsiteY2" fmla="*/ 136103 h 834631"/>
                    <a:gd name="connsiteX3" fmla="*/ 133171 w 133171"/>
                    <a:gd name="connsiteY3" fmla="*/ 834630 h 834631"/>
                    <a:gd name="connsiteX4" fmla="*/ 32848 w 133171"/>
                    <a:gd name="connsiteY4" fmla="*/ 674219 h 834631"/>
                    <a:gd name="connsiteX0" fmla="*/ 32848 w 133171"/>
                    <a:gd name="connsiteY0" fmla="*/ 674219 h 834631"/>
                    <a:gd name="connsiteX1" fmla="*/ 0 w 133171"/>
                    <a:gd name="connsiteY1" fmla="*/ 1 h 834631"/>
                    <a:gd name="connsiteX2" fmla="*/ 97738 w 133171"/>
                    <a:gd name="connsiteY2" fmla="*/ 114843 h 834631"/>
                    <a:gd name="connsiteX3" fmla="*/ 133171 w 133171"/>
                    <a:gd name="connsiteY3" fmla="*/ 834630 h 834631"/>
                    <a:gd name="connsiteX4" fmla="*/ 32848 w 133171"/>
                    <a:gd name="connsiteY4" fmla="*/ 674219 h 834631"/>
                    <a:gd name="connsiteX0" fmla="*/ 36019 w 136342"/>
                    <a:gd name="connsiteY0" fmla="*/ 731496 h 891908"/>
                    <a:gd name="connsiteX1" fmla="*/ 0 w 136342"/>
                    <a:gd name="connsiteY1" fmla="*/ 1 h 891908"/>
                    <a:gd name="connsiteX2" fmla="*/ 100909 w 136342"/>
                    <a:gd name="connsiteY2" fmla="*/ 172120 h 891908"/>
                    <a:gd name="connsiteX3" fmla="*/ 136342 w 136342"/>
                    <a:gd name="connsiteY3" fmla="*/ 891907 h 891908"/>
                    <a:gd name="connsiteX4" fmla="*/ 36019 w 136342"/>
                    <a:gd name="connsiteY4" fmla="*/ 731496 h 891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342" h="891908">
                      <a:moveTo>
                        <a:pt x="36019" y="731496"/>
                      </a:moveTo>
                      <a:lnTo>
                        <a:pt x="0" y="1"/>
                      </a:lnTo>
                      <a:lnTo>
                        <a:pt x="100909" y="172120"/>
                      </a:lnTo>
                      <a:lnTo>
                        <a:pt x="136342" y="891907"/>
                      </a:lnTo>
                      <a:lnTo>
                        <a:pt x="36019" y="731496"/>
                      </a:lnTo>
                      <a:close/>
                    </a:path>
                  </a:pathLst>
                </a:custGeom>
                <a:solidFill>
                  <a:srgbClr val="AAE2CA">
                    <a:lumMod val="50000"/>
                  </a:srgbClr>
                </a:solidFill>
              </p:spPr>
              <p:txBody>
                <a:bodyPr wrap="none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286" name="TextBox 276">
                <a:extLst>
                  <a:ext uri="{FF2B5EF4-FFF2-40B4-BE49-F238E27FC236}">
                    <a16:creationId xmlns:a16="http://schemas.microsoft.com/office/drawing/2014/main" id="{E86D3ADF-23FB-2D4B-91EB-8A44EE48F6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21632" y="5775938"/>
                <a:ext cx="1493249" cy="338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050" kern="0" dirty="0">
                    <a:solidFill>
                      <a:srgbClr val="FFFFFF"/>
                    </a:solidFill>
                  </a:rPr>
                  <a:t>ECN=10</a:t>
                </a:r>
              </a:p>
            </p:txBody>
          </p:sp>
        </p:grpSp>
        <p:cxnSp>
          <p:nvCxnSpPr>
            <p:cNvPr id="284" name="Straight Arrow Connector 15">
              <a:extLst>
                <a:ext uri="{FF2B5EF4-FFF2-40B4-BE49-F238E27FC236}">
                  <a16:creationId xmlns:a16="http://schemas.microsoft.com/office/drawing/2014/main" id="{BF4048C9-7D73-BD4C-9330-448B6EC67A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150568" y="6133267"/>
              <a:ext cx="612066" cy="1"/>
            </a:xfrm>
            <a:prstGeom prst="straightConnector1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78F68ED1-4B6F-A848-83AB-DCDA89D6132A}"/>
              </a:ext>
            </a:extLst>
          </p:cNvPr>
          <p:cNvGrpSpPr>
            <a:grpSpLocks/>
          </p:cNvGrpSpPr>
          <p:nvPr/>
        </p:nvGrpSpPr>
        <p:grpSpPr bwMode="auto">
          <a:xfrm>
            <a:off x="4009430" y="5070594"/>
            <a:ext cx="1120378" cy="269081"/>
            <a:chOff x="3621632" y="5775938"/>
            <a:chExt cx="1493249" cy="357723"/>
          </a:xfrm>
        </p:grpSpPr>
        <p:grpSp>
          <p:nvGrpSpPr>
            <p:cNvPr id="292" name="Group 13">
              <a:extLst>
                <a:ext uri="{FF2B5EF4-FFF2-40B4-BE49-F238E27FC236}">
                  <a16:creationId xmlns:a16="http://schemas.microsoft.com/office/drawing/2014/main" id="{5FC0ED75-C4B7-964C-AB09-988F3BAEDF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21632" y="5775938"/>
              <a:ext cx="1493249" cy="337561"/>
              <a:chOff x="3621632" y="5775938"/>
              <a:chExt cx="1493249" cy="337561"/>
            </a:xfrm>
          </p:grpSpPr>
          <p:grpSp>
            <p:nvGrpSpPr>
              <p:cNvPr id="294" name="Group 11">
                <a:extLst>
                  <a:ext uri="{FF2B5EF4-FFF2-40B4-BE49-F238E27FC236}">
                    <a16:creationId xmlns:a16="http://schemas.microsoft.com/office/drawing/2014/main" id="{504596ED-94E0-9144-AEA2-9B1AC3A6ED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99159" y="5783287"/>
                <a:ext cx="806697" cy="257416"/>
                <a:chOff x="-2975754" y="4128742"/>
                <a:chExt cx="1258600" cy="450696"/>
              </a:xfrm>
            </p:grpSpPr>
            <p:sp>
              <p:nvSpPr>
                <p:cNvPr id="296" name="Rectangle 295">
                  <a:extLst>
                    <a:ext uri="{FF2B5EF4-FFF2-40B4-BE49-F238E27FC236}">
                      <a16:creationId xmlns:a16="http://schemas.microsoft.com/office/drawing/2014/main" id="{A7E6A3C2-8DB0-E843-9532-97A06B65BF6B}"/>
                    </a:ext>
                  </a:extLst>
                </p:cNvPr>
                <p:cNvSpPr/>
                <p:nvPr/>
              </p:nvSpPr>
              <p:spPr>
                <a:xfrm>
                  <a:off x="-2903723" y="4135274"/>
                  <a:ext cx="1151259" cy="340871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rgbClr val="00CC99">
                      <a:lumMod val="50000"/>
                    </a:srgbClr>
                  </a:solidFill>
                </a:ln>
              </p:spPr>
              <p:txBody>
                <a:bodyPr wrap="none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97" name="Rectangle 296">
                  <a:extLst>
                    <a:ext uri="{FF2B5EF4-FFF2-40B4-BE49-F238E27FC236}">
                      <a16:creationId xmlns:a16="http://schemas.microsoft.com/office/drawing/2014/main" id="{AC7167DD-1A09-B944-A520-D13751F3F4A2}"/>
                    </a:ext>
                  </a:extLst>
                </p:cNvPr>
                <p:cNvSpPr/>
                <p:nvPr/>
              </p:nvSpPr>
              <p:spPr>
                <a:xfrm>
                  <a:off x="-2968095" y="4221184"/>
                  <a:ext cx="1148783" cy="343644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rgbClr val="00CC99">
                      <a:lumMod val="50000"/>
                    </a:srgbClr>
                  </a:solidFill>
                </a:ln>
              </p:spPr>
              <p:txBody>
                <a:bodyPr wrap="none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98" name="Freeform 297">
                  <a:extLst>
                    <a:ext uri="{FF2B5EF4-FFF2-40B4-BE49-F238E27FC236}">
                      <a16:creationId xmlns:a16="http://schemas.microsoft.com/office/drawing/2014/main" id="{23136A14-E923-0449-9DA2-7D7B68ADEFB7}"/>
                    </a:ext>
                  </a:extLst>
                </p:cNvPr>
                <p:cNvSpPr/>
                <p:nvPr/>
              </p:nvSpPr>
              <p:spPr>
                <a:xfrm>
                  <a:off x="-2975522" y="4129732"/>
                  <a:ext cx="1223057" cy="94225"/>
                </a:xfrm>
                <a:custGeom>
                  <a:avLst/>
                  <a:gdLst>
                    <a:gd name="connsiteX0" fmla="*/ 0 w 1223105"/>
                    <a:gd name="connsiteY0" fmla="*/ 89042 h 89042"/>
                    <a:gd name="connsiteX1" fmla="*/ 70293 w 1223105"/>
                    <a:gd name="connsiteY1" fmla="*/ 0 h 89042"/>
                    <a:gd name="connsiteX2" fmla="*/ 1223105 w 1223105"/>
                    <a:gd name="connsiteY2" fmla="*/ 4687 h 89042"/>
                    <a:gd name="connsiteX3" fmla="*/ 1148126 w 1223105"/>
                    <a:gd name="connsiteY3" fmla="*/ 84356 h 89042"/>
                    <a:gd name="connsiteX4" fmla="*/ 0 w 1223105"/>
                    <a:gd name="connsiteY4" fmla="*/ 89042 h 89042"/>
                    <a:gd name="connsiteX0" fmla="*/ 0 w 1223105"/>
                    <a:gd name="connsiteY0" fmla="*/ 89042 h 103102"/>
                    <a:gd name="connsiteX1" fmla="*/ 70293 w 1223105"/>
                    <a:gd name="connsiteY1" fmla="*/ 0 h 103102"/>
                    <a:gd name="connsiteX2" fmla="*/ 1223105 w 1223105"/>
                    <a:gd name="connsiteY2" fmla="*/ 4687 h 103102"/>
                    <a:gd name="connsiteX3" fmla="*/ 1148126 w 1223105"/>
                    <a:gd name="connsiteY3" fmla="*/ 103102 h 103102"/>
                    <a:gd name="connsiteX4" fmla="*/ 0 w 1223105"/>
                    <a:gd name="connsiteY4" fmla="*/ 89042 h 103102"/>
                    <a:gd name="connsiteX0" fmla="*/ 0 w 1223105"/>
                    <a:gd name="connsiteY0" fmla="*/ 89042 h 93730"/>
                    <a:gd name="connsiteX1" fmla="*/ 70293 w 1223105"/>
                    <a:gd name="connsiteY1" fmla="*/ 0 h 93730"/>
                    <a:gd name="connsiteX2" fmla="*/ 1223105 w 1223105"/>
                    <a:gd name="connsiteY2" fmla="*/ 4687 h 93730"/>
                    <a:gd name="connsiteX3" fmla="*/ 1143439 w 1223105"/>
                    <a:gd name="connsiteY3" fmla="*/ 93730 h 93730"/>
                    <a:gd name="connsiteX4" fmla="*/ 0 w 1223105"/>
                    <a:gd name="connsiteY4" fmla="*/ 89042 h 93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105" h="93730">
                      <a:moveTo>
                        <a:pt x="0" y="89042"/>
                      </a:moveTo>
                      <a:lnTo>
                        <a:pt x="70293" y="0"/>
                      </a:lnTo>
                      <a:lnTo>
                        <a:pt x="1223105" y="4687"/>
                      </a:lnTo>
                      <a:lnTo>
                        <a:pt x="1143439" y="93730"/>
                      </a:lnTo>
                      <a:lnTo>
                        <a:pt x="0" y="89042"/>
                      </a:lnTo>
                      <a:close/>
                    </a:path>
                  </a:pathLst>
                </a:custGeom>
                <a:solidFill>
                  <a:srgbClr val="AAE2CA">
                    <a:lumMod val="50000"/>
                  </a:srgbClr>
                </a:solidFill>
              </p:spPr>
              <p:txBody>
                <a:bodyPr wrap="none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99" name="Freeform 298">
                  <a:extLst>
                    <a:ext uri="{FF2B5EF4-FFF2-40B4-BE49-F238E27FC236}">
                      <a16:creationId xmlns:a16="http://schemas.microsoft.com/office/drawing/2014/main" id="{857700B5-A094-3E46-9DFE-B9968548724C}"/>
                    </a:ext>
                  </a:extLst>
                </p:cNvPr>
                <p:cNvSpPr/>
                <p:nvPr/>
              </p:nvSpPr>
              <p:spPr>
                <a:xfrm rot="21211447" flipV="1">
                  <a:off x="-1853974" y="4146360"/>
                  <a:ext cx="136171" cy="432326"/>
                </a:xfrm>
                <a:custGeom>
                  <a:avLst/>
                  <a:gdLst>
                    <a:gd name="connsiteX0" fmla="*/ 0 w 1223105"/>
                    <a:gd name="connsiteY0" fmla="*/ 89042 h 89042"/>
                    <a:gd name="connsiteX1" fmla="*/ 70293 w 1223105"/>
                    <a:gd name="connsiteY1" fmla="*/ 0 h 89042"/>
                    <a:gd name="connsiteX2" fmla="*/ 1223105 w 1223105"/>
                    <a:gd name="connsiteY2" fmla="*/ 4687 h 89042"/>
                    <a:gd name="connsiteX3" fmla="*/ 1148126 w 1223105"/>
                    <a:gd name="connsiteY3" fmla="*/ 84356 h 89042"/>
                    <a:gd name="connsiteX4" fmla="*/ 0 w 1223105"/>
                    <a:gd name="connsiteY4" fmla="*/ 89042 h 89042"/>
                    <a:gd name="connsiteX0" fmla="*/ 0 w 1223105"/>
                    <a:gd name="connsiteY0" fmla="*/ 89042 h 103102"/>
                    <a:gd name="connsiteX1" fmla="*/ 70293 w 1223105"/>
                    <a:gd name="connsiteY1" fmla="*/ 0 h 103102"/>
                    <a:gd name="connsiteX2" fmla="*/ 1223105 w 1223105"/>
                    <a:gd name="connsiteY2" fmla="*/ 4687 h 103102"/>
                    <a:gd name="connsiteX3" fmla="*/ 1148126 w 1223105"/>
                    <a:gd name="connsiteY3" fmla="*/ 103102 h 103102"/>
                    <a:gd name="connsiteX4" fmla="*/ 0 w 1223105"/>
                    <a:gd name="connsiteY4" fmla="*/ 89042 h 103102"/>
                    <a:gd name="connsiteX0" fmla="*/ 0 w 1223105"/>
                    <a:gd name="connsiteY0" fmla="*/ 89042 h 93730"/>
                    <a:gd name="connsiteX1" fmla="*/ 70293 w 1223105"/>
                    <a:gd name="connsiteY1" fmla="*/ 0 h 93730"/>
                    <a:gd name="connsiteX2" fmla="*/ 1223105 w 1223105"/>
                    <a:gd name="connsiteY2" fmla="*/ 4687 h 93730"/>
                    <a:gd name="connsiteX3" fmla="*/ 1143439 w 1223105"/>
                    <a:gd name="connsiteY3" fmla="*/ 93730 h 93730"/>
                    <a:gd name="connsiteX4" fmla="*/ 0 w 1223105"/>
                    <a:gd name="connsiteY4" fmla="*/ 89042 h 93730"/>
                    <a:gd name="connsiteX0" fmla="*/ 0 w 1143439"/>
                    <a:gd name="connsiteY0" fmla="*/ 604462 h 609150"/>
                    <a:gd name="connsiteX1" fmla="*/ 70293 w 1143439"/>
                    <a:gd name="connsiteY1" fmla="*/ 515420 h 609150"/>
                    <a:gd name="connsiteX2" fmla="*/ 1048102 w 1143439"/>
                    <a:gd name="connsiteY2" fmla="*/ 0 h 609150"/>
                    <a:gd name="connsiteX3" fmla="*/ 1143439 w 1143439"/>
                    <a:gd name="connsiteY3" fmla="*/ 609150 h 609150"/>
                    <a:gd name="connsiteX4" fmla="*/ 0 w 1143439"/>
                    <a:gd name="connsiteY4" fmla="*/ 604462 h 609150"/>
                    <a:gd name="connsiteX0" fmla="*/ 0 w 1143439"/>
                    <a:gd name="connsiteY0" fmla="*/ 750108 h 754796"/>
                    <a:gd name="connsiteX1" fmla="*/ 958091 w 1143439"/>
                    <a:gd name="connsiteY1" fmla="*/ 0 h 754796"/>
                    <a:gd name="connsiteX2" fmla="*/ 1048102 w 1143439"/>
                    <a:gd name="connsiteY2" fmla="*/ 145646 h 754796"/>
                    <a:gd name="connsiteX3" fmla="*/ 1143439 w 1143439"/>
                    <a:gd name="connsiteY3" fmla="*/ 754796 h 754796"/>
                    <a:gd name="connsiteX4" fmla="*/ 0 w 1143439"/>
                    <a:gd name="connsiteY4" fmla="*/ 750108 h 754796"/>
                    <a:gd name="connsiteX0" fmla="*/ 28193 w 185348"/>
                    <a:gd name="connsiteY0" fmla="*/ 675301 h 754796"/>
                    <a:gd name="connsiteX1" fmla="*/ 0 w 185348"/>
                    <a:gd name="connsiteY1" fmla="*/ 0 h 754796"/>
                    <a:gd name="connsiteX2" fmla="*/ 90011 w 185348"/>
                    <a:gd name="connsiteY2" fmla="*/ 145646 h 754796"/>
                    <a:gd name="connsiteX3" fmla="*/ 185348 w 185348"/>
                    <a:gd name="connsiteY3" fmla="*/ 754796 h 754796"/>
                    <a:gd name="connsiteX4" fmla="*/ 28193 w 185348"/>
                    <a:gd name="connsiteY4" fmla="*/ 675301 h 754796"/>
                    <a:gd name="connsiteX0" fmla="*/ 28193 w 133700"/>
                    <a:gd name="connsiteY0" fmla="*/ 675301 h 844174"/>
                    <a:gd name="connsiteX1" fmla="*/ 0 w 133700"/>
                    <a:gd name="connsiteY1" fmla="*/ 0 h 844174"/>
                    <a:gd name="connsiteX2" fmla="*/ 90011 w 133700"/>
                    <a:gd name="connsiteY2" fmla="*/ 145646 h 844174"/>
                    <a:gd name="connsiteX3" fmla="*/ 133700 w 133700"/>
                    <a:gd name="connsiteY3" fmla="*/ 844173 h 844174"/>
                    <a:gd name="connsiteX4" fmla="*/ 28193 w 133700"/>
                    <a:gd name="connsiteY4" fmla="*/ 675301 h 844174"/>
                    <a:gd name="connsiteX0" fmla="*/ 33377 w 133700"/>
                    <a:gd name="connsiteY0" fmla="*/ 683762 h 844174"/>
                    <a:gd name="connsiteX1" fmla="*/ 0 w 133700"/>
                    <a:gd name="connsiteY1" fmla="*/ 0 h 844174"/>
                    <a:gd name="connsiteX2" fmla="*/ 90011 w 133700"/>
                    <a:gd name="connsiteY2" fmla="*/ 145646 h 844174"/>
                    <a:gd name="connsiteX3" fmla="*/ 133700 w 133700"/>
                    <a:gd name="connsiteY3" fmla="*/ 844173 h 844174"/>
                    <a:gd name="connsiteX4" fmla="*/ 33377 w 133700"/>
                    <a:gd name="connsiteY4" fmla="*/ 683762 h 844174"/>
                    <a:gd name="connsiteX0" fmla="*/ 87868 w 188191"/>
                    <a:gd name="connsiteY0" fmla="*/ 816127 h 976539"/>
                    <a:gd name="connsiteX1" fmla="*/ 0 w 188191"/>
                    <a:gd name="connsiteY1" fmla="*/ 0 h 976539"/>
                    <a:gd name="connsiteX2" fmla="*/ 144502 w 188191"/>
                    <a:gd name="connsiteY2" fmla="*/ 278011 h 976539"/>
                    <a:gd name="connsiteX3" fmla="*/ 188191 w 188191"/>
                    <a:gd name="connsiteY3" fmla="*/ 976538 h 976539"/>
                    <a:gd name="connsiteX4" fmla="*/ 87868 w 188191"/>
                    <a:gd name="connsiteY4" fmla="*/ 816127 h 976539"/>
                    <a:gd name="connsiteX0" fmla="*/ 32848 w 133171"/>
                    <a:gd name="connsiteY0" fmla="*/ 674219 h 834631"/>
                    <a:gd name="connsiteX1" fmla="*/ 0 w 133171"/>
                    <a:gd name="connsiteY1" fmla="*/ 1 h 834631"/>
                    <a:gd name="connsiteX2" fmla="*/ 89482 w 133171"/>
                    <a:gd name="connsiteY2" fmla="*/ 136103 h 834631"/>
                    <a:gd name="connsiteX3" fmla="*/ 133171 w 133171"/>
                    <a:gd name="connsiteY3" fmla="*/ 834630 h 834631"/>
                    <a:gd name="connsiteX4" fmla="*/ 32848 w 133171"/>
                    <a:gd name="connsiteY4" fmla="*/ 674219 h 834631"/>
                    <a:gd name="connsiteX0" fmla="*/ 32848 w 133171"/>
                    <a:gd name="connsiteY0" fmla="*/ 674219 h 834631"/>
                    <a:gd name="connsiteX1" fmla="*/ 0 w 133171"/>
                    <a:gd name="connsiteY1" fmla="*/ 1 h 834631"/>
                    <a:gd name="connsiteX2" fmla="*/ 97738 w 133171"/>
                    <a:gd name="connsiteY2" fmla="*/ 114843 h 834631"/>
                    <a:gd name="connsiteX3" fmla="*/ 133171 w 133171"/>
                    <a:gd name="connsiteY3" fmla="*/ 834630 h 834631"/>
                    <a:gd name="connsiteX4" fmla="*/ 32848 w 133171"/>
                    <a:gd name="connsiteY4" fmla="*/ 674219 h 834631"/>
                    <a:gd name="connsiteX0" fmla="*/ 36019 w 136342"/>
                    <a:gd name="connsiteY0" fmla="*/ 731496 h 891908"/>
                    <a:gd name="connsiteX1" fmla="*/ 0 w 136342"/>
                    <a:gd name="connsiteY1" fmla="*/ 1 h 891908"/>
                    <a:gd name="connsiteX2" fmla="*/ 100909 w 136342"/>
                    <a:gd name="connsiteY2" fmla="*/ 172120 h 891908"/>
                    <a:gd name="connsiteX3" fmla="*/ 136342 w 136342"/>
                    <a:gd name="connsiteY3" fmla="*/ 891907 h 891908"/>
                    <a:gd name="connsiteX4" fmla="*/ 36019 w 136342"/>
                    <a:gd name="connsiteY4" fmla="*/ 731496 h 891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342" h="891908">
                      <a:moveTo>
                        <a:pt x="36019" y="731496"/>
                      </a:moveTo>
                      <a:lnTo>
                        <a:pt x="0" y="1"/>
                      </a:lnTo>
                      <a:lnTo>
                        <a:pt x="100909" y="172120"/>
                      </a:lnTo>
                      <a:lnTo>
                        <a:pt x="136342" y="891907"/>
                      </a:lnTo>
                      <a:lnTo>
                        <a:pt x="36019" y="731496"/>
                      </a:lnTo>
                      <a:close/>
                    </a:path>
                  </a:pathLst>
                </a:custGeom>
                <a:solidFill>
                  <a:srgbClr val="AAE2CA">
                    <a:lumMod val="50000"/>
                  </a:srgbClr>
                </a:solidFill>
              </p:spPr>
              <p:txBody>
                <a:bodyPr wrap="none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295" name="TextBox 12">
                <a:extLst>
                  <a:ext uri="{FF2B5EF4-FFF2-40B4-BE49-F238E27FC236}">
                    <a16:creationId xmlns:a16="http://schemas.microsoft.com/office/drawing/2014/main" id="{83DF2AC2-F4A3-8341-BA27-93B23E0B8C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21632" y="5775938"/>
                <a:ext cx="1493249" cy="3375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050" kern="0" dirty="0">
                    <a:solidFill>
                      <a:srgbClr val="FFFFFF"/>
                    </a:solidFill>
                  </a:rPr>
                  <a:t>ECN=</a:t>
                </a:r>
                <a:r>
                  <a:rPr lang="en-US" altLang="en-US" sz="1050" kern="0" dirty="0">
                    <a:solidFill>
                      <a:srgbClr val="FF0000"/>
                    </a:solidFill>
                  </a:rPr>
                  <a:t>11</a:t>
                </a:r>
              </a:p>
            </p:txBody>
          </p:sp>
        </p:grpSp>
        <p:cxnSp>
          <p:nvCxnSpPr>
            <p:cNvPr id="293" name="Straight Arrow Connector 286">
              <a:extLst>
                <a:ext uri="{FF2B5EF4-FFF2-40B4-BE49-F238E27FC236}">
                  <a16:creationId xmlns:a16="http://schemas.microsoft.com/office/drawing/2014/main" id="{0ECC51B7-58FF-1745-ABC7-DC7D16E1E7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483694" y="5949896"/>
              <a:ext cx="457353" cy="183765"/>
            </a:xfrm>
            <a:prstGeom prst="straightConnector1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60BC64D6-7715-054E-AF11-7FFDBEF3B85F}"/>
              </a:ext>
            </a:extLst>
          </p:cNvPr>
          <p:cNvGrpSpPr>
            <a:grpSpLocks/>
          </p:cNvGrpSpPr>
          <p:nvPr/>
        </p:nvGrpSpPr>
        <p:grpSpPr bwMode="auto">
          <a:xfrm>
            <a:off x="3043832" y="4139525"/>
            <a:ext cx="2987279" cy="284560"/>
            <a:chOff x="2334273" y="4534486"/>
            <a:chExt cx="3981995" cy="378689"/>
          </a:xfrm>
        </p:grpSpPr>
        <p:grpSp>
          <p:nvGrpSpPr>
            <p:cNvPr id="301" name="Group 27">
              <a:extLst>
                <a:ext uri="{FF2B5EF4-FFF2-40B4-BE49-F238E27FC236}">
                  <a16:creationId xmlns:a16="http://schemas.microsoft.com/office/drawing/2014/main" id="{14426F0E-58BD-1040-801B-29B3D72CAF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8876" y="4534486"/>
              <a:ext cx="1493249" cy="337908"/>
              <a:chOff x="3508876" y="4414358"/>
              <a:chExt cx="1493249" cy="337908"/>
            </a:xfrm>
          </p:grpSpPr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562BEC04-208B-AF43-8603-4D650744166E}"/>
                  </a:ext>
                </a:extLst>
              </p:cNvPr>
              <p:cNvSpPr/>
              <p:nvPr/>
            </p:nvSpPr>
            <p:spPr>
              <a:xfrm>
                <a:off x="3907074" y="4428619"/>
                <a:ext cx="736407" cy="194890"/>
              </a:xfrm>
              <a:prstGeom prst="rect">
                <a:avLst/>
              </a:prstGeom>
              <a:solidFill>
                <a:srgbClr val="008000"/>
              </a:solidFill>
              <a:ln w="12700">
                <a:solidFill>
                  <a:srgbClr val="00CC99">
                    <a:lumMod val="50000"/>
                  </a:srgbClr>
                </a:solidFill>
              </a:ln>
            </p:spPr>
            <p:txBody>
              <a:bodyPr wrap="none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panose="020B0604030504040204" pitchFamily="34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5" name="Rectangle 298">
                <a:extLst>
                  <a:ext uri="{FF2B5EF4-FFF2-40B4-BE49-F238E27FC236}">
                    <a16:creationId xmlns:a16="http://schemas.microsoft.com/office/drawing/2014/main" id="{4B8356E7-805C-B94C-8997-8E1623302A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891" y="4478563"/>
                <a:ext cx="737073" cy="196032"/>
              </a:xfrm>
              <a:prstGeom prst="rect">
                <a:avLst/>
              </a:prstGeom>
              <a:solidFill>
                <a:srgbClr val="0000FF"/>
              </a:solidFill>
              <a:ln w="12700">
                <a:solidFill>
                  <a:srgbClr val="000090"/>
                </a:solidFill>
                <a:miter lim="800000"/>
                <a:headEnd/>
                <a:tailEnd/>
              </a:ln>
            </p:spPr>
            <p:txBody>
              <a:bodyPr wrap="none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2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6" name="Freeform 299">
                <a:extLst>
                  <a:ext uri="{FF2B5EF4-FFF2-40B4-BE49-F238E27FC236}">
                    <a16:creationId xmlns:a16="http://schemas.microsoft.com/office/drawing/2014/main" id="{1BE10154-BCB6-F24B-8AEE-60D80B1930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9775" y="4425511"/>
                <a:ext cx="783947" cy="53534"/>
              </a:xfrm>
              <a:custGeom>
                <a:avLst/>
                <a:gdLst>
                  <a:gd name="T0" fmla="*/ 0 w 1223105"/>
                  <a:gd name="T1" fmla="*/ 9475 h 93730"/>
                  <a:gd name="T2" fmla="*/ 11863 w 1223105"/>
                  <a:gd name="T3" fmla="*/ 0 h 93730"/>
                  <a:gd name="T4" fmla="*/ 206422 w 1223105"/>
                  <a:gd name="T5" fmla="*/ 499 h 93730"/>
                  <a:gd name="T6" fmla="*/ 192977 w 1223105"/>
                  <a:gd name="T7" fmla="*/ 9975 h 93730"/>
                  <a:gd name="T8" fmla="*/ 0 w 1223105"/>
                  <a:gd name="T9" fmla="*/ 9475 h 937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23105" h="93730">
                    <a:moveTo>
                      <a:pt x="0" y="89042"/>
                    </a:moveTo>
                    <a:lnTo>
                      <a:pt x="70293" y="0"/>
                    </a:lnTo>
                    <a:lnTo>
                      <a:pt x="1223105" y="4687"/>
                    </a:lnTo>
                    <a:lnTo>
                      <a:pt x="1143439" y="93730"/>
                    </a:lnTo>
                    <a:lnTo>
                      <a:pt x="0" y="89042"/>
                    </a:lnTo>
                    <a:close/>
                  </a:path>
                </a:pathLst>
              </a:custGeom>
              <a:solidFill>
                <a:srgbClr val="3366FF"/>
              </a:solidFill>
              <a:ln w="9525">
                <a:solidFill>
                  <a:srgbClr val="00009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7" name="Freeform 300">
                <a:extLst>
                  <a:ext uri="{FF2B5EF4-FFF2-40B4-BE49-F238E27FC236}">
                    <a16:creationId xmlns:a16="http://schemas.microsoft.com/office/drawing/2014/main" id="{440256A1-2AE5-1548-8E6E-089AE8C63C4D}"/>
                  </a:ext>
                </a:extLst>
              </p:cNvPr>
              <p:cNvSpPr>
                <a:spLocks/>
              </p:cNvSpPr>
              <p:nvPr/>
            </p:nvSpPr>
            <p:spPr bwMode="auto">
              <a:xfrm rot="21211447" flipV="1">
                <a:off x="4579084" y="4434448"/>
                <a:ext cx="87388" cy="248479"/>
              </a:xfrm>
              <a:custGeom>
                <a:avLst/>
                <a:gdLst>
                  <a:gd name="T0" fmla="*/ 6079 w 136342"/>
                  <a:gd name="T1" fmla="*/ 4406 h 891908"/>
                  <a:gd name="T2" fmla="*/ 0 w 136342"/>
                  <a:gd name="T3" fmla="*/ 0 h 891908"/>
                  <a:gd name="T4" fmla="*/ 17030 w 136342"/>
                  <a:gd name="T5" fmla="*/ 1037 h 891908"/>
                  <a:gd name="T6" fmla="*/ 23010 w 136342"/>
                  <a:gd name="T7" fmla="*/ 5373 h 891908"/>
                  <a:gd name="T8" fmla="*/ 6079 w 136342"/>
                  <a:gd name="T9" fmla="*/ 4406 h 8919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342" h="891908">
                    <a:moveTo>
                      <a:pt x="36019" y="731496"/>
                    </a:moveTo>
                    <a:lnTo>
                      <a:pt x="0" y="1"/>
                    </a:lnTo>
                    <a:lnTo>
                      <a:pt x="100909" y="172120"/>
                    </a:lnTo>
                    <a:lnTo>
                      <a:pt x="136342" y="891907"/>
                    </a:lnTo>
                    <a:lnTo>
                      <a:pt x="36019" y="731496"/>
                    </a:lnTo>
                    <a:close/>
                  </a:path>
                </a:pathLst>
              </a:custGeom>
              <a:solidFill>
                <a:srgbClr val="3366FF"/>
              </a:solidFill>
              <a:ln w="9525">
                <a:solidFill>
                  <a:srgbClr val="00009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8" name="TextBox 296">
                <a:extLst>
                  <a:ext uri="{FF2B5EF4-FFF2-40B4-BE49-F238E27FC236}">
                    <a16:creationId xmlns:a16="http://schemas.microsoft.com/office/drawing/2014/main" id="{6ED803C2-8474-FE4B-A4EC-6A4A5A09C2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8876" y="4414358"/>
                <a:ext cx="1493249" cy="3379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050" kern="0" dirty="0">
                    <a:solidFill>
                      <a:srgbClr val="FFFFFF"/>
                    </a:solidFill>
                  </a:rPr>
                  <a:t>ECE=</a:t>
                </a:r>
                <a:r>
                  <a:rPr lang="en-US" altLang="en-US" sz="1050" kern="0" dirty="0">
                    <a:solidFill>
                      <a:srgbClr val="FF0000"/>
                    </a:solidFill>
                  </a:rPr>
                  <a:t>1</a:t>
                </a:r>
              </a:p>
            </p:txBody>
          </p:sp>
        </p:grpSp>
        <p:cxnSp>
          <p:nvCxnSpPr>
            <p:cNvPr id="302" name="Straight Arrow Connector 294">
              <a:extLst>
                <a:ext uri="{FF2B5EF4-FFF2-40B4-BE49-F238E27FC236}">
                  <a16:creationId xmlns:a16="http://schemas.microsoft.com/office/drawing/2014/main" id="{0333EB21-19EB-154E-B507-83BF3413D1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01047" y="4905427"/>
              <a:ext cx="697737" cy="7748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3" name="Straight Arrow Connector 25">
              <a:extLst>
                <a:ext uri="{FF2B5EF4-FFF2-40B4-BE49-F238E27FC236}">
                  <a16:creationId xmlns:a16="http://schemas.microsoft.com/office/drawing/2014/main" id="{84C1CFE8-8FA7-D24B-BB80-A5D410D91E1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334273" y="4839428"/>
              <a:ext cx="3981995" cy="0"/>
            </a:xfrm>
            <a:prstGeom prst="straightConnector1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E9859027-FE60-9841-9FE7-A58E608A269A}"/>
              </a:ext>
            </a:extLst>
          </p:cNvPr>
          <p:cNvGrpSpPr>
            <a:grpSpLocks/>
          </p:cNvGrpSpPr>
          <p:nvPr/>
        </p:nvGrpSpPr>
        <p:grpSpPr bwMode="auto">
          <a:xfrm>
            <a:off x="1947245" y="5359919"/>
            <a:ext cx="915636" cy="369687"/>
            <a:chOff x="872227" y="6160831"/>
            <a:chExt cx="1220749" cy="493197"/>
          </a:xfrm>
        </p:grpSpPr>
        <p:sp>
          <p:nvSpPr>
            <p:cNvPr id="310" name="TextBox 29">
              <a:extLst>
                <a:ext uri="{FF2B5EF4-FFF2-40B4-BE49-F238E27FC236}">
                  <a16:creationId xmlns:a16="http://schemas.microsoft.com/office/drawing/2014/main" id="{82440900-2334-F946-90EB-5FA8637ADF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227" y="6315280"/>
              <a:ext cx="1220749" cy="338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050" kern="0" dirty="0">
                  <a:solidFill>
                    <a:srgbClr val="000000"/>
                  </a:solidFill>
                </a:rPr>
                <a:t>IP datagram</a:t>
              </a:r>
            </a:p>
          </p:txBody>
        </p:sp>
        <p:cxnSp>
          <p:nvCxnSpPr>
            <p:cNvPr id="311" name="Straight Connector 31">
              <a:extLst>
                <a:ext uri="{FF2B5EF4-FFF2-40B4-BE49-F238E27FC236}">
                  <a16:creationId xmlns:a16="http://schemas.microsoft.com/office/drawing/2014/main" id="{80F4CA72-3CF5-FA41-9EB4-A49E55C1686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785033" y="6160831"/>
              <a:ext cx="274620" cy="240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D82A29D1-4C9E-CE44-A5D6-40B408BEA390}"/>
              </a:ext>
            </a:extLst>
          </p:cNvPr>
          <p:cNvGrpSpPr>
            <a:grpSpLocks/>
          </p:cNvGrpSpPr>
          <p:nvPr/>
        </p:nvGrpSpPr>
        <p:grpSpPr bwMode="auto">
          <a:xfrm>
            <a:off x="4676934" y="3735903"/>
            <a:ext cx="1247457" cy="386953"/>
            <a:chOff x="4510678" y="3996483"/>
            <a:chExt cx="1663399" cy="514832"/>
          </a:xfrm>
        </p:grpSpPr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17530F4E-F3B8-5644-978B-F46D05030A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0678" y="3996483"/>
              <a:ext cx="1663399" cy="3378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050" kern="0" dirty="0">
                  <a:solidFill>
                    <a:srgbClr val="000000"/>
                  </a:solidFill>
                </a:rPr>
                <a:t>TCP ACK segment</a:t>
              </a:r>
            </a:p>
          </p:txBody>
        </p: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6343044A-858C-F34D-BCBF-FD46442A2B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632144" y="4271060"/>
              <a:ext cx="274620" cy="240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027059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DBB9026-12F2-A349-BFEF-8C31C7F86092}"/>
              </a:ext>
            </a:extLst>
          </p:cNvPr>
          <p:cNvGrpSpPr/>
          <p:nvPr/>
        </p:nvGrpSpPr>
        <p:grpSpPr>
          <a:xfrm>
            <a:off x="5695321" y="3432939"/>
            <a:ext cx="825611" cy="539353"/>
            <a:chOff x="7493876" y="2774731"/>
            <a:chExt cx="1481958" cy="894622"/>
          </a:xfrm>
        </p:grpSpPr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2EAD1D45-E7DC-F546-BF28-57362134135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C917A520-A78E-6F4B-A627-C017D0408DA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515FCDD6-C861-564F-B521-7551F1A8280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EB9B6B9B-3107-CD48-AEC1-E65E25BE6AC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8" name="Freeform 107">
                <a:extLst>
                  <a:ext uri="{FF2B5EF4-FFF2-40B4-BE49-F238E27FC236}">
                    <a16:creationId xmlns:a16="http://schemas.microsoft.com/office/drawing/2014/main" id="{B5DD3803-6AF8-3847-B395-25898737955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DA65177F-9EDB-4144-8C88-7E37D8240A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97906B30-472F-354C-82AF-33220C002B7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0DB66D8-759D-3E45-8AD9-CC358022D572}"/>
              </a:ext>
            </a:extLst>
          </p:cNvPr>
          <p:cNvGrpSpPr/>
          <p:nvPr/>
        </p:nvGrpSpPr>
        <p:grpSpPr>
          <a:xfrm>
            <a:off x="4290095" y="3436225"/>
            <a:ext cx="825611" cy="539353"/>
            <a:chOff x="7493876" y="2774731"/>
            <a:chExt cx="1481958" cy="894622"/>
          </a:xfrm>
        </p:grpSpPr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E483E17D-400D-C84C-8056-02B78CDD0DE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318D9153-5EE4-3340-BCD3-478931CFC7F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DAAFD939-A5C2-6A45-BE89-14CD8870A5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762F9A94-D8D0-934F-94BA-2BF1A64428C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205790B6-6F8F-394F-AEFC-DC10F8B5D5D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355156BC-1504-E74B-8008-40A919B5BE4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216A1E01-4397-904B-AF75-454F94DE105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TCP fairness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D6F2F-5FD8-52F2-986C-1B65A6A7C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Slide Number Placeholder 2">
            <a:extLst>
              <a:ext uri="{FF2B5EF4-FFF2-40B4-BE49-F238E27FC236}">
                <a16:creationId xmlns:a16="http://schemas.microsoft.com/office/drawing/2014/main" id="{BB114D03-0978-4146-94B8-68FCC4AA2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Transport Layer: 3-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24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FC515608-44C0-AE4F-9716-2C57F89C9FF4}"/>
              </a:ext>
            </a:extLst>
          </p:cNvPr>
          <p:cNvSpPr txBox="1">
            <a:spLocks noChangeArrowheads="1"/>
          </p:cNvSpPr>
          <p:nvPr/>
        </p:nvSpPr>
        <p:spPr>
          <a:xfrm>
            <a:off x="657225" y="1810744"/>
            <a:ext cx="7630716" cy="816769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spcBef>
                <a:spcPts val="750"/>
              </a:spcBef>
              <a:buNone/>
              <a:defRPr/>
            </a:pPr>
            <a:r>
              <a:rPr lang="en-US" sz="2400" dirty="0">
                <a:solidFill>
                  <a:srgbClr val="CC0000"/>
                </a:solidFill>
                <a:latin typeface="Calibri" panose="020F0502020204030204"/>
              </a:rPr>
              <a:t>Fairness goal: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 if</a:t>
            </a:r>
            <a:r>
              <a:rPr lang="en-US" sz="2400" i="1" dirty="0">
                <a:solidFill>
                  <a:prstClr val="black"/>
                </a:solidFill>
                <a:latin typeface="Calibri" panose="020F0502020204030204"/>
              </a:rPr>
              <a:t> K 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TCP sessions share same bottleneck link of bandwidth </a:t>
            </a:r>
            <a:r>
              <a:rPr lang="en-US" sz="2400" i="1" dirty="0">
                <a:solidFill>
                  <a:prstClr val="black"/>
                </a:solidFill>
                <a:latin typeface="Calibri" panose="020F0502020204030204"/>
              </a:rPr>
              <a:t>R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, each should have average rate of </a:t>
            </a:r>
            <a:r>
              <a:rPr lang="en-US" sz="2400" i="1" dirty="0">
                <a:solidFill>
                  <a:prstClr val="black"/>
                </a:solidFill>
                <a:latin typeface="Calibri" panose="020F0502020204030204"/>
              </a:rPr>
              <a:t>R/K</a:t>
            </a:r>
          </a:p>
        </p:txBody>
      </p:sp>
      <p:sp>
        <p:nvSpPr>
          <p:cNvPr id="61" name="Line 68">
            <a:extLst>
              <a:ext uri="{FF2B5EF4-FFF2-40B4-BE49-F238E27FC236}">
                <a16:creationId xmlns:a16="http://schemas.microsoft.com/office/drawing/2014/main" id="{CDC7342A-49E4-EA42-944C-558FC96B49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12093" y="3671887"/>
            <a:ext cx="614363" cy="6689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80" name="Rectangle 25">
            <a:extLst>
              <a:ext uri="{FF2B5EF4-FFF2-40B4-BE49-F238E27FC236}">
                <a16:creationId xmlns:a16="http://schemas.microsoft.com/office/drawing/2014/main" id="{75F28C3D-FB3C-2547-B5A0-31713944D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941" y="3521869"/>
            <a:ext cx="110728" cy="150019"/>
          </a:xfrm>
          <a:prstGeom prst="rect">
            <a:avLst/>
          </a:prstGeom>
          <a:solidFill>
            <a:srgbClr val="0099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81" name="Rectangle 26">
            <a:extLst>
              <a:ext uri="{FF2B5EF4-FFF2-40B4-BE49-F238E27FC236}">
                <a16:creationId xmlns:a16="http://schemas.microsoft.com/office/drawing/2014/main" id="{2FFB7F49-0A17-8244-A6C8-A042CD8FF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019" y="3568304"/>
            <a:ext cx="110729" cy="150019"/>
          </a:xfrm>
          <a:prstGeom prst="rect">
            <a:avLst/>
          </a:prstGeom>
          <a:solidFill>
            <a:srgbClr val="0099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82" name="Rectangle 27">
            <a:extLst>
              <a:ext uri="{FF2B5EF4-FFF2-40B4-BE49-F238E27FC236}">
                <a16:creationId xmlns:a16="http://schemas.microsoft.com/office/drawing/2014/main" id="{506AE97C-512B-D047-B5C2-A8583E61E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9904" y="3521869"/>
            <a:ext cx="110728" cy="150019"/>
          </a:xfrm>
          <a:prstGeom prst="rect">
            <a:avLst/>
          </a:prstGeom>
          <a:solidFill>
            <a:srgbClr val="0099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83" name="Text Box 28">
            <a:extLst>
              <a:ext uri="{FF2B5EF4-FFF2-40B4-BE49-F238E27FC236}">
                <a16:creationId xmlns:a16="http://schemas.microsoft.com/office/drawing/2014/main" id="{D7035546-992D-A546-9880-E3DFD92C3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7924" y="2708411"/>
            <a:ext cx="18050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dirty="0">
                <a:solidFill>
                  <a:srgbClr val="000000"/>
                </a:solidFill>
                <a:latin typeface="Calibri" panose="020F0502020204030204"/>
              </a:rPr>
              <a:t>TCP connection 1</a:t>
            </a:r>
          </a:p>
        </p:txBody>
      </p:sp>
      <p:sp>
        <p:nvSpPr>
          <p:cNvPr id="84" name="Text Box 29">
            <a:extLst>
              <a:ext uri="{FF2B5EF4-FFF2-40B4-BE49-F238E27FC236}">
                <a16:creationId xmlns:a16="http://schemas.microsoft.com/office/drawing/2014/main" id="{7297E699-0BA6-F14E-9015-0764C0BCD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9550" y="4063813"/>
            <a:ext cx="1186480" cy="840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dirty="0">
                <a:solidFill>
                  <a:srgbClr val="000000"/>
                </a:solidFill>
                <a:latin typeface="Calibri" panose="020F0502020204030204"/>
              </a:rPr>
              <a:t>bottleneck</a:t>
            </a:r>
          </a:p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dirty="0">
                <a:solidFill>
                  <a:srgbClr val="000000"/>
                </a:solidFill>
                <a:latin typeface="Calibri" panose="020F0502020204030204"/>
              </a:rPr>
              <a:t>router</a:t>
            </a:r>
          </a:p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dirty="0">
                <a:solidFill>
                  <a:srgbClr val="000000"/>
                </a:solidFill>
                <a:latin typeface="Calibri" panose="020F0502020204030204"/>
              </a:rPr>
              <a:t>capacity R</a:t>
            </a:r>
          </a:p>
        </p:txBody>
      </p:sp>
      <p:sp>
        <p:nvSpPr>
          <p:cNvPr id="85" name="Freeform 40">
            <a:extLst>
              <a:ext uri="{FF2B5EF4-FFF2-40B4-BE49-F238E27FC236}">
                <a16:creationId xmlns:a16="http://schemas.microsoft.com/office/drawing/2014/main" id="{7B18511C-E0F5-ED42-B886-442969765A2C}"/>
              </a:ext>
            </a:extLst>
          </p:cNvPr>
          <p:cNvSpPr>
            <a:spLocks/>
          </p:cNvSpPr>
          <p:nvPr/>
        </p:nvSpPr>
        <p:spPr bwMode="auto">
          <a:xfrm>
            <a:off x="3574257" y="3083214"/>
            <a:ext cx="3170492" cy="539354"/>
          </a:xfrm>
          <a:custGeom>
            <a:avLst/>
            <a:gdLst>
              <a:gd name="T0" fmla="*/ 0 w 2412"/>
              <a:gd name="T1" fmla="*/ 0 h 453"/>
              <a:gd name="T2" fmla="*/ 2147483647 w 2412"/>
              <a:gd name="T3" fmla="*/ 2147483647 h 453"/>
              <a:gd name="T4" fmla="*/ 2147483647 w 2412"/>
              <a:gd name="T5" fmla="*/ 2147483647 h 4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12" h="453">
                <a:moveTo>
                  <a:pt x="0" y="0"/>
                </a:moveTo>
                <a:cubicBezTo>
                  <a:pt x="93" y="65"/>
                  <a:pt x="156" y="318"/>
                  <a:pt x="558" y="390"/>
                </a:cubicBezTo>
                <a:cubicBezTo>
                  <a:pt x="959" y="453"/>
                  <a:pt x="2026" y="423"/>
                  <a:pt x="2412" y="432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6" name="Rectangle 41">
            <a:extLst>
              <a:ext uri="{FF2B5EF4-FFF2-40B4-BE49-F238E27FC236}">
                <a16:creationId xmlns:a16="http://schemas.microsoft.com/office/drawing/2014/main" id="{B87FB624-4166-674A-B3AB-E61FF504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3462" y="3568304"/>
            <a:ext cx="110729" cy="150019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87" name="Freeform 42">
            <a:extLst>
              <a:ext uri="{FF2B5EF4-FFF2-40B4-BE49-F238E27FC236}">
                <a16:creationId xmlns:a16="http://schemas.microsoft.com/office/drawing/2014/main" id="{219FFC1B-3A12-DC4B-B53E-9BB5E48658B7}"/>
              </a:ext>
            </a:extLst>
          </p:cNvPr>
          <p:cNvSpPr>
            <a:spLocks/>
          </p:cNvSpPr>
          <p:nvPr/>
        </p:nvSpPr>
        <p:spPr bwMode="auto">
          <a:xfrm>
            <a:off x="3543300" y="3680223"/>
            <a:ext cx="3201449" cy="539353"/>
          </a:xfrm>
          <a:custGeom>
            <a:avLst/>
            <a:gdLst>
              <a:gd name="T0" fmla="*/ 0 w 2412"/>
              <a:gd name="T1" fmla="*/ 2147483647 h 453"/>
              <a:gd name="T2" fmla="*/ 2147483647 w 2412"/>
              <a:gd name="T3" fmla="*/ 2147483647 h 453"/>
              <a:gd name="T4" fmla="*/ 2147483647 w 2412"/>
              <a:gd name="T5" fmla="*/ 2147483647 h 4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12" h="453">
                <a:moveTo>
                  <a:pt x="0" y="453"/>
                </a:moveTo>
                <a:cubicBezTo>
                  <a:pt x="93" y="388"/>
                  <a:pt x="156" y="134"/>
                  <a:pt x="558" y="63"/>
                </a:cubicBezTo>
                <a:cubicBezTo>
                  <a:pt x="959" y="0"/>
                  <a:pt x="2026" y="36"/>
                  <a:pt x="2412" y="29"/>
                </a:cubicBezTo>
              </a:path>
            </a:pathLst>
          </a:custGeom>
          <a:noFill/>
          <a:ln w="38100" cap="flat" cmpd="sng">
            <a:solidFill>
              <a:srgbClr val="3333CC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8" name="Text Box 48">
            <a:extLst>
              <a:ext uri="{FF2B5EF4-FFF2-40B4-BE49-F238E27FC236}">
                <a16:creationId xmlns:a16="http://schemas.microsoft.com/office/drawing/2014/main" id="{1859B4C2-A97D-4B48-B306-9FC98BD5A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786" y="4376961"/>
            <a:ext cx="18050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dirty="0">
                <a:solidFill>
                  <a:srgbClr val="000000"/>
                </a:solidFill>
                <a:latin typeface="Calibri" panose="020F0502020204030204"/>
              </a:rPr>
              <a:t>TCP connection 2</a:t>
            </a:r>
          </a:p>
        </p:txBody>
      </p:sp>
      <p:grpSp>
        <p:nvGrpSpPr>
          <p:cNvPr id="89" name="Group 69">
            <a:extLst>
              <a:ext uri="{FF2B5EF4-FFF2-40B4-BE49-F238E27FC236}">
                <a16:creationId xmlns:a16="http://schemas.microsoft.com/office/drawing/2014/main" id="{E41C4D8C-20B4-204B-B9D2-EF53C43D06A8}"/>
              </a:ext>
            </a:extLst>
          </p:cNvPr>
          <p:cNvGrpSpPr>
            <a:grpSpLocks/>
          </p:cNvGrpSpPr>
          <p:nvPr/>
        </p:nvGrpSpPr>
        <p:grpSpPr bwMode="auto">
          <a:xfrm>
            <a:off x="2981326" y="3002756"/>
            <a:ext cx="575072" cy="528638"/>
            <a:chOff x="-44" y="1473"/>
            <a:chExt cx="981" cy="1105"/>
          </a:xfrm>
        </p:grpSpPr>
        <p:pic>
          <p:nvPicPr>
            <p:cNvPr id="90" name="Picture 70" descr="desktop_computer_stylized_medium">
              <a:extLst>
                <a:ext uri="{FF2B5EF4-FFF2-40B4-BE49-F238E27FC236}">
                  <a16:creationId xmlns:a16="http://schemas.microsoft.com/office/drawing/2014/main" id="{0A14B506-3AAE-F546-9A74-AC6072F150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" name="Freeform 71">
              <a:extLst>
                <a:ext uri="{FF2B5EF4-FFF2-40B4-BE49-F238E27FC236}">
                  <a16:creationId xmlns:a16="http://schemas.microsoft.com/office/drawing/2014/main" id="{F6DE560E-4DD1-2842-AD9C-065090AD368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92" name="Group 72">
            <a:extLst>
              <a:ext uri="{FF2B5EF4-FFF2-40B4-BE49-F238E27FC236}">
                <a16:creationId xmlns:a16="http://schemas.microsoft.com/office/drawing/2014/main" id="{D4B132ED-F65A-8349-9956-0282CD84A913}"/>
              </a:ext>
            </a:extLst>
          </p:cNvPr>
          <p:cNvGrpSpPr>
            <a:grpSpLocks/>
          </p:cNvGrpSpPr>
          <p:nvPr/>
        </p:nvGrpSpPr>
        <p:grpSpPr bwMode="auto">
          <a:xfrm>
            <a:off x="2983707" y="3937397"/>
            <a:ext cx="575072" cy="528638"/>
            <a:chOff x="-44" y="1473"/>
            <a:chExt cx="981" cy="1105"/>
          </a:xfrm>
        </p:grpSpPr>
        <p:pic>
          <p:nvPicPr>
            <p:cNvPr id="93" name="Picture 73" descr="desktop_computer_stylized_medium">
              <a:extLst>
                <a:ext uri="{FF2B5EF4-FFF2-40B4-BE49-F238E27FC236}">
                  <a16:creationId xmlns:a16="http://schemas.microsoft.com/office/drawing/2014/main" id="{4A386E2E-C0EC-8A47-9B1E-88CB80A47D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4" name="Freeform 74">
              <a:extLst>
                <a:ext uri="{FF2B5EF4-FFF2-40B4-BE49-F238E27FC236}">
                  <a16:creationId xmlns:a16="http://schemas.microsoft.com/office/drawing/2014/main" id="{021EC07F-1EE7-F54E-88B9-7C2A3644AA1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1573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Q: is TCP Fair?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7B204-D311-F66A-8DDC-E16F1D770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Slide Number Placeholder 2">
            <a:extLst>
              <a:ext uri="{FF2B5EF4-FFF2-40B4-BE49-F238E27FC236}">
                <a16:creationId xmlns:a16="http://schemas.microsoft.com/office/drawing/2014/main" id="{06E0EBD2-9213-6D40-8DF6-4E431B8B6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Transport Layer: 3-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25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F376200C-B032-3845-A02F-653A6DB1CA80}"/>
              </a:ext>
            </a:extLst>
          </p:cNvPr>
          <p:cNvSpPr txBox="1">
            <a:spLocks noChangeArrowheads="1"/>
          </p:cNvSpPr>
          <p:nvPr/>
        </p:nvSpPr>
        <p:spPr>
          <a:xfrm>
            <a:off x="771087" y="1764506"/>
            <a:ext cx="7982388" cy="348615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Example: two competing TCP sessions:</a:t>
            </a:r>
          </a:p>
          <a:p>
            <a:pPr marL="342900" indent="-161925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additive increase gives slope of 1, as throughout increases</a:t>
            </a:r>
          </a:p>
          <a:p>
            <a:pPr marL="342900" indent="-161925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multiplicative decrease decreases throughput proportionally </a:t>
            </a:r>
          </a:p>
        </p:txBody>
      </p:sp>
      <p:sp>
        <p:nvSpPr>
          <p:cNvPr id="58" name="Line 4">
            <a:extLst>
              <a:ext uri="{FF2B5EF4-FFF2-40B4-BE49-F238E27FC236}">
                <a16:creationId xmlns:a16="http://schemas.microsoft.com/office/drawing/2014/main" id="{DBA281FC-CC2B-3B4C-8CA6-4EDCC95E7F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6350" y="5425678"/>
            <a:ext cx="272891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59" name="Line 5">
            <a:extLst>
              <a:ext uri="{FF2B5EF4-FFF2-40B4-BE49-F238E27FC236}">
                <a16:creationId xmlns:a16="http://schemas.microsoft.com/office/drawing/2014/main" id="{B4E196DB-854B-3549-98E9-F41F0D1F00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76350" y="3103959"/>
            <a:ext cx="0" cy="23145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60" name="Line 6">
            <a:extLst>
              <a:ext uri="{FF2B5EF4-FFF2-40B4-BE49-F238E27FC236}">
                <a16:creationId xmlns:a16="http://schemas.microsoft.com/office/drawing/2014/main" id="{5542C2C0-67F6-994A-AEFC-E5B2460F1F4B}"/>
              </a:ext>
            </a:extLst>
          </p:cNvPr>
          <p:cNvSpPr>
            <a:spLocks noChangeShapeType="1"/>
          </p:cNvSpPr>
          <p:nvPr/>
        </p:nvSpPr>
        <p:spPr bwMode="auto">
          <a:xfrm rot="-2938105" flipH="1" flipV="1">
            <a:off x="821532" y="4405313"/>
            <a:ext cx="2670572" cy="10715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62" name="Line 7">
            <a:extLst>
              <a:ext uri="{FF2B5EF4-FFF2-40B4-BE49-F238E27FC236}">
                <a16:creationId xmlns:a16="http://schemas.microsoft.com/office/drawing/2014/main" id="{7A0A4AB6-5EF9-8440-BAF1-06A321FDC13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62063" y="3289697"/>
            <a:ext cx="2114550" cy="2107406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kern="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63" name="Text Box 8">
            <a:extLst>
              <a:ext uri="{FF2B5EF4-FFF2-40B4-BE49-F238E27FC236}">
                <a16:creationId xmlns:a16="http://schemas.microsoft.com/office/drawing/2014/main" id="{17AEECBA-CCAD-AA47-9887-C9E20B682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935" y="3161109"/>
            <a:ext cx="302419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500" dirty="0">
                <a:solidFill>
                  <a:srgbClr val="000000"/>
                </a:solidFill>
                <a:latin typeface="Arial" charset="0"/>
              </a:rPr>
              <a:t>R</a:t>
            </a:r>
            <a:endParaRPr lang="en-US" sz="75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4" name="Text Box 9">
            <a:extLst>
              <a:ext uri="{FF2B5EF4-FFF2-40B4-BE49-F238E27FC236}">
                <a16:creationId xmlns:a16="http://schemas.microsoft.com/office/drawing/2014/main" id="{5D2A8ED6-62FA-AA4E-B95C-0B1A80981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3498" y="5447109"/>
            <a:ext cx="302419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500" dirty="0">
                <a:solidFill>
                  <a:srgbClr val="000000"/>
                </a:solidFill>
                <a:latin typeface="Arial" charset="0"/>
              </a:rPr>
              <a:t>R</a:t>
            </a:r>
            <a:endParaRPr lang="en-US" sz="75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5" name="Text Box 10">
            <a:extLst>
              <a:ext uri="{FF2B5EF4-FFF2-40B4-BE49-F238E27FC236}">
                <a16:creationId xmlns:a16="http://schemas.microsoft.com/office/drawing/2014/main" id="{B2E2FDC0-B672-3448-804D-624A98C18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479" y="3153965"/>
            <a:ext cx="2659856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350" dirty="0">
                <a:solidFill>
                  <a:srgbClr val="000000"/>
                </a:solidFill>
                <a:latin typeface="Arial" charset="0"/>
              </a:rPr>
              <a:t>equal bandwidth share</a:t>
            </a:r>
            <a:endParaRPr lang="en-US" sz="75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6" name="Text Box 11">
            <a:extLst>
              <a:ext uri="{FF2B5EF4-FFF2-40B4-BE49-F238E27FC236}">
                <a16:creationId xmlns:a16="http://schemas.microsoft.com/office/drawing/2014/main" id="{14F93699-B5A1-D14D-8FB0-AA9B53890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060" y="5432821"/>
            <a:ext cx="2659856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350" dirty="0">
                <a:solidFill>
                  <a:srgbClr val="000000"/>
                </a:solidFill>
                <a:latin typeface="Arial" charset="0"/>
              </a:rPr>
              <a:t>Connection 1 throughput</a:t>
            </a:r>
            <a:endParaRPr lang="en-US" sz="75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7" name="Text Box 12">
            <a:extLst>
              <a:ext uri="{FF2B5EF4-FFF2-40B4-BE49-F238E27FC236}">
                <a16:creationId xmlns:a16="http://schemas.microsoft.com/office/drawing/2014/main" id="{21CCCAB1-09D9-8E4C-AB43-05B1CC4E61F5}"/>
              </a:ext>
            </a:extLst>
          </p:cNvPr>
          <p:cNvSpPr txBox="1">
            <a:spLocks noChangeArrowheads="1"/>
          </p:cNvSpPr>
          <p:nvPr/>
        </p:nvSpPr>
        <p:spPr bwMode="auto">
          <a:xfrm rot="-5396642">
            <a:off x="-205383" y="4324328"/>
            <a:ext cx="2659856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350" dirty="0">
                <a:solidFill>
                  <a:srgbClr val="000000"/>
                </a:solidFill>
                <a:latin typeface="Arial" charset="0"/>
              </a:rPr>
              <a:t>Connection 2 throughput</a:t>
            </a:r>
            <a:endParaRPr lang="en-US" sz="75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8" name="Line 13">
            <a:extLst>
              <a:ext uri="{FF2B5EF4-FFF2-40B4-BE49-F238E27FC236}">
                <a16:creationId xmlns:a16="http://schemas.microsoft.com/office/drawing/2014/main" id="{5F5EBC46-A27F-8D4B-BB71-A9A69889B2CA}"/>
              </a:ext>
            </a:extLst>
          </p:cNvPr>
          <p:cNvSpPr>
            <a:spLocks noChangeShapeType="1"/>
          </p:cNvSpPr>
          <p:nvPr/>
        </p:nvSpPr>
        <p:spPr bwMode="auto">
          <a:xfrm rot="-2938105" flipH="1" flipV="1">
            <a:off x="2103834" y="4868466"/>
            <a:ext cx="970360" cy="3572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69" name="Text Box 14">
            <a:extLst>
              <a:ext uri="{FF2B5EF4-FFF2-40B4-BE49-F238E27FC236}">
                <a16:creationId xmlns:a16="http://schemas.microsoft.com/office/drawing/2014/main" id="{40C340D3-D186-C146-A88F-B4C6DA375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6279" y="4546997"/>
            <a:ext cx="340280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latin typeface="Arial" charset="0"/>
              </a:rPr>
              <a:t>congestion avoidance: additive increase</a:t>
            </a:r>
            <a:endParaRPr lang="en-US" sz="75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70" name="Line 15">
            <a:extLst>
              <a:ext uri="{FF2B5EF4-FFF2-40B4-BE49-F238E27FC236}">
                <a16:creationId xmlns:a16="http://schemas.microsoft.com/office/drawing/2014/main" id="{F674B59D-1466-9848-98C7-F85A4B7C26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19301" y="4518422"/>
            <a:ext cx="878681" cy="473869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71" name="Text Box 16">
            <a:extLst>
              <a:ext uri="{FF2B5EF4-FFF2-40B4-BE49-F238E27FC236}">
                <a16:creationId xmlns:a16="http://schemas.microsoft.com/office/drawing/2014/main" id="{0A077D32-CBC6-0E40-85C7-A1E8D5167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3067" y="4363641"/>
            <a:ext cx="265970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latin typeface="Arial" charset="0"/>
              </a:rPr>
              <a:t>loss: decrease window by factor of 2</a:t>
            </a:r>
            <a:endParaRPr lang="en-US" sz="75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72" name="Line 17">
            <a:extLst>
              <a:ext uri="{FF2B5EF4-FFF2-40B4-BE49-F238E27FC236}">
                <a16:creationId xmlns:a16="http://schemas.microsoft.com/office/drawing/2014/main" id="{B9476A6C-10EE-1541-8903-FE6263CE8822}"/>
              </a:ext>
            </a:extLst>
          </p:cNvPr>
          <p:cNvSpPr>
            <a:spLocks noChangeShapeType="1"/>
          </p:cNvSpPr>
          <p:nvPr/>
        </p:nvSpPr>
        <p:spPr bwMode="auto">
          <a:xfrm rot="-2938105" flipH="1" flipV="1">
            <a:off x="1863329" y="4623197"/>
            <a:ext cx="977503" cy="1786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73" name="Text Box 18">
            <a:extLst>
              <a:ext uri="{FF2B5EF4-FFF2-40B4-BE49-F238E27FC236}">
                <a16:creationId xmlns:a16="http://schemas.microsoft.com/office/drawing/2014/main" id="{FCED3372-6EB5-0244-B6B3-A1566B982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1967" y="4182666"/>
            <a:ext cx="340280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latin typeface="Arial" charset="0"/>
              </a:rPr>
              <a:t>congestion avoidance: additive increase</a:t>
            </a:r>
            <a:endParaRPr lang="en-US" sz="75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74" name="Line 19">
            <a:extLst>
              <a:ext uri="{FF2B5EF4-FFF2-40B4-BE49-F238E27FC236}">
                <a16:creationId xmlns:a16="http://schemas.microsoft.com/office/drawing/2014/main" id="{4E5DDD32-0D26-E049-B9F7-C4FBF7E651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12144" y="4304110"/>
            <a:ext cx="735806" cy="573881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75" name="Text Box 20">
            <a:extLst>
              <a:ext uri="{FF2B5EF4-FFF2-40B4-BE49-F238E27FC236}">
                <a16:creationId xmlns:a16="http://schemas.microsoft.com/office/drawing/2014/main" id="{A03E8186-B72C-F340-B288-4F7DBF876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3030" y="4027885"/>
            <a:ext cx="265970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latin typeface="Arial" charset="0"/>
              </a:rPr>
              <a:t>loss: decrease window by factor of 2</a:t>
            </a:r>
            <a:endParaRPr lang="en-US" sz="75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76" name="Line 21">
            <a:extLst>
              <a:ext uri="{FF2B5EF4-FFF2-40B4-BE49-F238E27FC236}">
                <a16:creationId xmlns:a16="http://schemas.microsoft.com/office/drawing/2014/main" id="{23ACBCF3-355B-D845-A208-0AA50EB86E08}"/>
              </a:ext>
            </a:extLst>
          </p:cNvPr>
          <p:cNvSpPr>
            <a:spLocks noChangeShapeType="1"/>
          </p:cNvSpPr>
          <p:nvPr/>
        </p:nvSpPr>
        <p:spPr bwMode="auto">
          <a:xfrm rot="-2938105" flipH="1" flipV="1">
            <a:off x="1755577" y="4513065"/>
            <a:ext cx="959644" cy="10715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77" name="Line 22">
            <a:extLst>
              <a:ext uri="{FF2B5EF4-FFF2-40B4-BE49-F238E27FC236}">
                <a16:creationId xmlns:a16="http://schemas.microsoft.com/office/drawing/2014/main" id="{E273C730-C7D8-1A43-9E3B-00ABA35C53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2138" y="4168378"/>
            <a:ext cx="683419" cy="66675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78" name="Line 23">
            <a:extLst>
              <a:ext uri="{FF2B5EF4-FFF2-40B4-BE49-F238E27FC236}">
                <a16:creationId xmlns:a16="http://schemas.microsoft.com/office/drawing/2014/main" id="{D3308B5F-47D8-A74E-B415-FFCEF8B0042F}"/>
              </a:ext>
            </a:extLst>
          </p:cNvPr>
          <p:cNvSpPr>
            <a:spLocks noChangeShapeType="1"/>
          </p:cNvSpPr>
          <p:nvPr/>
        </p:nvSpPr>
        <p:spPr bwMode="auto">
          <a:xfrm rot="-2938105" flipH="1" flipV="1">
            <a:off x="1696046" y="4465440"/>
            <a:ext cx="959644" cy="10715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161D4D-6036-7840-9C2A-DD136DFE6AC3}"/>
              </a:ext>
            </a:extLst>
          </p:cNvPr>
          <p:cNvGrpSpPr/>
          <p:nvPr/>
        </p:nvGrpSpPr>
        <p:grpSpPr>
          <a:xfrm>
            <a:off x="5987333" y="3261208"/>
            <a:ext cx="2898031" cy="2035094"/>
            <a:chOff x="7983110" y="3205277"/>
            <a:chExt cx="3864041" cy="271345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F689499-145C-2146-9B69-DB52B42A4EDB}"/>
                </a:ext>
              </a:extLst>
            </p:cNvPr>
            <p:cNvSpPr txBox="1"/>
            <p:nvPr/>
          </p:nvSpPr>
          <p:spPr>
            <a:xfrm>
              <a:off x="8130707" y="3671674"/>
              <a:ext cx="3703160" cy="2228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lnSpc>
                  <a:spcPct val="90000"/>
                </a:lnSpc>
                <a:defRPr/>
              </a:pPr>
              <a:r>
                <a:rPr lang="en-US" sz="2100" i="1" dirty="0">
                  <a:solidFill>
                    <a:srgbClr val="C00000"/>
                  </a:solidFill>
                  <a:latin typeface="Calibri" panose="020F0502020204030204"/>
                </a:rPr>
                <a:t>A: </a:t>
              </a:r>
              <a:r>
                <a:rPr lang="en-US" sz="2100" dirty="0">
                  <a:solidFill>
                    <a:prstClr val="black"/>
                  </a:solidFill>
                  <a:latin typeface="Calibri" panose="020F0502020204030204"/>
                </a:rPr>
                <a:t>Yes, under idealized assumptions:</a:t>
              </a:r>
            </a:p>
            <a:p>
              <a:pPr marL="257175" indent="-171450" defTabSz="685800">
                <a:lnSpc>
                  <a:spcPct val="90000"/>
                </a:lnSpc>
                <a:buClr>
                  <a:srgbClr val="0000A8"/>
                </a:buClr>
                <a:buFont typeface="Wingdings" pitchFamily="2" charset="2"/>
                <a:buChar char="§"/>
                <a:defRPr/>
              </a:pPr>
              <a:r>
                <a:rPr lang="en-US" dirty="0">
                  <a:solidFill>
                    <a:prstClr val="black"/>
                  </a:solidFill>
                  <a:latin typeface="Calibri" panose="020F0502020204030204"/>
                </a:rPr>
                <a:t>same RTT</a:t>
              </a:r>
            </a:p>
            <a:p>
              <a:pPr marL="257175" indent="-171450" defTabSz="685800">
                <a:lnSpc>
                  <a:spcPct val="90000"/>
                </a:lnSpc>
                <a:buClr>
                  <a:srgbClr val="0000A8"/>
                </a:buClr>
                <a:buFont typeface="Wingdings" pitchFamily="2" charset="2"/>
                <a:buChar char="§"/>
                <a:defRPr/>
              </a:pPr>
              <a:r>
                <a:rPr lang="en-US" dirty="0">
                  <a:solidFill>
                    <a:prstClr val="black"/>
                  </a:solidFill>
                  <a:latin typeface="Calibri" panose="020F0502020204030204"/>
                </a:rPr>
                <a:t>fixed number of sessions only in congestion avoidance 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1B3A82D-3CAE-9B48-AD89-484CB7470DDC}"/>
                </a:ext>
              </a:extLst>
            </p:cNvPr>
            <p:cNvSpPr/>
            <p:nvPr/>
          </p:nvSpPr>
          <p:spPr>
            <a:xfrm>
              <a:off x="7983110" y="3468687"/>
              <a:ext cx="3864041" cy="2450048"/>
            </a:xfrm>
            <a:prstGeom prst="rect">
              <a:avLst/>
            </a:prstGeom>
            <a:noFill/>
            <a:ln w="222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810BBF2-F84D-F54A-8EA9-8C4CDEC1F8FC}"/>
                </a:ext>
              </a:extLst>
            </p:cNvPr>
            <p:cNvSpPr/>
            <p:nvPr/>
          </p:nvSpPr>
          <p:spPr>
            <a:xfrm>
              <a:off x="8338252" y="3328994"/>
              <a:ext cx="1762727" cy="255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AF32648-965E-544D-9501-D321D85B1D2E}"/>
                </a:ext>
              </a:extLst>
            </p:cNvPr>
            <p:cNvSpPr txBox="1"/>
            <p:nvPr/>
          </p:nvSpPr>
          <p:spPr>
            <a:xfrm>
              <a:off x="8332482" y="3205277"/>
              <a:ext cx="1832724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2100" i="1" dirty="0">
                  <a:solidFill>
                    <a:srgbClr val="C00000"/>
                  </a:solidFill>
                  <a:latin typeface="Calibri" panose="020F0502020204030204"/>
                </a:rPr>
                <a:t>Is</a:t>
              </a:r>
              <a:r>
                <a:rPr lang="en-US" sz="2100" dirty="0">
                  <a:solidFill>
                    <a:srgbClr val="C00000"/>
                  </a:solidFill>
                  <a:latin typeface="Calibri" panose="020F0502020204030204"/>
                </a:rPr>
                <a:t> TCP fair?</a:t>
              </a:r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7F874365-E6FC-E74F-ABF0-F2402AFDE7DD}"/>
              </a:ext>
            </a:extLst>
          </p:cNvPr>
          <p:cNvSpPr/>
          <p:nvPr/>
        </p:nvSpPr>
        <p:spPr>
          <a:xfrm>
            <a:off x="2248706" y="5128785"/>
            <a:ext cx="124691" cy="12469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9582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utoUpdateAnimBg="0"/>
      <p:bldP spid="71" grpId="0" autoUpdateAnimBg="0"/>
      <p:bldP spid="73" grpId="0" autoUpdateAnimBg="0"/>
      <p:bldP spid="75" grpId="0" autoUpdateAnimBg="0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E5DE9-7171-ABE8-14FC-CDF4D427C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13469"/>
            <a:ext cx="7886700" cy="74506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Thanks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5CF3F-2EF3-BC1A-AE92-1417AE1C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BC41B36-6335-F546-90B9-E2121371E10D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0DBBE3-FC6B-25D4-1813-2EBD68F50C41}"/>
              </a:ext>
            </a:extLst>
          </p:cNvPr>
          <p:cNvSpPr txBox="1"/>
          <p:nvPr/>
        </p:nvSpPr>
        <p:spPr>
          <a:xfrm>
            <a:off x="628651" y="4626393"/>
            <a:ext cx="73596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Acknowledgment</a:t>
            </a:r>
          </a:p>
          <a:p>
            <a:endParaRPr lang="en-US" sz="1200" dirty="0"/>
          </a:p>
          <a:p>
            <a:r>
              <a:rPr lang="en-US" sz="1200" dirty="0"/>
              <a:t>The materials for this course are in part based upon the materials from a number of people/sources, including: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Official website of the Kurose and Ross text: Computer Networking: A Top-Down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Official website of the Tanenbaum &amp; Wetherall text: Computer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Dr. Murat Yuksel: </a:t>
            </a:r>
            <a:r>
              <a:rPr lang="en-US" sz="1200" dirty="0">
                <a:hlinkClick r:id="rId2"/>
              </a:rPr>
              <a:t>https://www.ece.ucf.edu/~yuksem/teaching/EEL-4781-Fall-2020.html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Dr. Raj Jain: </a:t>
            </a:r>
            <a:r>
              <a:rPr lang="en-US" sz="1200" dirty="0">
                <a:hlinkClick r:id="rId3"/>
              </a:rPr>
              <a:t>https://www.cse.wustl.edu/~jain/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857955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Fairness: must all network apps be “fair”?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B4DB5-6C9B-33F1-1956-DB2BD4033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3FCF3160-EC3C-DC4B-A6F8-97BCA1C9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Transport Layer: 3-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27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BC3F9D5B-2A52-F04E-8551-FB9FA3EB2D43}"/>
              </a:ext>
            </a:extLst>
          </p:cNvPr>
          <p:cNvSpPr txBox="1">
            <a:spLocks noChangeArrowheads="1"/>
          </p:cNvSpPr>
          <p:nvPr/>
        </p:nvSpPr>
        <p:spPr>
          <a:xfrm>
            <a:off x="561975" y="1771650"/>
            <a:ext cx="3905250" cy="3486150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Calibri" panose="020F0502020204030204"/>
              </a:rPr>
              <a:t>Fairness and UDP</a:t>
            </a:r>
          </a:p>
          <a:p>
            <a:pPr marL="264319" indent="-166688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multimedia apps often do not use TCP</a:t>
            </a:r>
          </a:p>
          <a:p>
            <a:pPr marL="521494" lvl="1" indent="-173831" defTabSz="685800">
              <a:spcBef>
                <a:spcPts val="375"/>
              </a:spcBef>
              <a:buFont typeface="Arial"/>
              <a:buChar char="•"/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do not want rate throttled by congestion control</a:t>
            </a:r>
          </a:p>
          <a:p>
            <a:pPr marL="264319" indent="-166688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instead use UDP:</a:t>
            </a:r>
          </a:p>
          <a:p>
            <a:pPr marL="521494" lvl="1" indent="-173831" defTabSz="685800">
              <a:spcBef>
                <a:spcPts val="375"/>
              </a:spcBef>
              <a:buFont typeface="Arial"/>
              <a:buChar char="•"/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send audio/video at constant rate, tolerate packet loss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there is no “Internet police” policing use of congestion control</a:t>
            </a:r>
          </a:p>
          <a:p>
            <a:pPr marL="264319" indent="-166688" defTabSz="685800">
              <a:spcBef>
                <a:spcPts val="750"/>
              </a:spcBef>
              <a:buFont typeface="Wingdings" charset="2"/>
              <a:buChar char="§"/>
              <a:defRPr/>
            </a:pP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87BD890A-15A2-C240-921B-F2A9B54123D0}"/>
              </a:ext>
            </a:extLst>
          </p:cNvPr>
          <p:cNvSpPr txBox="1">
            <a:spLocks noChangeArrowheads="1"/>
          </p:cNvSpPr>
          <p:nvPr/>
        </p:nvSpPr>
        <p:spPr>
          <a:xfrm>
            <a:off x="4657726" y="1752600"/>
            <a:ext cx="4181475" cy="3800475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spcBef>
                <a:spcPts val="750"/>
              </a:spcBef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Calibri" panose="020F0502020204030204"/>
              </a:rPr>
              <a:t>Fairness, parallel TCP connections</a:t>
            </a:r>
          </a:p>
          <a:p>
            <a:pPr marL="264319" indent="-166688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application can open </a:t>
            </a:r>
            <a:r>
              <a:rPr lang="en-US" sz="2100" i="1" dirty="0">
                <a:solidFill>
                  <a:prstClr val="black"/>
                </a:solidFill>
                <a:latin typeface="Calibri" panose="020F0502020204030204"/>
              </a:rPr>
              <a:t>multiple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parallel connections between two hosts</a:t>
            </a:r>
          </a:p>
          <a:p>
            <a:pPr marL="264319" indent="-166688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web browsers do this , e.g., link of rate R with 9 existing connections:</a:t>
            </a:r>
          </a:p>
          <a:p>
            <a:pPr marL="521494" lvl="1" indent="-173831" defTabSz="685800">
              <a:spcBef>
                <a:spcPts val="375"/>
              </a:spcBef>
              <a:buFont typeface="Arial"/>
              <a:buChar char="•"/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new app asks for 1 TCP, gets rate R/10</a:t>
            </a:r>
          </a:p>
          <a:p>
            <a:pPr marL="521494" lvl="1" indent="-173831" defTabSz="685800">
              <a:spcBef>
                <a:spcPts val="375"/>
              </a:spcBef>
              <a:buFont typeface="Arial"/>
              <a:buChar char="•"/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new app asks for 11 TCPs, gets R/2 </a:t>
            </a:r>
          </a:p>
          <a:p>
            <a:pPr marL="264319" indent="-166688" defTabSz="685800">
              <a:spcBef>
                <a:spcPts val="750"/>
              </a:spcBef>
              <a:buFont typeface="Wingdings" charset="2"/>
              <a:buChar char="§"/>
              <a:defRPr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marL="264319" indent="-166688" defTabSz="685800">
              <a:spcBef>
                <a:spcPts val="750"/>
              </a:spcBef>
              <a:buFont typeface="Wingdings" charset="2"/>
              <a:buChar char="§"/>
              <a:defRPr/>
            </a:pP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6675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TCP round trip time, timeout</a:t>
            </a:r>
            <a:endParaRPr lang="en-US" sz="3300" dirty="0"/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0FC6F86E-C16B-C949-B055-1DD32A860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9" name="Rectangle 5">
            <a:extLst>
              <a:ext uri="{FF2B5EF4-FFF2-40B4-BE49-F238E27FC236}">
                <a16:creationId xmlns:a16="http://schemas.microsoft.com/office/drawing/2014/main" id="{818E497C-5ADD-8648-BF4A-762A1B89120F}"/>
              </a:ext>
            </a:extLst>
          </p:cNvPr>
          <p:cNvSpPr txBox="1">
            <a:spLocks noChangeArrowheads="1"/>
          </p:cNvSpPr>
          <p:nvPr/>
        </p:nvSpPr>
        <p:spPr>
          <a:xfrm>
            <a:off x="476353" y="2010631"/>
            <a:ext cx="8495759" cy="84687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timeout interval:</a:t>
            </a:r>
            <a:r>
              <a:rPr lang="en-US" altLang="en-US" sz="2100" b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</a:t>
            </a:r>
            <a:r>
              <a:rPr lang="en-US" altLang="en-US" sz="2100" b="1" dirty="0">
                <a:solidFill>
                  <a:prstClr val="black"/>
                </a:solidFill>
                <a:latin typeface="Courier" pitchFamily="2" charset="0"/>
                <a:ea typeface="ＭＳ Ｐゴシック" panose="020B0600070205080204" pitchFamily="34" charset="-128"/>
              </a:rPr>
              <a:t>EstimatedRTT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plus “</a:t>
            </a:r>
            <a:r>
              <a:rPr lang="en-US" altLang="ja-JP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safety margin”</a:t>
            </a:r>
          </a:p>
          <a:p>
            <a:pPr marL="521494" lvl="1" indent="-173831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large variation in  </a:t>
            </a:r>
            <a:r>
              <a:rPr lang="en-US" altLang="en-US" sz="2100" b="1" dirty="0">
                <a:solidFill>
                  <a:prstClr val="black"/>
                </a:solidFill>
                <a:latin typeface="Courier" pitchFamily="2" charset="0"/>
                <a:ea typeface="ＭＳ Ｐゴシック" panose="020B0600070205080204" pitchFamily="34" charset="-128"/>
              </a:rPr>
              <a:t>EstimatedRTT: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want a larger safety margin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8DFD149-D3B6-7049-8FD3-A4E0D481C064}"/>
              </a:ext>
            </a:extLst>
          </p:cNvPr>
          <p:cNvGrpSpPr/>
          <p:nvPr/>
        </p:nvGrpSpPr>
        <p:grpSpPr>
          <a:xfrm>
            <a:off x="796091" y="2867026"/>
            <a:ext cx="7149364" cy="919157"/>
            <a:chOff x="858254" y="2667000"/>
            <a:chExt cx="9532485" cy="1225542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D78BD41-D638-4D4B-B561-317912C0037E}"/>
                </a:ext>
              </a:extLst>
            </p:cNvPr>
            <p:cNvSpPr/>
            <p:nvPr/>
          </p:nvSpPr>
          <p:spPr>
            <a:xfrm>
              <a:off x="858254" y="2667000"/>
              <a:ext cx="9532485" cy="4616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2" name="Rectangle 13">
              <a:extLst>
                <a:ext uri="{FF2B5EF4-FFF2-40B4-BE49-F238E27FC236}">
                  <a16:creationId xmlns:a16="http://schemas.microsoft.com/office/drawing/2014/main" id="{13338CC9-61FA-4847-87D5-4B4830DB8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979" y="2701243"/>
              <a:ext cx="7918450" cy="692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257175" indent="-257175" defTabSz="685800">
                <a:defRPr/>
              </a:pPr>
              <a:r>
                <a:rPr lang="en-US" b="1" dirty="0">
                  <a:solidFill>
                    <a:prstClr val="black"/>
                  </a:solidFill>
                  <a:latin typeface="Courier New" charset="0"/>
                  <a:ea typeface="ＭＳ Ｐゴシック" charset="0"/>
                </a:rPr>
                <a:t>TimeoutInterval = EstimatedRTT + 4*DevRTT</a:t>
              </a:r>
            </a:p>
          </p:txBody>
        </p:sp>
        <p:sp>
          <p:nvSpPr>
            <p:cNvPr id="63" name="Text Box 14">
              <a:extLst>
                <a:ext uri="{FF2B5EF4-FFF2-40B4-BE49-F238E27FC236}">
                  <a16:creationId xmlns:a16="http://schemas.microsoft.com/office/drawing/2014/main" id="{29ECD817-A810-F04B-85CA-8D6E49B8D6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4854" y="3442607"/>
              <a:ext cx="1870427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500" dirty="0">
                  <a:solidFill>
                    <a:srgbClr val="000099"/>
                  </a:solidFill>
                </a:rPr>
                <a:t>estimated RTT</a:t>
              </a:r>
            </a:p>
          </p:txBody>
        </p:sp>
        <p:sp>
          <p:nvSpPr>
            <p:cNvPr id="64" name="Text Box 16">
              <a:extLst>
                <a:ext uri="{FF2B5EF4-FFF2-40B4-BE49-F238E27FC236}">
                  <a16:creationId xmlns:a16="http://schemas.microsoft.com/office/drawing/2014/main" id="{B6E79AC7-559E-CA4D-B400-169E15D644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6904" y="3461656"/>
              <a:ext cx="2041756" cy="430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r>
                <a:rPr lang="ja-JP" altLang="en-US" sz="1500">
                  <a:solidFill>
                    <a:srgbClr val="000099"/>
                  </a:solidFill>
                </a:rPr>
                <a:t>“</a:t>
              </a:r>
              <a:r>
                <a:rPr lang="en-US" altLang="ja-JP" sz="1500" dirty="0">
                  <a:solidFill>
                    <a:srgbClr val="000099"/>
                  </a:solidFill>
                </a:rPr>
                <a:t>safety margin</a:t>
              </a:r>
              <a:r>
                <a:rPr lang="ja-JP" altLang="en-US" sz="1500">
                  <a:solidFill>
                    <a:srgbClr val="000099"/>
                  </a:solidFill>
                </a:rPr>
                <a:t>”</a:t>
              </a:r>
              <a:endParaRPr lang="en-US" altLang="en-US" sz="1500" dirty="0">
                <a:solidFill>
                  <a:srgbClr val="000099"/>
                </a:solidFill>
              </a:endParaRPr>
            </a:p>
          </p:txBody>
        </p:sp>
        <p:sp>
          <p:nvSpPr>
            <p:cNvPr id="65" name="Line 17">
              <a:extLst>
                <a:ext uri="{FF2B5EF4-FFF2-40B4-BE49-F238E27FC236}">
                  <a16:creationId xmlns:a16="http://schemas.microsoft.com/office/drawing/2014/main" id="{FF049043-4FEA-C546-ADC2-E314E7D23C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01779" y="3082243"/>
              <a:ext cx="0" cy="44608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66" name="Line 19">
              <a:extLst>
                <a:ext uri="{FF2B5EF4-FFF2-40B4-BE49-F238E27FC236}">
                  <a16:creationId xmlns:a16="http://schemas.microsoft.com/office/drawing/2014/main" id="{F55903EC-FD0A-654A-913F-52F13FFBE6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73529" y="3088593"/>
              <a:ext cx="0" cy="44608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Tahoma" charset="0"/>
                <a:ea typeface="ＭＳ Ｐゴシック" charset="0"/>
              </a:endParaRPr>
            </a:p>
          </p:txBody>
        </p:sp>
        <p:pic>
          <p:nvPicPr>
            <p:cNvPr id="67" name="Picture 20" descr="alarm_clock_ringing">
              <a:extLst>
                <a:ext uri="{FF2B5EF4-FFF2-40B4-BE49-F238E27FC236}">
                  <a16:creationId xmlns:a16="http://schemas.microsoft.com/office/drawing/2014/main" id="{DF906935-706B-2B43-B876-CAD3FE51C7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5043" y="3238052"/>
              <a:ext cx="646558" cy="622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2E77073-7604-A04F-8597-12BF5941CCE7}"/>
              </a:ext>
            </a:extLst>
          </p:cNvPr>
          <p:cNvGrpSpPr/>
          <p:nvPr/>
        </p:nvGrpSpPr>
        <p:grpSpPr>
          <a:xfrm>
            <a:off x="978360" y="4478018"/>
            <a:ext cx="7834804" cy="730542"/>
            <a:chOff x="1837879" y="3151290"/>
            <a:chExt cx="10446405" cy="97405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D88E7C6-ABA1-FA45-A2D5-10F964EB5DB8}"/>
                </a:ext>
              </a:extLst>
            </p:cNvPr>
            <p:cNvSpPr/>
            <p:nvPr/>
          </p:nvSpPr>
          <p:spPr>
            <a:xfrm>
              <a:off x="1837879" y="3151290"/>
              <a:ext cx="9532486" cy="52228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0" name="Text Box 7">
              <a:extLst>
                <a:ext uri="{FF2B5EF4-FFF2-40B4-BE49-F238E27FC236}">
                  <a16:creationId xmlns:a16="http://schemas.microsoft.com/office/drawing/2014/main" id="{2F6AE672-95B4-DF44-B435-567781B49E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7879" y="3151831"/>
              <a:ext cx="10018644" cy="492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800" b="1" dirty="0">
                  <a:solidFill>
                    <a:prstClr val="black"/>
                  </a:solidFill>
                  <a:latin typeface="Courier" pitchFamily="2" charset="0"/>
                </a:rPr>
                <a:t>DevRTT = </a:t>
              </a:r>
              <a:r>
                <a:rPr lang="en-US" sz="1800" b="1" dirty="0">
                  <a:solidFill>
                    <a:prstClr val="black"/>
                  </a:solidFill>
                  <a:latin typeface="Courier New" charset="0"/>
                </a:rPr>
                <a:t>(1-</a:t>
              </a:r>
              <a:r>
                <a:rPr lang="en-US" sz="1800" b="1" dirty="0">
                  <a:solidFill>
                    <a:prstClr val="black"/>
                  </a:solidFill>
                  <a:latin typeface="Courier New" charset="0"/>
                  <a:sym typeface="Symbol" charset="0"/>
                </a:rPr>
                <a:t></a:t>
              </a:r>
              <a:r>
                <a:rPr lang="en-US" sz="1800" b="1" dirty="0">
                  <a:solidFill>
                    <a:prstClr val="black"/>
                  </a:solidFill>
                  <a:latin typeface="Courier New" charset="0"/>
                </a:rPr>
                <a:t>)*DevRTT + </a:t>
              </a:r>
              <a:r>
                <a:rPr lang="en-US" sz="1800" b="1" dirty="0">
                  <a:solidFill>
                    <a:prstClr val="black"/>
                  </a:solidFill>
                  <a:latin typeface="Courier New" charset="0"/>
                  <a:sym typeface="Symbol" charset="0"/>
                </a:rPr>
                <a:t></a:t>
              </a:r>
              <a:r>
                <a:rPr lang="en-US" sz="1800" b="1" dirty="0">
                  <a:solidFill>
                    <a:prstClr val="black"/>
                  </a:solidFill>
                  <a:latin typeface="Courier New" charset="0"/>
                </a:rPr>
                <a:t>*|SampleRTT-EstimatedRTT|</a:t>
              </a:r>
            </a:p>
          </p:txBody>
        </p:sp>
        <p:sp>
          <p:nvSpPr>
            <p:cNvPr id="61" name="Text Box 12">
              <a:extLst>
                <a:ext uri="{FF2B5EF4-FFF2-40B4-BE49-F238E27FC236}">
                  <a16:creationId xmlns:a16="http://schemas.microsoft.com/office/drawing/2014/main" id="{D33A459F-5B30-B942-A281-437341BBF1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98147" y="3694459"/>
              <a:ext cx="3386137" cy="430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500" dirty="0">
                  <a:solidFill>
                    <a:prstClr val="black"/>
                  </a:solidFill>
                  <a:latin typeface="Calibri" panose="020F0502020204030204"/>
                </a:rPr>
                <a:t>(typically, </a:t>
              </a:r>
              <a:r>
                <a:rPr lang="en-US" sz="1500" dirty="0">
                  <a:solidFill>
                    <a:prstClr val="black"/>
                  </a:solidFill>
                  <a:latin typeface="Courier New" charset="0"/>
                  <a:sym typeface="Symbol" charset="0"/>
                </a:rPr>
                <a:t></a:t>
              </a:r>
              <a:r>
                <a:rPr lang="en-US" sz="1500" b="1" dirty="0">
                  <a:solidFill>
                    <a:prstClr val="black"/>
                  </a:solidFill>
                  <a:latin typeface="Courier New" charset="0"/>
                  <a:sym typeface="Symbol" charset="0"/>
                </a:rPr>
                <a:t> </a:t>
              </a:r>
              <a:r>
                <a:rPr lang="en-US" sz="1500" dirty="0">
                  <a:solidFill>
                    <a:prstClr val="black"/>
                  </a:solidFill>
                  <a:latin typeface="Calibri" panose="020F0502020204030204"/>
                  <a:sym typeface="Symbol" charset="0"/>
                </a:rPr>
                <a:t>= 0.25)</a:t>
              </a:r>
            </a:p>
          </p:txBody>
        </p:sp>
      </p:grpSp>
      <p:sp>
        <p:nvSpPr>
          <p:cNvPr id="16" name="Rectangle 5">
            <a:extLst>
              <a:ext uri="{FF2B5EF4-FFF2-40B4-BE49-F238E27FC236}">
                <a16:creationId xmlns:a16="http://schemas.microsoft.com/office/drawing/2014/main" id="{4DBD9BE8-0206-984D-9734-DB015980BF63}"/>
              </a:ext>
            </a:extLst>
          </p:cNvPr>
          <p:cNvSpPr txBox="1">
            <a:spLocks noChangeArrowheads="1"/>
          </p:cNvSpPr>
          <p:nvPr/>
        </p:nvSpPr>
        <p:spPr>
          <a:xfrm>
            <a:off x="495403" y="4001356"/>
            <a:ext cx="8495759" cy="40872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b="1" dirty="0">
                <a:solidFill>
                  <a:prstClr val="black"/>
                </a:solidFill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DevRTT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: EWMA of </a:t>
            </a:r>
            <a:r>
              <a:rPr lang="en-US" altLang="en-US" sz="2100" b="1" dirty="0">
                <a:solidFill>
                  <a:prstClr val="black"/>
                </a:solidFill>
                <a:latin typeface="Courier" pitchFamily="2" charset="0"/>
                <a:ea typeface="ＭＳ Ｐゴシック" panose="020B0600070205080204" pitchFamily="34" charset="-128"/>
              </a:rPr>
              <a:t>SampleRTT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deviation from </a:t>
            </a:r>
            <a:r>
              <a:rPr lang="en-US" altLang="en-US" sz="2100" b="1" dirty="0">
                <a:solidFill>
                  <a:prstClr val="black"/>
                </a:solidFill>
                <a:latin typeface="Courier" pitchFamily="2" charset="0"/>
                <a:ea typeface="ＭＳ Ｐゴシック" panose="020B0600070205080204" pitchFamily="34" charset="-128"/>
              </a:rPr>
              <a:t>EstimatedRTT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1392302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29732</TotalTime>
  <Words>2262</Words>
  <Application>Microsoft Office PowerPoint</Application>
  <PresentationFormat>On-screen Show (4:3)</PresentationFormat>
  <Paragraphs>521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Courier</vt:lpstr>
      <vt:lpstr>Arial</vt:lpstr>
      <vt:lpstr>Calibri</vt:lpstr>
      <vt:lpstr>Calibri Light</vt:lpstr>
      <vt:lpstr>Comic Sans MS</vt:lpstr>
      <vt:lpstr>Courier New</vt:lpstr>
      <vt:lpstr>Gill Sans MT</vt:lpstr>
      <vt:lpstr>Symbol</vt:lpstr>
      <vt:lpstr>Tahoma</vt:lpstr>
      <vt:lpstr>Times New Roman</vt:lpstr>
      <vt:lpstr>Wingdings</vt:lpstr>
      <vt:lpstr>Wingdings 3</vt:lpstr>
      <vt:lpstr>Office Theme</vt:lpstr>
      <vt:lpstr>2_Office Theme</vt:lpstr>
      <vt:lpstr>EEL 4781 Computer Communication Networks Chapter 3-4: Transport Layer</vt:lpstr>
      <vt:lpstr>Agenda </vt:lpstr>
      <vt:lpstr>Principles of congestion control</vt:lpstr>
      <vt:lpstr>Causes/costs of congestion: scenario 1 </vt:lpstr>
      <vt:lpstr>Causes/costs of congestion: scenario 2</vt:lpstr>
      <vt:lpstr>Causes/costs of congestion: scenario 2</vt:lpstr>
      <vt:lpstr>Causes/costs of congestion: scenario 2</vt:lpstr>
      <vt:lpstr>Causes/costs of congestion: scenario 2</vt:lpstr>
      <vt:lpstr>Causes/costs of congestion: scenario 2</vt:lpstr>
      <vt:lpstr>Causes/costs of congestion: scenario 2</vt:lpstr>
      <vt:lpstr>Causes/costs of congestion: scenario 3</vt:lpstr>
      <vt:lpstr>Causes/costs of congestion: scenario 3</vt:lpstr>
      <vt:lpstr>Causes/costs of congestion: insights</vt:lpstr>
      <vt:lpstr>Approaches towards congestion control</vt:lpstr>
      <vt:lpstr>Approaches towards congestion control</vt:lpstr>
      <vt:lpstr>Agenda </vt:lpstr>
      <vt:lpstr>TCP congestion control: AIMD</vt:lpstr>
      <vt:lpstr>TCP AIMD: more</vt:lpstr>
      <vt:lpstr>TCP congestion control: details</vt:lpstr>
      <vt:lpstr>TCP slow start </vt:lpstr>
      <vt:lpstr>TCP: from slow start to congestion avoidance</vt:lpstr>
      <vt:lpstr>Summary: TCP congestion control</vt:lpstr>
      <vt:lpstr>Explicit congestion notification (ECN)</vt:lpstr>
      <vt:lpstr>TCP fairness</vt:lpstr>
      <vt:lpstr>Q: is TCP Fair?</vt:lpstr>
      <vt:lpstr>PowerPoint Presentation</vt:lpstr>
      <vt:lpstr>Fairness: must all network apps be “fair”?</vt:lpstr>
      <vt:lpstr>TCP round trip time, timeout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Addressing Prolonged Restore Challenge in Further Scaling DRAMs</dc:title>
  <dc:creator>xw zhang</dc:creator>
  <cp:lastModifiedBy>Xin Xin</cp:lastModifiedBy>
  <cp:revision>617</cp:revision>
  <dcterms:created xsi:type="dcterms:W3CDTF">2017-06-28T02:53:02Z</dcterms:created>
  <dcterms:modified xsi:type="dcterms:W3CDTF">2025-02-26T00:52:31Z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1791174</vt:lpwstr>
  </property>
  <property fmtid="{D5CDD505-2E9C-101B-9397-08002B2CF9AE}" pid="3" name="NXPowerLiteSettings">
    <vt:lpwstr>B74006B004C800</vt:lpwstr>
  </property>
  <property fmtid="{D5CDD505-2E9C-101B-9397-08002B2CF9AE}" pid="4" name="NXPowerLiteVersion">
    <vt:lpwstr>D7.1.1</vt:lpwstr>
  </property>
</Properties>
</file>