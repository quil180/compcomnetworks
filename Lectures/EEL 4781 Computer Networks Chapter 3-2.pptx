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2">
  <p:sldMasterIdLst>
    <p:sldMasterId id="2147483851" r:id="rId1"/>
    <p:sldMasterId id="2147483868" r:id="rId2"/>
  </p:sldMasterIdLst>
  <p:notesMasterIdLst>
    <p:notesMasterId r:id="rId46"/>
  </p:notesMasterIdLst>
  <p:sldIdLst>
    <p:sldId id="256" r:id="rId3"/>
    <p:sldId id="1290" r:id="rId4"/>
    <p:sldId id="1061" r:id="rId5"/>
    <p:sldId id="1213" r:id="rId6"/>
    <p:sldId id="1214" r:id="rId7"/>
    <p:sldId id="1215" r:id="rId8"/>
    <p:sldId id="1062" r:id="rId9"/>
    <p:sldId id="1063" r:id="rId10"/>
    <p:sldId id="1064" r:id="rId11"/>
    <p:sldId id="1066" r:id="rId12"/>
    <p:sldId id="1065" r:id="rId13"/>
    <p:sldId id="1067" r:id="rId14"/>
    <p:sldId id="1291" r:id="rId15"/>
    <p:sldId id="1083" r:id="rId16"/>
    <p:sldId id="1068" r:id="rId17"/>
    <p:sldId id="1069" r:id="rId18"/>
    <p:sldId id="1070" r:id="rId19"/>
    <p:sldId id="1071" r:id="rId20"/>
    <p:sldId id="1072" r:id="rId21"/>
    <p:sldId id="1073" r:id="rId22"/>
    <p:sldId id="1074" r:id="rId23"/>
    <p:sldId id="1075" r:id="rId24"/>
    <p:sldId id="1076" r:id="rId25"/>
    <p:sldId id="1204" r:id="rId26"/>
    <p:sldId id="1103" r:id="rId27"/>
    <p:sldId id="1205" r:id="rId28"/>
    <p:sldId id="1078" r:id="rId29"/>
    <p:sldId id="1079" r:id="rId30"/>
    <p:sldId id="1087" r:id="rId31"/>
    <p:sldId id="1208" r:id="rId32"/>
    <p:sldId id="1090" r:id="rId33"/>
    <p:sldId id="1222" r:id="rId34"/>
    <p:sldId id="1092" r:id="rId35"/>
    <p:sldId id="1209" r:id="rId36"/>
    <p:sldId id="1210" r:id="rId37"/>
    <p:sldId id="1292" r:id="rId38"/>
    <p:sldId id="989" r:id="rId39"/>
    <p:sldId id="1269" r:id="rId40"/>
    <p:sldId id="1296" r:id="rId41"/>
    <p:sldId id="1267" r:id="rId42"/>
    <p:sldId id="1295" r:id="rId43"/>
    <p:sldId id="1268" r:id="rId44"/>
    <p:sldId id="1294"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2826" userDrawn="1">
          <p15:clr>
            <a:srgbClr val="A4A3A4"/>
          </p15:clr>
        </p15:guide>
        <p15:guide id="3" orient="horz" pos="4128" userDrawn="1">
          <p15:clr>
            <a:srgbClr val="A4A3A4"/>
          </p15:clr>
        </p15:guide>
        <p15:guide id="4" orient="horz" pos="2856" userDrawn="1">
          <p15:clr>
            <a:srgbClr val="A4A3A4"/>
          </p15:clr>
        </p15:guide>
        <p15:guide id="5" pos="1152" userDrawn="1">
          <p15:clr>
            <a:srgbClr val="A4A3A4"/>
          </p15:clr>
        </p15:guide>
        <p15:guide id="6" pos="3780" userDrawn="1">
          <p15:clr>
            <a:srgbClr val="A4A3A4"/>
          </p15:clr>
        </p15:guide>
        <p15:guide id="7" pos="17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7128"/>
    <a:srgbClr val="BA9B37"/>
    <a:srgbClr val="FFC904"/>
    <a:srgbClr val="C95B00"/>
    <a:srgbClr val="FF7C00"/>
    <a:srgbClr val="7F7F7F"/>
    <a:srgbClr val="4472C4"/>
    <a:srgbClr val="027D02"/>
    <a:srgbClr val="CFD5EA"/>
    <a:srgbClr val="007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E2E8C-D133-45AF-B581-EDA11D1F582D}" v="1" dt="2026-02-16T15:13:11.7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6" autoAdjust="0"/>
    <p:restoredTop sz="86369" autoAdjust="0"/>
  </p:normalViewPr>
  <p:slideViewPr>
    <p:cSldViewPr snapToGrid="0" snapToObjects="1">
      <p:cViewPr varScale="1">
        <p:scale>
          <a:sx n="139" d="100"/>
          <a:sy n="139" d="100"/>
        </p:scale>
        <p:origin x="2496" y="80"/>
      </p:cViewPr>
      <p:guideLst>
        <p:guide orient="horz" pos="1440"/>
        <p:guide pos="2826"/>
        <p:guide orient="horz" pos="4128"/>
        <p:guide orient="horz" pos="2856"/>
        <p:guide pos="1152"/>
        <p:guide pos="3780"/>
        <p:guide pos="174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Xin" userId="9ff0c946-7f3c-4192-98c1-6be932ce2bce" providerId="ADAL" clId="{756FBF97-58FD-4C5C-9E1D-839527CA400C}"/>
    <pc:docChg chg="addSld modSld">
      <pc:chgData name="Xin Xin" userId="9ff0c946-7f3c-4192-98c1-6be932ce2bce" providerId="ADAL" clId="{756FBF97-58FD-4C5C-9E1D-839527CA400C}" dt="2026-02-16T15:14:19.969" v="9" actId="108"/>
      <pc:docMkLst>
        <pc:docMk/>
      </pc:docMkLst>
      <pc:sldChg chg="add">
        <pc:chgData name="Xin Xin" userId="9ff0c946-7f3c-4192-98c1-6be932ce2bce" providerId="ADAL" clId="{756FBF97-58FD-4C5C-9E1D-839527CA400C}" dt="2026-02-16T15:13:11.703" v="0"/>
        <pc:sldMkLst>
          <pc:docMk/>
          <pc:sldMk cId="900481427" sldId="1267"/>
        </pc:sldMkLst>
      </pc:sldChg>
      <pc:sldChg chg="add">
        <pc:chgData name="Xin Xin" userId="9ff0c946-7f3c-4192-98c1-6be932ce2bce" providerId="ADAL" clId="{756FBF97-58FD-4C5C-9E1D-839527CA400C}" dt="2026-02-16T15:13:11.703" v="0"/>
        <pc:sldMkLst>
          <pc:docMk/>
          <pc:sldMk cId="97218505" sldId="1268"/>
        </pc:sldMkLst>
      </pc:sldChg>
      <pc:sldChg chg="add">
        <pc:chgData name="Xin Xin" userId="9ff0c946-7f3c-4192-98c1-6be932ce2bce" providerId="ADAL" clId="{756FBF97-58FD-4C5C-9E1D-839527CA400C}" dt="2026-02-16T15:13:11.703" v="0"/>
        <pc:sldMkLst>
          <pc:docMk/>
          <pc:sldMk cId="373959725" sldId="1269"/>
        </pc:sldMkLst>
      </pc:sldChg>
      <pc:sldChg chg="add">
        <pc:chgData name="Xin Xin" userId="9ff0c946-7f3c-4192-98c1-6be932ce2bce" providerId="ADAL" clId="{756FBF97-58FD-4C5C-9E1D-839527CA400C}" dt="2026-02-16T15:13:11.703" v="0"/>
        <pc:sldMkLst>
          <pc:docMk/>
          <pc:sldMk cId="738796930" sldId="1294"/>
        </pc:sldMkLst>
      </pc:sldChg>
      <pc:sldChg chg="modSp add mod">
        <pc:chgData name="Xin Xin" userId="9ff0c946-7f3c-4192-98c1-6be932ce2bce" providerId="ADAL" clId="{756FBF97-58FD-4C5C-9E1D-839527CA400C}" dt="2026-02-16T15:14:19.969" v="9" actId="108"/>
        <pc:sldMkLst>
          <pc:docMk/>
          <pc:sldMk cId="3049886784" sldId="1295"/>
        </pc:sldMkLst>
        <pc:spChg chg="mod">
          <ac:chgData name="Xin Xin" userId="9ff0c946-7f3c-4192-98c1-6be932ce2bce" providerId="ADAL" clId="{756FBF97-58FD-4C5C-9E1D-839527CA400C}" dt="2026-02-16T15:14:19.969" v="9" actId="108"/>
          <ac:spMkLst>
            <pc:docMk/>
            <pc:sldMk cId="3049886784" sldId="1295"/>
            <ac:spMk id="2" creationId="{5A31A593-5B49-CAF1-09EE-49EC34FD912F}"/>
          </ac:spMkLst>
        </pc:spChg>
      </pc:sldChg>
      <pc:sldChg chg="add">
        <pc:chgData name="Xin Xin" userId="9ff0c946-7f3c-4192-98c1-6be932ce2bce" providerId="ADAL" clId="{756FBF97-58FD-4C5C-9E1D-839527CA400C}" dt="2026-02-16T15:13:11.703" v="0"/>
        <pc:sldMkLst>
          <pc:docMk/>
          <pc:sldMk cId="2977975465" sldId="1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F21601-8810-E544-9D11-46F00C4F0696}" type="datetimeFigureOut">
              <a:rPr lang="en-US" smtClean="0"/>
              <a:t>2/16/2026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7B5A7F-9579-BB49-881B-29290E49739F}" type="slidenum">
              <a:rPr lang="en-US" smtClean="0"/>
              <a:t>‹#›</a:t>
            </a:fld>
            <a:endParaRPr lang="en-US"/>
          </a:p>
        </p:txBody>
      </p:sp>
    </p:spTree>
    <p:extLst>
      <p:ext uri="{BB962C8B-B14F-4D97-AF65-F5344CB8AC3E}">
        <p14:creationId xmlns:p14="http://schemas.microsoft.com/office/powerpoint/2010/main" val="1097984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F7B5A7F-9579-BB49-881B-29290E49739F}" type="slidenum">
              <a:rPr lang="en-US" smtClean="0"/>
              <a:t>1</a:t>
            </a:fld>
            <a:endParaRPr lang="en-US"/>
          </a:p>
        </p:txBody>
      </p:sp>
    </p:spTree>
    <p:extLst>
      <p:ext uri="{BB962C8B-B14F-4D97-AF65-F5344CB8AC3E}">
        <p14:creationId xmlns:p14="http://schemas.microsoft.com/office/powerpoint/2010/main" val="610059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7B5A7F-9579-BB49-881B-29290E49739F}" type="slidenum">
              <a:rPr lang="en-US" smtClean="0"/>
              <a:t>2</a:t>
            </a:fld>
            <a:endParaRPr lang="en-US"/>
          </a:p>
        </p:txBody>
      </p:sp>
    </p:spTree>
    <p:extLst>
      <p:ext uri="{BB962C8B-B14F-4D97-AF65-F5344CB8AC3E}">
        <p14:creationId xmlns:p14="http://schemas.microsoft.com/office/powerpoint/2010/main" val="572294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arrows through reliable data transfer channel is just one way – reliably send from sender to receiver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0415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some time talking about how its to the sender and receiver side protocol that IMPLEMENTS reliable data transfer</a:t>
            </a:r>
          </a:p>
          <a:p>
            <a:endParaRPr lang="en-US" dirty="0"/>
          </a:p>
          <a:p>
            <a:r>
              <a:rPr lang="en-US" dirty="0"/>
              <a:t>Communication over unreliable channel is TWO-way: sender and receiver will exchange messages back and forth to IMPLEMENT one-way  reliable data transfer</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4767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we have a sender side and a receiver side. How much work they’ll have to do depends on the  IMPAIRMENTS introduced by channel – if the channel is perfect – no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117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point of view to keep in mind – it’s easy for US to look at sender and receiver together and see what is happening.  OH – that message sent was lost. </a:t>
            </a:r>
          </a:p>
          <a:p>
            <a:endParaRPr lang="en-US" dirty="0"/>
          </a:p>
          <a:p>
            <a:r>
              <a:rPr lang="en-US" dirty="0"/>
              <a:t>But think about it say from senders POV How does the sender know if its transmitted message over the unreliable channel got though??  ONLY if receiver somehow signals to the sender that it was received.</a:t>
            </a:r>
          </a:p>
          <a:p>
            <a:endParaRPr lang="en-US" dirty="0"/>
          </a:p>
          <a:p>
            <a:endParaRPr lang="en-US" dirty="0"/>
          </a:p>
          <a:p>
            <a:r>
              <a:rPr lang="en-US" dirty="0"/>
              <a:t>The key point here is that one side does NOT know what is going on at the other side – it’s as if there’s a curtain between them.  Everything they know about the other can ONLY be learned by sending/receiving messages.</a:t>
            </a:r>
          </a:p>
          <a:p>
            <a:endParaRPr lang="en-US" dirty="0"/>
          </a:p>
          <a:p>
            <a:r>
              <a:rPr lang="en-US" dirty="0"/>
              <a:t>Sender process wants to make sure a segment got through.  But it can just somehow magically look through curtain to see if receiver got it.  It will be up to the receiver to let the sender KNOW that it (the receiver) has correctly received the segment.</a:t>
            </a:r>
          </a:p>
          <a:p>
            <a:endParaRPr lang="en-US" dirty="0"/>
          </a:p>
          <a:p>
            <a:r>
              <a:rPr lang="en-US" dirty="0"/>
              <a:t>How will the sender and receiver do that – that’s the PROTOCOL.</a:t>
            </a:r>
          </a:p>
          <a:p>
            <a:endParaRPr lang="en-US" dirty="0"/>
          </a:p>
          <a:p>
            <a:r>
              <a:rPr lang="en-US" dirty="0"/>
              <a:t> Before starting to develop a protocol, let’s look more closely at the interface (the API if you will)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7984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2704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SO let’s get started in developing our reliable data transfer protocol, which we’ll call rdt (need a good acronym for protocol – like HTTP, TCP, UDP, IP)</a:t>
            </a:r>
          </a:p>
          <a:p>
            <a:endParaRPr lang="en-US" dirty="0"/>
          </a:p>
          <a:p>
            <a:r>
              <a:rPr lang="en-US" dirty="0"/>
              <a:t>Bullet points 1 and 2</a:t>
            </a:r>
          </a:p>
          <a:p>
            <a:endParaRPr lang="en-US" dirty="0"/>
          </a:p>
          <a:p>
            <a:endParaRPr lang="en-US" dirty="0"/>
          </a:p>
          <a:p>
            <a:r>
              <a:rPr lang="en-US" dirty="0"/>
              <a:t>NOW if we are going to develop a protocol, so we’ll need some way to SPECIFY a protocol.  </a:t>
            </a:r>
            <a:r>
              <a:rPr lang="en-US" b="1" i="1" dirty="0"/>
              <a:t>How</a:t>
            </a:r>
            <a:r>
              <a:rPr lang="en-US" dirty="0"/>
              <a:t> do we do that?</a:t>
            </a:r>
          </a:p>
          <a:p>
            <a:endParaRPr lang="en-US" dirty="0"/>
          </a:p>
          <a:p>
            <a:r>
              <a:rPr lang="en-US" dirty="0"/>
              <a:t>We could write text, but as all know, that’s prone to misinterpretation, and might be incomplete.  You might write a specification, and then think “oh yeah – I forgot about that case”</a:t>
            </a:r>
          </a:p>
          <a:p>
            <a:endParaRPr lang="en-US" dirty="0"/>
          </a:p>
          <a:p>
            <a:r>
              <a:rPr lang="en-US" dirty="0"/>
              <a:t>What we need is more </a:t>
            </a:r>
            <a:r>
              <a:rPr lang="en-US" b="1" i="1" dirty="0"/>
              <a:t>formal</a:t>
            </a:r>
            <a:r>
              <a:rPr lang="en-US" dirty="0"/>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p>
          <a:p>
            <a:endParaRPr lang="en-US" dirty="0"/>
          </a:p>
          <a:p>
            <a:r>
              <a:rPr lang="en-US" dirty="0"/>
              <a:t>And as the name might suggest, a central notion of finite state machines is the notion of STATE </a:t>
            </a:r>
          </a:p>
          <a:p>
            <a:r>
              <a:rPr lang="en-US" dirty="0"/>
              <a:t>&lt;talk about state&gt;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246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start with the simplest case possible - an unreliable channel that is, in fact perfect – no segments are lost, corrupted, duplicated or reordered.  The sender just sends and it pops out the other side(perhaps after some delay) perfectly.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8451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397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8317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9773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7114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2660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8933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46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5924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3446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30153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0094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99158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98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86749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602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rdt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2053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 the familiar four state sender from our rdt 2.1 and 2.2 protocols. Top two states when sending packet with zero seq # and bottom two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8835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1548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2946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window size of 14, 8 have been sent but are not yet acknowledged, 6 sequence numbers are available for us. In window, but no calls from above to use them.</a:t>
            </a:r>
          </a:p>
          <a:p>
            <a:endParaRPr lang="en-US" dirty="0"/>
          </a:p>
          <a:p>
            <a:r>
              <a:rPr lang="en-US" dirty="0"/>
              <a:t>Note – we’ll skip the Go-Back-N FSM specification you can check that out in PowerPoint slides or book)</a:t>
            </a:r>
          </a:p>
          <a:p>
            <a:endParaRPr lang="en-US" dirty="0"/>
          </a:p>
          <a:p>
            <a:r>
              <a:rPr lang="en-US" dirty="0"/>
              <a:t>TCP uses cumulative ACK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34140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Note – we’ll skip the Go-Back-N FSM specification (actually it’s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9117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Let’s skip FSM specification for GBN – check out the book or ppt – and let’s watch GBN sender and receivers  in action.</a:t>
            </a:r>
          </a:p>
          <a:p>
            <a:r>
              <a:rPr lang="en-US" dirty="0"/>
              <a:t>Let assume a window size of 4.  at t=0, sender sends packets 0, 1, 2 3, 4, and packet 2 will be lost</a:t>
            </a:r>
          </a:p>
          <a:p>
            <a:endParaRPr lang="en-US" dirty="0"/>
          </a:p>
          <a:p>
            <a:r>
              <a:rPr lang="en-US" dirty="0"/>
              <a:t>At the receiver:</a:t>
            </a:r>
          </a:p>
          <a:p>
            <a:r>
              <a:rPr lang="en-US" dirty="0"/>
              <a:t>Packet 0 received ACK0 generated</a:t>
            </a:r>
          </a:p>
          <a:p>
            <a:r>
              <a:rPr lang="en-US" dirty="0"/>
              <a:t>Packet 1 received ACK1 generated</a:t>
            </a:r>
          </a:p>
          <a:p>
            <a:r>
              <a:rPr lang="en-US" dirty="0"/>
              <a:t>Packet 2 is lost, and so when packet 3 is received, ACK 1 is sent – that’s the cumulative ACK, re-Acknowledging the receipt of packet 1. and in this implementation packet 3 is discarded</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4386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An important mechanism of GBN was the use of the cumulative acknowledgements, and as we mentioned, cumulative ACKs are used in TCP</a:t>
            </a:r>
          </a:p>
          <a:p>
            <a:endParaRPr lang="en-US" dirty="0"/>
          </a:p>
          <a:p>
            <a:r>
              <a:rPr lang="en-US" dirty="0"/>
              <a:t>An alternate ACK mechanism would be for the receiver to individually acknowledge specific packets as they are received.  This mechanism is at the heart of the Selective repeat protocol.</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38948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147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If the packet is in order, its data will be delivered, as will any buffered data that can now be delivered in order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21247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62702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7B5A7F-9579-BB49-881B-29290E49739F}" type="slidenum">
              <a:rPr lang="en-US" smtClean="0"/>
              <a:t>43</a:t>
            </a:fld>
            <a:endParaRPr lang="en-US"/>
          </a:p>
        </p:txBody>
      </p:sp>
    </p:spTree>
    <p:extLst>
      <p:ext uri="{BB962C8B-B14F-4D97-AF65-F5344CB8AC3E}">
        <p14:creationId xmlns:p14="http://schemas.microsoft.com/office/powerpoint/2010/main" val="2870030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525932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36525"/>
            <a:ext cx="7250430" cy="772796"/>
          </a:xfrm>
        </p:spPr>
        <p:txBody>
          <a:bodyPr/>
          <a:lstStyle>
            <a:lvl1pPr>
              <a:defRPr b="1">
                <a:latin typeface="+mj-lt"/>
              </a:defRPr>
            </a:lvl1pPr>
          </a:lstStyle>
          <a:p>
            <a:r>
              <a:rPr lang="en-US" dirty="0"/>
              <a:t>Click to edit Master title style</a:t>
            </a:r>
          </a:p>
        </p:txBody>
      </p:sp>
      <p:sp>
        <p:nvSpPr>
          <p:cNvPr id="3" name="Content Placeholder 2"/>
          <p:cNvSpPr>
            <a:spLocks noGrp="1"/>
          </p:cNvSpPr>
          <p:nvPr>
            <p:ph idx="1"/>
          </p:nvPr>
        </p:nvSpPr>
        <p:spPr>
          <a:xfrm>
            <a:off x="628650" y="1498603"/>
            <a:ext cx="7886700" cy="579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BC41B36-6335-F546-90B9-E2121371E10D}" type="slidenum">
              <a:rPr lang="en-US" smtClean="0"/>
              <a:pPr/>
              <a:t>‹#›</a:t>
            </a:fld>
            <a:endParaRPr lang="en-US" dirty="0"/>
          </a:p>
        </p:txBody>
      </p:sp>
      <p:cxnSp>
        <p:nvCxnSpPr>
          <p:cNvPr id="7" name="Straight Connector 6">
            <a:extLst>
              <a:ext uri="{FF2B5EF4-FFF2-40B4-BE49-F238E27FC236}">
                <a16:creationId xmlns:a16="http://schemas.microsoft.com/office/drawing/2014/main" id="{3961E220-D336-D8EA-6239-8C05D2C08EBC}"/>
              </a:ext>
            </a:extLst>
          </p:cNvPr>
          <p:cNvCxnSpPr/>
          <p:nvPr userDrawn="1"/>
        </p:nvCxnSpPr>
        <p:spPr>
          <a:xfrm>
            <a:off x="9525" y="955002"/>
            <a:ext cx="9121140" cy="0"/>
          </a:xfrm>
          <a:prstGeom prst="line">
            <a:avLst/>
          </a:prstGeom>
          <a:ln w="38100">
            <a:solidFill>
              <a:srgbClr val="C95B00"/>
            </a:solidFill>
          </a:ln>
        </p:spPr>
        <p:style>
          <a:lnRef idx="1">
            <a:schemeClr val="accent1"/>
          </a:lnRef>
          <a:fillRef idx="0">
            <a:schemeClr val="accent1"/>
          </a:fillRef>
          <a:effectRef idx="0">
            <a:schemeClr val="accent1"/>
          </a:effectRef>
          <a:fontRef idx="minor">
            <a:schemeClr val="tx1"/>
          </a:fontRef>
        </p:style>
      </p:cxnSp>
      <p:pic>
        <p:nvPicPr>
          <p:cNvPr id="2050" name="Picture 2" descr="Home - UCF College of Engineering and Computer Science">
            <a:extLst>
              <a:ext uri="{FF2B5EF4-FFF2-40B4-BE49-F238E27FC236}">
                <a16:creationId xmlns:a16="http://schemas.microsoft.com/office/drawing/2014/main" id="{9F1B4091-87B5-7363-19C4-89F41293F64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r="84252" b="28112"/>
          <a:stretch/>
        </p:blipFill>
        <p:spPr bwMode="auto">
          <a:xfrm>
            <a:off x="8238773" y="84380"/>
            <a:ext cx="707107" cy="772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042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28017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4169395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7/14/2017</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3359858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7/14/2017</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2957597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7/14/2017</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50762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3621757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7/14/2017</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4113890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1000077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7/14/2017</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C41B36-6335-F546-90B9-E2121371E10D}" type="slidenum">
              <a:rPr lang="en-US" smtClean="0"/>
              <a:t>‹#›</a:t>
            </a:fld>
            <a:endParaRPr lang="en-US"/>
          </a:p>
        </p:txBody>
      </p:sp>
    </p:spTree>
    <p:extLst>
      <p:ext uri="{BB962C8B-B14F-4D97-AF65-F5344CB8AC3E}">
        <p14:creationId xmlns:p14="http://schemas.microsoft.com/office/powerpoint/2010/main" val="29781377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143000" y="1122363"/>
            <a:ext cx="6858000" cy="2387600"/>
          </a:xfrm>
        </p:spPr>
        <p:txBody>
          <a:bodyPr anchor="b"/>
          <a:lstStyle>
            <a:lvl1pPr algn="ctr">
              <a:defRPr sz="45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0" name="Slide Number Placeholder 5">
            <a:extLst>
              <a:ext uri="{FF2B5EF4-FFF2-40B4-BE49-F238E27FC236}">
                <a16:creationId xmlns:a16="http://schemas.microsoft.com/office/drawing/2014/main" id="{F7F1199A-45E4-9E4D-95C0-396A8A9C6FF7}"/>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2107238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628650" y="1724027"/>
            <a:ext cx="78867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3802626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125490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Transport Layer: 3-</a:t>
            </a:r>
            <a:fld id="{C4204591-24BD-A542-B9D5-F8D8A88D2FEE}" type="slidenum">
              <a:rPr lang="en-US" smtClean="0"/>
              <a:pPr/>
              <a:t>‹#›</a:t>
            </a:fld>
            <a:endParaRPr lang="en-US"/>
          </a:p>
        </p:txBody>
      </p:sp>
    </p:spTree>
    <p:extLst>
      <p:ext uri="{BB962C8B-B14F-4D97-AF65-F5344CB8AC3E}">
        <p14:creationId xmlns:p14="http://schemas.microsoft.com/office/powerpoint/2010/main" val="103866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7/14/2017</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C41B36-6335-F546-90B9-E2121371E10D}" type="slidenum">
              <a:rPr lang="en-US" smtClean="0"/>
              <a:t>‹#›</a:t>
            </a:fld>
            <a:endParaRPr lang="en-US"/>
          </a:p>
        </p:txBody>
      </p:sp>
    </p:spTree>
    <p:extLst>
      <p:ext uri="{BB962C8B-B14F-4D97-AF65-F5344CB8AC3E}">
        <p14:creationId xmlns:p14="http://schemas.microsoft.com/office/powerpoint/2010/main" val="3304735552"/>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628650" y="451821"/>
            <a:ext cx="78867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B87C6EBB-9D5E-E84A-9BCA-EA7E05FD1C0C}"/>
              </a:ext>
            </a:extLst>
          </p:cNvPr>
          <p:cNvSpPr>
            <a:spLocks noGrp="1"/>
          </p:cNvSpPr>
          <p:nvPr>
            <p:ph type="sldNum" sz="quarter" idx="4"/>
          </p:nvPr>
        </p:nvSpPr>
        <p:spPr>
          <a:xfrm>
            <a:off x="6914712" y="6443090"/>
            <a:ext cx="20574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a:t>Introduction: 1-</a:t>
            </a:r>
            <a:fld id="{C4204591-24BD-A542-B9D5-F8D8A88D2FEE}" type="slidenum">
              <a:rPr lang="en-US" smtClean="0"/>
              <a:pPr/>
              <a:t>‹#›</a:t>
            </a:fld>
            <a:endParaRPr lang="en-US"/>
          </a:p>
        </p:txBody>
      </p:sp>
    </p:spTree>
    <p:extLst>
      <p:ext uri="{BB962C8B-B14F-4D97-AF65-F5344CB8AC3E}">
        <p14:creationId xmlns:p14="http://schemas.microsoft.com/office/powerpoint/2010/main" val="3788768604"/>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Lst>
  <p:hf hdr="0" ftr="0" dt="0"/>
  <p:txStyles>
    <p:titleStyle>
      <a:lvl1pPr algn="l" defTabSz="685800" rtl="0" eaLnBrk="1" latinLnBrk="0" hangingPunct="1">
        <a:lnSpc>
          <a:spcPct val="90000"/>
        </a:lnSpc>
        <a:spcBef>
          <a:spcPct val="0"/>
        </a:spcBef>
        <a:buNone/>
        <a:defRPr sz="3000" b="1" kern="1200">
          <a:solidFill>
            <a:srgbClr val="0000A3"/>
          </a:solidFill>
          <a:latin typeface="+mn-lt"/>
          <a:ea typeface="+mj-ea"/>
          <a:cs typeface="+mj-cs"/>
        </a:defRPr>
      </a:lvl1pPr>
    </p:titleStyle>
    <p:bodyStyle>
      <a:lvl1pPr marL="264319" indent="-166688" algn="l" defTabSz="685800" rtl="0" eaLnBrk="1" latinLnBrk="0" hangingPunct="1">
        <a:lnSpc>
          <a:spcPct val="90000"/>
        </a:lnSpc>
        <a:spcBef>
          <a:spcPts val="750"/>
        </a:spcBef>
        <a:buClr>
          <a:srgbClr val="0000A3"/>
        </a:buClr>
        <a:buFont typeface="Wingdings" pitchFamily="2" charset="2"/>
        <a:buChar char="§"/>
        <a:tabLst/>
        <a:defRPr sz="2100" kern="1200">
          <a:solidFill>
            <a:schemeClr val="tx1"/>
          </a:solidFill>
          <a:latin typeface="+mn-lt"/>
          <a:ea typeface="+mn-ea"/>
          <a:cs typeface="+mn-cs"/>
        </a:defRPr>
      </a:lvl1pPr>
      <a:lvl2pPr marL="521494" indent="-173831" algn="l" defTabSz="685800" rtl="0" eaLnBrk="1" latinLnBrk="0" hangingPunct="1">
        <a:lnSpc>
          <a:spcPct val="90000"/>
        </a:lnSpc>
        <a:spcBef>
          <a:spcPts val="375"/>
        </a:spcBef>
        <a:buClr>
          <a:srgbClr val="0000A8"/>
        </a:buClr>
        <a:buFont typeface="Arial" panose="020B0604020202020204" pitchFamily="34" charset="0"/>
        <a:buChar char="•"/>
        <a:tabLst/>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nikhilsahu.me/Sliding-window-simulator/SelectiveRepeat.html" TargetMode="External"/><Relationship Id="rId2" Type="http://schemas.openxmlformats.org/officeDocument/2006/relationships/hyperlink" Target="https://www.tkn.tu-berlin.de/teaching/rn/animations/gbn_sr/"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cse.wustl.edu/~jain/" TargetMode="External"/><Relationship Id="rId2" Type="http://schemas.openxmlformats.org/officeDocument/2006/relationships/hyperlink" Target="https://www.ece.ucf.edu/~yuksem/teaching/EEL-4781-Fall-2020.html" TargetMode="Externa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F67056-1534-47E2-83BE-08A2B9441FDC}"/>
              </a:ext>
            </a:extLst>
          </p:cNvPr>
          <p:cNvSpPr/>
          <p:nvPr/>
        </p:nvSpPr>
        <p:spPr>
          <a:xfrm>
            <a:off x="0" y="1951615"/>
            <a:ext cx="9144000" cy="1750979"/>
          </a:xfrm>
          <a:prstGeom prst="rect">
            <a:avLst/>
          </a:prstGeom>
          <a:solidFill>
            <a:srgbClr val="887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2336103"/>
            <a:ext cx="9144000" cy="1014108"/>
          </a:xfrm>
        </p:spPr>
        <p:txBody>
          <a:bodyPr>
            <a:noAutofit/>
          </a:bodyPr>
          <a:lstStyle/>
          <a:p>
            <a:r>
              <a:rPr lang="en-US" altLang="zh-CN" sz="3600" dirty="0">
                <a:solidFill>
                  <a:schemeClr val="bg1"/>
                </a:solidFill>
                <a:latin typeface="+mn-lt"/>
              </a:rPr>
              <a:t>EEL 4781 Computer Communication Networks</a:t>
            </a:r>
            <a:br>
              <a:rPr lang="en-US" altLang="zh-CN" sz="4800" dirty="0">
                <a:solidFill>
                  <a:schemeClr val="bg1"/>
                </a:solidFill>
                <a:latin typeface="+mn-lt"/>
              </a:rPr>
            </a:br>
            <a:r>
              <a:rPr lang="en-US" altLang="zh-CN" sz="3200" dirty="0">
                <a:solidFill>
                  <a:schemeClr val="bg1"/>
                </a:solidFill>
                <a:latin typeface="+mn-lt"/>
              </a:rPr>
              <a:t>Chapter 3-2: Transport Layer</a:t>
            </a:r>
            <a:endParaRPr lang="en-US" sz="4800" dirty="0">
              <a:solidFill>
                <a:schemeClr val="bg1"/>
              </a:solidFill>
              <a:latin typeface="+mn-lt"/>
            </a:endParaRPr>
          </a:p>
        </p:txBody>
      </p:sp>
      <p:sp>
        <p:nvSpPr>
          <p:cNvPr id="3" name="Subtitle 2"/>
          <p:cNvSpPr>
            <a:spLocks noGrp="1"/>
          </p:cNvSpPr>
          <p:nvPr>
            <p:ph type="subTitle" idx="1"/>
          </p:nvPr>
        </p:nvSpPr>
        <p:spPr>
          <a:xfrm>
            <a:off x="1287026" y="4647913"/>
            <a:ext cx="6858000" cy="581315"/>
          </a:xfrm>
        </p:spPr>
        <p:txBody>
          <a:bodyPr wrap="none">
            <a:noAutofit/>
          </a:bodyPr>
          <a:lstStyle/>
          <a:p>
            <a:r>
              <a:rPr lang="en-US" sz="2400" b="1" dirty="0"/>
              <a:t>Xin </a:t>
            </a:r>
            <a:r>
              <a:rPr lang="en-US" sz="2400" b="1" dirty="0" err="1"/>
              <a:t>Xin</a:t>
            </a:r>
            <a:endParaRPr lang="en-US" sz="2400" b="1" dirty="0"/>
          </a:p>
          <a:p>
            <a:r>
              <a:rPr lang="en-US" b="1" dirty="0"/>
              <a:t>Department of Electrical and </a:t>
            </a:r>
            <a:r>
              <a:rPr lang="en-US" altLang="zh-CN" b="1" dirty="0"/>
              <a:t>Computer Engineering</a:t>
            </a:r>
          </a:p>
          <a:p>
            <a:r>
              <a:rPr lang="en-US" sz="2400" b="1" dirty="0"/>
              <a:t>University of Central F</a:t>
            </a:r>
            <a:r>
              <a:rPr lang="en-US" b="1" dirty="0"/>
              <a:t>lorida</a:t>
            </a:r>
            <a:endParaRPr lang="en-US" sz="2400" b="1" dirty="0"/>
          </a:p>
        </p:txBody>
      </p:sp>
      <p:sp>
        <p:nvSpPr>
          <p:cNvPr id="10" name="Rectangle 9">
            <a:extLst>
              <a:ext uri="{FF2B5EF4-FFF2-40B4-BE49-F238E27FC236}">
                <a16:creationId xmlns:a16="http://schemas.microsoft.com/office/drawing/2014/main" id="{AC9DF276-5B0A-4972-9653-037F6D8B3C68}"/>
              </a:ext>
            </a:extLst>
          </p:cNvPr>
          <p:cNvSpPr/>
          <p:nvPr/>
        </p:nvSpPr>
        <p:spPr>
          <a:xfrm>
            <a:off x="1" y="3790141"/>
            <a:ext cx="6774656" cy="116732"/>
          </a:xfrm>
          <a:prstGeom prst="rect">
            <a:avLst/>
          </a:prstGeom>
          <a:gradFill flip="none" rotWithShape="1">
            <a:gsLst>
              <a:gs pos="69000">
                <a:srgbClr val="887128"/>
              </a:gs>
              <a:gs pos="47000">
                <a:srgbClr val="FFC904">
                  <a:alpha val="40784"/>
                </a:srgbClr>
              </a:gs>
              <a:gs pos="21000">
                <a:srgbClr val="887128"/>
              </a:gs>
              <a:gs pos="0">
                <a:srgbClr val="887128"/>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F1411FC-0199-4C18-B757-D96B9FBEC12C}"/>
              </a:ext>
            </a:extLst>
          </p:cNvPr>
          <p:cNvSpPr/>
          <p:nvPr/>
        </p:nvSpPr>
        <p:spPr>
          <a:xfrm>
            <a:off x="6880860" y="3790142"/>
            <a:ext cx="2263140" cy="116732"/>
          </a:xfrm>
          <a:prstGeom prst="rect">
            <a:avLst/>
          </a:prstGeom>
          <a:solidFill>
            <a:srgbClr val="8871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26" name="Picture 2" descr="Home - UCF College of Engineering and Computer Science">
            <a:extLst>
              <a:ext uri="{FF2B5EF4-FFF2-40B4-BE49-F238E27FC236}">
                <a16:creationId xmlns:a16="http://schemas.microsoft.com/office/drawing/2014/main" id="{8E0F3A9D-0085-8B62-1898-2721C3D1D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9844" y="337185"/>
            <a:ext cx="2794835" cy="669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737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5E6AC-FD5F-025B-33E7-8799CF2032A8}"/>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4E1719AE-B1B9-90B4-C7A9-C40C5C5D0FA8}"/>
              </a:ext>
            </a:extLst>
          </p:cNvPr>
          <p:cNvSpPr>
            <a:spLocks noGrp="1"/>
          </p:cNvSpPr>
          <p:nvPr>
            <p:ph idx="1"/>
          </p:nvPr>
        </p:nvSpPr>
        <p:spPr>
          <a:xfrm>
            <a:off x="628650" y="1498603"/>
            <a:ext cx="7886700" cy="4857748"/>
          </a:xfrm>
        </p:spPr>
        <p:txBody>
          <a:bodyPr>
            <a:normAutofit/>
          </a:bodyPr>
          <a:lstStyle/>
          <a:p>
            <a:r>
              <a:rPr lang="en-US" dirty="0"/>
              <a:t>Principles of reliable data transfer </a:t>
            </a:r>
            <a:endParaRPr lang="en-US" altLang="zh-CN" dirty="0"/>
          </a:p>
        </p:txBody>
      </p:sp>
      <p:sp>
        <p:nvSpPr>
          <p:cNvPr id="4" name="Slide Number Placeholder 3">
            <a:extLst>
              <a:ext uri="{FF2B5EF4-FFF2-40B4-BE49-F238E27FC236}">
                <a16:creationId xmlns:a16="http://schemas.microsoft.com/office/drawing/2014/main" id="{A2C09955-B883-EB1B-CA00-1FE33C432D96}"/>
              </a:ext>
            </a:extLst>
          </p:cNvPr>
          <p:cNvSpPr>
            <a:spLocks noGrp="1"/>
          </p:cNvSpPr>
          <p:nvPr>
            <p:ph type="sldNum" sz="quarter" idx="12"/>
          </p:nvPr>
        </p:nvSpPr>
        <p:spPr/>
        <p:txBody>
          <a:bodyPr/>
          <a:lstStyle/>
          <a:p>
            <a:fld id="{0BC41B36-6335-F546-90B9-E2121371E10D}" type="slidenum">
              <a:rPr lang="en-US" smtClean="0"/>
              <a:pPr/>
              <a:t>2</a:t>
            </a:fld>
            <a:endParaRPr lang="en-US" dirty="0"/>
          </a:p>
        </p:txBody>
      </p:sp>
    </p:spTree>
    <p:extLst>
      <p:ext uri="{BB962C8B-B14F-4D97-AF65-F5344CB8AC3E}">
        <p14:creationId xmlns:p14="http://schemas.microsoft.com/office/powerpoint/2010/main" val="3750632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fontScale="90000"/>
          </a:bodyPr>
          <a:lstStyle/>
          <a:p>
            <a:r>
              <a:rPr lang="en-US" dirty="0"/>
              <a:t>Principles of reliable data transfer </a:t>
            </a:r>
          </a:p>
        </p:txBody>
      </p:sp>
      <p:sp>
        <p:nvSpPr>
          <p:cNvPr id="66" name="Slide Number Placeholder 2">
            <a:extLst>
              <a:ext uri="{FF2B5EF4-FFF2-40B4-BE49-F238E27FC236}">
                <a16:creationId xmlns:a16="http://schemas.microsoft.com/office/drawing/2014/main" id="{F496148B-2840-6E48-8844-F185577E4A6A}"/>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3</a:t>
            </a:fld>
            <a:endParaRPr lang="en-US" dirty="0">
              <a:solidFill>
                <a:prstClr val="white">
                  <a:lumMod val="50000"/>
                </a:prstClr>
              </a:solidFill>
              <a:latin typeface="Calibri" panose="020F0502020204030204"/>
            </a:endParaRPr>
          </a:p>
        </p:txBody>
      </p:sp>
      <p:grpSp>
        <p:nvGrpSpPr>
          <p:cNvPr id="160" name="Group 159">
            <a:extLst>
              <a:ext uri="{FF2B5EF4-FFF2-40B4-BE49-F238E27FC236}">
                <a16:creationId xmlns:a16="http://schemas.microsoft.com/office/drawing/2014/main" id="{AA406E8C-63BA-BB42-9548-F314CBF3CE0A}"/>
              </a:ext>
            </a:extLst>
          </p:cNvPr>
          <p:cNvGrpSpPr/>
          <p:nvPr/>
        </p:nvGrpSpPr>
        <p:grpSpPr>
          <a:xfrm>
            <a:off x="179137" y="2291085"/>
            <a:ext cx="3860507" cy="1578469"/>
            <a:chOff x="737513" y="2398718"/>
            <a:chExt cx="5595549" cy="2104625"/>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522023"/>
              </a:xfrm>
              <a:prstGeom prst="rect">
                <a:avLst/>
              </a:prstGeom>
              <a:noFill/>
            </p:spPr>
            <p:txBody>
              <a:bodyPr wrap="square" rtlCol="0">
                <a:spAutoFit/>
              </a:bodyPr>
              <a:lstStyle/>
              <a:p>
                <a:pPr algn="ctr" defTabSz="685800">
                  <a:lnSpc>
                    <a:spcPct val="80000"/>
                  </a:lnSpc>
                  <a:defRPr/>
                </a:pPr>
                <a:r>
                  <a:rPr lang="en-US" sz="1200" dirty="0">
                    <a:solidFill>
                      <a:prstClr val="black"/>
                    </a:solidFill>
                    <a:latin typeface="Calibri" panose="020F0502020204030204"/>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553996"/>
              <a:chOff x="9950444" y="999755"/>
              <a:chExt cx="577241" cy="553996"/>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553996"/>
              </a:xfrm>
              <a:prstGeom prst="rect">
                <a:avLst/>
              </a:prstGeom>
              <a:noFill/>
            </p:spPr>
            <p:txBody>
              <a:bodyPr wrap="square" rtlCol="0">
                <a:spAutoFit/>
              </a:bodyPr>
              <a:lstStyle/>
              <a:p>
                <a:pPr defTabSz="685800">
                  <a:defRPr/>
                </a:pPr>
                <a:r>
                  <a:rPr lang="en-US" sz="105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522023"/>
              </a:xfrm>
              <a:prstGeom prst="rect">
                <a:avLst/>
              </a:prstGeom>
              <a:noFill/>
            </p:spPr>
            <p:txBody>
              <a:bodyPr wrap="square" rtlCol="0">
                <a:spAutoFit/>
              </a:bodyPr>
              <a:lstStyle/>
              <a:p>
                <a:pPr algn="ctr" defTabSz="685800">
                  <a:lnSpc>
                    <a:spcPct val="80000"/>
                  </a:lnSpc>
                  <a:defRPr/>
                </a:pPr>
                <a:r>
                  <a:rPr lang="en-US" sz="1200" dirty="0">
                    <a:solidFill>
                      <a:prstClr val="black"/>
                    </a:solidFill>
                    <a:latin typeface="Calibri" panose="020F0502020204030204"/>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553997"/>
              <a:chOff x="9678159" y="981583"/>
              <a:chExt cx="577241" cy="55399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553997"/>
              </a:xfrm>
              <a:prstGeom prst="rect">
                <a:avLst/>
              </a:prstGeom>
              <a:noFill/>
            </p:spPr>
            <p:txBody>
              <a:bodyPr wrap="square" rtlCol="0">
                <a:spAutoFit/>
              </a:bodyPr>
              <a:lstStyle/>
              <a:p>
                <a:pPr defTabSz="685800">
                  <a:defRPr/>
                </a:pPr>
                <a:r>
                  <a:rPr lang="en-US" sz="105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86764" cy="400109"/>
              <a:chOff x="7504363" y="3141846"/>
              <a:chExt cx="2086764" cy="400109"/>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895375" cy="400109"/>
              </a:xfrm>
              <a:prstGeom prst="rect">
                <a:avLst/>
              </a:prstGeom>
              <a:noFill/>
            </p:spPr>
            <p:txBody>
              <a:bodyPr wrap="none" rtlCol="0">
                <a:spAutoFit/>
              </a:bodyPr>
              <a:lstStyle/>
              <a:p>
                <a:pPr defTabSz="685800">
                  <a:defRPr/>
                </a:pPr>
                <a:r>
                  <a:rPr lang="en-US" sz="1350" dirty="0">
                    <a:solidFill>
                      <a:prstClr val="white"/>
                    </a:solidFill>
                    <a:latin typeface="Calibri" panose="020F0502020204030204"/>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4"/>
              <a:ext cx="114360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application</a:t>
              </a:r>
              <a:endParaRPr lang="en-US" sz="1350" dirty="0">
                <a:solidFill>
                  <a:prstClr val="black"/>
                </a:solidFill>
                <a:latin typeface="Calibri" panose="020F0502020204030204"/>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2"/>
              <a:ext cx="1008841"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6" y="4010900"/>
              <a:ext cx="4025651" cy="492443"/>
            </a:xfrm>
            <a:prstGeom prst="rect">
              <a:avLst/>
            </a:prstGeom>
            <a:noFill/>
          </p:spPr>
          <p:txBody>
            <a:bodyPr wrap="square" rtlCol="0">
              <a:spAutoFit/>
            </a:bodyPr>
            <a:lstStyle/>
            <a:p>
              <a:pPr defTabSz="685800">
                <a:defRPr/>
              </a:pPr>
              <a:r>
                <a:rPr lang="en-US" dirty="0">
                  <a:solidFill>
                    <a:prstClr val="black"/>
                  </a:solidFill>
                  <a:latin typeface="Calibri" panose="020F0502020204030204"/>
                </a:rPr>
                <a:t>reliable service </a:t>
              </a:r>
              <a:r>
                <a:rPr lang="en-US" i="1" dirty="0">
                  <a:solidFill>
                    <a:srgbClr val="C00000"/>
                  </a:solidFill>
                  <a:latin typeface="Calibri" panose="020F0502020204030204"/>
                </a:rPr>
                <a:t>abstraction</a:t>
              </a:r>
            </a:p>
          </p:txBody>
        </p:sp>
      </p:grpSp>
    </p:spTree>
    <p:extLst>
      <p:ext uri="{BB962C8B-B14F-4D97-AF65-F5344CB8AC3E}">
        <p14:creationId xmlns:p14="http://schemas.microsoft.com/office/powerpoint/2010/main" val="3177238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fontScale="90000"/>
          </a:bodyPr>
          <a:lstStyle/>
          <a:p>
            <a:r>
              <a:rPr lang="en-US" dirty="0"/>
              <a:t>Principles of reliable data transfer </a:t>
            </a:r>
          </a:p>
        </p:txBody>
      </p:sp>
      <p:sp>
        <p:nvSpPr>
          <p:cNvPr id="159" name="Slide Number Placeholder 2">
            <a:extLst>
              <a:ext uri="{FF2B5EF4-FFF2-40B4-BE49-F238E27FC236}">
                <a16:creationId xmlns:a16="http://schemas.microsoft.com/office/drawing/2014/main" id="{F8B5D732-7735-9D4B-9D7A-0E2219A426F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4</a:t>
            </a:fld>
            <a:endParaRPr lang="en-US" dirty="0">
              <a:solidFill>
                <a:prstClr val="white">
                  <a:lumMod val="50000"/>
                </a:prstClr>
              </a:solidFill>
              <a:latin typeface="Calibri" panose="020F0502020204030204"/>
            </a:endParaRPr>
          </a:p>
        </p:txBody>
      </p:sp>
      <p:grpSp>
        <p:nvGrpSpPr>
          <p:cNvPr id="9" name="Group 8">
            <a:extLst>
              <a:ext uri="{FF2B5EF4-FFF2-40B4-BE49-F238E27FC236}">
                <a16:creationId xmlns:a16="http://schemas.microsoft.com/office/drawing/2014/main" id="{C7D89CDE-A98B-A64B-A840-9A38508B9B43}"/>
              </a:ext>
            </a:extLst>
          </p:cNvPr>
          <p:cNvGrpSpPr/>
          <p:nvPr/>
        </p:nvGrpSpPr>
        <p:grpSpPr>
          <a:xfrm>
            <a:off x="4669561" y="2282929"/>
            <a:ext cx="4198938" cy="3094846"/>
            <a:chOff x="6226081" y="2364366"/>
            <a:chExt cx="5598584" cy="412646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615555"/>
              <a:chOff x="9950444" y="999755"/>
              <a:chExt cx="577241" cy="615555"/>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5"/>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1051999"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application</a:t>
              </a:r>
              <a:endParaRPr lang="en-US" sz="1350" dirty="0">
                <a:solidFill>
                  <a:prstClr val="black"/>
                </a:solidFill>
                <a:latin typeface="Calibri" panose="020F0502020204030204"/>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92803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92443"/>
            </a:xfrm>
            <a:prstGeom prst="rect">
              <a:avLst/>
            </a:prstGeom>
            <a:noFill/>
          </p:spPr>
          <p:txBody>
            <a:bodyPr wrap="square" rtlCol="0">
              <a:spAutoFit/>
            </a:bodyPr>
            <a:lstStyle/>
            <a:p>
              <a:pPr defTabSz="685800">
                <a:defRPr/>
              </a:pPr>
              <a:r>
                <a:rPr lang="en-US" dirty="0">
                  <a:solidFill>
                    <a:prstClr val="black"/>
                  </a:solidFill>
                  <a:latin typeface="Calibri" panose="020F0502020204030204"/>
                </a:rPr>
                <a:t>reliable service </a:t>
              </a:r>
              <a:r>
                <a:rPr lang="en-US" i="1" dirty="0">
                  <a:solidFill>
                    <a:srgbClr val="C00000"/>
                  </a:solidFill>
                  <a:latin typeface="Calibri" panose="020F0502020204030204"/>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a:defRPr/>
                  </a:pPr>
                  <a:r>
                    <a:rPr lang="en-US" sz="1350" dirty="0">
                      <a:solidFill>
                        <a:prstClr val="white"/>
                      </a:solidFill>
                      <a:latin typeface="Calibri" panose="020F0502020204030204"/>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855363"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network</a:t>
              </a:r>
              <a:endParaRPr lang="en-US" sz="1350" dirty="0">
                <a:solidFill>
                  <a:prstClr val="black"/>
                </a:solidFill>
                <a:latin typeface="Calibri" panose="020F0502020204030204"/>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92803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71008"/>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sender-side of</a:t>
              </a:r>
            </a:p>
            <a:p>
              <a:pPr algn="ctr" defTabSz="685800">
                <a:lnSpc>
                  <a:spcPct val="90000"/>
                </a:lnSpc>
                <a:defRPr/>
              </a:pPr>
              <a:r>
                <a:rPr lang="en-US" sz="1350" dirty="0">
                  <a:solidFill>
                    <a:prstClr val="black"/>
                  </a:solidFill>
                  <a:latin typeface="Calibri" panose="020F0502020204030204"/>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6" y="3826493"/>
              <a:ext cx="1896984" cy="871008"/>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receiver-side</a:t>
              </a:r>
            </a:p>
            <a:p>
              <a:pPr algn="ctr" defTabSz="685800">
                <a:lnSpc>
                  <a:spcPct val="90000"/>
                </a:lnSpc>
                <a:defRPr/>
              </a:pPr>
              <a:r>
                <a:rPr lang="en-US" sz="1350" dirty="0">
                  <a:solidFill>
                    <a:prstClr val="black"/>
                  </a:solidFill>
                  <a:latin typeface="Calibri" panose="020F0502020204030204"/>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0" name="Group 159">
            <a:extLst>
              <a:ext uri="{FF2B5EF4-FFF2-40B4-BE49-F238E27FC236}">
                <a16:creationId xmlns:a16="http://schemas.microsoft.com/office/drawing/2014/main" id="{AA406E8C-63BA-BB42-9548-F314CBF3CE0A}"/>
              </a:ext>
            </a:extLst>
          </p:cNvPr>
          <p:cNvGrpSpPr/>
          <p:nvPr/>
        </p:nvGrpSpPr>
        <p:grpSpPr>
          <a:xfrm>
            <a:off x="179137" y="2291085"/>
            <a:ext cx="3860507" cy="1578469"/>
            <a:chOff x="737513" y="2398718"/>
            <a:chExt cx="5595549" cy="2104625"/>
          </a:xfrm>
        </p:grpSpPr>
        <p:sp>
          <p:nvSpPr>
            <p:cNvPr id="161" name="Bent-Up Arrow 160">
              <a:extLst>
                <a:ext uri="{FF2B5EF4-FFF2-40B4-BE49-F238E27FC236}">
                  <a16:creationId xmlns:a16="http://schemas.microsoft.com/office/drawing/2014/main" id="{276E236E-C1A2-4743-B99F-615B0894757D}"/>
                </a:ext>
              </a:extLst>
            </p:cNvPr>
            <p:cNvSpPr/>
            <p:nvPr/>
          </p:nvSpPr>
          <p:spPr>
            <a:xfrm>
              <a:off x="4575391" y="3206649"/>
              <a:ext cx="929535" cy="419742"/>
            </a:xfrm>
            <a:prstGeom prst="bentUpArrow">
              <a:avLst>
                <a:gd name="adj1" fmla="val 7688"/>
                <a:gd name="adj2" fmla="val 18199"/>
                <a:gd name="adj3" fmla="val 2019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nvGrpSpPr>
            <p:cNvPr id="162" name="Group 161">
              <a:extLst>
                <a:ext uri="{FF2B5EF4-FFF2-40B4-BE49-F238E27FC236}">
                  <a16:creationId xmlns:a16="http://schemas.microsoft.com/office/drawing/2014/main" id="{035F6EC9-F077-9A40-B80E-90308683035B}"/>
                </a:ext>
              </a:extLst>
            </p:cNvPr>
            <p:cNvGrpSpPr/>
            <p:nvPr/>
          </p:nvGrpSpPr>
          <p:grpSpPr>
            <a:xfrm>
              <a:off x="1442223" y="2551892"/>
              <a:ext cx="1245036" cy="593992"/>
              <a:chOff x="9852456" y="608434"/>
              <a:chExt cx="1245036" cy="593992"/>
            </a:xfrm>
          </p:grpSpPr>
          <p:sp>
            <p:nvSpPr>
              <p:cNvPr id="221" name="Oval 19">
                <a:extLst>
                  <a:ext uri="{FF2B5EF4-FFF2-40B4-BE49-F238E27FC236}">
                    <a16:creationId xmlns:a16="http://schemas.microsoft.com/office/drawing/2014/main" id="{883ACB49-E16A-9443-BF20-83102D0AC2E2}"/>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222" name="TextBox 221">
                <a:extLst>
                  <a:ext uri="{FF2B5EF4-FFF2-40B4-BE49-F238E27FC236}">
                    <a16:creationId xmlns:a16="http://schemas.microsoft.com/office/drawing/2014/main" id="{9B910D5B-F03E-EF4D-8AA8-F0CB2EF771DD}"/>
                  </a:ext>
                </a:extLst>
              </p:cNvPr>
              <p:cNvSpPr txBox="1"/>
              <p:nvPr/>
            </p:nvSpPr>
            <p:spPr>
              <a:xfrm>
                <a:off x="9935581" y="670265"/>
                <a:ext cx="1106492" cy="522023"/>
              </a:xfrm>
              <a:prstGeom prst="rect">
                <a:avLst/>
              </a:prstGeom>
              <a:noFill/>
            </p:spPr>
            <p:txBody>
              <a:bodyPr wrap="square" rtlCol="0">
                <a:spAutoFit/>
              </a:bodyPr>
              <a:lstStyle/>
              <a:p>
                <a:pPr algn="ctr" defTabSz="685800">
                  <a:lnSpc>
                    <a:spcPct val="80000"/>
                  </a:lnSpc>
                  <a:defRPr/>
                </a:pPr>
                <a:r>
                  <a:rPr lang="en-US" sz="1200" dirty="0">
                    <a:solidFill>
                      <a:prstClr val="black"/>
                    </a:solidFill>
                    <a:latin typeface="Calibri" panose="020F0502020204030204"/>
                  </a:rPr>
                  <a:t>sending process</a:t>
                </a:r>
              </a:p>
            </p:txBody>
          </p:sp>
        </p:grpSp>
        <p:grpSp>
          <p:nvGrpSpPr>
            <p:cNvPr id="163" name="Group 162">
              <a:extLst>
                <a:ext uri="{FF2B5EF4-FFF2-40B4-BE49-F238E27FC236}">
                  <a16:creationId xmlns:a16="http://schemas.microsoft.com/office/drawing/2014/main" id="{4711F2A1-3F96-204B-8D76-CA73A72D0541}"/>
                </a:ext>
              </a:extLst>
            </p:cNvPr>
            <p:cNvGrpSpPr/>
            <p:nvPr/>
          </p:nvGrpSpPr>
          <p:grpSpPr>
            <a:xfrm>
              <a:off x="2038693" y="3003923"/>
              <a:ext cx="577241" cy="553996"/>
              <a:chOff x="9950444" y="999755"/>
              <a:chExt cx="577241" cy="553996"/>
            </a:xfrm>
          </p:grpSpPr>
          <p:sp>
            <p:nvSpPr>
              <p:cNvPr id="219" name="Rectangle 218">
                <a:extLst>
                  <a:ext uri="{FF2B5EF4-FFF2-40B4-BE49-F238E27FC236}">
                    <a16:creationId xmlns:a16="http://schemas.microsoft.com/office/drawing/2014/main" id="{22B6EF49-41A6-F849-9F5D-04A31D2F40EF}"/>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20" name="TextBox 219">
                <a:extLst>
                  <a:ext uri="{FF2B5EF4-FFF2-40B4-BE49-F238E27FC236}">
                    <a16:creationId xmlns:a16="http://schemas.microsoft.com/office/drawing/2014/main" id="{159B749A-0FAF-ED4F-A42F-24ED3C9A2228}"/>
                  </a:ext>
                </a:extLst>
              </p:cNvPr>
              <p:cNvSpPr txBox="1"/>
              <p:nvPr/>
            </p:nvSpPr>
            <p:spPr>
              <a:xfrm>
                <a:off x="9950444" y="999755"/>
                <a:ext cx="577241" cy="553996"/>
              </a:xfrm>
              <a:prstGeom prst="rect">
                <a:avLst/>
              </a:prstGeom>
              <a:noFill/>
            </p:spPr>
            <p:txBody>
              <a:bodyPr wrap="square" rtlCol="0">
                <a:spAutoFit/>
              </a:bodyPr>
              <a:lstStyle/>
              <a:p>
                <a:pPr defTabSz="685800">
                  <a:defRPr/>
                </a:pPr>
                <a:r>
                  <a:rPr lang="en-US" sz="105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64" name="Group 194">
              <a:extLst>
                <a:ext uri="{FF2B5EF4-FFF2-40B4-BE49-F238E27FC236}">
                  <a16:creationId xmlns:a16="http://schemas.microsoft.com/office/drawing/2014/main" id="{0941CA1D-7B43-3641-AB83-AF3FB0147DB1}"/>
                </a:ext>
              </a:extLst>
            </p:cNvPr>
            <p:cNvGrpSpPr>
              <a:grpSpLocks/>
            </p:cNvGrpSpPr>
            <p:nvPr/>
          </p:nvGrpSpPr>
          <p:grpSpPr bwMode="auto">
            <a:xfrm>
              <a:off x="1175476" y="2432423"/>
              <a:ext cx="545509" cy="512284"/>
              <a:chOff x="-44" y="1473"/>
              <a:chExt cx="981" cy="1105"/>
            </a:xfrm>
          </p:grpSpPr>
          <p:pic>
            <p:nvPicPr>
              <p:cNvPr id="217" name="Picture 195" descr="desktop_computer_stylized_medium">
                <a:extLst>
                  <a:ext uri="{FF2B5EF4-FFF2-40B4-BE49-F238E27FC236}">
                    <a16:creationId xmlns:a16="http://schemas.microsoft.com/office/drawing/2014/main" id="{C9BAD8A3-73FD-504F-969F-7C35A5C98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 name="Freeform 196">
                <a:extLst>
                  <a:ext uri="{FF2B5EF4-FFF2-40B4-BE49-F238E27FC236}">
                    <a16:creationId xmlns:a16="http://schemas.microsoft.com/office/drawing/2014/main" id="{2F736748-6A6F-4A40-841E-F7357D81FD5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65" name="Group 164">
              <a:extLst>
                <a:ext uri="{FF2B5EF4-FFF2-40B4-BE49-F238E27FC236}">
                  <a16:creationId xmlns:a16="http://schemas.microsoft.com/office/drawing/2014/main" id="{19DB2C22-7DC2-E741-9E31-4D336DBD41D8}"/>
                </a:ext>
              </a:extLst>
            </p:cNvPr>
            <p:cNvGrpSpPr/>
            <p:nvPr/>
          </p:nvGrpSpPr>
          <p:grpSpPr>
            <a:xfrm>
              <a:off x="4756576" y="2530702"/>
              <a:ext cx="1245036" cy="593992"/>
              <a:chOff x="9852456" y="608434"/>
              <a:chExt cx="1245036" cy="593992"/>
            </a:xfrm>
          </p:grpSpPr>
          <p:sp>
            <p:nvSpPr>
              <p:cNvPr id="215" name="Oval 19">
                <a:extLst>
                  <a:ext uri="{FF2B5EF4-FFF2-40B4-BE49-F238E27FC236}">
                    <a16:creationId xmlns:a16="http://schemas.microsoft.com/office/drawing/2014/main" id="{6000E806-F013-C443-8B87-D5DBEFEDF8C8}"/>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216" name="TextBox 215">
                <a:extLst>
                  <a:ext uri="{FF2B5EF4-FFF2-40B4-BE49-F238E27FC236}">
                    <a16:creationId xmlns:a16="http://schemas.microsoft.com/office/drawing/2014/main" id="{2D496D32-B730-8F41-BC5C-D46F18E3C27F}"/>
                  </a:ext>
                </a:extLst>
              </p:cNvPr>
              <p:cNvSpPr txBox="1"/>
              <p:nvPr/>
            </p:nvSpPr>
            <p:spPr>
              <a:xfrm>
                <a:off x="9921965" y="670265"/>
                <a:ext cx="1106492" cy="522023"/>
              </a:xfrm>
              <a:prstGeom prst="rect">
                <a:avLst/>
              </a:prstGeom>
              <a:noFill/>
            </p:spPr>
            <p:txBody>
              <a:bodyPr wrap="square" rtlCol="0">
                <a:spAutoFit/>
              </a:bodyPr>
              <a:lstStyle/>
              <a:p>
                <a:pPr algn="ctr" defTabSz="685800">
                  <a:lnSpc>
                    <a:spcPct val="80000"/>
                  </a:lnSpc>
                  <a:defRPr/>
                </a:pPr>
                <a:r>
                  <a:rPr lang="en-US" sz="1200" dirty="0">
                    <a:solidFill>
                      <a:prstClr val="black"/>
                    </a:solidFill>
                    <a:latin typeface="Calibri" panose="020F0502020204030204"/>
                  </a:rPr>
                  <a:t>receiving process</a:t>
                </a:r>
              </a:p>
            </p:txBody>
          </p:sp>
        </p:grpSp>
        <p:grpSp>
          <p:nvGrpSpPr>
            <p:cNvPr id="166" name="Group 165">
              <a:extLst>
                <a:ext uri="{FF2B5EF4-FFF2-40B4-BE49-F238E27FC236}">
                  <a16:creationId xmlns:a16="http://schemas.microsoft.com/office/drawing/2014/main" id="{EA2AE3CE-CD18-494C-A00E-4B2C61F9903E}"/>
                </a:ext>
              </a:extLst>
            </p:cNvPr>
            <p:cNvGrpSpPr/>
            <p:nvPr/>
          </p:nvGrpSpPr>
          <p:grpSpPr>
            <a:xfrm>
              <a:off x="4815705" y="3003923"/>
              <a:ext cx="577241" cy="553997"/>
              <a:chOff x="9678159" y="981583"/>
              <a:chExt cx="577241" cy="553997"/>
            </a:xfrm>
          </p:grpSpPr>
          <p:sp>
            <p:nvSpPr>
              <p:cNvPr id="213" name="Rectangle 212">
                <a:extLst>
                  <a:ext uri="{FF2B5EF4-FFF2-40B4-BE49-F238E27FC236}">
                    <a16:creationId xmlns:a16="http://schemas.microsoft.com/office/drawing/2014/main" id="{68A38E56-F1F2-8D41-B556-9B4F130EE1C0}"/>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14" name="TextBox 213">
                <a:extLst>
                  <a:ext uri="{FF2B5EF4-FFF2-40B4-BE49-F238E27FC236}">
                    <a16:creationId xmlns:a16="http://schemas.microsoft.com/office/drawing/2014/main" id="{B8FBC38B-338F-F747-943D-E7C01C7B97F9}"/>
                  </a:ext>
                </a:extLst>
              </p:cNvPr>
              <p:cNvSpPr txBox="1"/>
              <p:nvPr/>
            </p:nvSpPr>
            <p:spPr>
              <a:xfrm>
                <a:off x="9678159" y="981583"/>
                <a:ext cx="577241" cy="553997"/>
              </a:xfrm>
              <a:prstGeom prst="rect">
                <a:avLst/>
              </a:prstGeom>
              <a:noFill/>
            </p:spPr>
            <p:txBody>
              <a:bodyPr wrap="square" rtlCol="0">
                <a:spAutoFit/>
              </a:bodyPr>
              <a:lstStyle/>
              <a:p>
                <a:pPr defTabSz="685800">
                  <a:defRPr/>
                </a:pPr>
                <a:r>
                  <a:rPr lang="en-US" sz="105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67" name="Group 161">
              <a:extLst>
                <a:ext uri="{FF2B5EF4-FFF2-40B4-BE49-F238E27FC236}">
                  <a16:creationId xmlns:a16="http://schemas.microsoft.com/office/drawing/2014/main" id="{77E8EF91-AF21-9340-AC44-97C2982F9039}"/>
                </a:ext>
              </a:extLst>
            </p:cNvPr>
            <p:cNvGrpSpPr>
              <a:grpSpLocks/>
            </p:cNvGrpSpPr>
            <p:nvPr/>
          </p:nvGrpSpPr>
          <p:grpSpPr bwMode="auto">
            <a:xfrm>
              <a:off x="5854223" y="2398718"/>
              <a:ext cx="230514" cy="466725"/>
              <a:chOff x="4140" y="429"/>
              <a:chExt cx="1425" cy="2396"/>
            </a:xfrm>
          </p:grpSpPr>
          <p:sp>
            <p:nvSpPr>
              <p:cNvPr id="181" name="Freeform 162">
                <a:extLst>
                  <a:ext uri="{FF2B5EF4-FFF2-40B4-BE49-F238E27FC236}">
                    <a16:creationId xmlns:a16="http://schemas.microsoft.com/office/drawing/2014/main" id="{9E28FBA5-541A-AC4F-AE71-5951515DCF0F}"/>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2" name="Rectangle 163">
                <a:extLst>
                  <a:ext uri="{FF2B5EF4-FFF2-40B4-BE49-F238E27FC236}">
                    <a16:creationId xmlns:a16="http://schemas.microsoft.com/office/drawing/2014/main" id="{CC415C09-33EA-A142-8461-9672CCFF0F16}"/>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83" name="Freeform 164">
                <a:extLst>
                  <a:ext uri="{FF2B5EF4-FFF2-40B4-BE49-F238E27FC236}">
                    <a16:creationId xmlns:a16="http://schemas.microsoft.com/office/drawing/2014/main" id="{2A5E6FB5-B778-F24C-A601-95339A953800}"/>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4" name="Freeform 165">
                <a:extLst>
                  <a:ext uri="{FF2B5EF4-FFF2-40B4-BE49-F238E27FC236}">
                    <a16:creationId xmlns:a16="http://schemas.microsoft.com/office/drawing/2014/main" id="{70415A3C-7C91-7E46-9BA5-D62360FC3F51}"/>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85" name="Rectangle 166">
                <a:extLst>
                  <a:ext uri="{FF2B5EF4-FFF2-40B4-BE49-F238E27FC236}">
                    <a16:creationId xmlns:a16="http://schemas.microsoft.com/office/drawing/2014/main" id="{4A157385-49EC-A345-8675-63A8A4717EE4}"/>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86" name="Group 167">
                <a:extLst>
                  <a:ext uri="{FF2B5EF4-FFF2-40B4-BE49-F238E27FC236}">
                    <a16:creationId xmlns:a16="http://schemas.microsoft.com/office/drawing/2014/main" id="{1DBB8188-6E4B-DB44-A618-1833910E6891}"/>
                  </a:ext>
                </a:extLst>
              </p:cNvPr>
              <p:cNvGrpSpPr>
                <a:grpSpLocks/>
              </p:cNvGrpSpPr>
              <p:nvPr/>
            </p:nvGrpSpPr>
            <p:grpSpPr bwMode="auto">
              <a:xfrm>
                <a:off x="4749" y="668"/>
                <a:ext cx="581" cy="145"/>
                <a:chOff x="614" y="2568"/>
                <a:chExt cx="725" cy="139"/>
              </a:xfrm>
            </p:grpSpPr>
            <p:sp>
              <p:nvSpPr>
                <p:cNvPr id="211" name="AutoShape 168">
                  <a:extLst>
                    <a:ext uri="{FF2B5EF4-FFF2-40B4-BE49-F238E27FC236}">
                      <a16:creationId xmlns:a16="http://schemas.microsoft.com/office/drawing/2014/main" id="{CE1ED7B1-4BA4-A84D-9114-C8CBB4BC5149}"/>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2" name="AutoShape 169">
                  <a:extLst>
                    <a:ext uri="{FF2B5EF4-FFF2-40B4-BE49-F238E27FC236}">
                      <a16:creationId xmlns:a16="http://schemas.microsoft.com/office/drawing/2014/main" id="{B7844D79-0009-B94B-8989-919CDF6A9788}"/>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87" name="Rectangle 170">
                <a:extLst>
                  <a:ext uri="{FF2B5EF4-FFF2-40B4-BE49-F238E27FC236}">
                    <a16:creationId xmlns:a16="http://schemas.microsoft.com/office/drawing/2014/main" id="{51286867-B08D-0C40-A917-0F4029DD6072}"/>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88" name="Group 171">
                <a:extLst>
                  <a:ext uri="{FF2B5EF4-FFF2-40B4-BE49-F238E27FC236}">
                    <a16:creationId xmlns:a16="http://schemas.microsoft.com/office/drawing/2014/main" id="{D9A8F55B-F86B-6649-A1E4-8F24F95BCCED}"/>
                  </a:ext>
                </a:extLst>
              </p:cNvPr>
              <p:cNvGrpSpPr>
                <a:grpSpLocks/>
              </p:cNvGrpSpPr>
              <p:nvPr/>
            </p:nvGrpSpPr>
            <p:grpSpPr bwMode="auto">
              <a:xfrm>
                <a:off x="4747" y="994"/>
                <a:ext cx="581" cy="134"/>
                <a:chOff x="614" y="2568"/>
                <a:chExt cx="725" cy="139"/>
              </a:xfrm>
            </p:grpSpPr>
            <p:sp>
              <p:nvSpPr>
                <p:cNvPr id="209" name="AutoShape 172">
                  <a:extLst>
                    <a:ext uri="{FF2B5EF4-FFF2-40B4-BE49-F238E27FC236}">
                      <a16:creationId xmlns:a16="http://schemas.microsoft.com/office/drawing/2014/main" id="{16943728-8B67-F648-BF99-75B1A2EB8B65}"/>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10" name="AutoShape 173">
                  <a:extLst>
                    <a:ext uri="{FF2B5EF4-FFF2-40B4-BE49-F238E27FC236}">
                      <a16:creationId xmlns:a16="http://schemas.microsoft.com/office/drawing/2014/main" id="{E5C59DE8-B381-7841-BEF2-A71119B6CD8F}"/>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89" name="Rectangle 174">
                <a:extLst>
                  <a:ext uri="{FF2B5EF4-FFF2-40B4-BE49-F238E27FC236}">
                    <a16:creationId xmlns:a16="http://schemas.microsoft.com/office/drawing/2014/main" id="{E2A441E4-4B95-2D4B-8D2B-A39444E730C9}"/>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0" name="Rectangle 175">
                <a:extLst>
                  <a:ext uri="{FF2B5EF4-FFF2-40B4-BE49-F238E27FC236}">
                    <a16:creationId xmlns:a16="http://schemas.microsoft.com/office/drawing/2014/main" id="{4C56D3D2-1E9D-9A4E-A8E6-C02F387A41EB}"/>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91" name="Group 176">
                <a:extLst>
                  <a:ext uri="{FF2B5EF4-FFF2-40B4-BE49-F238E27FC236}">
                    <a16:creationId xmlns:a16="http://schemas.microsoft.com/office/drawing/2014/main" id="{4DEFC4BF-D38C-4E4F-8FF6-784D2ECC1D20}"/>
                  </a:ext>
                </a:extLst>
              </p:cNvPr>
              <p:cNvGrpSpPr>
                <a:grpSpLocks/>
              </p:cNvGrpSpPr>
              <p:nvPr/>
            </p:nvGrpSpPr>
            <p:grpSpPr bwMode="auto">
              <a:xfrm>
                <a:off x="4735" y="1627"/>
                <a:ext cx="582" cy="151"/>
                <a:chOff x="614" y="2568"/>
                <a:chExt cx="725" cy="139"/>
              </a:xfrm>
            </p:grpSpPr>
            <p:sp>
              <p:nvSpPr>
                <p:cNvPr id="207" name="AutoShape 177">
                  <a:extLst>
                    <a:ext uri="{FF2B5EF4-FFF2-40B4-BE49-F238E27FC236}">
                      <a16:creationId xmlns:a16="http://schemas.microsoft.com/office/drawing/2014/main" id="{1E6EF7BF-0973-4748-B890-B3787B883BAA}"/>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8" name="AutoShape 178">
                  <a:extLst>
                    <a:ext uri="{FF2B5EF4-FFF2-40B4-BE49-F238E27FC236}">
                      <a16:creationId xmlns:a16="http://schemas.microsoft.com/office/drawing/2014/main" id="{E5D7BCD8-55E5-614E-8991-523BADFCB547}"/>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92" name="Freeform 179">
                <a:extLst>
                  <a:ext uri="{FF2B5EF4-FFF2-40B4-BE49-F238E27FC236}">
                    <a16:creationId xmlns:a16="http://schemas.microsoft.com/office/drawing/2014/main" id="{9D08C936-65B2-7540-81A7-902915A9F68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193" name="Group 180">
                <a:extLst>
                  <a:ext uri="{FF2B5EF4-FFF2-40B4-BE49-F238E27FC236}">
                    <a16:creationId xmlns:a16="http://schemas.microsoft.com/office/drawing/2014/main" id="{E99B1C69-E2B6-2944-ADFF-75BD1E5CCF82}"/>
                  </a:ext>
                </a:extLst>
              </p:cNvPr>
              <p:cNvGrpSpPr>
                <a:grpSpLocks/>
              </p:cNvGrpSpPr>
              <p:nvPr/>
            </p:nvGrpSpPr>
            <p:grpSpPr bwMode="auto">
              <a:xfrm>
                <a:off x="4739" y="1327"/>
                <a:ext cx="582" cy="139"/>
                <a:chOff x="614" y="2568"/>
                <a:chExt cx="725" cy="139"/>
              </a:xfrm>
            </p:grpSpPr>
            <p:sp>
              <p:nvSpPr>
                <p:cNvPr id="205" name="AutoShape 181">
                  <a:extLst>
                    <a:ext uri="{FF2B5EF4-FFF2-40B4-BE49-F238E27FC236}">
                      <a16:creationId xmlns:a16="http://schemas.microsoft.com/office/drawing/2014/main" id="{40AB9F71-EF2B-814B-9AA0-68CABE04DD9B}"/>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6" name="AutoShape 182">
                  <a:extLst>
                    <a:ext uri="{FF2B5EF4-FFF2-40B4-BE49-F238E27FC236}">
                      <a16:creationId xmlns:a16="http://schemas.microsoft.com/office/drawing/2014/main" id="{61BBD585-034C-FE44-8C4C-5732B02C9B93}"/>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94" name="Rectangle 183">
                <a:extLst>
                  <a:ext uri="{FF2B5EF4-FFF2-40B4-BE49-F238E27FC236}">
                    <a16:creationId xmlns:a16="http://schemas.microsoft.com/office/drawing/2014/main" id="{3003C525-2BE0-154F-83E7-C0B0EEC1A63C}"/>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5" name="Freeform 184">
                <a:extLst>
                  <a:ext uri="{FF2B5EF4-FFF2-40B4-BE49-F238E27FC236}">
                    <a16:creationId xmlns:a16="http://schemas.microsoft.com/office/drawing/2014/main" id="{87688AC3-3CC5-0947-8699-28651834F6F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96" name="Freeform 185">
                <a:extLst>
                  <a:ext uri="{FF2B5EF4-FFF2-40B4-BE49-F238E27FC236}">
                    <a16:creationId xmlns:a16="http://schemas.microsoft.com/office/drawing/2014/main" id="{3B30373F-530B-FF4A-A69C-611E391F9885}"/>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97" name="Oval 186">
                <a:extLst>
                  <a:ext uri="{FF2B5EF4-FFF2-40B4-BE49-F238E27FC236}">
                    <a16:creationId xmlns:a16="http://schemas.microsoft.com/office/drawing/2014/main" id="{BE74818C-974F-C344-AF1C-A571C38F7674}"/>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8" name="Freeform 187">
                <a:extLst>
                  <a:ext uri="{FF2B5EF4-FFF2-40B4-BE49-F238E27FC236}">
                    <a16:creationId xmlns:a16="http://schemas.microsoft.com/office/drawing/2014/main" id="{C9128504-5E1F-1F4A-BF9E-EFE7472C0309}"/>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99" name="AutoShape 188">
                <a:extLst>
                  <a:ext uri="{FF2B5EF4-FFF2-40B4-BE49-F238E27FC236}">
                    <a16:creationId xmlns:a16="http://schemas.microsoft.com/office/drawing/2014/main" id="{E1404165-9D6F-1942-BB52-FCC831E9A23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0" name="AutoShape 189">
                <a:extLst>
                  <a:ext uri="{FF2B5EF4-FFF2-40B4-BE49-F238E27FC236}">
                    <a16:creationId xmlns:a16="http://schemas.microsoft.com/office/drawing/2014/main" id="{7F94C469-5406-364A-84E2-47B5F8B49B4C}"/>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1" name="Oval 190">
                <a:extLst>
                  <a:ext uri="{FF2B5EF4-FFF2-40B4-BE49-F238E27FC236}">
                    <a16:creationId xmlns:a16="http://schemas.microsoft.com/office/drawing/2014/main" id="{A0E8CAFD-652A-E647-BA6D-055C853C8A16}"/>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2" name="Oval 191">
                <a:extLst>
                  <a:ext uri="{FF2B5EF4-FFF2-40B4-BE49-F238E27FC236}">
                    <a16:creationId xmlns:a16="http://schemas.microsoft.com/office/drawing/2014/main" id="{1A58DA79-10F0-C94E-9A96-4E39E4332121}"/>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203" name="Oval 192">
                <a:extLst>
                  <a:ext uri="{FF2B5EF4-FFF2-40B4-BE49-F238E27FC236}">
                    <a16:creationId xmlns:a16="http://schemas.microsoft.com/office/drawing/2014/main" id="{E5153F60-CA4E-AD46-AA61-51967FAF6727}"/>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04" name="Rectangle 193">
                <a:extLst>
                  <a:ext uri="{FF2B5EF4-FFF2-40B4-BE49-F238E27FC236}">
                    <a16:creationId xmlns:a16="http://schemas.microsoft.com/office/drawing/2014/main" id="{FDB88677-8689-BF48-AD1F-09182168736F}"/>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168" name="Group 167">
              <a:extLst>
                <a:ext uri="{FF2B5EF4-FFF2-40B4-BE49-F238E27FC236}">
                  <a16:creationId xmlns:a16="http://schemas.microsoft.com/office/drawing/2014/main" id="{EAFBA5EB-DA0C-3243-87AB-B89E8E79E894}"/>
                </a:ext>
              </a:extLst>
            </p:cNvPr>
            <p:cNvGrpSpPr/>
            <p:nvPr/>
          </p:nvGrpSpPr>
          <p:grpSpPr>
            <a:xfrm>
              <a:off x="2669417" y="3423937"/>
              <a:ext cx="2086764" cy="400109"/>
              <a:chOff x="7504363" y="3141846"/>
              <a:chExt cx="2086764" cy="400109"/>
            </a:xfrm>
          </p:grpSpPr>
          <p:grpSp>
            <p:nvGrpSpPr>
              <p:cNvPr id="175" name="Group 174">
                <a:extLst>
                  <a:ext uri="{FF2B5EF4-FFF2-40B4-BE49-F238E27FC236}">
                    <a16:creationId xmlns:a16="http://schemas.microsoft.com/office/drawing/2014/main" id="{11FC8479-D121-CF45-BE67-D2FC95EAF7B9}"/>
                  </a:ext>
                </a:extLst>
              </p:cNvPr>
              <p:cNvGrpSpPr/>
              <p:nvPr/>
            </p:nvGrpSpPr>
            <p:grpSpPr>
              <a:xfrm>
                <a:off x="7504363" y="3183676"/>
                <a:ext cx="2003932" cy="306163"/>
                <a:chOff x="1616358" y="2551230"/>
                <a:chExt cx="2141698" cy="218510"/>
              </a:xfrm>
            </p:grpSpPr>
            <p:sp>
              <p:nvSpPr>
                <p:cNvPr id="177" name="Rectangle 176">
                  <a:extLst>
                    <a:ext uri="{FF2B5EF4-FFF2-40B4-BE49-F238E27FC236}">
                      <a16:creationId xmlns:a16="http://schemas.microsoft.com/office/drawing/2014/main" id="{553693F6-B250-A94A-973B-A2B9E24D52C4}"/>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178" name="Oval 177">
                  <a:extLst>
                    <a:ext uri="{FF2B5EF4-FFF2-40B4-BE49-F238E27FC236}">
                      <a16:creationId xmlns:a16="http://schemas.microsoft.com/office/drawing/2014/main" id="{90731F76-7DB6-864C-9B95-2487D9D7B8DE}"/>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179" name="Oval 178">
                  <a:extLst>
                    <a:ext uri="{FF2B5EF4-FFF2-40B4-BE49-F238E27FC236}">
                      <a16:creationId xmlns:a16="http://schemas.microsoft.com/office/drawing/2014/main" id="{31CDAEAB-9168-0E4F-9A8E-E906655A076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180" name="Rectangle 179">
                  <a:extLst>
                    <a:ext uri="{FF2B5EF4-FFF2-40B4-BE49-F238E27FC236}">
                      <a16:creationId xmlns:a16="http://schemas.microsoft.com/office/drawing/2014/main" id="{34315B0F-7173-EA4C-98E3-3F4A8474AFE9}"/>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grpSp>
          <p:sp>
            <p:nvSpPr>
              <p:cNvPr id="176" name="TextBox 175">
                <a:extLst>
                  <a:ext uri="{FF2B5EF4-FFF2-40B4-BE49-F238E27FC236}">
                    <a16:creationId xmlns:a16="http://schemas.microsoft.com/office/drawing/2014/main" id="{997FB701-F3E4-214A-918C-4E8D192B2BB3}"/>
                  </a:ext>
                </a:extLst>
              </p:cNvPr>
              <p:cNvSpPr txBox="1"/>
              <p:nvPr/>
            </p:nvSpPr>
            <p:spPr>
              <a:xfrm>
                <a:off x="7695752" y="3141846"/>
                <a:ext cx="1895375" cy="400109"/>
              </a:xfrm>
              <a:prstGeom prst="rect">
                <a:avLst/>
              </a:prstGeom>
              <a:noFill/>
            </p:spPr>
            <p:txBody>
              <a:bodyPr wrap="none" rtlCol="0">
                <a:spAutoFit/>
              </a:bodyPr>
              <a:lstStyle/>
              <a:p>
                <a:pPr defTabSz="685800">
                  <a:defRPr/>
                </a:pPr>
                <a:r>
                  <a:rPr lang="en-US" sz="1350" dirty="0">
                    <a:solidFill>
                      <a:prstClr val="white"/>
                    </a:solidFill>
                    <a:latin typeface="Calibri" panose="020F0502020204030204"/>
                  </a:rPr>
                  <a:t>reliable channel</a:t>
                </a:r>
              </a:p>
            </p:txBody>
          </p:sp>
        </p:grpSp>
        <p:cxnSp>
          <p:nvCxnSpPr>
            <p:cNvPr id="169" name="Straight Connector 168">
              <a:extLst>
                <a:ext uri="{FF2B5EF4-FFF2-40B4-BE49-F238E27FC236}">
                  <a16:creationId xmlns:a16="http://schemas.microsoft.com/office/drawing/2014/main" id="{82CF18A5-E8B1-C44A-855D-BC2E13F5D131}"/>
                </a:ext>
              </a:extLst>
            </p:cNvPr>
            <p:cNvCxnSpPr>
              <a:cxnSpLocks/>
            </p:cNvCxnSpPr>
            <p:nvPr/>
          </p:nvCxnSpPr>
          <p:spPr>
            <a:xfrm>
              <a:off x="1082232"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0" name="Bent-Up Arrow 169">
              <a:extLst>
                <a:ext uri="{FF2B5EF4-FFF2-40B4-BE49-F238E27FC236}">
                  <a16:creationId xmlns:a16="http://schemas.microsoft.com/office/drawing/2014/main" id="{35B9DBBD-4E46-054F-AF2A-3048455F5FA1}"/>
                </a:ext>
              </a:extLst>
            </p:cNvPr>
            <p:cNvSpPr/>
            <p:nvPr/>
          </p:nvSpPr>
          <p:spPr>
            <a:xfrm rot="5400000">
              <a:off x="2152182" y="3067004"/>
              <a:ext cx="462111" cy="773811"/>
            </a:xfrm>
            <a:prstGeom prst="bentUpArrow">
              <a:avLst>
                <a:gd name="adj1" fmla="val 7999"/>
                <a:gd name="adj2" fmla="val 16334"/>
                <a:gd name="adj3" fmla="val 21389"/>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cxnSp>
          <p:nvCxnSpPr>
            <p:cNvPr id="171" name="Straight Connector 170">
              <a:extLst>
                <a:ext uri="{FF2B5EF4-FFF2-40B4-BE49-F238E27FC236}">
                  <a16:creationId xmlns:a16="http://schemas.microsoft.com/office/drawing/2014/main" id="{CFAA8010-49E9-EB46-BD2B-D57E00E6F5CD}"/>
                </a:ext>
              </a:extLst>
            </p:cNvPr>
            <p:cNvCxnSpPr>
              <a:cxnSpLocks/>
            </p:cNvCxnSpPr>
            <p:nvPr/>
          </p:nvCxnSpPr>
          <p:spPr>
            <a:xfrm>
              <a:off x="4645151" y="3325543"/>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F1100341-F7A9-1D41-8489-9128E671B607}"/>
                </a:ext>
              </a:extLst>
            </p:cNvPr>
            <p:cNvSpPr txBox="1"/>
            <p:nvPr/>
          </p:nvSpPr>
          <p:spPr>
            <a:xfrm>
              <a:off x="737513" y="3044384"/>
              <a:ext cx="114360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application</a:t>
              </a:r>
              <a:endParaRPr lang="en-US" sz="1350" dirty="0">
                <a:solidFill>
                  <a:prstClr val="black"/>
                </a:solidFill>
                <a:latin typeface="Calibri" panose="020F0502020204030204"/>
              </a:endParaRPr>
            </a:p>
          </p:txBody>
        </p:sp>
        <p:sp>
          <p:nvSpPr>
            <p:cNvPr id="173" name="TextBox 172">
              <a:extLst>
                <a:ext uri="{FF2B5EF4-FFF2-40B4-BE49-F238E27FC236}">
                  <a16:creationId xmlns:a16="http://schemas.microsoft.com/office/drawing/2014/main" id="{30DCEE24-EC49-B244-B451-278656DCCEBE}"/>
                </a:ext>
              </a:extLst>
            </p:cNvPr>
            <p:cNvSpPr txBox="1"/>
            <p:nvPr/>
          </p:nvSpPr>
          <p:spPr>
            <a:xfrm>
              <a:off x="828116" y="3272132"/>
              <a:ext cx="1008841"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sp>
          <p:nvSpPr>
            <p:cNvPr id="174" name="TextBox 173">
              <a:extLst>
                <a:ext uri="{FF2B5EF4-FFF2-40B4-BE49-F238E27FC236}">
                  <a16:creationId xmlns:a16="http://schemas.microsoft.com/office/drawing/2014/main" id="{15EB50A4-0F12-A743-8A7B-907E5EE4A2F5}"/>
                </a:ext>
              </a:extLst>
            </p:cNvPr>
            <p:cNvSpPr txBox="1"/>
            <p:nvPr/>
          </p:nvSpPr>
          <p:spPr>
            <a:xfrm flipH="1">
              <a:off x="1817206" y="4010900"/>
              <a:ext cx="4025651" cy="492443"/>
            </a:xfrm>
            <a:prstGeom prst="rect">
              <a:avLst/>
            </a:prstGeom>
            <a:noFill/>
          </p:spPr>
          <p:txBody>
            <a:bodyPr wrap="square" rtlCol="0">
              <a:spAutoFit/>
            </a:bodyPr>
            <a:lstStyle/>
            <a:p>
              <a:pPr defTabSz="685800">
                <a:defRPr/>
              </a:pPr>
              <a:r>
                <a:rPr lang="en-US" dirty="0">
                  <a:solidFill>
                    <a:prstClr val="black"/>
                  </a:solidFill>
                  <a:latin typeface="Calibri" panose="020F0502020204030204"/>
                </a:rPr>
                <a:t>reliable service </a:t>
              </a:r>
              <a:r>
                <a:rPr lang="en-US" i="1" dirty="0">
                  <a:solidFill>
                    <a:prstClr val="black"/>
                  </a:solidFill>
                  <a:latin typeface="Calibri" panose="020F0502020204030204"/>
                </a:rPr>
                <a:t>abstraction</a:t>
              </a:r>
            </a:p>
          </p:txBody>
        </p:sp>
      </p:grpSp>
      <p:sp>
        <p:nvSpPr>
          <p:cNvPr id="8" name="Rectangle 7">
            <a:extLst>
              <a:ext uri="{FF2B5EF4-FFF2-40B4-BE49-F238E27FC236}">
                <a16:creationId xmlns:a16="http://schemas.microsoft.com/office/drawing/2014/main" id="{7A8CA74F-CA34-FE4D-BBA8-48490B128E60}"/>
              </a:ext>
            </a:extLst>
          </p:cNvPr>
          <p:cNvSpPr/>
          <p:nvPr/>
        </p:nvSpPr>
        <p:spPr>
          <a:xfrm>
            <a:off x="221920" y="2219457"/>
            <a:ext cx="3949248" cy="1795956"/>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4" name="Right Arrow 13">
            <a:extLst>
              <a:ext uri="{FF2B5EF4-FFF2-40B4-BE49-F238E27FC236}">
                <a16:creationId xmlns:a16="http://schemas.microsoft.com/office/drawing/2014/main" id="{801B4EA5-1C05-1743-AB9A-0E0C38CDA1C5}"/>
              </a:ext>
            </a:extLst>
          </p:cNvPr>
          <p:cNvSpPr/>
          <p:nvPr/>
        </p:nvSpPr>
        <p:spPr>
          <a:xfrm>
            <a:off x="4086617" y="3187092"/>
            <a:ext cx="479120" cy="760956"/>
          </a:xfrm>
          <a:prstGeom prst="rightArrow">
            <a:avLst/>
          </a:prstGeom>
          <a:gradFill>
            <a:gsLst>
              <a:gs pos="0">
                <a:schemeClr val="accent1">
                  <a:lumMod val="5000"/>
                  <a:lumOff val="95000"/>
                </a:schemeClr>
              </a:gs>
              <a:gs pos="56000">
                <a:srgbClr val="C0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 name="Oval 2">
            <a:extLst>
              <a:ext uri="{FF2B5EF4-FFF2-40B4-BE49-F238E27FC236}">
                <a16:creationId xmlns:a16="http://schemas.microsoft.com/office/drawing/2014/main" id="{5B614158-9985-B744-A5F2-706D5EF5D7E9}"/>
              </a:ext>
            </a:extLst>
          </p:cNvPr>
          <p:cNvSpPr/>
          <p:nvPr/>
        </p:nvSpPr>
        <p:spPr>
          <a:xfrm>
            <a:off x="4940084" y="3240114"/>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31" name="Oval 230">
            <a:extLst>
              <a:ext uri="{FF2B5EF4-FFF2-40B4-BE49-F238E27FC236}">
                <a16:creationId xmlns:a16="http://schemas.microsoft.com/office/drawing/2014/main" id="{4368BA48-D0C1-5949-880D-4FFAA26CCECD}"/>
              </a:ext>
            </a:extLst>
          </p:cNvPr>
          <p:cNvSpPr/>
          <p:nvPr/>
        </p:nvSpPr>
        <p:spPr>
          <a:xfrm>
            <a:off x="7414002" y="3238177"/>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Tree>
    <p:extLst>
      <p:ext uri="{BB962C8B-B14F-4D97-AF65-F5344CB8AC3E}">
        <p14:creationId xmlns:p14="http://schemas.microsoft.com/office/powerpoint/2010/main" val="3275589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fontScale="90000"/>
          </a:bodyPr>
          <a:lstStyle/>
          <a:p>
            <a:r>
              <a:rPr lang="en-US" dirty="0"/>
              <a:t>Principles of reliable data transfer </a:t>
            </a:r>
          </a:p>
        </p:txBody>
      </p:sp>
      <p:sp>
        <p:nvSpPr>
          <p:cNvPr id="85" name="Slide Number Placeholder 2">
            <a:extLst>
              <a:ext uri="{FF2B5EF4-FFF2-40B4-BE49-F238E27FC236}">
                <a16:creationId xmlns:a16="http://schemas.microsoft.com/office/drawing/2014/main" id="{ADF8FD71-EE62-D045-9E44-162D8557969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5</a:t>
            </a:fld>
            <a:endParaRPr lang="en-US" dirty="0">
              <a:solidFill>
                <a:prstClr val="white">
                  <a:lumMod val="50000"/>
                </a:prstClr>
              </a:solidFill>
              <a:latin typeface="Calibri" panose="020F0502020204030204"/>
            </a:endParaRPr>
          </a:p>
        </p:txBody>
      </p:sp>
      <p:grpSp>
        <p:nvGrpSpPr>
          <p:cNvPr id="9" name="Group 8">
            <a:extLst>
              <a:ext uri="{FF2B5EF4-FFF2-40B4-BE49-F238E27FC236}">
                <a16:creationId xmlns:a16="http://schemas.microsoft.com/office/drawing/2014/main" id="{C7D89CDE-A98B-A64B-A840-9A38508B9B43}"/>
              </a:ext>
            </a:extLst>
          </p:cNvPr>
          <p:cNvGrpSpPr/>
          <p:nvPr/>
        </p:nvGrpSpPr>
        <p:grpSpPr>
          <a:xfrm>
            <a:off x="4669561" y="2282929"/>
            <a:ext cx="4198938" cy="3094846"/>
            <a:chOff x="6226081" y="2364366"/>
            <a:chExt cx="5598584" cy="412646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615555"/>
              <a:chOff x="9950444" y="999755"/>
              <a:chExt cx="577241" cy="615555"/>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5"/>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1051999"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application</a:t>
              </a:r>
              <a:endParaRPr lang="en-US" sz="1350" dirty="0">
                <a:solidFill>
                  <a:prstClr val="black"/>
                </a:solidFill>
                <a:latin typeface="Calibri" panose="020F0502020204030204"/>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92803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92443"/>
            </a:xfrm>
            <a:prstGeom prst="rect">
              <a:avLst/>
            </a:prstGeom>
            <a:noFill/>
          </p:spPr>
          <p:txBody>
            <a:bodyPr wrap="square" rtlCol="0">
              <a:spAutoFit/>
            </a:bodyPr>
            <a:lstStyle/>
            <a:p>
              <a:pPr defTabSz="685800">
                <a:defRPr/>
              </a:pPr>
              <a:r>
                <a:rPr lang="en-US" dirty="0">
                  <a:solidFill>
                    <a:prstClr val="black"/>
                  </a:solidFill>
                  <a:latin typeface="Calibri" panose="020F0502020204030204"/>
                </a:rPr>
                <a:t>reliable service </a:t>
              </a:r>
              <a:r>
                <a:rPr lang="en-US" i="1" dirty="0">
                  <a:solidFill>
                    <a:srgbClr val="C00000"/>
                  </a:solidFill>
                  <a:latin typeface="Calibri" panose="020F0502020204030204"/>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a:defRPr/>
                  </a:pPr>
                  <a:r>
                    <a:rPr lang="en-US" sz="1350" dirty="0">
                      <a:solidFill>
                        <a:prstClr val="white"/>
                      </a:solidFill>
                      <a:latin typeface="Calibri" panose="020F0502020204030204"/>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855363"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network</a:t>
              </a:r>
              <a:endParaRPr lang="en-US" sz="1350" dirty="0">
                <a:solidFill>
                  <a:prstClr val="black"/>
                </a:solidFill>
                <a:latin typeface="Calibri" panose="020F0502020204030204"/>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92803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71008"/>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sender-side of</a:t>
              </a:r>
            </a:p>
            <a:p>
              <a:pPr algn="ctr" defTabSz="685800">
                <a:lnSpc>
                  <a:spcPct val="90000"/>
                </a:lnSpc>
                <a:defRPr/>
              </a:pPr>
              <a:r>
                <a:rPr lang="en-US" sz="1350" dirty="0">
                  <a:solidFill>
                    <a:prstClr val="black"/>
                  </a:solidFill>
                  <a:latin typeface="Calibri" panose="020F0502020204030204"/>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6" y="3826493"/>
              <a:ext cx="1896984" cy="871008"/>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receiver-side</a:t>
              </a:r>
            </a:p>
            <a:p>
              <a:pPr algn="ctr" defTabSz="685800">
                <a:lnSpc>
                  <a:spcPct val="90000"/>
                </a:lnSpc>
                <a:defRPr/>
              </a:pPr>
              <a:r>
                <a:rPr lang="en-US" sz="1350" dirty="0">
                  <a:solidFill>
                    <a:prstClr val="black"/>
                  </a:solidFill>
                  <a:latin typeface="Calibri" panose="020F0502020204030204"/>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16" name="Group 15">
            <a:extLst>
              <a:ext uri="{FF2B5EF4-FFF2-40B4-BE49-F238E27FC236}">
                <a16:creationId xmlns:a16="http://schemas.microsoft.com/office/drawing/2014/main" id="{3F910FC6-F569-2147-8E13-9C3CBF349C22}"/>
              </a:ext>
            </a:extLst>
          </p:cNvPr>
          <p:cNvGrpSpPr/>
          <p:nvPr/>
        </p:nvGrpSpPr>
        <p:grpSpPr>
          <a:xfrm>
            <a:off x="746767" y="3520100"/>
            <a:ext cx="6762563" cy="1708160"/>
            <a:chOff x="995688" y="4013928"/>
            <a:chExt cx="9016751" cy="2277547"/>
          </a:xfrm>
        </p:grpSpPr>
        <p:sp>
          <p:nvSpPr>
            <p:cNvPr id="254" name="TextBox 253">
              <a:extLst>
                <a:ext uri="{FF2B5EF4-FFF2-40B4-BE49-F238E27FC236}">
                  <a16:creationId xmlns:a16="http://schemas.microsoft.com/office/drawing/2014/main" id="{B694493B-88BF-134F-B1BA-C0BD341D486C}"/>
                </a:ext>
              </a:extLst>
            </p:cNvPr>
            <p:cNvSpPr txBox="1"/>
            <p:nvPr/>
          </p:nvSpPr>
          <p:spPr>
            <a:xfrm>
              <a:off x="995688" y="4013928"/>
              <a:ext cx="4815358" cy="2277547"/>
            </a:xfrm>
            <a:prstGeom prst="rect">
              <a:avLst/>
            </a:prstGeom>
            <a:noFill/>
          </p:spPr>
          <p:txBody>
            <a:bodyPr wrap="square" rtlCol="0">
              <a:spAutoFit/>
            </a:bodyPr>
            <a:lstStyle/>
            <a:p>
              <a:pPr algn="r" defTabSz="685800">
                <a:defRPr/>
              </a:pPr>
              <a:r>
                <a:rPr lang="en-US" sz="2100" dirty="0">
                  <a:solidFill>
                    <a:prstClr val="black"/>
                  </a:solidFill>
                  <a:latin typeface="Calibri" panose="020F0502020204030204"/>
                </a:rPr>
                <a:t>Complexity of reliable data transfer protocol  will depend (strongly) on characteristics of unreliable channel (lose, corrupt, reorder data?)</a:t>
              </a:r>
            </a:p>
          </p:txBody>
        </p:sp>
        <p:cxnSp>
          <p:nvCxnSpPr>
            <p:cNvPr id="10" name="Straight Connector 9">
              <a:extLst>
                <a:ext uri="{FF2B5EF4-FFF2-40B4-BE49-F238E27FC236}">
                  <a16:creationId xmlns:a16="http://schemas.microsoft.com/office/drawing/2014/main" id="{CF6FCEAF-463D-2648-AB33-C825C90C616E}"/>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0B021F0-9489-874C-A482-48774A1F4135}"/>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1" name="Oval 230">
            <a:extLst>
              <a:ext uri="{FF2B5EF4-FFF2-40B4-BE49-F238E27FC236}">
                <a16:creationId xmlns:a16="http://schemas.microsoft.com/office/drawing/2014/main" id="{05A41E28-36B5-F84E-9E12-7529960E3C65}"/>
              </a:ext>
            </a:extLst>
          </p:cNvPr>
          <p:cNvSpPr/>
          <p:nvPr/>
        </p:nvSpPr>
        <p:spPr>
          <a:xfrm>
            <a:off x="4940084" y="3240114"/>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36" name="Oval 235">
            <a:extLst>
              <a:ext uri="{FF2B5EF4-FFF2-40B4-BE49-F238E27FC236}">
                <a16:creationId xmlns:a16="http://schemas.microsoft.com/office/drawing/2014/main" id="{1C1568F9-7215-6C43-8C2A-E0D8D4F2877D}"/>
              </a:ext>
            </a:extLst>
          </p:cNvPr>
          <p:cNvSpPr/>
          <p:nvPr/>
        </p:nvSpPr>
        <p:spPr>
          <a:xfrm>
            <a:off x="7414002" y="3238177"/>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Tree>
    <p:extLst>
      <p:ext uri="{BB962C8B-B14F-4D97-AF65-F5344CB8AC3E}">
        <p14:creationId xmlns:p14="http://schemas.microsoft.com/office/powerpoint/2010/main" val="564278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fontScale="90000"/>
          </a:bodyPr>
          <a:lstStyle/>
          <a:p>
            <a:r>
              <a:rPr lang="en-US" dirty="0"/>
              <a:t>Principles of reliable data transfer </a:t>
            </a:r>
          </a:p>
        </p:txBody>
      </p:sp>
      <p:sp>
        <p:nvSpPr>
          <p:cNvPr id="87" name="Slide Number Placeholder 2">
            <a:extLst>
              <a:ext uri="{FF2B5EF4-FFF2-40B4-BE49-F238E27FC236}">
                <a16:creationId xmlns:a16="http://schemas.microsoft.com/office/drawing/2014/main" id="{A2229121-4A15-DF44-A869-74D8C822A5F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6</a:t>
            </a:fld>
            <a:endParaRPr lang="en-US" dirty="0">
              <a:solidFill>
                <a:prstClr val="white">
                  <a:lumMod val="50000"/>
                </a:prstClr>
              </a:solidFill>
              <a:latin typeface="Calibri" panose="020F0502020204030204"/>
            </a:endParaRPr>
          </a:p>
        </p:txBody>
      </p:sp>
      <p:grpSp>
        <p:nvGrpSpPr>
          <p:cNvPr id="9" name="Group 8">
            <a:extLst>
              <a:ext uri="{FF2B5EF4-FFF2-40B4-BE49-F238E27FC236}">
                <a16:creationId xmlns:a16="http://schemas.microsoft.com/office/drawing/2014/main" id="{C7D89CDE-A98B-A64B-A840-9A38508B9B43}"/>
              </a:ext>
            </a:extLst>
          </p:cNvPr>
          <p:cNvGrpSpPr/>
          <p:nvPr/>
        </p:nvGrpSpPr>
        <p:grpSpPr>
          <a:xfrm>
            <a:off x="4669561" y="2282929"/>
            <a:ext cx="4198938" cy="3094846"/>
            <a:chOff x="6226081" y="2364366"/>
            <a:chExt cx="5598584" cy="4126462"/>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6944646" y="2545250"/>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7541116" y="2997281"/>
              <a:ext cx="577241" cy="615555"/>
              <a:chOff x="9950444" y="999755"/>
              <a:chExt cx="577241" cy="615555"/>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5"/>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6677899" y="2425781"/>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10189724" y="2496350"/>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10248853" y="2969571"/>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11287371" y="2364366"/>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6584655" y="33189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10078299" y="329119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E0A94F7F-9401-4C4F-80C6-4F0C25C18F5C}"/>
                </a:ext>
              </a:extLst>
            </p:cNvPr>
            <p:cNvSpPr txBox="1"/>
            <p:nvPr/>
          </p:nvSpPr>
          <p:spPr>
            <a:xfrm>
              <a:off x="6226081" y="3037743"/>
              <a:ext cx="1051999"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application</a:t>
              </a:r>
              <a:endParaRPr lang="en-US" sz="1350" dirty="0">
                <a:solidFill>
                  <a:prstClr val="black"/>
                </a:solidFill>
                <a:latin typeface="Calibri" panose="020F0502020204030204"/>
              </a:endParaRPr>
            </a:p>
          </p:txBody>
        </p:sp>
        <p:sp>
          <p:nvSpPr>
            <p:cNvPr id="109" name="TextBox 108">
              <a:extLst>
                <a:ext uri="{FF2B5EF4-FFF2-40B4-BE49-F238E27FC236}">
                  <a16:creationId xmlns:a16="http://schemas.microsoft.com/office/drawing/2014/main" id="{28F3F5F7-78A1-3C45-AC73-9F2A188FD37C}"/>
                </a:ext>
              </a:extLst>
            </p:cNvPr>
            <p:cNvSpPr txBox="1"/>
            <p:nvPr/>
          </p:nvSpPr>
          <p:spPr>
            <a:xfrm>
              <a:off x="6344394" y="3265491"/>
              <a:ext cx="92803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sp>
          <p:nvSpPr>
            <p:cNvPr id="110" name="TextBox 109">
              <a:extLst>
                <a:ext uri="{FF2B5EF4-FFF2-40B4-BE49-F238E27FC236}">
                  <a16:creationId xmlns:a16="http://schemas.microsoft.com/office/drawing/2014/main" id="{3D73C66D-8F36-5E4B-BBC6-B804471BAAF5}"/>
                </a:ext>
              </a:extLst>
            </p:cNvPr>
            <p:cNvSpPr txBox="1"/>
            <p:nvPr/>
          </p:nvSpPr>
          <p:spPr>
            <a:xfrm flipH="1">
              <a:off x="7109034" y="5998385"/>
              <a:ext cx="4657176" cy="492443"/>
            </a:xfrm>
            <a:prstGeom prst="rect">
              <a:avLst/>
            </a:prstGeom>
            <a:noFill/>
          </p:spPr>
          <p:txBody>
            <a:bodyPr wrap="square" rtlCol="0">
              <a:spAutoFit/>
            </a:bodyPr>
            <a:lstStyle/>
            <a:p>
              <a:pPr defTabSz="685800">
                <a:defRPr/>
              </a:pPr>
              <a:r>
                <a:rPr lang="en-US" dirty="0">
                  <a:solidFill>
                    <a:prstClr val="black"/>
                  </a:solidFill>
                  <a:latin typeface="Calibri" panose="020F0502020204030204"/>
                </a:rPr>
                <a:t>reliable service </a:t>
              </a:r>
              <a:r>
                <a:rPr lang="en-US" i="1" dirty="0">
                  <a:solidFill>
                    <a:srgbClr val="C00000"/>
                  </a:solidFill>
                  <a:latin typeface="Calibri" panose="020F0502020204030204"/>
                </a:rPr>
                <a:t>implementation</a:t>
              </a:r>
            </a:p>
          </p:txBody>
        </p:sp>
        <p:grpSp>
          <p:nvGrpSpPr>
            <p:cNvPr id="233" name="Group 232">
              <a:extLst>
                <a:ext uri="{FF2B5EF4-FFF2-40B4-BE49-F238E27FC236}">
                  <a16:creationId xmlns:a16="http://schemas.microsoft.com/office/drawing/2014/main" id="{0D04F411-4AAF-BC49-BC7A-363692477E93}"/>
                </a:ext>
              </a:extLst>
            </p:cNvPr>
            <p:cNvGrpSpPr/>
            <p:nvPr/>
          </p:nvGrpSpPr>
          <p:grpSpPr>
            <a:xfrm>
              <a:off x="6573835" y="5301907"/>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a:defRPr/>
                  </a:pPr>
                  <a:r>
                    <a:rPr lang="en-US" sz="1350" dirty="0">
                      <a:solidFill>
                        <a:prstClr val="white"/>
                      </a:solidFill>
                      <a:latin typeface="Calibri" panose="020F0502020204030204"/>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34" name="TextBox 233">
              <a:extLst>
                <a:ext uri="{FF2B5EF4-FFF2-40B4-BE49-F238E27FC236}">
                  <a16:creationId xmlns:a16="http://schemas.microsoft.com/office/drawing/2014/main" id="{AEB73EE5-0075-EE47-B5CC-61EAD4F66FC9}"/>
                </a:ext>
              </a:extLst>
            </p:cNvPr>
            <p:cNvSpPr txBox="1"/>
            <p:nvPr/>
          </p:nvSpPr>
          <p:spPr>
            <a:xfrm>
              <a:off x="6413644" y="5279980"/>
              <a:ext cx="855363"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network</a:t>
              </a:r>
              <a:endParaRPr lang="en-US" sz="1350" dirty="0">
                <a:solidFill>
                  <a:prstClr val="black"/>
                </a:solidFill>
                <a:latin typeface="Calibri" panose="020F0502020204030204"/>
              </a:endParaRPr>
            </a:p>
          </p:txBody>
        </p:sp>
        <p:sp>
          <p:nvSpPr>
            <p:cNvPr id="235" name="TextBox 234">
              <a:extLst>
                <a:ext uri="{FF2B5EF4-FFF2-40B4-BE49-F238E27FC236}">
                  <a16:creationId xmlns:a16="http://schemas.microsoft.com/office/drawing/2014/main" id="{6021091A-40C7-3E48-A368-62B168C379FE}"/>
                </a:ext>
              </a:extLst>
            </p:cNvPr>
            <p:cNvSpPr txBox="1"/>
            <p:nvPr/>
          </p:nvSpPr>
          <p:spPr>
            <a:xfrm>
              <a:off x="6358993" y="5023850"/>
              <a:ext cx="928032" cy="338555"/>
            </a:xfrm>
            <a:prstGeom prst="rect">
              <a:avLst/>
            </a:prstGeom>
            <a:noFill/>
          </p:spPr>
          <p:txBody>
            <a:bodyPr wrap="none" rtlCol="0">
              <a:spAutoFit/>
            </a:bodyPr>
            <a:lstStyle/>
            <a:p>
              <a:pPr defTabSz="685800">
                <a:defRPr/>
              </a:pPr>
              <a:r>
                <a:rPr lang="en-US" sz="1050" dirty="0">
                  <a:solidFill>
                    <a:prstClr val="black"/>
                  </a:solidFill>
                  <a:latin typeface="Calibri" panose="020F0502020204030204"/>
                </a:rPr>
                <a:t>transport</a:t>
              </a:r>
              <a:endParaRPr lang="en-US" sz="1350" dirty="0">
                <a:solidFill>
                  <a:prstClr val="black"/>
                </a:solidFill>
                <a:latin typeface="Calibri" panose="020F0502020204030204"/>
              </a:endParaRPr>
            </a:p>
          </p:txBody>
        </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7532988" y="3216212"/>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10867079" y="3152635"/>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6584496" y="3824138"/>
              <a:ext cx="1896984" cy="871008"/>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sender-side of</a:t>
              </a:r>
            </a:p>
            <a:p>
              <a:pPr algn="ctr" defTabSz="685800">
                <a:lnSpc>
                  <a:spcPct val="90000"/>
                </a:lnSpc>
                <a:defRPr/>
              </a:pPr>
              <a:r>
                <a:rPr lang="en-US" sz="1350" dirty="0">
                  <a:solidFill>
                    <a:prstClr val="black"/>
                  </a:solidFill>
                  <a:latin typeface="Calibri" panose="020F0502020204030204"/>
                </a:rPr>
                <a:t>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9914976" y="3826493"/>
              <a:ext cx="1896984" cy="871008"/>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receiver-side</a:t>
              </a:r>
            </a:p>
            <a:p>
              <a:pPr algn="ctr" defTabSz="685800">
                <a:lnSpc>
                  <a:spcPct val="90000"/>
                </a:lnSpc>
                <a:defRPr/>
              </a:pPr>
              <a:r>
                <a:rPr lang="en-US" sz="1350" dirty="0">
                  <a:solidFill>
                    <a:prstClr val="black"/>
                  </a:solidFill>
                  <a:latin typeface="Calibri" panose="020F0502020204030204"/>
                </a:rPr>
                <a:t>of 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7535360" y="5023850"/>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10248530" y="5019009"/>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grpSp>
        <p:nvGrpSpPr>
          <p:cNvPr id="88" name="Group 87">
            <a:extLst>
              <a:ext uri="{FF2B5EF4-FFF2-40B4-BE49-F238E27FC236}">
                <a16:creationId xmlns:a16="http://schemas.microsoft.com/office/drawing/2014/main" id="{CC1537B2-998E-7649-AE3E-ACB471EB73E8}"/>
              </a:ext>
            </a:extLst>
          </p:cNvPr>
          <p:cNvGrpSpPr/>
          <p:nvPr/>
        </p:nvGrpSpPr>
        <p:grpSpPr>
          <a:xfrm>
            <a:off x="781637" y="3543348"/>
            <a:ext cx="6727692" cy="1708160"/>
            <a:chOff x="1042183" y="4044925"/>
            <a:chExt cx="8970256" cy="2277547"/>
          </a:xfrm>
        </p:grpSpPr>
        <p:sp>
          <p:nvSpPr>
            <p:cNvPr id="89" name="TextBox 88">
              <a:extLst>
                <a:ext uri="{FF2B5EF4-FFF2-40B4-BE49-F238E27FC236}">
                  <a16:creationId xmlns:a16="http://schemas.microsoft.com/office/drawing/2014/main" id="{910591A5-B3B8-B947-A7F1-BDBD4F667F70}"/>
                </a:ext>
              </a:extLst>
            </p:cNvPr>
            <p:cNvSpPr txBox="1"/>
            <p:nvPr/>
          </p:nvSpPr>
          <p:spPr>
            <a:xfrm>
              <a:off x="1042183" y="4044925"/>
              <a:ext cx="4815357" cy="2277547"/>
            </a:xfrm>
            <a:prstGeom prst="rect">
              <a:avLst/>
            </a:prstGeom>
            <a:noFill/>
          </p:spPr>
          <p:txBody>
            <a:bodyPr wrap="square" rtlCol="0">
              <a:spAutoFit/>
            </a:bodyPr>
            <a:lstStyle/>
            <a:p>
              <a:pPr defTabSz="685800">
                <a:defRPr/>
              </a:pPr>
              <a:r>
                <a:rPr lang="en-US" sz="2100" dirty="0">
                  <a:solidFill>
                    <a:prstClr val="black"/>
                  </a:solidFill>
                  <a:latin typeface="Calibri" panose="020F0502020204030204"/>
                </a:rPr>
                <a:t>Sender, receiver do </a:t>
              </a:r>
              <a:r>
                <a:rPr lang="en-US" sz="2100" i="1" dirty="0">
                  <a:solidFill>
                    <a:prstClr val="black"/>
                  </a:solidFill>
                  <a:latin typeface="Calibri" panose="020F0502020204030204"/>
                </a:rPr>
                <a:t>not</a:t>
              </a:r>
              <a:r>
                <a:rPr lang="en-US" sz="2100" dirty="0">
                  <a:solidFill>
                    <a:prstClr val="black"/>
                  </a:solidFill>
                  <a:latin typeface="Calibri" panose="020F0502020204030204"/>
                </a:rPr>
                <a:t> know the “state” of each other, e.g., was a message received?</a:t>
              </a:r>
            </a:p>
            <a:p>
              <a:pPr marL="342900" indent="-342900" defTabSz="685800">
                <a:buClr>
                  <a:srgbClr val="0013A3"/>
                </a:buClr>
                <a:buFont typeface="Wingdings" pitchFamily="2" charset="2"/>
                <a:buChar char="§"/>
                <a:defRPr/>
              </a:pPr>
              <a:r>
                <a:rPr lang="en-US" sz="2100" dirty="0">
                  <a:solidFill>
                    <a:prstClr val="black"/>
                  </a:solidFill>
                  <a:latin typeface="Calibri" panose="020F0502020204030204"/>
                </a:rPr>
                <a:t>unless communicated via a message</a:t>
              </a:r>
            </a:p>
          </p:txBody>
        </p:sp>
        <p:cxnSp>
          <p:nvCxnSpPr>
            <p:cNvPr id="90" name="Straight Connector 89">
              <a:extLst>
                <a:ext uri="{FF2B5EF4-FFF2-40B4-BE49-F238E27FC236}">
                  <a16:creationId xmlns:a16="http://schemas.microsoft.com/office/drawing/2014/main" id="{655271F5-62E0-BF47-BF60-FE01086FB678}"/>
                </a:ext>
              </a:extLst>
            </p:cNvPr>
            <p:cNvCxnSpPr>
              <a:cxnSpLocks/>
            </p:cNvCxnSpPr>
            <p:nvPr/>
          </p:nvCxnSpPr>
          <p:spPr>
            <a:xfrm flipH="1">
              <a:off x="5799610" y="4167212"/>
              <a:ext cx="1091351" cy="10011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33B8B2C-3583-1D4A-9253-C59A292E0DE2}"/>
                </a:ext>
              </a:extLst>
            </p:cNvPr>
            <p:cNvCxnSpPr>
              <a:cxnSpLocks/>
            </p:cNvCxnSpPr>
            <p:nvPr/>
          </p:nvCxnSpPr>
          <p:spPr>
            <a:xfrm flipH="1">
              <a:off x="5800941" y="4291381"/>
              <a:ext cx="4211498" cy="8863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3" name="Oval 92">
            <a:extLst>
              <a:ext uri="{FF2B5EF4-FFF2-40B4-BE49-F238E27FC236}">
                <a16:creationId xmlns:a16="http://schemas.microsoft.com/office/drawing/2014/main" id="{80A6EEAE-C014-954F-ADE6-66049A46FFBE}"/>
              </a:ext>
            </a:extLst>
          </p:cNvPr>
          <p:cNvSpPr/>
          <p:nvPr/>
        </p:nvSpPr>
        <p:spPr>
          <a:xfrm>
            <a:off x="4940084" y="3240114"/>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4" name="Oval 93">
            <a:extLst>
              <a:ext uri="{FF2B5EF4-FFF2-40B4-BE49-F238E27FC236}">
                <a16:creationId xmlns:a16="http://schemas.microsoft.com/office/drawing/2014/main" id="{0FE70045-1128-264B-A4F3-CC9AAED801DA}"/>
              </a:ext>
            </a:extLst>
          </p:cNvPr>
          <p:cNvSpPr/>
          <p:nvPr/>
        </p:nvSpPr>
        <p:spPr>
          <a:xfrm>
            <a:off x="7414002" y="3238177"/>
            <a:ext cx="1464590"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pic>
        <p:nvPicPr>
          <p:cNvPr id="6" name="Picture 5" descr="A shower curtain&#10;&#10;Description automatically generated">
            <a:extLst>
              <a:ext uri="{FF2B5EF4-FFF2-40B4-BE49-F238E27FC236}">
                <a16:creationId xmlns:a16="http://schemas.microsoft.com/office/drawing/2014/main" id="{916F2FD5-AF05-E24C-BB57-482FB6C40C8C}"/>
              </a:ext>
            </a:extLst>
          </p:cNvPr>
          <p:cNvPicPr>
            <a:picLocks noChangeAspect="1"/>
          </p:cNvPicPr>
          <p:nvPr/>
        </p:nvPicPr>
        <p:blipFill>
          <a:blip r:embed="rId4"/>
          <a:stretch>
            <a:fillRect/>
          </a:stretch>
        </p:blipFill>
        <p:spPr>
          <a:xfrm>
            <a:off x="6219357" y="1826217"/>
            <a:ext cx="1482009" cy="3295327"/>
          </a:xfrm>
          <a:prstGeom prst="rect">
            <a:avLst/>
          </a:prstGeom>
        </p:spPr>
      </p:pic>
      <p:pic>
        <p:nvPicPr>
          <p:cNvPr id="92" name="Picture 91" descr="A shower curtain&#10;&#10;Description automatically generated">
            <a:extLst>
              <a:ext uri="{FF2B5EF4-FFF2-40B4-BE49-F238E27FC236}">
                <a16:creationId xmlns:a16="http://schemas.microsoft.com/office/drawing/2014/main" id="{60AABE17-DADA-B14B-B0C4-01EC1B9C6813}"/>
              </a:ext>
            </a:extLst>
          </p:cNvPr>
          <p:cNvPicPr>
            <a:picLocks noChangeAspect="1"/>
          </p:cNvPicPr>
          <p:nvPr/>
        </p:nvPicPr>
        <p:blipFill>
          <a:blip r:embed="rId4"/>
          <a:stretch>
            <a:fillRect/>
          </a:stretch>
        </p:blipFill>
        <p:spPr>
          <a:xfrm>
            <a:off x="6164467" y="1731129"/>
            <a:ext cx="2979533" cy="3434812"/>
          </a:xfrm>
          <a:prstGeom prst="rect">
            <a:avLst/>
          </a:prstGeom>
        </p:spPr>
      </p:pic>
    </p:spTree>
    <p:extLst>
      <p:ext uri="{BB962C8B-B14F-4D97-AF65-F5344CB8AC3E}">
        <p14:creationId xmlns:p14="http://schemas.microsoft.com/office/powerpoint/2010/main" val="329888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dissolve">
                                      <p:cBhvr>
                                        <p:cTn id="7" dur="1000"/>
                                        <p:tgtEl>
                                          <p:spTgt spid="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10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RDT: interfaces</a:t>
            </a:r>
          </a:p>
        </p:txBody>
      </p:sp>
      <p:sp>
        <p:nvSpPr>
          <p:cNvPr id="177" name="Slide Number Placeholder 2">
            <a:extLst>
              <a:ext uri="{FF2B5EF4-FFF2-40B4-BE49-F238E27FC236}">
                <a16:creationId xmlns:a16="http://schemas.microsoft.com/office/drawing/2014/main" id="{6DBFA797-FCF1-D64C-B202-129E2249C30F}"/>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7</a:t>
            </a:fld>
            <a:endParaRPr lang="en-US" dirty="0">
              <a:solidFill>
                <a:prstClr val="white">
                  <a:lumMod val="50000"/>
                </a:prstClr>
              </a:solidFill>
              <a:latin typeface="Calibri" panose="020F0502020204030204"/>
            </a:endParaRPr>
          </a:p>
        </p:txBody>
      </p:sp>
      <p:grpSp>
        <p:nvGrpSpPr>
          <p:cNvPr id="15" name="Group 14">
            <a:extLst>
              <a:ext uri="{FF2B5EF4-FFF2-40B4-BE49-F238E27FC236}">
                <a16:creationId xmlns:a16="http://schemas.microsoft.com/office/drawing/2014/main" id="{5F3D26B5-5E98-5E4A-87D8-7FA097DF959B}"/>
              </a:ext>
            </a:extLst>
          </p:cNvPr>
          <p:cNvGrpSpPr/>
          <p:nvPr/>
        </p:nvGrpSpPr>
        <p:grpSpPr>
          <a:xfrm>
            <a:off x="1934626" y="2481119"/>
            <a:ext cx="5399445" cy="2587425"/>
            <a:chOff x="2293693" y="1943479"/>
            <a:chExt cx="7199260" cy="3449900"/>
          </a:xfrm>
        </p:grpSpPr>
        <p:grpSp>
          <p:nvGrpSpPr>
            <p:cNvPr id="98" name="Group 97">
              <a:extLst>
                <a:ext uri="{FF2B5EF4-FFF2-40B4-BE49-F238E27FC236}">
                  <a16:creationId xmlns:a16="http://schemas.microsoft.com/office/drawing/2014/main" id="{6F69B15D-5882-BD4E-83B7-5C85A253A430}"/>
                </a:ext>
              </a:extLst>
            </p:cNvPr>
            <p:cNvGrpSpPr/>
            <p:nvPr/>
          </p:nvGrpSpPr>
          <p:grpSpPr>
            <a:xfrm>
              <a:off x="3481010" y="2124363"/>
              <a:ext cx="1245036" cy="608646"/>
              <a:chOff x="9852456" y="608434"/>
              <a:chExt cx="1245036" cy="608646"/>
            </a:xfrm>
          </p:grpSpPr>
          <p:sp>
            <p:nvSpPr>
              <p:cNvPr id="157" name="Oval 19">
                <a:extLst>
                  <a:ext uri="{FF2B5EF4-FFF2-40B4-BE49-F238E27FC236}">
                    <a16:creationId xmlns:a16="http://schemas.microsoft.com/office/drawing/2014/main" id="{056D9101-B295-BE4A-9002-B9C75319D4B3}"/>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8" name="TextBox 157">
                <a:extLst>
                  <a:ext uri="{FF2B5EF4-FFF2-40B4-BE49-F238E27FC236}">
                    <a16:creationId xmlns:a16="http://schemas.microsoft.com/office/drawing/2014/main" id="{B98075D5-1094-EA42-8C93-9C2D954BC121}"/>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sending process</a:t>
                </a:r>
              </a:p>
            </p:txBody>
          </p:sp>
        </p:grpSp>
        <p:grpSp>
          <p:nvGrpSpPr>
            <p:cNvPr id="99" name="Group 98">
              <a:extLst>
                <a:ext uri="{FF2B5EF4-FFF2-40B4-BE49-F238E27FC236}">
                  <a16:creationId xmlns:a16="http://schemas.microsoft.com/office/drawing/2014/main" id="{5402A96E-C536-5E4C-BB36-5F57DDFFE613}"/>
                </a:ext>
              </a:extLst>
            </p:cNvPr>
            <p:cNvGrpSpPr/>
            <p:nvPr/>
          </p:nvGrpSpPr>
          <p:grpSpPr>
            <a:xfrm>
              <a:off x="4077480" y="2576394"/>
              <a:ext cx="577241" cy="615552"/>
              <a:chOff x="9950444" y="999755"/>
              <a:chExt cx="577241" cy="615552"/>
            </a:xfrm>
          </p:grpSpPr>
          <p:sp>
            <p:nvSpPr>
              <p:cNvPr id="155" name="Rectangle 154">
                <a:extLst>
                  <a:ext uri="{FF2B5EF4-FFF2-40B4-BE49-F238E27FC236}">
                    <a16:creationId xmlns:a16="http://schemas.microsoft.com/office/drawing/2014/main" id="{0D3BE65A-11E7-ED41-B532-DDED3A87485C}"/>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6" name="TextBox 155">
                <a:extLst>
                  <a:ext uri="{FF2B5EF4-FFF2-40B4-BE49-F238E27FC236}">
                    <a16:creationId xmlns:a16="http://schemas.microsoft.com/office/drawing/2014/main" id="{05315891-C43B-4E47-AA7C-98881DCEDB55}"/>
                  </a:ext>
                </a:extLst>
              </p:cNvPr>
              <p:cNvSpPr txBox="1"/>
              <p:nvPr/>
            </p:nvSpPr>
            <p:spPr>
              <a:xfrm>
                <a:off x="9950444" y="999755"/>
                <a:ext cx="577241" cy="615552"/>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0" name="Group 194">
              <a:extLst>
                <a:ext uri="{FF2B5EF4-FFF2-40B4-BE49-F238E27FC236}">
                  <a16:creationId xmlns:a16="http://schemas.microsoft.com/office/drawing/2014/main" id="{54168ABB-31DA-FD4E-B361-85C3C0971BE8}"/>
                </a:ext>
              </a:extLst>
            </p:cNvPr>
            <p:cNvGrpSpPr>
              <a:grpSpLocks/>
            </p:cNvGrpSpPr>
            <p:nvPr/>
          </p:nvGrpSpPr>
          <p:grpSpPr bwMode="auto">
            <a:xfrm>
              <a:off x="3214263" y="2004894"/>
              <a:ext cx="545509" cy="512284"/>
              <a:chOff x="-44" y="1473"/>
              <a:chExt cx="981" cy="1105"/>
            </a:xfrm>
          </p:grpSpPr>
          <p:pic>
            <p:nvPicPr>
              <p:cNvPr id="153" name="Picture 195" descr="desktop_computer_stylized_medium">
                <a:extLst>
                  <a:ext uri="{FF2B5EF4-FFF2-40B4-BE49-F238E27FC236}">
                    <a16:creationId xmlns:a16="http://schemas.microsoft.com/office/drawing/2014/main" id="{272E925C-57A6-144C-A625-180C395BB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 name="Freeform 196">
                <a:extLst>
                  <a:ext uri="{FF2B5EF4-FFF2-40B4-BE49-F238E27FC236}">
                    <a16:creationId xmlns:a16="http://schemas.microsoft.com/office/drawing/2014/main" id="{5E936CF8-605C-F948-973D-474011FE90E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grpSp>
          <p:nvGrpSpPr>
            <p:cNvPr id="101" name="Group 100">
              <a:extLst>
                <a:ext uri="{FF2B5EF4-FFF2-40B4-BE49-F238E27FC236}">
                  <a16:creationId xmlns:a16="http://schemas.microsoft.com/office/drawing/2014/main" id="{94E6CD2B-9DBD-9847-AE43-1F20A9F4B7A7}"/>
                </a:ext>
              </a:extLst>
            </p:cNvPr>
            <p:cNvGrpSpPr/>
            <p:nvPr/>
          </p:nvGrpSpPr>
          <p:grpSpPr>
            <a:xfrm>
              <a:off x="6726088" y="2075463"/>
              <a:ext cx="1245036" cy="608646"/>
              <a:chOff x="9852456" y="608434"/>
              <a:chExt cx="1245036" cy="608646"/>
            </a:xfrm>
          </p:grpSpPr>
          <p:sp>
            <p:nvSpPr>
              <p:cNvPr id="151" name="Oval 19">
                <a:extLst>
                  <a:ext uri="{FF2B5EF4-FFF2-40B4-BE49-F238E27FC236}">
                    <a16:creationId xmlns:a16="http://schemas.microsoft.com/office/drawing/2014/main" id="{65C8DA48-6ECB-6D4D-80B9-2E7231D021E7}"/>
                  </a:ext>
                </a:extLst>
              </p:cNvPr>
              <p:cNvSpPr>
                <a:spLocks noChangeArrowheads="1"/>
              </p:cNvSpPr>
              <p:nvPr/>
            </p:nvSpPr>
            <p:spPr bwMode="auto">
              <a:xfrm>
                <a:off x="9852456" y="608434"/>
                <a:ext cx="1245036" cy="593992"/>
              </a:xfrm>
              <a:prstGeom prst="ellipse">
                <a:avLst/>
              </a:prstGeom>
              <a:solidFill>
                <a:srgbClr val="CCFFFF"/>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Calibri" panose="020F0502020204030204"/>
                  <a:ea typeface="ＭＳ Ｐゴシック" charset="0"/>
                </a:endParaRPr>
              </a:p>
            </p:txBody>
          </p:sp>
          <p:sp>
            <p:nvSpPr>
              <p:cNvPr id="152" name="TextBox 151">
                <a:extLst>
                  <a:ext uri="{FF2B5EF4-FFF2-40B4-BE49-F238E27FC236}">
                    <a16:creationId xmlns:a16="http://schemas.microsoft.com/office/drawing/2014/main" id="{F98362D2-A31F-1547-A061-D0BD0AD53B62}"/>
                  </a:ext>
                </a:extLst>
              </p:cNvPr>
              <p:cNvSpPr txBox="1"/>
              <p:nvPr/>
            </p:nvSpPr>
            <p:spPr>
              <a:xfrm>
                <a:off x="9935581" y="645213"/>
                <a:ext cx="1106491" cy="571867"/>
              </a:xfrm>
              <a:prstGeom prst="rect">
                <a:avLst/>
              </a:prstGeom>
              <a:noFill/>
            </p:spPr>
            <p:txBody>
              <a:bodyPr wrap="square" rtlCol="0">
                <a:spAutoFit/>
              </a:bodyPr>
              <a:lstStyle/>
              <a:p>
                <a:pPr algn="ctr" defTabSz="685800">
                  <a:lnSpc>
                    <a:spcPct val="80000"/>
                  </a:lnSpc>
                  <a:defRPr/>
                </a:pPr>
                <a:r>
                  <a:rPr lang="en-US" sz="1350" dirty="0">
                    <a:solidFill>
                      <a:prstClr val="black"/>
                    </a:solidFill>
                    <a:latin typeface="Calibri" panose="020F0502020204030204"/>
                  </a:rPr>
                  <a:t>receiving process</a:t>
                </a:r>
              </a:p>
            </p:txBody>
          </p:sp>
        </p:grpSp>
        <p:grpSp>
          <p:nvGrpSpPr>
            <p:cNvPr id="102" name="Group 101">
              <a:extLst>
                <a:ext uri="{FF2B5EF4-FFF2-40B4-BE49-F238E27FC236}">
                  <a16:creationId xmlns:a16="http://schemas.microsoft.com/office/drawing/2014/main" id="{E2053A92-714B-3A4D-BA72-E2002B5EB226}"/>
                </a:ext>
              </a:extLst>
            </p:cNvPr>
            <p:cNvGrpSpPr/>
            <p:nvPr/>
          </p:nvGrpSpPr>
          <p:grpSpPr>
            <a:xfrm>
              <a:off x="6785217" y="2548684"/>
              <a:ext cx="577241" cy="615553"/>
              <a:chOff x="9678159" y="981583"/>
              <a:chExt cx="577241" cy="615553"/>
            </a:xfrm>
          </p:grpSpPr>
          <p:sp>
            <p:nvSpPr>
              <p:cNvPr id="149" name="Rectangle 148">
                <a:extLst>
                  <a:ext uri="{FF2B5EF4-FFF2-40B4-BE49-F238E27FC236}">
                    <a16:creationId xmlns:a16="http://schemas.microsoft.com/office/drawing/2014/main" id="{87AF5445-F895-274D-B4CA-4B559C14920A}"/>
                  </a:ext>
                </a:extLst>
              </p:cNvPr>
              <p:cNvSpPr/>
              <p:nvPr/>
            </p:nvSpPr>
            <p:spPr>
              <a:xfrm>
                <a:off x="9744032" y="1048007"/>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50" name="TextBox 149">
                <a:extLst>
                  <a:ext uri="{FF2B5EF4-FFF2-40B4-BE49-F238E27FC236}">
                    <a16:creationId xmlns:a16="http://schemas.microsoft.com/office/drawing/2014/main" id="{405D7A89-0963-7D45-9872-8A6C26AFF4EB}"/>
                  </a:ext>
                </a:extLst>
              </p:cNvPr>
              <p:cNvSpPr txBox="1"/>
              <p:nvPr/>
            </p:nvSpPr>
            <p:spPr>
              <a:xfrm>
                <a:off x="9678159" y="981583"/>
                <a:ext cx="577241" cy="615553"/>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03" name="Group 161">
              <a:extLst>
                <a:ext uri="{FF2B5EF4-FFF2-40B4-BE49-F238E27FC236}">
                  <a16:creationId xmlns:a16="http://schemas.microsoft.com/office/drawing/2014/main" id="{72242579-6133-6C4E-BF67-26CF5BCBECC7}"/>
                </a:ext>
              </a:extLst>
            </p:cNvPr>
            <p:cNvGrpSpPr>
              <a:grpSpLocks/>
            </p:cNvGrpSpPr>
            <p:nvPr/>
          </p:nvGrpSpPr>
          <p:grpSpPr bwMode="auto">
            <a:xfrm>
              <a:off x="7823735" y="1943479"/>
              <a:ext cx="230514" cy="466725"/>
              <a:chOff x="4140" y="429"/>
              <a:chExt cx="1425" cy="2396"/>
            </a:xfrm>
          </p:grpSpPr>
          <p:sp>
            <p:nvSpPr>
              <p:cNvPr id="117" name="Freeform 162">
                <a:extLst>
                  <a:ext uri="{FF2B5EF4-FFF2-40B4-BE49-F238E27FC236}">
                    <a16:creationId xmlns:a16="http://schemas.microsoft.com/office/drawing/2014/main" id="{508C64E2-5C75-8B42-912F-0F4DAB5E11F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18" name="Rectangle 163">
                <a:extLst>
                  <a:ext uri="{FF2B5EF4-FFF2-40B4-BE49-F238E27FC236}">
                    <a16:creationId xmlns:a16="http://schemas.microsoft.com/office/drawing/2014/main" id="{1F2031F6-89EC-AD4C-B442-1E0A3C270EA7}"/>
                  </a:ext>
                </a:extLst>
              </p:cNvPr>
              <p:cNvSpPr>
                <a:spLocks noChangeArrowheads="1"/>
              </p:cNvSpPr>
              <p:nvPr/>
            </p:nvSpPr>
            <p:spPr bwMode="auto">
              <a:xfrm>
                <a:off x="4203" y="429"/>
                <a:ext cx="1053" cy="2283"/>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19" name="Freeform 164">
                <a:extLst>
                  <a:ext uri="{FF2B5EF4-FFF2-40B4-BE49-F238E27FC236}">
                    <a16:creationId xmlns:a16="http://schemas.microsoft.com/office/drawing/2014/main" id="{0BA0DD87-2FD6-244B-82C8-88C2D0A5833C}"/>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0" name="Freeform 165">
                <a:extLst>
                  <a:ext uri="{FF2B5EF4-FFF2-40B4-BE49-F238E27FC236}">
                    <a16:creationId xmlns:a16="http://schemas.microsoft.com/office/drawing/2014/main" id="{7207167F-9D03-3F47-8166-127D9E26F058}"/>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21" name="Rectangle 166">
                <a:extLst>
                  <a:ext uri="{FF2B5EF4-FFF2-40B4-BE49-F238E27FC236}">
                    <a16:creationId xmlns:a16="http://schemas.microsoft.com/office/drawing/2014/main" id="{D8ACE697-B009-5441-8959-DAC8BF3B1CB8}"/>
                  </a:ext>
                </a:extLst>
              </p:cNvPr>
              <p:cNvSpPr>
                <a:spLocks noChangeArrowheads="1"/>
              </p:cNvSpPr>
              <p:nvPr/>
            </p:nvSpPr>
            <p:spPr bwMode="auto">
              <a:xfrm>
                <a:off x="4209" y="693"/>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2" name="Group 167">
                <a:extLst>
                  <a:ext uri="{FF2B5EF4-FFF2-40B4-BE49-F238E27FC236}">
                    <a16:creationId xmlns:a16="http://schemas.microsoft.com/office/drawing/2014/main" id="{AFAFE92F-768B-0E40-8189-F135D4962862}"/>
                  </a:ext>
                </a:extLst>
              </p:cNvPr>
              <p:cNvGrpSpPr>
                <a:grpSpLocks/>
              </p:cNvGrpSpPr>
              <p:nvPr/>
            </p:nvGrpSpPr>
            <p:grpSpPr bwMode="auto">
              <a:xfrm>
                <a:off x="4749" y="668"/>
                <a:ext cx="581" cy="145"/>
                <a:chOff x="614" y="2568"/>
                <a:chExt cx="725" cy="139"/>
              </a:xfrm>
            </p:grpSpPr>
            <p:sp>
              <p:nvSpPr>
                <p:cNvPr id="147" name="AutoShape 168">
                  <a:extLst>
                    <a:ext uri="{FF2B5EF4-FFF2-40B4-BE49-F238E27FC236}">
                      <a16:creationId xmlns:a16="http://schemas.microsoft.com/office/drawing/2014/main" id="{6617210C-BFB6-0D4D-B38A-5E9106661AF0}"/>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8" name="AutoShape 169">
                  <a:extLst>
                    <a:ext uri="{FF2B5EF4-FFF2-40B4-BE49-F238E27FC236}">
                      <a16:creationId xmlns:a16="http://schemas.microsoft.com/office/drawing/2014/main" id="{5EE6018A-C9AA-184F-B7ED-42AFC16D772E}"/>
                    </a:ext>
                  </a:extLst>
                </p:cNvPr>
                <p:cNvSpPr>
                  <a:spLocks noChangeArrowheads="1"/>
                </p:cNvSpPr>
                <p:nvPr/>
              </p:nvSpPr>
              <p:spPr bwMode="auto">
                <a:xfrm>
                  <a:off x="633" y="2582"/>
                  <a:ext cx="692"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3" name="Rectangle 170">
                <a:extLst>
                  <a:ext uri="{FF2B5EF4-FFF2-40B4-BE49-F238E27FC236}">
                    <a16:creationId xmlns:a16="http://schemas.microsoft.com/office/drawing/2014/main" id="{F82DB15E-18D1-4A4D-80D4-EAB41BA5033C}"/>
                  </a:ext>
                </a:extLst>
              </p:cNvPr>
              <p:cNvSpPr>
                <a:spLocks noChangeArrowheads="1"/>
              </p:cNvSpPr>
              <p:nvPr/>
            </p:nvSpPr>
            <p:spPr bwMode="auto">
              <a:xfrm>
                <a:off x="4222" y="101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4" name="Group 171">
                <a:extLst>
                  <a:ext uri="{FF2B5EF4-FFF2-40B4-BE49-F238E27FC236}">
                    <a16:creationId xmlns:a16="http://schemas.microsoft.com/office/drawing/2014/main" id="{52997F44-9E26-5F46-914A-DD4ADC8770B4}"/>
                  </a:ext>
                </a:extLst>
              </p:cNvPr>
              <p:cNvGrpSpPr>
                <a:grpSpLocks/>
              </p:cNvGrpSpPr>
              <p:nvPr/>
            </p:nvGrpSpPr>
            <p:grpSpPr bwMode="auto">
              <a:xfrm>
                <a:off x="4747" y="994"/>
                <a:ext cx="581" cy="134"/>
                <a:chOff x="614" y="2568"/>
                <a:chExt cx="725" cy="139"/>
              </a:xfrm>
            </p:grpSpPr>
            <p:sp>
              <p:nvSpPr>
                <p:cNvPr id="145" name="AutoShape 172">
                  <a:extLst>
                    <a:ext uri="{FF2B5EF4-FFF2-40B4-BE49-F238E27FC236}">
                      <a16:creationId xmlns:a16="http://schemas.microsoft.com/office/drawing/2014/main" id="{7DD2F60B-01B7-A848-9111-DBA2C17DC6C0}"/>
                    </a:ext>
                  </a:extLst>
                </p:cNvPr>
                <p:cNvSpPr>
                  <a:spLocks noChangeArrowheads="1"/>
                </p:cNvSpPr>
                <p:nvPr/>
              </p:nvSpPr>
              <p:spPr bwMode="auto">
                <a:xfrm>
                  <a:off x="612" y="2570"/>
                  <a:ext cx="724" cy="16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6" name="AutoShape 173">
                  <a:extLst>
                    <a:ext uri="{FF2B5EF4-FFF2-40B4-BE49-F238E27FC236}">
                      <a16:creationId xmlns:a16="http://schemas.microsoft.com/office/drawing/2014/main" id="{399E173F-3471-434E-8657-60AF028897C5}"/>
                    </a:ext>
                  </a:extLst>
                </p:cNvPr>
                <p:cNvSpPr>
                  <a:spLocks noChangeArrowheads="1"/>
                </p:cNvSpPr>
                <p:nvPr/>
              </p:nvSpPr>
              <p:spPr bwMode="auto">
                <a:xfrm>
                  <a:off x="628" y="2586"/>
                  <a:ext cx="692"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5" name="Rectangle 174">
                <a:extLst>
                  <a:ext uri="{FF2B5EF4-FFF2-40B4-BE49-F238E27FC236}">
                    <a16:creationId xmlns:a16="http://schemas.microsoft.com/office/drawing/2014/main" id="{CC1F5612-3C85-EF42-8C7F-34C5C7ED07E7}"/>
                  </a:ext>
                </a:extLst>
              </p:cNvPr>
              <p:cNvSpPr>
                <a:spLocks noChangeArrowheads="1"/>
              </p:cNvSpPr>
              <p:nvPr/>
            </p:nvSpPr>
            <p:spPr bwMode="auto">
              <a:xfrm>
                <a:off x="4216" y="1357"/>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26" name="Rectangle 175">
                <a:extLst>
                  <a:ext uri="{FF2B5EF4-FFF2-40B4-BE49-F238E27FC236}">
                    <a16:creationId xmlns:a16="http://schemas.microsoft.com/office/drawing/2014/main" id="{608F68F9-0FC6-8540-8955-44F7FC3BA2D3}"/>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127" name="Group 176">
                <a:extLst>
                  <a:ext uri="{FF2B5EF4-FFF2-40B4-BE49-F238E27FC236}">
                    <a16:creationId xmlns:a16="http://schemas.microsoft.com/office/drawing/2014/main" id="{ECCEFB02-32C8-8940-8A0B-AB56D987ACE8}"/>
                  </a:ext>
                </a:extLst>
              </p:cNvPr>
              <p:cNvGrpSpPr>
                <a:grpSpLocks/>
              </p:cNvGrpSpPr>
              <p:nvPr/>
            </p:nvGrpSpPr>
            <p:grpSpPr bwMode="auto">
              <a:xfrm>
                <a:off x="4735" y="1627"/>
                <a:ext cx="582" cy="151"/>
                <a:chOff x="614" y="2568"/>
                <a:chExt cx="725" cy="139"/>
              </a:xfrm>
            </p:grpSpPr>
            <p:sp>
              <p:nvSpPr>
                <p:cNvPr id="143" name="AutoShape 177">
                  <a:extLst>
                    <a:ext uri="{FF2B5EF4-FFF2-40B4-BE49-F238E27FC236}">
                      <a16:creationId xmlns:a16="http://schemas.microsoft.com/office/drawing/2014/main" id="{9748E381-A81E-B241-A522-B9A17C2A8B39}"/>
                    </a:ext>
                  </a:extLst>
                </p:cNvPr>
                <p:cNvSpPr>
                  <a:spLocks noChangeArrowheads="1"/>
                </p:cNvSpPr>
                <p:nvPr/>
              </p:nvSpPr>
              <p:spPr bwMode="auto">
                <a:xfrm>
                  <a:off x="611" y="2568"/>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4" name="AutoShape 178">
                  <a:extLst>
                    <a:ext uri="{FF2B5EF4-FFF2-40B4-BE49-F238E27FC236}">
                      <a16:creationId xmlns:a16="http://schemas.microsoft.com/office/drawing/2014/main" id="{3E8CC9C2-8373-D54C-873D-9F47F61D751A}"/>
                    </a:ext>
                  </a:extLst>
                </p:cNvPr>
                <p:cNvSpPr>
                  <a:spLocks noChangeArrowheads="1"/>
                </p:cNvSpPr>
                <p:nvPr/>
              </p:nvSpPr>
              <p:spPr bwMode="auto">
                <a:xfrm>
                  <a:off x="627" y="2583"/>
                  <a:ext cx="699"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28" name="Freeform 179">
                <a:extLst>
                  <a:ext uri="{FF2B5EF4-FFF2-40B4-BE49-F238E27FC236}">
                    <a16:creationId xmlns:a16="http://schemas.microsoft.com/office/drawing/2014/main" id="{3AFA0A16-38BD-F347-95DC-13669F1BC291}"/>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129" name="Group 180">
                <a:extLst>
                  <a:ext uri="{FF2B5EF4-FFF2-40B4-BE49-F238E27FC236}">
                    <a16:creationId xmlns:a16="http://schemas.microsoft.com/office/drawing/2014/main" id="{3CE589A0-5A73-794D-ABC2-A1B10BB78C09}"/>
                  </a:ext>
                </a:extLst>
              </p:cNvPr>
              <p:cNvGrpSpPr>
                <a:grpSpLocks/>
              </p:cNvGrpSpPr>
              <p:nvPr/>
            </p:nvGrpSpPr>
            <p:grpSpPr bwMode="auto">
              <a:xfrm>
                <a:off x="4739" y="1327"/>
                <a:ext cx="582" cy="139"/>
                <a:chOff x="614" y="2568"/>
                <a:chExt cx="725" cy="139"/>
              </a:xfrm>
            </p:grpSpPr>
            <p:sp>
              <p:nvSpPr>
                <p:cNvPr id="141" name="AutoShape 181">
                  <a:extLst>
                    <a:ext uri="{FF2B5EF4-FFF2-40B4-BE49-F238E27FC236}">
                      <a16:creationId xmlns:a16="http://schemas.microsoft.com/office/drawing/2014/main" id="{89FB1F6B-6C98-F24F-A895-DC97628788D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2" name="AutoShape 182">
                  <a:extLst>
                    <a:ext uri="{FF2B5EF4-FFF2-40B4-BE49-F238E27FC236}">
                      <a16:creationId xmlns:a16="http://schemas.microsoft.com/office/drawing/2014/main" id="{A55EACC1-1331-7842-9049-9FB02F3B1F27}"/>
                    </a:ext>
                  </a:extLst>
                </p:cNvPr>
                <p:cNvSpPr>
                  <a:spLocks noChangeArrowheads="1"/>
                </p:cNvSpPr>
                <p:nvPr/>
              </p:nvSpPr>
              <p:spPr bwMode="auto">
                <a:xfrm>
                  <a:off x="630" y="2582"/>
                  <a:ext cx="691"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sp>
            <p:nvSpPr>
              <p:cNvPr id="130" name="Rectangle 183">
                <a:extLst>
                  <a:ext uri="{FF2B5EF4-FFF2-40B4-BE49-F238E27FC236}">
                    <a16:creationId xmlns:a16="http://schemas.microsoft.com/office/drawing/2014/main" id="{46F63067-A332-D94A-A7BC-02C7CEAE0C38}"/>
                  </a:ext>
                </a:extLst>
              </p:cNvPr>
              <p:cNvSpPr>
                <a:spLocks noChangeArrowheads="1"/>
              </p:cNvSpPr>
              <p:nvPr/>
            </p:nvSpPr>
            <p:spPr bwMode="auto">
              <a:xfrm>
                <a:off x="5250" y="429"/>
                <a:ext cx="69" cy="2288"/>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Freeform 184">
                <a:extLst>
                  <a:ext uri="{FF2B5EF4-FFF2-40B4-BE49-F238E27FC236}">
                    <a16:creationId xmlns:a16="http://schemas.microsoft.com/office/drawing/2014/main" id="{359C02C4-AE3C-424E-88A6-A84CCF30229C}"/>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2" name="Freeform 185">
                <a:extLst>
                  <a:ext uri="{FF2B5EF4-FFF2-40B4-BE49-F238E27FC236}">
                    <a16:creationId xmlns:a16="http://schemas.microsoft.com/office/drawing/2014/main" id="{1CC2B8AD-B212-0745-A970-E79786EB0CD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3" name="Oval 186">
                <a:extLst>
                  <a:ext uri="{FF2B5EF4-FFF2-40B4-BE49-F238E27FC236}">
                    <a16:creationId xmlns:a16="http://schemas.microsoft.com/office/drawing/2014/main" id="{5D94AEF0-68E4-7046-B0ED-DCCE63C2396F}"/>
                  </a:ext>
                </a:extLst>
              </p:cNvPr>
              <p:cNvSpPr>
                <a:spLocks noChangeArrowheads="1"/>
              </p:cNvSpPr>
              <p:nvPr/>
            </p:nvSpPr>
            <p:spPr bwMode="auto">
              <a:xfrm>
                <a:off x="5515" y="2609"/>
                <a:ext cx="50"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4" name="Freeform 187">
                <a:extLst>
                  <a:ext uri="{FF2B5EF4-FFF2-40B4-BE49-F238E27FC236}">
                    <a16:creationId xmlns:a16="http://schemas.microsoft.com/office/drawing/2014/main" id="{C6292415-0292-8D4A-AB56-DF120D9C1935}"/>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35" name="AutoShape 188">
                <a:extLst>
                  <a:ext uri="{FF2B5EF4-FFF2-40B4-BE49-F238E27FC236}">
                    <a16:creationId xmlns:a16="http://schemas.microsoft.com/office/drawing/2014/main" id="{412209D6-3554-F94F-B517-9F6DB7F4931D}"/>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6" name="AutoShape 189">
                <a:extLst>
                  <a:ext uri="{FF2B5EF4-FFF2-40B4-BE49-F238E27FC236}">
                    <a16:creationId xmlns:a16="http://schemas.microsoft.com/office/drawing/2014/main" id="{C870F13A-A9EC-F445-8D64-37F050C0AC07}"/>
                  </a:ext>
                </a:extLst>
              </p:cNvPr>
              <p:cNvSpPr>
                <a:spLocks noChangeArrowheads="1"/>
              </p:cNvSpPr>
              <p:nvPr/>
            </p:nvSpPr>
            <p:spPr bwMode="auto">
              <a:xfrm>
                <a:off x="4203" y="2712"/>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7" name="Oval 190">
                <a:extLst>
                  <a:ext uri="{FF2B5EF4-FFF2-40B4-BE49-F238E27FC236}">
                    <a16:creationId xmlns:a16="http://schemas.microsoft.com/office/drawing/2014/main" id="{A39E8A5C-F61E-744E-836D-41A7361D6DC4}"/>
                  </a:ext>
                </a:extLst>
              </p:cNvPr>
              <p:cNvSpPr>
                <a:spLocks noChangeArrowheads="1"/>
              </p:cNvSpPr>
              <p:nvPr/>
            </p:nvSpPr>
            <p:spPr bwMode="auto">
              <a:xfrm>
                <a:off x="4310"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8" name="Oval 191">
                <a:extLst>
                  <a:ext uri="{FF2B5EF4-FFF2-40B4-BE49-F238E27FC236}">
                    <a16:creationId xmlns:a16="http://schemas.microsoft.com/office/drawing/2014/main" id="{9B90C8D9-94E0-5945-8363-EDFE59BB315C}"/>
                  </a:ext>
                </a:extLst>
              </p:cNvPr>
              <p:cNvSpPr>
                <a:spLocks noChangeArrowheads="1"/>
              </p:cNvSpPr>
              <p:nvPr/>
            </p:nvSpPr>
            <p:spPr bwMode="auto">
              <a:xfrm>
                <a:off x="4487"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fontAlgn="base">
                  <a:spcBef>
                    <a:spcPct val="0"/>
                  </a:spcBef>
                  <a:spcAft>
                    <a:spcPct val="0"/>
                  </a:spcAft>
                  <a:defRPr/>
                </a:pPr>
                <a:endParaRPr lang="en-US" sz="1350" kern="0" dirty="0">
                  <a:solidFill>
                    <a:srgbClr val="FF0000"/>
                  </a:solidFill>
                  <a:latin typeface="Arial" charset="0"/>
                  <a:ea typeface="ＭＳ Ｐゴシック" charset="0"/>
                  <a:cs typeface="Arial" charset="0"/>
                </a:endParaRPr>
              </a:p>
            </p:txBody>
          </p:sp>
          <p:sp>
            <p:nvSpPr>
              <p:cNvPr id="139" name="Oval 192">
                <a:extLst>
                  <a:ext uri="{FF2B5EF4-FFF2-40B4-BE49-F238E27FC236}">
                    <a16:creationId xmlns:a16="http://schemas.microsoft.com/office/drawing/2014/main" id="{DE44202E-E28C-0E4D-8741-6A031871E8ED}"/>
                  </a:ext>
                </a:extLst>
              </p:cNvPr>
              <p:cNvSpPr>
                <a:spLocks noChangeArrowheads="1"/>
              </p:cNvSpPr>
              <p:nvPr/>
            </p:nvSpPr>
            <p:spPr bwMode="auto">
              <a:xfrm>
                <a:off x="4663"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40" name="Rectangle 193">
                <a:extLst>
                  <a:ext uri="{FF2B5EF4-FFF2-40B4-BE49-F238E27FC236}">
                    <a16:creationId xmlns:a16="http://schemas.microsoft.com/office/drawing/2014/main" id="{D8BFBA71-4557-6B46-A05C-92CAEC49ECC1}"/>
                  </a:ext>
                </a:extLst>
              </p:cNvPr>
              <p:cNvSpPr>
                <a:spLocks noChangeArrowheads="1"/>
              </p:cNvSpPr>
              <p:nvPr/>
            </p:nvSpPr>
            <p:spPr bwMode="auto">
              <a:xfrm>
                <a:off x="5061" y="1837"/>
                <a:ext cx="88"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cxnSp>
          <p:nvCxnSpPr>
            <p:cNvPr id="105" name="Straight Connector 104">
              <a:extLst>
                <a:ext uri="{FF2B5EF4-FFF2-40B4-BE49-F238E27FC236}">
                  <a16:creationId xmlns:a16="http://schemas.microsoft.com/office/drawing/2014/main" id="{11F9B693-3039-7842-B826-C79453DC74BC}"/>
                </a:ext>
              </a:extLst>
            </p:cNvPr>
            <p:cNvCxnSpPr>
              <a:cxnSpLocks/>
            </p:cNvCxnSpPr>
            <p:nvPr/>
          </p:nvCxnSpPr>
          <p:spPr>
            <a:xfrm>
              <a:off x="3121019" y="289801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2E3D64B-7462-DF45-A72D-0EEE887E1FC6}"/>
                </a:ext>
              </a:extLst>
            </p:cNvPr>
            <p:cNvCxnSpPr>
              <a:cxnSpLocks/>
            </p:cNvCxnSpPr>
            <p:nvPr/>
          </p:nvCxnSpPr>
          <p:spPr>
            <a:xfrm>
              <a:off x="6614663" y="2870304"/>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3" name="Group 232">
              <a:extLst>
                <a:ext uri="{FF2B5EF4-FFF2-40B4-BE49-F238E27FC236}">
                  <a16:creationId xmlns:a16="http://schemas.microsoft.com/office/drawing/2014/main" id="{0D04F411-4AAF-BC49-BC7A-363692477E93}"/>
                </a:ext>
              </a:extLst>
            </p:cNvPr>
            <p:cNvGrpSpPr/>
            <p:nvPr/>
          </p:nvGrpSpPr>
          <p:grpSpPr>
            <a:xfrm>
              <a:off x="3110199" y="4881020"/>
              <a:ext cx="5250830" cy="512359"/>
              <a:chOff x="6737055" y="3471301"/>
              <a:chExt cx="5250830" cy="512359"/>
            </a:xfrm>
          </p:grpSpPr>
          <p:grpSp>
            <p:nvGrpSpPr>
              <p:cNvPr id="223" name="Group 222">
                <a:extLst>
                  <a:ext uri="{FF2B5EF4-FFF2-40B4-BE49-F238E27FC236}">
                    <a16:creationId xmlns:a16="http://schemas.microsoft.com/office/drawing/2014/main" id="{C5146927-C3B8-DF48-9CFC-4B18E58EBBED}"/>
                  </a:ext>
                </a:extLst>
              </p:cNvPr>
              <p:cNvGrpSpPr/>
              <p:nvPr/>
            </p:nvGrpSpPr>
            <p:grpSpPr>
              <a:xfrm>
                <a:off x="8324240" y="3583550"/>
                <a:ext cx="2109326" cy="400110"/>
                <a:chOff x="7504363" y="3155701"/>
                <a:chExt cx="2109326" cy="400110"/>
              </a:xfrm>
            </p:grpSpPr>
            <p:grpSp>
              <p:nvGrpSpPr>
                <p:cNvPr id="224" name="Group 223">
                  <a:extLst>
                    <a:ext uri="{FF2B5EF4-FFF2-40B4-BE49-F238E27FC236}">
                      <a16:creationId xmlns:a16="http://schemas.microsoft.com/office/drawing/2014/main" id="{36331F64-A8EF-C84E-B30D-A7547D452764}"/>
                    </a:ext>
                  </a:extLst>
                </p:cNvPr>
                <p:cNvGrpSpPr/>
                <p:nvPr/>
              </p:nvGrpSpPr>
              <p:grpSpPr>
                <a:xfrm>
                  <a:off x="7504363" y="3183676"/>
                  <a:ext cx="2003932" cy="306163"/>
                  <a:chOff x="1616358" y="2551230"/>
                  <a:chExt cx="2141698" cy="218510"/>
                </a:xfrm>
              </p:grpSpPr>
              <p:sp>
                <p:nvSpPr>
                  <p:cNvPr id="226" name="Rectangle 225">
                    <a:extLst>
                      <a:ext uri="{FF2B5EF4-FFF2-40B4-BE49-F238E27FC236}">
                        <a16:creationId xmlns:a16="http://schemas.microsoft.com/office/drawing/2014/main" id="{A58BC41B-0FE4-7548-8B41-7D58F1B562DA}"/>
                      </a:ext>
                    </a:extLst>
                  </p:cNvPr>
                  <p:cNvSpPr/>
                  <p:nvPr/>
                </p:nvSpPr>
                <p:spPr>
                  <a:xfrm>
                    <a:off x="1673508" y="2551230"/>
                    <a:ext cx="2027398"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7" name="Oval 226">
                    <a:extLst>
                      <a:ext uri="{FF2B5EF4-FFF2-40B4-BE49-F238E27FC236}">
                        <a16:creationId xmlns:a16="http://schemas.microsoft.com/office/drawing/2014/main" id="{02FB0512-C154-9E47-9EBA-D924E2099BE6}"/>
                      </a:ext>
                    </a:extLst>
                  </p:cNvPr>
                  <p:cNvSpPr/>
                  <p:nvPr/>
                </p:nvSpPr>
                <p:spPr>
                  <a:xfrm>
                    <a:off x="1616358" y="2551230"/>
                    <a:ext cx="114300" cy="218510"/>
                  </a:xfrm>
                  <a:prstGeom prst="ellipse">
                    <a:avLst/>
                  </a:prstGeom>
                  <a:solidFill>
                    <a:srgbClr val="7ACCF4"/>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8" name="Oval 227">
                    <a:extLst>
                      <a:ext uri="{FF2B5EF4-FFF2-40B4-BE49-F238E27FC236}">
                        <a16:creationId xmlns:a16="http://schemas.microsoft.com/office/drawing/2014/main" id="{C63F6E63-7445-F243-9368-2132BE86292D}"/>
                      </a:ext>
                    </a:extLst>
                  </p:cNvPr>
                  <p:cNvSpPr/>
                  <p:nvPr/>
                </p:nvSpPr>
                <p:spPr>
                  <a:xfrm>
                    <a:off x="3643756" y="2551230"/>
                    <a:ext cx="114300" cy="218510"/>
                  </a:xfrm>
                  <a:prstGeom prst="ellipse">
                    <a:avLst/>
                  </a:prstGeom>
                  <a:gradFill flip="none" rotWithShape="1">
                    <a:gsLst>
                      <a:gs pos="0">
                        <a:schemeClr val="accent5">
                          <a:lumMod val="75000"/>
                        </a:schemeClr>
                      </a:gs>
                      <a:gs pos="100000">
                        <a:schemeClr val="accent5">
                          <a:lumMod val="75000"/>
                        </a:schemeClr>
                      </a:gs>
                      <a:gs pos="50000">
                        <a:srgbClr val="7ACCF4"/>
                      </a:gs>
                    </a:gsLst>
                    <a:lin ang="16200000" scaled="0"/>
                    <a:tileRect/>
                  </a:gra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sp>
                <p:nvSpPr>
                  <p:cNvPr id="229" name="Rectangle 228">
                    <a:extLst>
                      <a:ext uri="{FF2B5EF4-FFF2-40B4-BE49-F238E27FC236}">
                        <a16:creationId xmlns:a16="http://schemas.microsoft.com/office/drawing/2014/main" id="{EE8FCEBF-7EAA-0647-A2EA-4FF2A92ADD8C}"/>
                      </a:ext>
                    </a:extLst>
                  </p:cNvPr>
                  <p:cNvSpPr/>
                  <p:nvPr/>
                </p:nvSpPr>
                <p:spPr>
                  <a:xfrm>
                    <a:off x="3491356" y="2551230"/>
                    <a:ext cx="209550" cy="218510"/>
                  </a:xfrm>
                  <a:prstGeom prst="rect">
                    <a:avLst/>
                  </a:prstGeom>
                  <a:gradFill>
                    <a:gsLst>
                      <a:gs pos="0">
                        <a:schemeClr val="accent5">
                          <a:lumMod val="75000"/>
                        </a:schemeClr>
                      </a:gs>
                      <a:gs pos="100000">
                        <a:schemeClr val="accent5">
                          <a:lumMod val="75000"/>
                        </a:schemeClr>
                      </a:gs>
                      <a:gs pos="52000">
                        <a:srgbClr val="7ACCF4"/>
                      </a:gs>
                    </a:gsLst>
                    <a:lin ang="16200000" scaled="0"/>
                  </a:gradFill>
                  <a:ln w="63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US" sz="1350" dirty="0">
                      <a:solidFill>
                        <a:prstClr val="white"/>
                      </a:solidFill>
                      <a:latin typeface="Calibri" panose="020F0502020204030204"/>
                    </a:endParaRPr>
                  </a:p>
                </p:txBody>
              </p:sp>
            </p:grpSp>
            <p:sp>
              <p:nvSpPr>
                <p:cNvPr id="225" name="TextBox 224">
                  <a:extLst>
                    <a:ext uri="{FF2B5EF4-FFF2-40B4-BE49-F238E27FC236}">
                      <a16:creationId xmlns:a16="http://schemas.microsoft.com/office/drawing/2014/main" id="{68623763-0736-1640-9198-34E20A0A0952}"/>
                    </a:ext>
                  </a:extLst>
                </p:cNvPr>
                <p:cNvSpPr txBox="1"/>
                <p:nvPr/>
              </p:nvSpPr>
              <p:spPr>
                <a:xfrm>
                  <a:off x="7626478" y="3155701"/>
                  <a:ext cx="1987211" cy="400110"/>
                </a:xfrm>
                <a:prstGeom prst="rect">
                  <a:avLst/>
                </a:prstGeom>
                <a:noFill/>
              </p:spPr>
              <p:txBody>
                <a:bodyPr wrap="none" rtlCol="0">
                  <a:spAutoFit/>
                </a:bodyPr>
                <a:lstStyle/>
                <a:p>
                  <a:pPr defTabSz="685800">
                    <a:defRPr/>
                  </a:pPr>
                  <a:r>
                    <a:rPr lang="en-US" sz="1350" dirty="0">
                      <a:solidFill>
                        <a:prstClr val="white"/>
                      </a:solidFill>
                      <a:latin typeface="Calibri" panose="020F0502020204030204"/>
                    </a:rPr>
                    <a:t>unreliable channel</a:t>
                  </a:r>
                </a:p>
              </p:txBody>
            </p:sp>
          </p:grpSp>
          <p:cxnSp>
            <p:nvCxnSpPr>
              <p:cNvPr id="230" name="Straight Connector 229">
                <a:extLst>
                  <a:ext uri="{FF2B5EF4-FFF2-40B4-BE49-F238E27FC236}">
                    <a16:creationId xmlns:a16="http://schemas.microsoft.com/office/drawing/2014/main" id="{DBEEB1A6-0E73-AB48-B495-F487B566C625}"/>
                  </a:ext>
                </a:extLst>
              </p:cNvPr>
              <p:cNvCxnSpPr>
                <a:cxnSpLocks/>
              </p:cNvCxnSpPr>
              <p:nvPr/>
            </p:nvCxnSpPr>
            <p:spPr>
              <a:xfrm>
                <a:off x="6737055"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B7BF7B94-FA7B-2246-B803-641BA21FAD78}"/>
                  </a:ext>
                </a:extLst>
              </p:cNvPr>
              <p:cNvCxnSpPr>
                <a:cxnSpLocks/>
              </p:cNvCxnSpPr>
              <p:nvPr/>
            </p:nvCxnSpPr>
            <p:spPr>
              <a:xfrm>
                <a:off x="10299974" y="3471301"/>
                <a:ext cx="1687911"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cxnSp>
          <p:nvCxnSpPr>
            <p:cNvPr id="237" name="Straight Arrow Connector 236">
              <a:extLst>
                <a:ext uri="{FF2B5EF4-FFF2-40B4-BE49-F238E27FC236}">
                  <a16:creationId xmlns:a16="http://schemas.microsoft.com/office/drawing/2014/main" id="{05D4C2CD-9395-C64F-91D1-D32BF3685F81}"/>
                </a:ext>
              </a:extLst>
            </p:cNvPr>
            <p:cNvCxnSpPr>
              <a:cxnSpLocks/>
            </p:cNvCxnSpPr>
            <p:nvPr/>
          </p:nvCxnSpPr>
          <p:spPr>
            <a:xfrm>
              <a:off x="4069352" y="2795325"/>
              <a:ext cx="0" cy="40353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240" name="Straight Arrow Connector 239">
              <a:extLst>
                <a:ext uri="{FF2B5EF4-FFF2-40B4-BE49-F238E27FC236}">
                  <a16:creationId xmlns:a16="http://schemas.microsoft.com/office/drawing/2014/main" id="{A7F37CC4-8A14-554D-96BA-B69174DD341C}"/>
                </a:ext>
              </a:extLst>
            </p:cNvPr>
            <p:cNvCxnSpPr>
              <a:cxnSpLocks/>
            </p:cNvCxnSpPr>
            <p:nvPr/>
          </p:nvCxnSpPr>
          <p:spPr>
            <a:xfrm flipV="1">
              <a:off x="7403443" y="2731748"/>
              <a:ext cx="0" cy="439404"/>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43" name="TextBox 242">
              <a:extLst>
                <a:ext uri="{FF2B5EF4-FFF2-40B4-BE49-F238E27FC236}">
                  <a16:creationId xmlns:a16="http://schemas.microsoft.com/office/drawing/2014/main" id="{414248C8-665E-0640-BFD4-2689CB960EDD}"/>
                </a:ext>
              </a:extLst>
            </p:cNvPr>
            <p:cNvSpPr txBox="1"/>
            <p:nvPr/>
          </p:nvSpPr>
          <p:spPr>
            <a:xfrm>
              <a:off x="3042206" y="3300756"/>
              <a:ext cx="2001039" cy="1120307"/>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sender-side</a:t>
              </a:r>
            </a:p>
            <a:p>
              <a:pPr algn="ctr" defTabSz="685800">
                <a:lnSpc>
                  <a:spcPct val="90000"/>
                </a:lnSpc>
                <a:defRPr/>
              </a:pPr>
              <a:r>
                <a:rPr lang="en-US" sz="1350" i="1" dirty="0">
                  <a:solidFill>
                    <a:prstClr val="black"/>
                  </a:solidFill>
                  <a:latin typeface="Calibri" panose="020F0502020204030204"/>
                </a:rPr>
                <a:t>implementation</a:t>
              </a:r>
              <a:r>
                <a:rPr lang="en-US" sz="1350" dirty="0">
                  <a:solidFill>
                    <a:prstClr val="black"/>
                  </a:solidFill>
                  <a:latin typeface="Calibri" panose="020F0502020204030204"/>
                </a:rPr>
                <a:t> of </a:t>
              </a:r>
              <a:r>
                <a:rPr lang="en-US" sz="1350" dirty="0">
                  <a:solidFill>
                    <a:prstClr val="black"/>
                  </a:solidFill>
                  <a:latin typeface="Courier" pitchFamily="2" charset="0"/>
                </a:rPr>
                <a:t>rdt</a:t>
              </a:r>
              <a:r>
                <a:rPr lang="en-US" sz="1350" dirty="0">
                  <a:solidFill>
                    <a:prstClr val="black"/>
                  </a:solidFill>
                  <a:latin typeface="Calibri" panose="020F0502020204030204"/>
                </a:rPr>
                <a:t> reliable data transfer protocol</a:t>
              </a:r>
            </a:p>
          </p:txBody>
        </p:sp>
        <p:sp>
          <p:nvSpPr>
            <p:cNvPr id="244" name="TextBox 243">
              <a:extLst>
                <a:ext uri="{FF2B5EF4-FFF2-40B4-BE49-F238E27FC236}">
                  <a16:creationId xmlns:a16="http://schemas.microsoft.com/office/drawing/2014/main" id="{026C4778-F96F-564F-92C4-81A147260836}"/>
                </a:ext>
              </a:extLst>
            </p:cNvPr>
            <p:cNvSpPr txBox="1"/>
            <p:nvPr/>
          </p:nvSpPr>
          <p:spPr>
            <a:xfrm>
              <a:off x="6413059" y="3328511"/>
              <a:ext cx="2001033" cy="1120307"/>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receiver-side</a:t>
              </a:r>
            </a:p>
            <a:p>
              <a:pPr algn="ctr" defTabSz="685800">
                <a:lnSpc>
                  <a:spcPct val="90000"/>
                </a:lnSpc>
                <a:defRPr/>
              </a:pPr>
              <a:r>
                <a:rPr lang="en-US" sz="1350" i="1" dirty="0">
                  <a:solidFill>
                    <a:prstClr val="black"/>
                  </a:solidFill>
                  <a:latin typeface="Calibri" panose="020F0502020204030204"/>
                </a:rPr>
                <a:t>implementation</a:t>
              </a:r>
              <a:r>
                <a:rPr lang="en-US" sz="1350" dirty="0">
                  <a:solidFill>
                    <a:prstClr val="black"/>
                  </a:solidFill>
                  <a:latin typeface="Calibri" panose="020F0502020204030204"/>
                </a:rPr>
                <a:t> of </a:t>
              </a:r>
              <a:r>
                <a:rPr lang="en-US" sz="1350" dirty="0">
                  <a:solidFill>
                    <a:prstClr val="black"/>
                  </a:solidFill>
                  <a:latin typeface="Courier" pitchFamily="2" charset="0"/>
                </a:rPr>
                <a:t>rdt </a:t>
              </a:r>
              <a:r>
                <a:rPr lang="en-US" sz="1350" dirty="0">
                  <a:solidFill>
                    <a:prstClr val="black"/>
                  </a:solidFill>
                  <a:latin typeface="Calibri" panose="020F0502020204030204"/>
                </a:rPr>
                <a:t>reliable data transfer protocol</a:t>
              </a:r>
            </a:p>
          </p:txBody>
        </p:sp>
        <p:grpSp>
          <p:nvGrpSpPr>
            <p:cNvPr id="250" name="Group 249">
              <a:extLst>
                <a:ext uri="{FF2B5EF4-FFF2-40B4-BE49-F238E27FC236}">
                  <a16:creationId xmlns:a16="http://schemas.microsoft.com/office/drawing/2014/main" id="{3A5444DE-2616-4949-A343-9AB06B194D91}"/>
                </a:ext>
              </a:extLst>
            </p:cNvPr>
            <p:cNvGrpSpPr/>
            <p:nvPr/>
          </p:nvGrpSpPr>
          <p:grpSpPr>
            <a:xfrm>
              <a:off x="4071724" y="4602963"/>
              <a:ext cx="632009" cy="632009"/>
              <a:chOff x="7408198" y="4955748"/>
              <a:chExt cx="632009" cy="632009"/>
            </a:xfrm>
          </p:grpSpPr>
          <p:cxnSp>
            <p:nvCxnSpPr>
              <p:cNvPr id="247" name="Straight Connector 246">
                <a:extLst>
                  <a:ext uri="{FF2B5EF4-FFF2-40B4-BE49-F238E27FC236}">
                    <a16:creationId xmlns:a16="http://schemas.microsoft.com/office/drawing/2014/main" id="{3C799D3A-CE2A-E048-B2D1-4A59AF4A4487}"/>
                  </a:ext>
                </a:extLst>
              </p:cNvPr>
              <p:cNvCxnSpPr>
                <a:cxnSpLocks/>
              </p:cNvCxnSpPr>
              <p:nvPr/>
            </p:nvCxnSpPr>
            <p:spPr>
              <a:xfrm>
                <a:off x="7417790" y="4955748"/>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594AB361-99B5-124A-BC74-926DDD1383FA}"/>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grpSp>
          <p:nvGrpSpPr>
            <p:cNvPr id="251" name="Group 250">
              <a:extLst>
                <a:ext uri="{FF2B5EF4-FFF2-40B4-BE49-F238E27FC236}">
                  <a16:creationId xmlns:a16="http://schemas.microsoft.com/office/drawing/2014/main" id="{BA49793A-2EFA-244E-B721-948595E86530}"/>
                </a:ext>
              </a:extLst>
            </p:cNvPr>
            <p:cNvGrpSpPr/>
            <p:nvPr/>
          </p:nvGrpSpPr>
          <p:grpSpPr>
            <a:xfrm rot="16200000">
              <a:off x="6784894" y="4598122"/>
              <a:ext cx="632009" cy="632009"/>
              <a:chOff x="7408198" y="4948974"/>
              <a:chExt cx="632009" cy="632009"/>
            </a:xfrm>
          </p:grpSpPr>
          <p:cxnSp>
            <p:nvCxnSpPr>
              <p:cNvPr id="252" name="Straight Connector 251">
                <a:extLst>
                  <a:ext uri="{FF2B5EF4-FFF2-40B4-BE49-F238E27FC236}">
                    <a16:creationId xmlns:a16="http://schemas.microsoft.com/office/drawing/2014/main" id="{E0252BA6-E2F4-EA40-A719-21D09BB00749}"/>
                  </a:ext>
                </a:extLst>
              </p:cNvPr>
              <p:cNvCxnSpPr>
                <a:cxnSpLocks/>
              </p:cNvCxnSpPr>
              <p:nvPr/>
            </p:nvCxnSpPr>
            <p:spPr>
              <a:xfrm>
                <a:off x="7427960" y="4948974"/>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42B1015B-F6E9-1049-9672-7C7605BFFCB3}"/>
                  </a:ext>
                </a:extLst>
              </p:cNvPr>
              <p:cNvCxnSpPr>
                <a:cxnSpLocks/>
              </p:cNvCxnSpPr>
              <p:nvPr/>
            </p:nvCxnSpPr>
            <p:spPr>
              <a:xfrm rot="5400000">
                <a:off x="7724203" y="5247906"/>
                <a:ext cx="0" cy="632009"/>
              </a:xfrm>
              <a:prstGeom prst="line">
                <a:avLst/>
              </a:prstGeom>
              <a:ln w="47625">
                <a:solidFill>
                  <a:srgbClr val="3C6CDF"/>
                </a:solidFill>
                <a:headEnd type="triangle"/>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C2F0730B-D0ED-F641-98C5-78E791D1F90B}"/>
                </a:ext>
              </a:extLst>
            </p:cNvPr>
            <p:cNvSpPr txBox="1"/>
            <p:nvPr/>
          </p:nvSpPr>
          <p:spPr>
            <a:xfrm>
              <a:off x="2293693" y="2546898"/>
              <a:ext cx="1687911" cy="369332"/>
            </a:xfrm>
            <a:prstGeom prst="rect">
              <a:avLst/>
            </a:prstGeom>
            <a:noFill/>
          </p:spPr>
          <p:txBody>
            <a:bodyPr wrap="square" rtlCol="0">
              <a:spAutoFit/>
            </a:bodyPr>
            <a:lstStyle/>
            <a:p>
              <a:pPr defTabSz="685800">
                <a:defRPr/>
              </a:pPr>
              <a:r>
                <a:rPr lang="en-US" sz="1200" dirty="0">
                  <a:solidFill>
                    <a:prstClr val="black"/>
                  </a:solidFill>
                  <a:latin typeface="Courier" pitchFamily="2" charset="0"/>
                </a:rPr>
                <a:t>rdt_send()</a:t>
              </a:r>
            </a:p>
          </p:txBody>
        </p:sp>
        <p:sp>
          <p:nvSpPr>
            <p:cNvPr id="160" name="TextBox 159">
              <a:extLst>
                <a:ext uri="{FF2B5EF4-FFF2-40B4-BE49-F238E27FC236}">
                  <a16:creationId xmlns:a16="http://schemas.microsoft.com/office/drawing/2014/main" id="{5F274F00-C43B-6D4C-8305-49C2887DFDB8}"/>
                </a:ext>
              </a:extLst>
            </p:cNvPr>
            <p:cNvSpPr txBox="1"/>
            <p:nvPr/>
          </p:nvSpPr>
          <p:spPr>
            <a:xfrm>
              <a:off x="2637056" y="4529903"/>
              <a:ext cx="1687911" cy="369332"/>
            </a:xfrm>
            <a:prstGeom prst="rect">
              <a:avLst/>
            </a:prstGeom>
            <a:noFill/>
          </p:spPr>
          <p:txBody>
            <a:bodyPr wrap="square" rtlCol="0">
              <a:spAutoFit/>
            </a:bodyPr>
            <a:lstStyle/>
            <a:p>
              <a:pPr defTabSz="685800">
                <a:defRPr/>
              </a:pPr>
              <a:r>
                <a:rPr lang="en-US" sz="1200" dirty="0">
                  <a:solidFill>
                    <a:prstClr val="black"/>
                  </a:solidFill>
                  <a:latin typeface="Courier" pitchFamily="2" charset="0"/>
                </a:rPr>
                <a:t>udt_send()</a:t>
              </a:r>
            </a:p>
          </p:txBody>
        </p:sp>
        <p:sp>
          <p:nvSpPr>
            <p:cNvPr id="161" name="TextBox 160">
              <a:extLst>
                <a:ext uri="{FF2B5EF4-FFF2-40B4-BE49-F238E27FC236}">
                  <a16:creationId xmlns:a16="http://schemas.microsoft.com/office/drawing/2014/main" id="{8360D8A8-FCEB-0748-86B2-6367F0490699}"/>
                </a:ext>
              </a:extLst>
            </p:cNvPr>
            <p:cNvSpPr txBox="1"/>
            <p:nvPr/>
          </p:nvSpPr>
          <p:spPr>
            <a:xfrm>
              <a:off x="7460091" y="4522694"/>
              <a:ext cx="1687911" cy="369332"/>
            </a:xfrm>
            <a:prstGeom prst="rect">
              <a:avLst/>
            </a:prstGeom>
            <a:noFill/>
          </p:spPr>
          <p:txBody>
            <a:bodyPr wrap="square" rtlCol="0">
              <a:spAutoFit/>
            </a:bodyPr>
            <a:lstStyle/>
            <a:p>
              <a:pPr defTabSz="685800">
                <a:defRPr/>
              </a:pPr>
              <a:r>
                <a:rPr lang="en-US" sz="1200" dirty="0">
                  <a:solidFill>
                    <a:prstClr val="black"/>
                  </a:solidFill>
                  <a:latin typeface="Courier" pitchFamily="2" charset="0"/>
                </a:rPr>
                <a:t>rdt_rcv()</a:t>
              </a:r>
            </a:p>
          </p:txBody>
        </p:sp>
        <p:sp>
          <p:nvSpPr>
            <p:cNvPr id="162" name="TextBox 161">
              <a:extLst>
                <a:ext uri="{FF2B5EF4-FFF2-40B4-BE49-F238E27FC236}">
                  <a16:creationId xmlns:a16="http://schemas.microsoft.com/office/drawing/2014/main" id="{D4C97A67-5BFF-1F4C-BB10-0037874E0FBC}"/>
                </a:ext>
              </a:extLst>
            </p:cNvPr>
            <p:cNvSpPr txBox="1"/>
            <p:nvPr/>
          </p:nvSpPr>
          <p:spPr>
            <a:xfrm>
              <a:off x="7446810" y="2872208"/>
              <a:ext cx="2046143" cy="369332"/>
            </a:xfrm>
            <a:prstGeom prst="rect">
              <a:avLst/>
            </a:prstGeom>
            <a:noFill/>
          </p:spPr>
          <p:txBody>
            <a:bodyPr wrap="square" rtlCol="0">
              <a:spAutoFit/>
            </a:bodyPr>
            <a:lstStyle/>
            <a:p>
              <a:pPr defTabSz="685800">
                <a:defRPr/>
              </a:pPr>
              <a:r>
                <a:rPr lang="en-US" sz="1200" dirty="0">
                  <a:solidFill>
                    <a:prstClr val="black"/>
                  </a:solidFill>
                  <a:latin typeface="Courier" pitchFamily="2" charset="0"/>
                </a:rPr>
                <a:t>deliver_data()</a:t>
              </a:r>
            </a:p>
          </p:txBody>
        </p:sp>
        <p:grpSp>
          <p:nvGrpSpPr>
            <p:cNvPr id="14" name="Group 13">
              <a:extLst>
                <a:ext uri="{FF2B5EF4-FFF2-40B4-BE49-F238E27FC236}">
                  <a16:creationId xmlns:a16="http://schemas.microsoft.com/office/drawing/2014/main" id="{F43034C5-12D0-B544-8624-5B957307D6C4}"/>
                </a:ext>
              </a:extLst>
            </p:cNvPr>
            <p:cNvGrpSpPr/>
            <p:nvPr/>
          </p:nvGrpSpPr>
          <p:grpSpPr>
            <a:xfrm>
              <a:off x="4198761" y="4538107"/>
              <a:ext cx="1129178" cy="615552"/>
              <a:chOff x="4492148" y="4699180"/>
              <a:chExt cx="1129178" cy="615552"/>
            </a:xfrm>
          </p:grpSpPr>
          <p:grpSp>
            <p:nvGrpSpPr>
              <p:cNvPr id="163" name="Group 162">
                <a:extLst>
                  <a:ext uri="{FF2B5EF4-FFF2-40B4-BE49-F238E27FC236}">
                    <a16:creationId xmlns:a16="http://schemas.microsoft.com/office/drawing/2014/main" id="{6EE61F86-BE11-7149-9359-71FBA7C666F1}"/>
                  </a:ext>
                </a:extLst>
              </p:cNvPr>
              <p:cNvGrpSpPr/>
              <p:nvPr/>
            </p:nvGrpSpPr>
            <p:grpSpPr>
              <a:xfrm>
                <a:off x="5044085" y="4699180"/>
                <a:ext cx="577241" cy="615552"/>
                <a:chOff x="9950444" y="999755"/>
                <a:chExt cx="577241" cy="615552"/>
              </a:xfrm>
            </p:grpSpPr>
            <p:sp>
              <p:nvSpPr>
                <p:cNvPr id="164" name="Rectangle 163">
                  <a:extLst>
                    <a:ext uri="{FF2B5EF4-FFF2-40B4-BE49-F238E27FC236}">
                      <a16:creationId xmlns:a16="http://schemas.microsoft.com/office/drawing/2014/main" id="{57D8AC92-EC61-6A41-96EB-9AC393F717F1}"/>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65" name="TextBox 164">
                  <a:extLst>
                    <a:ext uri="{FF2B5EF4-FFF2-40B4-BE49-F238E27FC236}">
                      <a16:creationId xmlns:a16="http://schemas.microsoft.com/office/drawing/2014/main" id="{F1637E6F-EFC0-D84A-BD43-1DD363CF3717}"/>
                    </a:ext>
                  </a:extLst>
                </p:cNvPr>
                <p:cNvSpPr txBox="1"/>
                <p:nvPr/>
              </p:nvSpPr>
              <p:spPr>
                <a:xfrm>
                  <a:off x="9950444" y="999755"/>
                  <a:ext cx="577241" cy="615552"/>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67" name="Group 166">
                <a:extLst>
                  <a:ext uri="{FF2B5EF4-FFF2-40B4-BE49-F238E27FC236}">
                    <a16:creationId xmlns:a16="http://schemas.microsoft.com/office/drawing/2014/main" id="{65EE0A01-2F8E-5749-87FB-D527A9FE564A}"/>
                  </a:ext>
                </a:extLst>
              </p:cNvPr>
              <p:cNvGrpSpPr/>
              <p:nvPr/>
            </p:nvGrpSpPr>
            <p:grpSpPr>
              <a:xfrm>
                <a:off x="4492148" y="4738794"/>
                <a:ext cx="765498" cy="307776"/>
                <a:chOff x="9965227" y="1039458"/>
                <a:chExt cx="765498" cy="307776"/>
              </a:xfrm>
            </p:grpSpPr>
            <p:sp>
              <p:nvSpPr>
                <p:cNvPr id="168" name="Rectangle 167">
                  <a:extLst>
                    <a:ext uri="{FF2B5EF4-FFF2-40B4-BE49-F238E27FC236}">
                      <a16:creationId xmlns:a16="http://schemas.microsoft.com/office/drawing/2014/main" id="{04B6CB81-4155-2746-910F-3F3A2CCC25D4}"/>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69" name="TextBox 168">
                  <a:extLst>
                    <a:ext uri="{FF2B5EF4-FFF2-40B4-BE49-F238E27FC236}">
                      <a16:creationId xmlns:a16="http://schemas.microsoft.com/office/drawing/2014/main" id="{6539C471-3169-F34C-99B5-F3105A964D11}"/>
                    </a:ext>
                  </a:extLst>
                </p:cNvPr>
                <p:cNvSpPr txBox="1"/>
                <p:nvPr/>
              </p:nvSpPr>
              <p:spPr>
                <a:xfrm>
                  <a:off x="9965227" y="1039458"/>
                  <a:ext cx="765498" cy="307776"/>
                </a:xfrm>
                <a:prstGeom prst="rect">
                  <a:avLst/>
                </a:prstGeom>
                <a:noFill/>
              </p:spPr>
              <p:txBody>
                <a:bodyPr wrap="square" rtlCol="0">
                  <a:spAutoFit/>
                </a:bodyPr>
                <a:lstStyle/>
                <a:p>
                  <a:pPr defTabSz="685800">
                    <a:defRPr/>
                  </a:pPr>
                  <a:r>
                    <a:rPr lang="en-US" sz="900" dirty="0">
                      <a:solidFill>
                        <a:prstClr val="white"/>
                      </a:solidFill>
                      <a:latin typeface="Calibri" panose="020F0502020204030204"/>
                    </a:rPr>
                    <a:t>Header</a:t>
                  </a:r>
                  <a:endParaRPr lang="en-US" sz="1350" dirty="0">
                    <a:solidFill>
                      <a:prstClr val="white"/>
                    </a:solidFill>
                    <a:latin typeface="Calibri" panose="020F0502020204030204"/>
                  </a:endParaRPr>
                </a:p>
              </p:txBody>
            </p:sp>
          </p:grpSp>
        </p:grpSp>
        <p:grpSp>
          <p:nvGrpSpPr>
            <p:cNvPr id="170" name="Group 169">
              <a:extLst>
                <a:ext uri="{FF2B5EF4-FFF2-40B4-BE49-F238E27FC236}">
                  <a16:creationId xmlns:a16="http://schemas.microsoft.com/office/drawing/2014/main" id="{B6FA9AE8-EBC5-0147-94F3-3E921D2CC449}"/>
                </a:ext>
              </a:extLst>
            </p:cNvPr>
            <p:cNvGrpSpPr/>
            <p:nvPr/>
          </p:nvGrpSpPr>
          <p:grpSpPr>
            <a:xfrm>
              <a:off x="6194588" y="4534824"/>
              <a:ext cx="1129178" cy="615552"/>
              <a:chOff x="4492148" y="4699180"/>
              <a:chExt cx="1129178" cy="615552"/>
            </a:xfrm>
          </p:grpSpPr>
          <p:grpSp>
            <p:nvGrpSpPr>
              <p:cNvPr id="171" name="Group 170">
                <a:extLst>
                  <a:ext uri="{FF2B5EF4-FFF2-40B4-BE49-F238E27FC236}">
                    <a16:creationId xmlns:a16="http://schemas.microsoft.com/office/drawing/2014/main" id="{914827A5-B36D-5447-BDA9-1E2D6F444CD2}"/>
                  </a:ext>
                </a:extLst>
              </p:cNvPr>
              <p:cNvGrpSpPr/>
              <p:nvPr/>
            </p:nvGrpSpPr>
            <p:grpSpPr>
              <a:xfrm>
                <a:off x="5044085" y="4699180"/>
                <a:ext cx="577241" cy="615552"/>
                <a:chOff x="9950444" y="999755"/>
                <a:chExt cx="577241" cy="615552"/>
              </a:xfrm>
            </p:grpSpPr>
            <p:sp>
              <p:nvSpPr>
                <p:cNvPr id="175" name="Rectangle 174">
                  <a:extLst>
                    <a:ext uri="{FF2B5EF4-FFF2-40B4-BE49-F238E27FC236}">
                      <a16:creationId xmlns:a16="http://schemas.microsoft.com/office/drawing/2014/main" id="{86365D49-EBCD-6849-85B0-2CEB5230224A}"/>
                    </a:ext>
                  </a:extLst>
                </p:cNvPr>
                <p:cNvSpPr/>
                <p:nvPr/>
              </p:nvSpPr>
              <p:spPr>
                <a:xfrm>
                  <a:off x="10010633" y="1066693"/>
                  <a:ext cx="429378"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76" name="TextBox 175">
                  <a:extLst>
                    <a:ext uri="{FF2B5EF4-FFF2-40B4-BE49-F238E27FC236}">
                      <a16:creationId xmlns:a16="http://schemas.microsoft.com/office/drawing/2014/main" id="{595BF0A2-D091-7845-BCE5-75F48AA8E23A}"/>
                    </a:ext>
                  </a:extLst>
                </p:cNvPr>
                <p:cNvSpPr txBox="1"/>
                <p:nvPr/>
              </p:nvSpPr>
              <p:spPr>
                <a:xfrm>
                  <a:off x="9950444" y="999755"/>
                  <a:ext cx="577241" cy="615552"/>
                </a:xfrm>
                <a:prstGeom prst="rect">
                  <a:avLst/>
                </a:prstGeom>
                <a:noFill/>
              </p:spPr>
              <p:txBody>
                <a:bodyPr wrap="square" rtlCol="0">
                  <a:spAutoFit/>
                </a:bodyPr>
                <a:lstStyle/>
                <a:p>
                  <a:pPr defTabSz="685800">
                    <a:defRPr/>
                  </a:pPr>
                  <a:r>
                    <a:rPr lang="en-US" sz="1200" dirty="0">
                      <a:solidFill>
                        <a:prstClr val="white"/>
                      </a:solidFill>
                      <a:latin typeface="Calibri" panose="020F0502020204030204"/>
                    </a:rPr>
                    <a:t>data</a:t>
                  </a:r>
                  <a:endParaRPr lang="en-US" sz="1350" dirty="0">
                    <a:solidFill>
                      <a:prstClr val="white"/>
                    </a:solidFill>
                    <a:latin typeface="Calibri" panose="020F0502020204030204"/>
                  </a:endParaRPr>
                </a:p>
              </p:txBody>
            </p:sp>
          </p:grpSp>
          <p:grpSp>
            <p:nvGrpSpPr>
              <p:cNvPr id="172" name="Group 171">
                <a:extLst>
                  <a:ext uri="{FF2B5EF4-FFF2-40B4-BE49-F238E27FC236}">
                    <a16:creationId xmlns:a16="http://schemas.microsoft.com/office/drawing/2014/main" id="{67440755-0E4E-954E-AF41-146130A58AC5}"/>
                  </a:ext>
                </a:extLst>
              </p:cNvPr>
              <p:cNvGrpSpPr/>
              <p:nvPr/>
            </p:nvGrpSpPr>
            <p:grpSpPr>
              <a:xfrm>
                <a:off x="4492148" y="4738794"/>
                <a:ext cx="754805" cy="307776"/>
                <a:chOff x="9965227" y="1039458"/>
                <a:chExt cx="754805" cy="307776"/>
              </a:xfrm>
            </p:grpSpPr>
            <p:sp>
              <p:nvSpPr>
                <p:cNvPr id="173" name="Rectangle 172">
                  <a:extLst>
                    <a:ext uri="{FF2B5EF4-FFF2-40B4-BE49-F238E27FC236}">
                      <a16:creationId xmlns:a16="http://schemas.microsoft.com/office/drawing/2014/main" id="{570E072F-7451-6049-8AE4-47E446A3608F}"/>
                    </a:ext>
                  </a:extLst>
                </p:cNvPr>
                <p:cNvSpPr/>
                <p:nvPr/>
              </p:nvSpPr>
              <p:spPr>
                <a:xfrm>
                  <a:off x="10010632" y="1066693"/>
                  <a:ext cx="561043" cy="2152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74" name="TextBox 173">
                  <a:extLst>
                    <a:ext uri="{FF2B5EF4-FFF2-40B4-BE49-F238E27FC236}">
                      <a16:creationId xmlns:a16="http://schemas.microsoft.com/office/drawing/2014/main" id="{FC86A8E8-F3DF-0C45-B9B7-56C26EB61CCB}"/>
                    </a:ext>
                  </a:extLst>
                </p:cNvPr>
                <p:cNvSpPr txBox="1"/>
                <p:nvPr/>
              </p:nvSpPr>
              <p:spPr>
                <a:xfrm>
                  <a:off x="9965227" y="1039458"/>
                  <a:ext cx="754805" cy="307776"/>
                </a:xfrm>
                <a:prstGeom prst="rect">
                  <a:avLst/>
                </a:prstGeom>
                <a:noFill/>
              </p:spPr>
              <p:txBody>
                <a:bodyPr wrap="square" rtlCol="0">
                  <a:spAutoFit/>
                </a:bodyPr>
                <a:lstStyle/>
                <a:p>
                  <a:pPr defTabSz="685800">
                    <a:defRPr/>
                  </a:pPr>
                  <a:r>
                    <a:rPr lang="en-US" sz="900" dirty="0">
                      <a:solidFill>
                        <a:prstClr val="white"/>
                      </a:solidFill>
                      <a:latin typeface="Calibri" panose="020F0502020204030204"/>
                    </a:rPr>
                    <a:t>Header</a:t>
                  </a:r>
                  <a:endParaRPr lang="en-US" sz="1350" dirty="0">
                    <a:solidFill>
                      <a:prstClr val="white"/>
                    </a:solidFill>
                    <a:latin typeface="Calibri" panose="020F0502020204030204"/>
                  </a:endParaRPr>
                </a:p>
              </p:txBody>
            </p:sp>
          </p:grpSp>
        </p:grpSp>
      </p:grpSp>
      <p:grpSp>
        <p:nvGrpSpPr>
          <p:cNvPr id="197" name="Group 6">
            <a:extLst>
              <a:ext uri="{FF2B5EF4-FFF2-40B4-BE49-F238E27FC236}">
                <a16:creationId xmlns:a16="http://schemas.microsoft.com/office/drawing/2014/main" id="{71667032-3DE5-D641-AF89-31661341B629}"/>
              </a:ext>
            </a:extLst>
          </p:cNvPr>
          <p:cNvGrpSpPr>
            <a:grpSpLocks/>
          </p:cNvGrpSpPr>
          <p:nvPr/>
        </p:nvGrpSpPr>
        <p:grpSpPr bwMode="auto">
          <a:xfrm>
            <a:off x="264331" y="1945327"/>
            <a:ext cx="2622947" cy="1072754"/>
            <a:chOff x="240" y="920"/>
            <a:chExt cx="2203" cy="901"/>
          </a:xfrm>
        </p:grpSpPr>
        <p:sp>
          <p:nvSpPr>
            <p:cNvPr id="198" name="Text Box 7">
              <a:extLst>
                <a:ext uri="{FF2B5EF4-FFF2-40B4-BE49-F238E27FC236}">
                  <a16:creationId xmlns:a16="http://schemas.microsoft.com/office/drawing/2014/main" id="{B992066A-2018-C94C-AFAF-EE19612D0A94}"/>
                </a:ext>
              </a:extLst>
            </p:cNvPr>
            <p:cNvSpPr txBox="1">
              <a:spLocks noChangeArrowheads="1"/>
            </p:cNvSpPr>
            <p:nvPr/>
          </p:nvSpPr>
          <p:spPr bwMode="auto">
            <a:xfrm>
              <a:off x="318" y="920"/>
              <a:ext cx="2125" cy="6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350" b="1" dirty="0">
                  <a:solidFill>
                    <a:srgbClr val="C00000"/>
                  </a:solidFill>
                  <a:latin typeface="Calibri" panose="020F0502020204030204"/>
                </a:rPr>
                <a:t>rdt_send():</a:t>
              </a:r>
              <a:r>
                <a:rPr lang="en-US" sz="1350" dirty="0">
                  <a:solidFill>
                    <a:srgbClr val="C00000"/>
                  </a:solidFill>
                  <a:latin typeface="Calibri" panose="020F0502020204030204"/>
                </a:rPr>
                <a:t> </a:t>
              </a:r>
              <a:r>
                <a:rPr lang="en-US" sz="1350" dirty="0">
                  <a:solidFill>
                    <a:prstClr val="black"/>
                  </a:solidFill>
                  <a:latin typeface="Calibri" panose="020F0502020204030204"/>
                </a:rPr>
                <a:t>called from above, (e.g., by app.). Passed data to deliver to receiver upper layer</a:t>
              </a:r>
              <a:endParaRPr lang="en-US" sz="1800" dirty="0">
                <a:solidFill>
                  <a:prstClr val="black"/>
                </a:solidFill>
                <a:latin typeface="Calibri" panose="020F0502020204030204"/>
              </a:endParaRPr>
            </a:p>
          </p:txBody>
        </p:sp>
        <p:grpSp>
          <p:nvGrpSpPr>
            <p:cNvPr id="199" name="Group 8">
              <a:extLst>
                <a:ext uri="{FF2B5EF4-FFF2-40B4-BE49-F238E27FC236}">
                  <a16:creationId xmlns:a16="http://schemas.microsoft.com/office/drawing/2014/main" id="{9A43EE55-B459-A442-AF20-820C98C69C07}"/>
                </a:ext>
              </a:extLst>
            </p:cNvPr>
            <p:cNvGrpSpPr>
              <a:grpSpLocks/>
            </p:cNvGrpSpPr>
            <p:nvPr/>
          </p:nvGrpSpPr>
          <p:grpSpPr bwMode="auto">
            <a:xfrm>
              <a:off x="240" y="921"/>
              <a:ext cx="2020" cy="900"/>
              <a:chOff x="240" y="933"/>
              <a:chExt cx="2020" cy="900"/>
            </a:xfrm>
          </p:grpSpPr>
          <p:sp>
            <p:nvSpPr>
              <p:cNvPr id="200" name="Line 9">
                <a:extLst>
                  <a:ext uri="{FF2B5EF4-FFF2-40B4-BE49-F238E27FC236}">
                    <a16:creationId xmlns:a16="http://schemas.microsoft.com/office/drawing/2014/main" id="{D59558C8-6B42-C945-B92F-70A2CBF157D5}"/>
                  </a:ext>
                </a:extLst>
              </p:cNvPr>
              <p:cNvSpPr>
                <a:spLocks noChangeShapeType="1"/>
              </p:cNvSpPr>
              <p:nvPr/>
            </p:nvSpPr>
            <p:spPr bwMode="auto">
              <a:xfrm>
                <a:off x="1787" y="1509"/>
                <a:ext cx="174" cy="324"/>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201" name="Rectangle 10">
                <a:extLst>
                  <a:ext uri="{FF2B5EF4-FFF2-40B4-BE49-F238E27FC236}">
                    <a16:creationId xmlns:a16="http://schemas.microsoft.com/office/drawing/2014/main" id="{686FEA1A-00FC-FD44-B59F-41229CD93A2C}"/>
                  </a:ext>
                </a:extLst>
              </p:cNvPr>
              <p:cNvSpPr>
                <a:spLocks noChangeArrowheads="1"/>
              </p:cNvSpPr>
              <p:nvPr/>
            </p:nvSpPr>
            <p:spPr bwMode="auto">
              <a:xfrm>
                <a:off x="240" y="933"/>
                <a:ext cx="2020"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grpSp>
      </p:grpSp>
      <p:grpSp>
        <p:nvGrpSpPr>
          <p:cNvPr id="202" name="Group 11">
            <a:extLst>
              <a:ext uri="{FF2B5EF4-FFF2-40B4-BE49-F238E27FC236}">
                <a16:creationId xmlns:a16="http://schemas.microsoft.com/office/drawing/2014/main" id="{D5975D2B-C7D8-5443-B05C-D424C6687958}"/>
              </a:ext>
            </a:extLst>
          </p:cNvPr>
          <p:cNvGrpSpPr>
            <a:grpSpLocks/>
          </p:cNvGrpSpPr>
          <p:nvPr/>
        </p:nvGrpSpPr>
        <p:grpSpPr bwMode="auto">
          <a:xfrm>
            <a:off x="499214" y="4680693"/>
            <a:ext cx="2388394" cy="1073944"/>
            <a:chOff x="218" y="3055"/>
            <a:chExt cx="2006" cy="902"/>
          </a:xfrm>
        </p:grpSpPr>
        <p:sp>
          <p:nvSpPr>
            <p:cNvPr id="203" name="Text Box 12">
              <a:extLst>
                <a:ext uri="{FF2B5EF4-FFF2-40B4-BE49-F238E27FC236}">
                  <a16:creationId xmlns:a16="http://schemas.microsoft.com/office/drawing/2014/main" id="{3112DCC3-CE7F-0946-98BD-677D47E5D9EC}"/>
                </a:ext>
              </a:extLst>
            </p:cNvPr>
            <p:cNvSpPr txBox="1">
              <a:spLocks noChangeArrowheads="1"/>
            </p:cNvSpPr>
            <p:nvPr/>
          </p:nvSpPr>
          <p:spPr bwMode="auto">
            <a:xfrm>
              <a:off x="233" y="3356"/>
              <a:ext cx="1991" cy="6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350" b="1" dirty="0">
                  <a:solidFill>
                    <a:srgbClr val="C00000"/>
                  </a:solidFill>
                  <a:latin typeface="Calibri" panose="020F0502020204030204"/>
                </a:rPr>
                <a:t>udt_send():</a:t>
              </a:r>
              <a:r>
                <a:rPr lang="en-US" sz="1350" dirty="0">
                  <a:solidFill>
                    <a:srgbClr val="C00000"/>
                  </a:solidFill>
                  <a:latin typeface="Calibri" panose="020F0502020204030204"/>
                </a:rPr>
                <a:t> </a:t>
              </a:r>
              <a:r>
                <a:rPr lang="en-US" sz="1350" dirty="0">
                  <a:solidFill>
                    <a:prstClr val="black"/>
                  </a:solidFill>
                  <a:latin typeface="Calibri" panose="020F0502020204030204"/>
                </a:rPr>
                <a:t>called by </a:t>
              </a:r>
              <a:r>
                <a:rPr lang="en-US" sz="1350" dirty="0">
                  <a:solidFill>
                    <a:prstClr val="black"/>
                  </a:solidFill>
                  <a:latin typeface="Courier" pitchFamily="2" charset="0"/>
                </a:rPr>
                <a:t>rdt</a:t>
              </a:r>
            </a:p>
            <a:p>
              <a:pPr defTabSz="685800">
                <a:defRPr/>
              </a:pPr>
              <a:r>
                <a:rPr lang="en-US" sz="1350" dirty="0">
                  <a:solidFill>
                    <a:prstClr val="black"/>
                  </a:solidFill>
                  <a:latin typeface="Calibri" panose="020F0502020204030204"/>
                </a:rPr>
                <a:t>to transfer packet over </a:t>
              </a:r>
            </a:p>
            <a:p>
              <a:pPr defTabSz="685800">
                <a:defRPr/>
              </a:pPr>
              <a:r>
                <a:rPr lang="en-US" sz="1350" dirty="0">
                  <a:solidFill>
                    <a:prstClr val="black"/>
                  </a:solidFill>
                  <a:latin typeface="Calibri" panose="020F0502020204030204"/>
                </a:rPr>
                <a:t>unreliable channel to receiver</a:t>
              </a:r>
              <a:endParaRPr lang="en-US" sz="1800" dirty="0">
                <a:solidFill>
                  <a:prstClr val="black"/>
                </a:solidFill>
                <a:latin typeface="Calibri" panose="020F0502020204030204"/>
              </a:endParaRPr>
            </a:p>
          </p:txBody>
        </p:sp>
        <p:grpSp>
          <p:nvGrpSpPr>
            <p:cNvPr id="204" name="Group 13">
              <a:extLst>
                <a:ext uri="{FF2B5EF4-FFF2-40B4-BE49-F238E27FC236}">
                  <a16:creationId xmlns:a16="http://schemas.microsoft.com/office/drawing/2014/main" id="{B6C30B44-1E4C-5642-B786-3E6EA26B0E37}"/>
                </a:ext>
              </a:extLst>
            </p:cNvPr>
            <p:cNvGrpSpPr>
              <a:grpSpLocks/>
            </p:cNvGrpSpPr>
            <p:nvPr/>
          </p:nvGrpSpPr>
          <p:grpSpPr bwMode="auto">
            <a:xfrm>
              <a:off x="218" y="3055"/>
              <a:ext cx="1937" cy="867"/>
              <a:chOff x="218" y="3055"/>
              <a:chExt cx="1937" cy="867"/>
            </a:xfrm>
          </p:grpSpPr>
          <p:sp>
            <p:nvSpPr>
              <p:cNvPr id="205" name="Line 14">
                <a:extLst>
                  <a:ext uri="{FF2B5EF4-FFF2-40B4-BE49-F238E27FC236}">
                    <a16:creationId xmlns:a16="http://schemas.microsoft.com/office/drawing/2014/main" id="{E0160BA3-7E99-FF4F-B251-3A57C4067339}"/>
                  </a:ext>
                </a:extLst>
              </p:cNvPr>
              <p:cNvSpPr>
                <a:spLocks noChangeShapeType="1"/>
              </p:cNvSpPr>
              <p:nvPr/>
            </p:nvSpPr>
            <p:spPr bwMode="auto">
              <a:xfrm flipV="1">
                <a:off x="1433" y="3055"/>
                <a:ext cx="359" cy="303"/>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206" name="Rectangle 15">
                <a:extLst>
                  <a:ext uri="{FF2B5EF4-FFF2-40B4-BE49-F238E27FC236}">
                    <a16:creationId xmlns:a16="http://schemas.microsoft.com/office/drawing/2014/main" id="{9DF0B33E-9F7D-6D42-BB3E-B10B8F37A046}"/>
                  </a:ext>
                </a:extLst>
              </p:cNvPr>
              <p:cNvSpPr>
                <a:spLocks noChangeArrowheads="1"/>
              </p:cNvSpPr>
              <p:nvPr/>
            </p:nvSpPr>
            <p:spPr bwMode="auto">
              <a:xfrm>
                <a:off x="218" y="3364"/>
                <a:ext cx="1937" cy="558"/>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grpSp>
      </p:grpSp>
      <p:grpSp>
        <p:nvGrpSpPr>
          <p:cNvPr id="207" name="Group 16">
            <a:extLst>
              <a:ext uri="{FF2B5EF4-FFF2-40B4-BE49-F238E27FC236}">
                <a16:creationId xmlns:a16="http://schemas.microsoft.com/office/drawing/2014/main" id="{17BBEB73-4D20-4E49-B116-621BC3CAA3C6}"/>
              </a:ext>
            </a:extLst>
          </p:cNvPr>
          <p:cNvGrpSpPr>
            <a:grpSpLocks/>
          </p:cNvGrpSpPr>
          <p:nvPr/>
        </p:nvGrpSpPr>
        <p:grpSpPr bwMode="auto">
          <a:xfrm>
            <a:off x="6334805" y="4639017"/>
            <a:ext cx="2341960" cy="1163241"/>
            <a:chOff x="3071" y="2986"/>
            <a:chExt cx="1967" cy="977"/>
          </a:xfrm>
        </p:grpSpPr>
        <p:sp>
          <p:nvSpPr>
            <p:cNvPr id="208" name="Text Box 17">
              <a:extLst>
                <a:ext uri="{FF2B5EF4-FFF2-40B4-BE49-F238E27FC236}">
                  <a16:creationId xmlns:a16="http://schemas.microsoft.com/office/drawing/2014/main" id="{13F46785-7C2F-3743-9685-4279D33DE680}"/>
                </a:ext>
              </a:extLst>
            </p:cNvPr>
            <p:cNvSpPr txBox="1">
              <a:spLocks noChangeArrowheads="1"/>
            </p:cNvSpPr>
            <p:nvPr/>
          </p:nvSpPr>
          <p:spPr bwMode="auto">
            <a:xfrm>
              <a:off x="3101" y="3362"/>
              <a:ext cx="1937" cy="60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350" b="1" dirty="0">
                  <a:solidFill>
                    <a:srgbClr val="C00000"/>
                  </a:solidFill>
                  <a:latin typeface="Calibri" panose="020F0502020204030204"/>
                </a:rPr>
                <a:t>rdt_rcv():</a:t>
              </a:r>
              <a:r>
                <a:rPr lang="en-US" sz="1350" dirty="0">
                  <a:solidFill>
                    <a:srgbClr val="C00000"/>
                  </a:solidFill>
                  <a:latin typeface="Calibri" panose="020F0502020204030204"/>
                </a:rPr>
                <a:t> </a:t>
              </a:r>
              <a:r>
                <a:rPr lang="en-US" sz="1350" dirty="0">
                  <a:solidFill>
                    <a:prstClr val="black"/>
                  </a:solidFill>
                  <a:latin typeface="Calibri" panose="020F0502020204030204"/>
                </a:rPr>
                <a:t>called when packet arrives on receiver side of channel</a:t>
              </a:r>
              <a:endParaRPr lang="en-US" sz="1800" dirty="0">
                <a:solidFill>
                  <a:prstClr val="black"/>
                </a:solidFill>
                <a:latin typeface="Calibri" panose="020F0502020204030204"/>
              </a:endParaRPr>
            </a:p>
          </p:txBody>
        </p:sp>
        <p:grpSp>
          <p:nvGrpSpPr>
            <p:cNvPr id="209" name="Group 18">
              <a:extLst>
                <a:ext uri="{FF2B5EF4-FFF2-40B4-BE49-F238E27FC236}">
                  <a16:creationId xmlns:a16="http://schemas.microsoft.com/office/drawing/2014/main" id="{6F4A03FB-C196-4245-A236-BAE0357475F2}"/>
                </a:ext>
              </a:extLst>
            </p:cNvPr>
            <p:cNvGrpSpPr>
              <a:grpSpLocks/>
            </p:cNvGrpSpPr>
            <p:nvPr/>
          </p:nvGrpSpPr>
          <p:grpSpPr bwMode="auto">
            <a:xfrm>
              <a:off x="3071" y="2986"/>
              <a:ext cx="1937" cy="943"/>
              <a:chOff x="3071" y="2986"/>
              <a:chExt cx="1937" cy="943"/>
            </a:xfrm>
          </p:grpSpPr>
          <p:sp>
            <p:nvSpPr>
              <p:cNvPr id="210" name="Line 19">
                <a:extLst>
                  <a:ext uri="{FF2B5EF4-FFF2-40B4-BE49-F238E27FC236}">
                    <a16:creationId xmlns:a16="http://schemas.microsoft.com/office/drawing/2014/main" id="{DFAB6866-5B35-6E41-8F29-0263EC44C604}"/>
                  </a:ext>
                </a:extLst>
              </p:cNvPr>
              <p:cNvSpPr>
                <a:spLocks noChangeShapeType="1"/>
              </p:cNvSpPr>
              <p:nvPr/>
            </p:nvSpPr>
            <p:spPr bwMode="auto">
              <a:xfrm flipH="1" flipV="1">
                <a:off x="3312" y="2986"/>
                <a:ext cx="398" cy="371"/>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211" name="Rectangle 20">
                <a:extLst>
                  <a:ext uri="{FF2B5EF4-FFF2-40B4-BE49-F238E27FC236}">
                    <a16:creationId xmlns:a16="http://schemas.microsoft.com/office/drawing/2014/main" id="{144EF218-DC19-974D-9D41-3796E5959FAA}"/>
                  </a:ext>
                </a:extLst>
              </p:cNvPr>
              <p:cNvSpPr>
                <a:spLocks noChangeArrowheads="1"/>
              </p:cNvSpPr>
              <p:nvPr/>
            </p:nvSpPr>
            <p:spPr bwMode="auto">
              <a:xfrm>
                <a:off x="3071" y="3348"/>
                <a:ext cx="1937" cy="581"/>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grpSp>
      </p:grpSp>
      <p:grpSp>
        <p:nvGrpSpPr>
          <p:cNvPr id="212" name="Group 21">
            <a:extLst>
              <a:ext uri="{FF2B5EF4-FFF2-40B4-BE49-F238E27FC236}">
                <a16:creationId xmlns:a16="http://schemas.microsoft.com/office/drawing/2014/main" id="{42650407-45AA-3C47-B59D-AAD89CBCEE9E}"/>
              </a:ext>
            </a:extLst>
          </p:cNvPr>
          <p:cNvGrpSpPr>
            <a:grpSpLocks/>
          </p:cNvGrpSpPr>
          <p:nvPr/>
        </p:nvGrpSpPr>
        <p:grpSpPr bwMode="auto">
          <a:xfrm>
            <a:off x="6618601" y="2023665"/>
            <a:ext cx="2297907" cy="1178719"/>
            <a:chOff x="3138" y="936"/>
            <a:chExt cx="1930" cy="990"/>
          </a:xfrm>
        </p:grpSpPr>
        <p:sp>
          <p:nvSpPr>
            <p:cNvPr id="213" name="Text Box 22">
              <a:extLst>
                <a:ext uri="{FF2B5EF4-FFF2-40B4-BE49-F238E27FC236}">
                  <a16:creationId xmlns:a16="http://schemas.microsoft.com/office/drawing/2014/main" id="{A91EF9B4-2F2C-834D-A9F0-AF5FF0012C06}"/>
                </a:ext>
              </a:extLst>
            </p:cNvPr>
            <p:cNvSpPr txBox="1">
              <a:spLocks noChangeArrowheads="1"/>
            </p:cNvSpPr>
            <p:nvPr/>
          </p:nvSpPr>
          <p:spPr bwMode="auto">
            <a:xfrm>
              <a:off x="3168" y="936"/>
              <a:ext cx="1900" cy="42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350" b="1" dirty="0">
                  <a:solidFill>
                    <a:srgbClr val="C00000"/>
                  </a:solidFill>
                  <a:latin typeface="Calibri" panose="020F0502020204030204"/>
                </a:rPr>
                <a:t>deliver_data():</a:t>
              </a:r>
              <a:r>
                <a:rPr lang="en-US" sz="1350" dirty="0">
                  <a:solidFill>
                    <a:srgbClr val="C00000"/>
                  </a:solidFill>
                  <a:latin typeface="Calibri" panose="020F0502020204030204"/>
                </a:rPr>
                <a:t> </a:t>
              </a:r>
              <a:r>
                <a:rPr lang="en-US" sz="1350" dirty="0">
                  <a:solidFill>
                    <a:prstClr val="black"/>
                  </a:solidFill>
                  <a:latin typeface="Calibri" panose="020F0502020204030204"/>
                </a:rPr>
                <a:t>called by </a:t>
              </a:r>
              <a:r>
                <a:rPr lang="en-US" sz="1350" dirty="0">
                  <a:solidFill>
                    <a:prstClr val="black"/>
                  </a:solidFill>
                  <a:latin typeface="Courier" pitchFamily="2" charset="0"/>
                </a:rPr>
                <a:t>rdt </a:t>
              </a:r>
              <a:r>
                <a:rPr lang="en-US" sz="1350" dirty="0">
                  <a:solidFill>
                    <a:prstClr val="black"/>
                  </a:solidFill>
                  <a:latin typeface="Calibri" panose="020F0502020204030204"/>
                </a:rPr>
                <a:t>to deliver data to upper layer</a:t>
              </a:r>
            </a:p>
          </p:txBody>
        </p:sp>
        <p:grpSp>
          <p:nvGrpSpPr>
            <p:cNvPr id="214" name="Group 23">
              <a:extLst>
                <a:ext uri="{FF2B5EF4-FFF2-40B4-BE49-F238E27FC236}">
                  <a16:creationId xmlns:a16="http://schemas.microsoft.com/office/drawing/2014/main" id="{2D175EAB-99E5-D446-9FA5-DA6520AC99E3}"/>
                </a:ext>
              </a:extLst>
            </p:cNvPr>
            <p:cNvGrpSpPr>
              <a:grpSpLocks/>
            </p:cNvGrpSpPr>
            <p:nvPr/>
          </p:nvGrpSpPr>
          <p:grpSpPr bwMode="auto">
            <a:xfrm>
              <a:off x="3138" y="942"/>
              <a:ext cx="1899" cy="984"/>
              <a:chOff x="3138" y="942"/>
              <a:chExt cx="1899" cy="984"/>
            </a:xfrm>
          </p:grpSpPr>
          <p:sp>
            <p:nvSpPr>
              <p:cNvPr id="215" name="Line 24">
                <a:extLst>
                  <a:ext uri="{FF2B5EF4-FFF2-40B4-BE49-F238E27FC236}">
                    <a16:creationId xmlns:a16="http://schemas.microsoft.com/office/drawing/2014/main" id="{B4F4A625-25A9-7C49-A577-9E5369A60459}"/>
                  </a:ext>
                </a:extLst>
              </p:cNvPr>
              <p:cNvSpPr>
                <a:spLocks noChangeShapeType="1"/>
              </p:cNvSpPr>
              <p:nvPr/>
            </p:nvSpPr>
            <p:spPr bwMode="auto">
              <a:xfrm flipH="1">
                <a:off x="3328" y="1334"/>
                <a:ext cx="325" cy="592"/>
              </a:xfrm>
              <a:prstGeom prst="line">
                <a:avLst/>
              </a:prstGeom>
              <a:noFill/>
              <a:ln w="19050">
                <a:solidFill>
                  <a:srgbClr val="C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216" name="Rectangle 25">
                <a:extLst>
                  <a:ext uri="{FF2B5EF4-FFF2-40B4-BE49-F238E27FC236}">
                    <a16:creationId xmlns:a16="http://schemas.microsoft.com/office/drawing/2014/main" id="{EB9BAEEC-FC22-9041-B4A4-025004EA540A}"/>
                  </a:ext>
                </a:extLst>
              </p:cNvPr>
              <p:cNvSpPr>
                <a:spLocks noChangeArrowheads="1"/>
              </p:cNvSpPr>
              <p:nvPr/>
            </p:nvSpPr>
            <p:spPr bwMode="auto">
              <a:xfrm>
                <a:off x="3138" y="942"/>
                <a:ext cx="1899" cy="396"/>
              </a:xfrm>
              <a:prstGeom prst="rect">
                <a:avLst/>
              </a:prstGeom>
              <a:noFill/>
              <a:ln w="19050">
                <a:solidFill>
                  <a:srgbClr val="C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grpSp>
      </p:grpSp>
      <p:grpSp>
        <p:nvGrpSpPr>
          <p:cNvPr id="217" name="Group 216">
            <a:extLst>
              <a:ext uri="{FF2B5EF4-FFF2-40B4-BE49-F238E27FC236}">
                <a16:creationId xmlns:a16="http://schemas.microsoft.com/office/drawing/2014/main" id="{6F41A62F-3DD7-6346-9896-7AA8D52AFD01}"/>
              </a:ext>
            </a:extLst>
          </p:cNvPr>
          <p:cNvGrpSpPr/>
          <p:nvPr/>
        </p:nvGrpSpPr>
        <p:grpSpPr>
          <a:xfrm>
            <a:off x="3293168" y="4992566"/>
            <a:ext cx="2864374" cy="821356"/>
            <a:chOff x="2631911" y="5334147"/>
            <a:chExt cx="3819165" cy="1095142"/>
          </a:xfrm>
        </p:grpSpPr>
        <p:sp>
          <p:nvSpPr>
            <p:cNvPr id="218" name="TextBox 217">
              <a:extLst>
                <a:ext uri="{FF2B5EF4-FFF2-40B4-BE49-F238E27FC236}">
                  <a16:creationId xmlns:a16="http://schemas.microsoft.com/office/drawing/2014/main" id="{81FE2BAE-2017-AB42-AD7C-774573E3F768}"/>
                </a:ext>
              </a:extLst>
            </p:cNvPr>
            <p:cNvSpPr txBox="1"/>
            <p:nvPr/>
          </p:nvSpPr>
          <p:spPr>
            <a:xfrm>
              <a:off x="2631911" y="5807581"/>
              <a:ext cx="3819165" cy="621708"/>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Bi-directional communication over unreliable channel</a:t>
              </a:r>
            </a:p>
          </p:txBody>
        </p:sp>
        <p:cxnSp>
          <p:nvCxnSpPr>
            <p:cNvPr id="219" name="Straight Connector 218">
              <a:extLst>
                <a:ext uri="{FF2B5EF4-FFF2-40B4-BE49-F238E27FC236}">
                  <a16:creationId xmlns:a16="http://schemas.microsoft.com/office/drawing/2014/main" id="{69CFE212-FAA9-9642-8915-72A4331BBDCC}"/>
                </a:ext>
              </a:extLst>
            </p:cNvPr>
            <p:cNvCxnSpPr>
              <a:cxnSpLocks/>
            </p:cNvCxnSpPr>
            <p:nvPr/>
          </p:nvCxnSpPr>
          <p:spPr>
            <a:xfrm>
              <a:off x="2905750" y="5334147"/>
              <a:ext cx="1431271" cy="4734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648DDD5-23AA-D944-BD74-7186BAB3A91E}"/>
                </a:ext>
              </a:extLst>
            </p:cNvPr>
            <p:cNvCxnSpPr>
              <a:cxnSpLocks/>
            </p:cNvCxnSpPr>
            <p:nvPr/>
          </p:nvCxnSpPr>
          <p:spPr>
            <a:xfrm flipH="1">
              <a:off x="4339308" y="5338301"/>
              <a:ext cx="1358761" cy="4692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24DA57A5-E7F2-7A4B-9805-D1B62272D517}"/>
              </a:ext>
            </a:extLst>
          </p:cNvPr>
          <p:cNvGrpSpPr/>
          <p:nvPr/>
        </p:nvGrpSpPr>
        <p:grpSpPr>
          <a:xfrm>
            <a:off x="3131418" y="3396691"/>
            <a:ext cx="2864374" cy="321480"/>
            <a:chOff x="2418275" y="5714545"/>
            <a:chExt cx="3819165" cy="428640"/>
          </a:xfrm>
        </p:grpSpPr>
        <p:sp>
          <p:nvSpPr>
            <p:cNvPr id="222" name="TextBox 221">
              <a:extLst>
                <a:ext uri="{FF2B5EF4-FFF2-40B4-BE49-F238E27FC236}">
                  <a16:creationId xmlns:a16="http://schemas.microsoft.com/office/drawing/2014/main" id="{AA641F40-AD8C-4445-92AF-C75760D41DB5}"/>
                </a:ext>
              </a:extLst>
            </p:cNvPr>
            <p:cNvSpPr txBox="1"/>
            <p:nvPr/>
          </p:nvSpPr>
          <p:spPr>
            <a:xfrm>
              <a:off x="2418275" y="5770776"/>
              <a:ext cx="3819165" cy="372409"/>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data</a:t>
              </a:r>
            </a:p>
          </p:txBody>
        </p:sp>
        <p:cxnSp>
          <p:nvCxnSpPr>
            <p:cNvPr id="231" name="Straight Connector 230">
              <a:extLst>
                <a:ext uri="{FF2B5EF4-FFF2-40B4-BE49-F238E27FC236}">
                  <a16:creationId xmlns:a16="http://schemas.microsoft.com/office/drawing/2014/main" id="{5EC91614-D442-594E-977D-A7CD27559B86}"/>
                </a:ext>
              </a:extLst>
            </p:cNvPr>
            <p:cNvCxnSpPr>
              <a:cxnSpLocks/>
              <a:stCxn id="156" idx="2"/>
            </p:cNvCxnSpPr>
            <p:nvPr/>
          </p:nvCxnSpPr>
          <p:spPr>
            <a:xfrm>
              <a:off x="2894960" y="5742253"/>
              <a:ext cx="1442061" cy="653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F28C5F11-037B-3141-81EB-95B8DB592151}"/>
                </a:ext>
              </a:extLst>
            </p:cNvPr>
            <p:cNvCxnSpPr>
              <a:cxnSpLocks/>
              <a:stCxn id="150" idx="2"/>
            </p:cNvCxnSpPr>
            <p:nvPr/>
          </p:nvCxnSpPr>
          <p:spPr>
            <a:xfrm flipH="1">
              <a:off x="4339309" y="5714545"/>
              <a:ext cx="1263388" cy="9303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50AC3C84-7598-504F-A405-3ABFEB5F658C}"/>
              </a:ext>
            </a:extLst>
          </p:cNvPr>
          <p:cNvGrpSpPr/>
          <p:nvPr/>
        </p:nvGrpSpPr>
        <p:grpSpPr>
          <a:xfrm>
            <a:off x="3844238" y="3943371"/>
            <a:ext cx="1330941" cy="515885"/>
            <a:chOff x="5125651" y="4114827"/>
            <a:chExt cx="1774588" cy="687847"/>
          </a:xfrm>
        </p:grpSpPr>
        <p:sp>
          <p:nvSpPr>
            <p:cNvPr id="241" name="TextBox 240">
              <a:extLst>
                <a:ext uri="{FF2B5EF4-FFF2-40B4-BE49-F238E27FC236}">
                  <a16:creationId xmlns:a16="http://schemas.microsoft.com/office/drawing/2014/main" id="{EDB0CBDE-E11E-4D44-A1B1-F46AB6BB5EE3}"/>
                </a:ext>
              </a:extLst>
            </p:cNvPr>
            <p:cNvSpPr txBox="1"/>
            <p:nvPr/>
          </p:nvSpPr>
          <p:spPr>
            <a:xfrm>
              <a:off x="5532498" y="4114827"/>
              <a:ext cx="1135643" cy="372410"/>
            </a:xfrm>
            <a:prstGeom prst="rect">
              <a:avLst/>
            </a:prstGeom>
            <a:noFill/>
          </p:spPr>
          <p:txBody>
            <a:bodyPr wrap="square" rtlCol="0">
              <a:spAutoFit/>
            </a:bodyPr>
            <a:lstStyle/>
            <a:p>
              <a:pPr algn="ctr" defTabSz="685800">
                <a:lnSpc>
                  <a:spcPct val="90000"/>
                </a:lnSpc>
                <a:defRPr/>
              </a:pPr>
              <a:r>
                <a:rPr lang="en-US" sz="1350" dirty="0">
                  <a:solidFill>
                    <a:prstClr val="black"/>
                  </a:solidFill>
                  <a:latin typeface="Calibri" panose="020F0502020204030204"/>
                </a:rPr>
                <a:t>packet</a:t>
              </a:r>
            </a:p>
          </p:txBody>
        </p:sp>
        <p:grpSp>
          <p:nvGrpSpPr>
            <p:cNvPr id="27" name="Group 26">
              <a:extLst>
                <a:ext uri="{FF2B5EF4-FFF2-40B4-BE49-F238E27FC236}">
                  <a16:creationId xmlns:a16="http://schemas.microsoft.com/office/drawing/2014/main" id="{9D568B1D-51FF-AA46-90CF-7CFEE16AA233}"/>
                </a:ext>
              </a:extLst>
            </p:cNvPr>
            <p:cNvGrpSpPr/>
            <p:nvPr/>
          </p:nvGrpSpPr>
          <p:grpSpPr>
            <a:xfrm flipV="1">
              <a:off x="5125651" y="4373167"/>
              <a:ext cx="1774588" cy="429507"/>
              <a:chOff x="8970705" y="3780959"/>
              <a:chExt cx="2707737" cy="429507"/>
            </a:xfrm>
          </p:grpSpPr>
          <p:cxnSp>
            <p:nvCxnSpPr>
              <p:cNvPr id="242" name="Straight Connector 241">
                <a:extLst>
                  <a:ext uri="{FF2B5EF4-FFF2-40B4-BE49-F238E27FC236}">
                    <a16:creationId xmlns:a16="http://schemas.microsoft.com/office/drawing/2014/main" id="{E2B11327-3736-0944-A286-E629946AF6C2}"/>
                  </a:ext>
                </a:extLst>
              </p:cNvPr>
              <p:cNvCxnSpPr>
                <a:cxnSpLocks/>
              </p:cNvCxnSpPr>
              <p:nvPr/>
            </p:nvCxnSpPr>
            <p:spPr>
              <a:xfrm>
                <a:off x="8970705" y="3808669"/>
                <a:ext cx="1454761" cy="40179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A509D373-1A9D-6F41-B2A3-89CFB48DFD95}"/>
                  </a:ext>
                </a:extLst>
              </p:cNvPr>
              <p:cNvCxnSpPr>
                <a:cxnSpLocks/>
              </p:cNvCxnSpPr>
              <p:nvPr/>
            </p:nvCxnSpPr>
            <p:spPr>
              <a:xfrm flipH="1">
                <a:off x="10427754" y="3780959"/>
                <a:ext cx="1250688" cy="42950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159" name="Oval 158">
            <a:extLst>
              <a:ext uri="{FF2B5EF4-FFF2-40B4-BE49-F238E27FC236}">
                <a16:creationId xmlns:a16="http://schemas.microsoft.com/office/drawing/2014/main" id="{C022FBDC-CC2E-5E47-9678-89FEA29CD830}"/>
              </a:ext>
            </a:extLst>
          </p:cNvPr>
          <p:cNvSpPr/>
          <p:nvPr/>
        </p:nvSpPr>
        <p:spPr>
          <a:xfrm>
            <a:off x="2425483" y="3468714"/>
            <a:ext cx="1651217"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66" name="Oval 165">
            <a:extLst>
              <a:ext uri="{FF2B5EF4-FFF2-40B4-BE49-F238E27FC236}">
                <a16:creationId xmlns:a16="http://schemas.microsoft.com/office/drawing/2014/main" id="{FF958383-DD7C-5640-BB35-D8FF6965A3B4}"/>
              </a:ext>
            </a:extLst>
          </p:cNvPr>
          <p:cNvSpPr/>
          <p:nvPr/>
        </p:nvSpPr>
        <p:spPr>
          <a:xfrm>
            <a:off x="4930558" y="3478239"/>
            <a:ext cx="1651217" cy="929899"/>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Tree>
    <p:extLst>
      <p:ext uri="{BB962C8B-B14F-4D97-AF65-F5344CB8AC3E}">
        <p14:creationId xmlns:p14="http://schemas.microsoft.com/office/powerpoint/2010/main" val="87264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500" fill="hold"/>
                                        <p:tgtEl>
                                          <p:spTgt spid="197"/>
                                        </p:tgtEl>
                                        <p:attrNameLst>
                                          <p:attrName>ppt_x</p:attrName>
                                        </p:attrNameLst>
                                      </p:cBhvr>
                                      <p:tavLst>
                                        <p:tav tm="0">
                                          <p:val>
                                            <p:strVal val="0-#ppt_w/2"/>
                                          </p:val>
                                        </p:tav>
                                        <p:tav tm="100000">
                                          <p:val>
                                            <p:strVal val="#ppt_x"/>
                                          </p:val>
                                        </p:tav>
                                      </p:tavLst>
                                    </p:anim>
                                    <p:anim calcmode="lin" valueType="num">
                                      <p:cBhvr additive="base">
                                        <p:cTn id="8" dur="500" fill="hold"/>
                                        <p:tgtEl>
                                          <p:spTgt spid="1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02"/>
                                        </p:tgtEl>
                                        <p:attrNameLst>
                                          <p:attrName>style.visibility</p:attrName>
                                        </p:attrNameLst>
                                      </p:cBhvr>
                                      <p:to>
                                        <p:strVal val="visible"/>
                                      </p:to>
                                    </p:set>
                                    <p:anim calcmode="lin" valueType="num">
                                      <p:cBhvr additive="base">
                                        <p:cTn id="13" dur="500" fill="hold"/>
                                        <p:tgtEl>
                                          <p:spTgt spid="202"/>
                                        </p:tgtEl>
                                        <p:attrNameLst>
                                          <p:attrName>ppt_x</p:attrName>
                                        </p:attrNameLst>
                                      </p:cBhvr>
                                      <p:tavLst>
                                        <p:tav tm="0">
                                          <p:val>
                                            <p:strVal val="0-#ppt_w/2"/>
                                          </p:val>
                                        </p:tav>
                                        <p:tav tm="100000">
                                          <p:val>
                                            <p:strVal val="#ppt_x"/>
                                          </p:val>
                                        </p:tav>
                                      </p:tavLst>
                                    </p:anim>
                                    <p:anim calcmode="lin" valueType="num">
                                      <p:cBhvr additive="base">
                                        <p:cTn id="14" dur="500" fill="hold"/>
                                        <p:tgtEl>
                                          <p:spTgt spid="20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07"/>
                                        </p:tgtEl>
                                        <p:attrNameLst>
                                          <p:attrName>style.visibility</p:attrName>
                                        </p:attrNameLst>
                                      </p:cBhvr>
                                      <p:to>
                                        <p:strVal val="visible"/>
                                      </p:to>
                                    </p:set>
                                    <p:anim calcmode="lin" valueType="num">
                                      <p:cBhvr additive="base">
                                        <p:cTn id="19" dur="500" fill="hold"/>
                                        <p:tgtEl>
                                          <p:spTgt spid="207"/>
                                        </p:tgtEl>
                                        <p:attrNameLst>
                                          <p:attrName>ppt_x</p:attrName>
                                        </p:attrNameLst>
                                      </p:cBhvr>
                                      <p:tavLst>
                                        <p:tav tm="0">
                                          <p:val>
                                            <p:strVal val="1+#ppt_w/2"/>
                                          </p:val>
                                        </p:tav>
                                        <p:tav tm="100000">
                                          <p:val>
                                            <p:strVal val="#ppt_x"/>
                                          </p:val>
                                        </p:tav>
                                      </p:tavLst>
                                    </p:anim>
                                    <p:anim calcmode="lin" valueType="num">
                                      <p:cBhvr additive="base">
                                        <p:cTn id="20" dur="500" fill="hold"/>
                                        <p:tgtEl>
                                          <p:spTgt spid="20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212"/>
                                        </p:tgtEl>
                                        <p:attrNameLst>
                                          <p:attrName>style.visibility</p:attrName>
                                        </p:attrNameLst>
                                      </p:cBhvr>
                                      <p:to>
                                        <p:strVal val="visible"/>
                                      </p:to>
                                    </p:set>
                                    <p:anim calcmode="lin" valueType="num">
                                      <p:cBhvr additive="base">
                                        <p:cTn id="25" dur="500" fill="hold"/>
                                        <p:tgtEl>
                                          <p:spTgt spid="212"/>
                                        </p:tgtEl>
                                        <p:attrNameLst>
                                          <p:attrName>ppt_x</p:attrName>
                                        </p:attrNameLst>
                                      </p:cBhvr>
                                      <p:tavLst>
                                        <p:tav tm="0">
                                          <p:val>
                                            <p:strVal val="1+#ppt_w/2"/>
                                          </p:val>
                                        </p:tav>
                                        <p:tav tm="100000">
                                          <p:val>
                                            <p:strVal val="#ppt_x"/>
                                          </p:val>
                                        </p:tav>
                                      </p:tavLst>
                                    </p:anim>
                                    <p:anim calcmode="lin" valueType="num">
                                      <p:cBhvr additive="base">
                                        <p:cTn id="26" dur="500" fill="hold"/>
                                        <p:tgtEl>
                                          <p:spTgt spid="2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17"/>
                                        </p:tgtEl>
                                        <p:attrNameLst>
                                          <p:attrName>style.visibility</p:attrName>
                                        </p:attrNameLst>
                                      </p:cBhvr>
                                      <p:to>
                                        <p:strVal val="visible"/>
                                      </p:to>
                                    </p:set>
                                    <p:animEffect transition="in" filter="dissolve">
                                      <p:cBhvr>
                                        <p:cTn id="31" dur="500"/>
                                        <p:tgtEl>
                                          <p:spTgt spid="217"/>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221"/>
                                        </p:tgtEl>
                                        <p:attrNameLst>
                                          <p:attrName>style.visibility</p:attrName>
                                        </p:attrNameLst>
                                      </p:cBhvr>
                                      <p:to>
                                        <p:strVal val="visible"/>
                                      </p:to>
                                    </p:set>
                                    <p:animEffect transition="in" filter="dissolve">
                                      <p:cBhvr>
                                        <p:cTn id="36" dur="500"/>
                                        <p:tgtEl>
                                          <p:spTgt spid="221"/>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dissolve">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RDT: getting started</a:t>
            </a:r>
          </a:p>
        </p:txBody>
      </p:sp>
      <p:sp>
        <p:nvSpPr>
          <p:cNvPr id="22" name="Slide Number Placeholder 2">
            <a:extLst>
              <a:ext uri="{FF2B5EF4-FFF2-40B4-BE49-F238E27FC236}">
                <a16:creationId xmlns:a16="http://schemas.microsoft.com/office/drawing/2014/main" id="{659D8DFE-4F7C-F240-94AE-B357C5060578}"/>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8</a:t>
            </a:fld>
            <a:endParaRPr lang="en-US" dirty="0">
              <a:solidFill>
                <a:prstClr val="white">
                  <a:lumMod val="50000"/>
                </a:prstClr>
              </a:solidFill>
              <a:latin typeface="Calibri" panose="020F0502020204030204"/>
            </a:endParaRPr>
          </a:p>
        </p:txBody>
      </p:sp>
      <p:sp>
        <p:nvSpPr>
          <p:cNvPr id="193" name="Rectangle 3">
            <a:extLst>
              <a:ext uri="{FF2B5EF4-FFF2-40B4-BE49-F238E27FC236}">
                <a16:creationId xmlns:a16="http://schemas.microsoft.com/office/drawing/2014/main" id="{5D93718A-0690-8C4E-A748-FD7FA291E0B5}"/>
              </a:ext>
            </a:extLst>
          </p:cNvPr>
          <p:cNvSpPr txBox="1">
            <a:spLocks noChangeArrowheads="1"/>
          </p:cNvSpPr>
          <p:nvPr/>
        </p:nvSpPr>
        <p:spPr bwMode="auto">
          <a:xfrm>
            <a:off x="679680" y="1764506"/>
            <a:ext cx="8292433" cy="2514600"/>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buNone/>
              <a:defRPr/>
            </a:pPr>
            <a:r>
              <a:rPr lang="en-US" altLang="ja-JP" sz="2400" kern="0" dirty="0">
                <a:solidFill>
                  <a:srgbClr val="C00000"/>
                </a:solidFill>
                <a:latin typeface="Calibri" panose="020F0502020204030204"/>
                <a:ea typeface="ＭＳ Ｐゴシック" panose="020B0600070205080204" pitchFamily="34" charset="-128"/>
              </a:rPr>
              <a:t>We will:</a:t>
            </a:r>
          </a:p>
          <a:p>
            <a:pPr marL="213122" indent="-213122" defTabSz="685800">
              <a:defRPr/>
            </a:pPr>
            <a:r>
              <a:rPr lang="en-US" altLang="en-US" sz="2100" kern="0" dirty="0">
                <a:solidFill>
                  <a:prstClr val="black"/>
                </a:solidFill>
                <a:latin typeface="Calibri" panose="020F0502020204030204"/>
                <a:ea typeface="ＭＳ Ｐゴシック" panose="020B0600070205080204" pitchFamily="34" charset="-128"/>
              </a:rPr>
              <a:t>incrementally develop sender, receiver sides of </a:t>
            </a:r>
            <a:r>
              <a:rPr lang="en-US" altLang="en-US" sz="2100" u="sng" kern="0" dirty="0">
                <a:solidFill>
                  <a:srgbClr val="CC0000"/>
                </a:solidFill>
                <a:latin typeface="Calibri" panose="020F0502020204030204"/>
                <a:ea typeface="ＭＳ Ｐゴシック" panose="020B0600070205080204" pitchFamily="34" charset="-128"/>
              </a:rPr>
              <a:t>r</a:t>
            </a:r>
            <a:r>
              <a:rPr lang="en-US" altLang="en-US" sz="2100" kern="0" dirty="0">
                <a:solidFill>
                  <a:prstClr val="black"/>
                </a:solidFill>
                <a:latin typeface="Calibri" panose="020F0502020204030204"/>
                <a:ea typeface="ＭＳ Ｐゴシック" panose="020B0600070205080204" pitchFamily="34" charset="-128"/>
              </a:rPr>
              <a:t>eliable </a:t>
            </a:r>
            <a:r>
              <a:rPr lang="en-US" altLang="en-US" sz="2100" u="sng" kern="0" dirty="0">
                <a:solidFill>
                  <a:srgbClr val="CC0000"/>
                </a:solidFill>
                <a:latin typeface="Calibri" panose="020F0502020204030204"/>
                <a:ea typeface="ＭＳ Ｐゴシック" panose="020B0600070205080204" pitchFamily="34" charset="-128"/>
              </a:rPr>
              <a:t>d</a:t>
            </a:r>
            <a:r>
              <a:rPr lang="en-US" altLang="en-US" sz="2100" kern="0" dirty="0">
                <a:solidFill>
                  <a:prstClr val="black"/>
                </a:solidFill>
                <a:latin typeface="Calibri" panose="020F0502020204030204"/>
                <a:ea typeface="ＭＳ Ｐゴシック" panose="020B0600070205080204" pitchFamily="34" charset="-128"/>
              </a:rPr>
              <a:t>ata </a:t>
            </a:r>
            <a:r>
              <a:rPr lang="en-US" altLang="en-US" sz="2100" u="sng" kern="0" dirty="0">
                <a:solidFill>
                  <a:srgbClr val="CC0000"/>
                </a:solidFill>
                <a:latin typeface="Calibri" panose="020F0502020204030204"/>
                <a:ea typeface="ＭＳ Ｐゴシック" panose="020B0600070205080204" pitchFamily="34" charset="-128"/>
              </a:rPr>
              <a:t>t</a:t>
            </a:r>
            <a:r>
              <a:rPr lang="en-US" altLang="en-US" sz="2100" kern="0" dirty="0">
                <a:solidFill>
                  <a:prstClr val="black"/>
                </a:solidFill>
                <a:latin typeface="Calibri" panose="020F0502020204030204"/>
                <a:ea typeface="ＭＳ Ｐゴシック" panose="020B0600070205080204" pitchFamily="34" charset="-128"/>
              </a:rPr>
              <a:t>ransfer protocol (</a:t>
            </a:r>
            <a:r>
              <a:rPr lang="en-US" altLang="en-US" sz="2100" kern="0" dirty="0">
                <a:solidFill>
                  <a:prstClr val="black"/>
                </a:solidFill>
                <a:latin typeface="Courier" pitchFamily="2" charset="0"/>
                <a:ea typeface="ＭＳ Ｐゴシック" panose="020B0600070205080204" pitchFamily="34" charset="-128"/>
              </a:rPr>
              <a:t>rdt</a:t>
            </a:r>
            <a:r>
              <a:rPr lang="en-US" altLang="en-US" sz="2100" kern="0" dirty="0">
                <a:solidFill>
                  <a:prstClr val="black"/>
                </a:solidFill>
                <a:latin typeface="Calibri" panose="020F0502020204030204"/>
                <a:ea typeface="ＭＳ Ｐゴシック" panose="020B0600070205080204" pitchFamily="34" charset="-128"/>
              </a:rPr>
              <a:t>)</a:t>
            </a:r>
          </a:p>
          <a:p>
            <a:pPr marL="213122" indent="-213122" defTabSz="685800">
              <a:defRPr/>
            </a:pPr>
            <a:r>
              <a:rPr lang="en-US" altLang="en-US" sz="2100" kern="0" dirty="0">
                <a:solidFill>
                  <a:prstClr val="black"/>
                </a:solidFill>
                <a:latin typeface="Calibri" panose="020F0502020204030204"/>
                <a:ea typeface="ＭＳ Ｐゴシック" panose="020B0600070205080204" pitchFamily="34" charset="-128"/>
              </a:rPr>
              <a:t>consider only unidirectional data transfer</a:t>
            </a:r>
          </a:p>
          <a:p>
            <a:pPr marL="515541" lvl="1" indent="-172641" defTabSz="685800">
              <a:defRPr/>
            </a:pPr>
            <a:r>
              <a:rPr lang="en-US" altLang="en-US" sz="1800" kern="0" dirty="0">
                <a:solidFill>
                  <a:prstClr val="black"/>
                </a:solidFill>
                <a:latin typeface="Calibri" panose="020F0502020204030204"/>
                <a:ea typeface="ＭＳ Ｐゴシック" panose="020B0600070205080204" pitchFamily="34" charset="-128"/>
              </a:rPr>
              <a:t>but control info will flow in both directions!</a:t>
            </a:r>
          </a:p>
        </p:txBody>
      </p:sp>
      <p:sp>
        <p:nvSpPr>
          <p:cNvPr id="194" name="Oval 5">
            <a:extLst>
              <a:ext uri="{FF2B5EF4-FFF2-40B4-BE49-F238E27FC236}">
                <a16:creationId xmlns:a16="http://schemas.microsoft.com/office/drawing/2014/main" id="{239622CA-E70A-CC42-B345-49DC0319BAA9}"/>
              </a:ext>
            </a:extLst>
          </p:cNvPr>
          <p:cNvSpPr>
            <a:spLocks noChangeArrowheads="1"/>
          </p:cNvSpPr>
          <p:nvPr/>
        </p:nvSpPr>
        <p:spPr bwMode="auto">
          <a:xfrm>
            <a:off x="3013204" y="4512671"/>
            <a:ext cx="664369" cy="657225"/>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95" name="Oval 6">
            <a:extLst>
              <a:ext uri="{FF2B5EF4-FFF2-40B4-BE49-F238E27FC236}">
                <a16:creationId xmlns:a16="http://schemas.microsoft.com/office/drawing/2014/main" id="{3070A472-417C-B64C-8596-E60CAE3FAF1E}"/>
              </a:ext>
            </a:extLst>
          </p:cNvPr>
          <p:cNvSpPr>
            <a:spLocks noChangeArrowheads="1"/>
          </p:cNvSpPr>
          <p:nvPr/>
        </p:nvSpPr>
        <p:spPr bwMode="auto">
          <a:xfrm>
            <a:off x="2945338" y="4531721"/>
            <a:ext cx="707231" cy="65722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96" name="Text Box 7">
            <a:extLst>
              <a:ext uri="{FF2B5EF4-FFF2-40B4-BE49-F238E27FC236}">
                <a16:creationId xmlns:a16="http://schemas.microsoft.com/office/drawing/2014/main" id="{08B8C369-B54C-DA42-A239-7C5638495649}"/>
              </a:ext>
            </a:extLst>
          </p:cNvPr>
          <p:cNvSpPr txBox="1">
            <a:spLocks noChangeArrowheads="1"/>
          </p:cNvSpPr>
          <p:nvPr/>
        </p:nvSpPr>
        <p:spPr bwMode="auto">
          <a:xfrm>
            <a:off x="3028682" y="4617445"/>
            <a:ext cx="635121" cy="55399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rPr>
              <a:t>state</a:t>
            </a:r>
          </a:p>
          <a:p>
            <a:pPr algn="ctr" defTabSz="685800" eaLnBrk="0" fontAlgn="base" hangingPunct="0">
              <a:spcBef>
                <a:spcPct val="0"/>
              </a:spcBef>
              <a:spcAft>
                <a:spcPct val="0"/>
              </a:spcAft>
              <a:defRPr/>
            </a:pPr>
            <a:r>
              <a:rPr lang="en-US" sz="1500" kern="0" dirty="0">
                <a:solidFill>
                  <a:srgbClr val="000000"/>
                </a:solidFill>
              </a:rPr>
              <a:t>1</a:t>
            </a:r>
          </a:p>
        </p:txBody>
      </p:sp>
      <p:sp>
        <p:nvSpPr>
          <p:cNvPr id="234" name="Freeform 8">
            <a:extLst>
              <a:ext uri="{FF2B5EF4-FFF2-40B4-BE49-F238E27FC236}">
                <a16:creationId xmlns:a16="http://schemas.microsoft.com/office/drawing/2014/main" id="{3475345F-C536-0A44-888E-B17681F112D6}"/>
              </a:ext>
            </a:extLst>
          </p:cNvPr>
          <p:cNvSpPr>
            <a:spLocks/>
          </p:cNvSpPr>
          <p:nvPr/>
        </p:nvSpPr>
        <p:spPr bwMode="auto">
          <a:xfrm>
            <a:off x="3652570" y="4496002"/>
            <a:ext cx="2964656" cy="214313"/>
          </a:xfrm>
          <a:custGeom>
            <a:avLst/>
            <a:gdLst>
              <a:gd name="T0" fmla="*/ 0 w 1446"/>
              <a:gd name="T1" fmla="*/ 2147483647 h 180"/>
              <a:gd name="T2" fmla="*/ 2147483647 w 1446"/>
              <a:gd name="T3" fmla="*/ 2147483647 h 180"/>
              <a:gd name="T4" fmla="*/ 0 60000 65536"/>
              <a:gd name="T5" fmla="*/ 0 60000 65536"/>
            </a:gdLst>
            <a:ahLst/>
            <a:cxnLst>
              <a:cxn ang="T4">
                <a:pos x="T0" y="T1"/>
              </a:cxn>
              <a:cxn ang="T5">
                <a:pos x="T2" y="T3"/>
              </a:cxn>
            </a:cxnLst>
            <a:rect l="0" t="0" r="r" b="b"/>
            <a:pathLst>
              <a:path w="1446" h="180">
                <a:moveTo>
                  <a:pt x="0" y="180"/>
                </a:moveTo>
                <a:cubicBezTo>
                  <a:pt x="540" y="30"/>
                  <a:pt x="972" y="0"/>
                  <a:pt x="1446" y="168"/>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235" name="Oval 10">
            <a:extLst>
              <a:ext uri="{FF2B5EF4-FFF2-40B4-BE49-F238E27FC236}">
                <a16:creationId xmlns:a16="http://schemas.microsoft.com/office/drawing/2014/main" id="{746ECFE2-5CD0-C04F-8B87-C645E1556A9F}"/>
              </a:ext>
            </a:extLst>
          </p:cNvPr>
          <p:cNvSpPr>
            <a:spLocks noChangeArrowheads="1"/>
          </p:cNvSpPr>
          <p:nvPr/>
        </p:nvSpPr>
        <p:spPr bwMode="auto">
          <a:xfrm>
            <a:off x="6601748" y="4590476"/>
            <a:ext cx="654843" cy="657225"/>
          </a:xfrm>
          <a:prstGeom prst="ellipse">
            <a:avLst/>
          </a:prstGeom>
          <a:solidFill>
            <a:srgbClr val="000099"/>
          </a:solidFill>
          <a:ln>
            <a:noFill/>
          </a:ln>
          <a:effectLst/>
          <a:extLst>
            <a:ext uri="{91240B29-F687-4f45-9708-019B960494DF}">
              <a14:hiddenLine xmlns:a14="http://schemas.microsoft.com/office/drawing/2010/main" xmlns="" w="19050">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38" name="Oval 11">
            <a:extLst>
              <a:ext uri="{FF2B5EF4-FFF2-40B4-BE49-F238E27FC236}">
                <a16:creationId xmlns:a16="http://schemas.microsoft.com/office/drawing/2014/main" id="{64FCB6C7-C6F9-8C46-BF1F-E9242E6C942E}"/>
              </a:ext>
            </a:extLst>
          </p:cNvPr>
          <p:cNvSpPr>
            <a:spLocks noChangeArrowheads="1"/>
          </p:cNvSpPr>
          <p:nvPr/>
        </p:nvSpPr>
        <p:spPr bwMode="auto">
          <a:xfrm>
            <a:off x="6552932" y="4610302"/>
            <a:ext cx="664369" cy="657225"/>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39" name="Text Box 12">
            <a:extLst>
              <a:ext uri="{FF2B5EF4-FFF2-40B4-BE49-F238E27FC236}">
                <a16:creationId xmlns:a16="http://schemas.microsoft.com/office/drawing/2014/main" id="{57C97D62-0B61-3848-BBA8-5FCC09BFDC01}"/>
              </a:ext>
            </a:extLst>
          </p:cNvPr>
          <p:cNvSpPr txBox="1">
            <a:spLocks noChangeArrowheads="1"/>
          </p:cNvSpPr>
          <p:nvPr/>
        </p:nvSpPr>
        <p:spPr bwMode="auto">
          <a:xfrm>
            <a:off x="6576419" y="4691264"/>
            <a:ext cx="692944" cy="55399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00"/>
                </a:solidFill>
              </a:rPr>
              <a:t>state</a:t>
            </a:r>
          </a:p>
          <a:p>
            <a:pPr algn="ctr" defTabSz="685800" eaLnBrk="0" fontAlgn="base" hangingPunct="0">
              <a:spcBef>
                <a:spcPct val="0"/>
              </a:spcBef>
              <a:spcAft>
                <a:spcPct val="0"/>
              </a:spcAft>
              <a:defRPr/>
            </a:pPr>
            <a:r>
              <a:rPr lang="en-US" sz="1500" kern="0" dirty="0">
                <a:solidFill>
                  <a:srgbClr val="000000"/>
                </a:solidFill>
              </a:rPr>
              <a:t>2</a:t>
            </a:r>
          </a:p>
        </p:txBody>
      </p:sp>
      <p:sp>
        <p:nvSpPr>
          <p:cNvPr id="246" name="Text Box 13">
            <a:extLst>
              <a:ext uri="{FF2B5EF4-FFF2-40B4-BE49-F238E27FC236}">
                <a16:creationId xmlns:a16="http://schemas.microsoft.com/office/drawing/2014/main" id="{807A58CF-7E9F-DF4E-9818-2CBC4ED16CA2}"/>
              </a:ext>
            </a:extLst>
          </p:cNvPr>
          <p:cNvSpPr txBox="1">
            <a:spLocks noChangeArrowheads="1"/>
          </p:cNvSpPr>
          <p:nvPr/>
        </p:nvSpPr>
        <p:spPr bwMode="auto">
          <a:xfrm>
            <a:off x="3789058" y="4019752"/>
            <a:ext cx="2436886"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CC0000"/>
                </a:solidFill>
              </a:rPr>
              <a:t>event causing state transition</a:t>
            </a:r>
            <a:endParaRPr lang="en-US" sz="1800" kern="0" dirty="0">
              <a:solidFill>
                <a:srgbClr val="CC0000"/>
              </a:solidFill>
            </a:endParaRPr>
          </a:p>
        </p:txBody>
      </p:sp>
      <p:sp>
        <p:nvSpPr>
          <p:cNvPr id="248" name="Text Box 14">
            <a:extLst>
              <a:ext uri="{FF2B5EF4-FFF2-40B4-BE49-F238E27FC236}">
                <a16:creationId xmlns:a16="http://schemas.microsoft.com/office/drawing/2014/main" id="{6FE48C09-1C7F-8C4D-B56E-B697D8EF6AD8}"/>
              </a:ext>
            </a:extLst>
          </p:cNvPr>
          <p:cNvSpPr txBox="1">
            <a:spLocks noChangeArrowheads="1"/>
          </p:cNvSpPr>
          <p:nvPr/>
        </p:nvSpPr>
        <p:spPr bwMode="auto">
          <a:xfrm>
            <a:off x="3732305" y="4241208"/>
            <a:ext cx="2642070"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CC0000"/>
                </a:solidFill>
              </a:rPr>
              <a:t>actions taken on state transition</a:t>
            </a:r>
            <a:endParaRPr lang="en-US" sz="1800" kern="0" dirty="0">
              <a:solidFill>
                <a:srgbClr val="CC0000"/>
              </a:solidFill>
            </a:endParaRPr>
          </a:p>
        </p:txBody>
      </p:sp>
      <p:sp>
        <p:nvSpPr>
          <p:cNvPr id="254" name="Line 15">
            <a:extLst>
              <a:ext uri="{FF2B5EF4-FFF2-40B4-BE49-F238E27FC236}">
                <a16:creationId xmlns:a16="http://schemas.microsoft.com/office/drawing/2014/main" id="{C6A8A602-5239-A74B-AD17-B72696EF3F0B}"/>
              </a:ext>
            </a:extLst>
          </p:cNvPr>
          <p:cNvSpPr>
            <a:spLocks noChangeShapeType="1"/>
          </p:cNvSpPr>
          <p:nvPr/>
        </p:nvSpPr>
        <p:spPr bwMode="auto">
          <a:xfrm>
            <a:off x="3745438" y="4281689"/>
            <a:ext cx="2536031"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5" name="Rectangle 16">
            <a:extLst>
              <a:ext uri="{FF2B5EF4-FFF2-40B4-BE49-F238E27FC236}">
                <a16:creationId xmlns:a16="http://schemas.microsoft.com/office/drawing/2014/main" id="{C0FAC860-2F25-F545-9139-9C98D6260A8C}"/>
              </a:ext>
            </a:extLst>
          </p:cNvPr>
          <p:cNvSpPr>
            <a:spLocks noChangeArrowheads="1"/>
          </p:cNvSpPr>
          <p:nvPr/>
        </p:nvSpPr>
        <p:spPr bwMode="auto">
          <a:xfrm>
            <a:off x="759351" y="4531720"/>
            <a:ext cx="2078831" cy="9286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342900" indent="-342900">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57175" indent="-257175" algn="r" defTabSz="685800" eaLnBrk="0" fontAlgn="base" hangingPunct="0">
              <a:lnSpc>
                <a:spcPct val="85000"/>
              </a:lnSpc>
              <a:spcBef>
                <a:spcPct val="20000"/>
              </a:spcBef>
              <a:spcAft>
                <a:spcPct val="0"/>
              </a:spcAft>
              <a:buClr>
                <a:srgbClr val="000099"/>
              </a:buClr>
              <a:buSzPct val="65000"/>
              <a:defRPr/>
            </a:pPr>
            <a:r>
              <a:rPr lang="en-US" altLang="en-US" sz="1350" kern="0" dirty="0">
                <a:solidFill>
                  <a:srgbClr val="CC0000"/>
                </a:solidFill>
                <a:latin typeface="Calibri" panose="020F0502020204030204"/>
              </a:rPr>
              <a:t>state:</a:t>
            </a:r>
            <a:r>
              <a:rPr lang="en-US" altLang="en-US" sz="1350" kern="0" dirty="0">
                <a:solidFill>
                  <a:srgbClr val="000000"/>
                </a:solidFill>
                <a:latin typeface="Calibri" panose="020F0502020204030204"/>
              </a:rPr>
              <a:t> when in this </a:t>
            </a:r>
            <a:r>
              <a:rPr lang="ja-JP" altLang="en-US" sz="1350" kern="0">
                <a:solidFill>
                  <a:srgbClr val="000000"/>
                </a:solidFill>
                <a:latin typeface="Calibri" panose="020F0502020204030204"/>
              </a:rPr>
              <a:t>“</a:t>
            </a:r>
            <a:r>
              <a:rPr lang="en-US" altLang="ja-JP" sz="1350" kern="0" dirty="0">
                <a:solidFill>
                  <a:srgbClr val="000000"/>
                </a:solidFill>
                <a:latin typeface="Calibri" panose="020F0502020204030204"/>
              </a:rPr>
              <a:t>state</a:t>
            </a:r>
            <a:r>
              <a:rPr lang="ja-JP" altLang="en-US" sz="1350" kern="0">
                <a:solidFill>
                  <a:srgbClr val="000000"/>
                </a:solidFill>
                <a:latin typeface="Calibri" panose="020F0502020204030204"/>
              </a:rPr>
              <a:t>”</a:t>
            </a:r>
            <a:r>
              <a:rPr lang="en-US" altLang="ja-JP" sz="1350" kern="0" dirty="0">
                <a:solidFill>
                  <a:srgbClr val="000000"/>
                </a:solidFill>
                <a:latin typeface="Calibri" panose="020F0502020204030204"/>
              </a:rPr>
              <a:t> next state uniquely determined by next event</a:t>
            </a:r>
            <a:endParaRPr lang="en-US" altLang="en-US" sz="1350" kern="0" dirty="0">
              <a:solidFill>
                <a:srgbClr val="000000"/>
              </a:solidFill>
              <a:latin typeface="Calibri" panose="020F0502020204030204"/>
            </a:endParaRPr>
          </a:p>
        </p:txBody>
      </p:sp>
      <p:sp>
        <p:nvSpPr>
          <p:cNvPr id="256" name="Freeform 17">
            <a:extLst>
              <a:ext uri="{FF2B5EF4-FFF2-40B4-BE49-F238E27FC236}">
                <a16:creationId xmlns:a16="http://schemas.microsoft.com/office/drawing/2014/main" id="{6C66B08F-D328-CD47-A7C2-DEFD7C90E7AF}"/>
              </a:ext>
            </a:extLst>
          </p:cNvPr>
          <p:cNvSpPr>
            <a:spLocks/>
          </p:cNvSpPr>
          <p:nvPr/>
        </p:nvSpPr>
        <p:spPr bwMode="auto">
          <a:xfrm>
            <a:off x="3202513" y="5188946"/>
            <a:ext cx="71438" cy="435769"/>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257" name="Freeform 18">
            <a:extLst>
              <a:ext uri="{FF2B5EF4-FFF2-40B4-BE49-F238E27FC236}">
                <a16:creationId xmlns:a16="http://schemas.microsoft.com/office/drawing/2014/main" id="{EBD24A16-C963-134E-B147-F90FBCE99895}"/>
              </a:ext>
            </a:extLst>
          </p:cNvPr>
          <p:cNvSpPr>
            <a:spLocks/>
          </p:cNvSpPr>
          <p:nvPr/>
        </p:nvSpPr>
        <p:spPr bwMode="auto">
          <a:xfrm flipH="1" flipV="1">
            <a:off x="7060138" y="5217521"/>
            <a:ext cx="71438" cy="435769"/>
          </a:xfrm>
          <a:custGeom>
            <a:avLst/>
            <a:gdLst>
              <a:gd name="T0" fmla="*/ 2147483647 w 60"/>
              <a:gd name="T1" fmla="*/ 2147483647 h 366"/>
              <a:gd name="T2" fmla="*/ 2147483647 w 60"/>
              <a:gd name="T3" fmla="*/ 0 h 366"/>
              <a:gd name="T4" fmla="*/ 0 60000 65536"/>
              <a:gd name="T5" fmla="*/ 0 60000 65536"/>
            </a:gdLst>
            <a:ahLst/>
            <a:cxnLst>
              <a:cxn ang="T4">
                <a:pos x="T0" y="T1"/>
              </a:cxn>
              <a:cxn ang="T5">
                <a:pos x="T2" y="T3"/>
              </a:cxn>
            </a:cxnLst>
            <a:rect l="0" t="0" r="r" b="b"/>
            <a:pathLst>
              <a:path w="60" h="366">
                <a:moveTo>
                  <a:pt x="48" y="366"/>
                </a:moveTo>
                <a:cubicBezTo>
                  <a:pt x="0" y="204"/>
                  <a:pt x="60" y="55"/>
                  <a:pt x="60" y="0"/>
                </a:cubicBezTo>
              </a:path>
            </a:pathLst>
          </a:custGeom>
          <a:noFill/>
          <a:ln w="28575" cap="flat" cmpd="sng">
            <a:solidFill>
              <a:srgbClr val="CC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258" name="Line 19">
            <a:extLst>
              <a:ext uri="{FF2B5EF4-FFF2-40B4-BE49-F238E27FC236}">
                <a16:creationId xmlns:a16="http://schemas.microsoft.com/office/drawing/2014/main" id="{8C0C0821-24D7-9B48-B890-E098F3F3B2F5}"/>
              </a:ext>
            </a:extLst>
          </p:cNvPr>
          <p:cNvSpPr>
            <a:spLocks noChangeShapeType="1"/>
          </p:cNvSpPr>
          <p:nvPr/>
        </p:nvSpPr>
        <p:spPr bwMode="auto">
          <a:xfrm>
            <a:off x="3618041" y="5006798"/>
            <a:ext cx="1156097" cy="553623"/>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9" name="Text Box 21">
            <a:extLst>
              <a:ext uri="{FF2B5EF4-FFF2-40B4-BE49-F238E27FC236}">
                <a16:creationId xmlns:a16="http://schemas.microsoft.com/office/drawing/2014/main" id="{7E164E54-B268-A247-AA63-9539F6FF224A}"/>
              </a:ext>
            </a:extLst>
          </p:cNvPr>
          <p:cNvSpPr txBox="1">
            <a:spLocks noChangeArrowheads="1"/>
          </p:cNvSpPr>
          <p:nvPr/>
        </p:nvSpPr>
        <p:spPr bwMode="auto">
          <a:xfrm>
            <a:off x="4145169" y="4841283"/>
            <a:ext cx="607859"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CC0000"/>
                </a:solidFill>
              </a:rPr>
              <a:t>event</a:t>
            </a:r>
            <a:endParaRPr lang="en-US" sz="1800" kern="0" dirty="0">
              <a:solidFill>
                <a:srgbClr val="CC0000"/>
              </a:solidFill>
            </a:endParaRPr>
          </a:p>
        </p:txBody>
      </p:sp>
      <p:sp>
        <p:nvSpPr>
          <p:cNvPr id="260" name="Text Box 22">
            <a:extLst>
              <a:ext uri="{FF2B5EF4-FFF2-40B4-BE49-F238E27FC236}">
                <a16:creationId xmlns:a16="http://schemas.microsoft.com/office/drawing/2014/main" id="{DE18FED2-1875-864F-91AF-6509DB74229F}"/>
              </a:ext>
            </a:extLst>
          </p:cNvPr>
          <p:cNvSpPr txBox="1">
            <a:spLocks noChangeArrowheads="1"/>
          </p:cNvSpPr>
          <p:nvPr/>
        </p:nvSpPr>
        <p:spPr bwMode="auto">
          <a:xfrm>
            <a:off x="4113860" y="5069883"/>
            <a:ext cx="721672" cy="30008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CC0000"/>
                </a:solidFill>
              </a:rPr>
              <a:t>actions</a:t>
            </a:r>
            <a:endParaRPr lang="en-US" sz="1800" kern="0" dirty="0">
              <a:solidFill>
                <a:srgbClr val="CC0000"/>
              </a:solidFill>
            </a:endParaRPr>
          </a:p>
        </p:txBody>
      </p:sp>
      <p:sp>
        <p:nvSpPr>
          <p:cNvPr id="261" name="Line 23">
            <a:extLst>
              <a:ext uri="{FF2B5EF4-FFF2-40B4-BE49-F238E27FC236}">
                <a16:creationId xmlns:a16="http://schemas.microsoft.com/office/drawing/2014/main" id="{F2E746A2-18BE-7647-9805-C4C76DAACB29}"/>
              </a:ext>
            </a:extLst>
          </p:cNvPr>
          <p:cNvSpPr>
            <a:spLocks noChangeShapeType="1"/>
          </p:cNvSpPr>
          <p:nvPr/>
        </p:nvSpPr>
        <p:spPr bwMode="auto">
          <a:xfrm>
            <a:off x="4102626" y="5110364"/>
            <a:ext cx="707231"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3" name="Rectangle 3">
            <a:extLst>
              <a:ext uri="{FF2B5EF4-FFF2-40B4-BE49-F238E27FC236}">
                <a16:creationId xmlns:a16="http://schemas.microsoft.com/office/drawing/2014/main" id="{3081F250-E04F-164D-8093-2C4E84FB9F25}"/>
              </a:ext>
            </a:extLst>
          </p:cNvPr>
          <p:cNvSpPr txBox="1">
            <a:spLocks noChangeArrowheads="1"/>
          </p:cNvSpPr>
          <p:nvPr/>
        </p:nvSpPr>
        <p:spPr bwMode="auto">
          <a:xfrm>
            <a:off x="689205" y="3459957"/>
            <a:ext cx="8292433" cy="407194"/>
          </a:xfrm>
          <a:prstGeom prst="rect">
            <a:avLst/>
          </a:prstGeom>
          <a:noFill/>
          <a:ln>
            <a:noFill/>
          </a:ln>
          <a:effectLst/>
          <a:extLst>
            <a:ext uri="{91240B29-F687-4f45-9708-019B960494DF}">
              <a14:hiddenLine xmlns:a14="http://schemas.microsoft.com/office/drawing/2010/main" xmlns="" w="9525">
                <a:solidFill>
                  <a:srgbClr val="CC0000"/>
                </a:solidFill>
                <a:miter lim="800000"/>
                <a:headEnd/>
                <a:tailEnd/>
              </a14:hiddenLine>
            </a:ext>
          </a:extLst>
        </p:spPr>
        <p:txBody>
          <a:bodyPr vert="horz" wrap="square" lIns="68580" tIns="34290" rIns="68580" bIns="3429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13122" indent="-213122" defTabSz="685800">
              <a:defRPr/>
            </a:pPr>
            <a:r>
              <a:rPr lang="en-US" altLang="en-US" sz="2100" kern="0" dirty="0">
                <a:solidFill>
                  <a:prstClr val="black"/>
                </a:solidFill>
                <a:latin typeface="Calibri" panose="020F0502020204030204"/>
                <a:ea typeface="ＭＳ Ｐゴシック" panose="020B0600070205080204" pitchFamily="34" charset="-128"/>
              </a:rPr>
              <a:t>use finite state machines (FSM)  to specify sender, receiver</a:t>
            </a:r>
          </a:p>
        </p:txBody>
      </p:sp>
    </p:spTree>
    <p:extLst>
      <p:ext uri="{BB962C8B-B14F-4D97-AF65-F5344CB8AC3E}">
        <p14:creationId xmlns:p14="http://schemas.microsoft.com/office/powerpoint/2010/main" val="1599882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RDT1.0</a:t>
            </a:r>
          </a:p>
        </p:txBody>
      </p:sp>
      <p:sp>
        <p:nvSpPr>
          <p:cNvPr id="3" name="Content Placeholder 2">
            <a:extLst>
              <a:ext uri="{FF2B5EF4-FFF2-40B4-BE49-F238E27FC236}">
                <a16:creationId xmlns:a16="http://schemas.microsoft.com/office/drawing/2014/main" id="{131D4FC2-A4EF-2072-3874-D6DF6E746E30}"/>
              </a:ext>
            </a:extLst>
          </p:cNvPr>
          <p:cNvSpPr>
            <a:spLocks noGrp="1"/>
          </p:cNvSpPr>
          <p:nvPr>
            <p:ph idx="1"/>
          </p:nvPr>
        </p:nvSpPr>
        <p:spPr/>
        <p:txBody>
          <a:bodyPr/>
          <a:lstStyle/>
          <a:p>
            <a:r>
              <a:rPr lang="en-US" dirty="0"/>
              <a:t>reliable transfer over a reliable channel</a:t>
            </a:r>
          </a:p>
        </p:txBody>
      </p:sp>
      <p:sp>
        <p:nvSpPr>
          <p:cNvPr id="27" name="Slide Number Placeholder 2">
            <a:extLst>
              <a:ext uri="{FF2B5EF4-FFF2-40B4-BE49-F238E27FC236}">
                <a16:creationId xmlns:a16="http://schemas.microsoft.com/office/drawing/2014/main" id="{4E6AC2D9-3427-7142-95C3-6DF77122338D}"/>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9</a:t>
            </a:fld>
            <a:endParaRPr lang="en-US" dirty="0">
              <a:solidFill>
                <a:prstClr val="white">
                  <a:lumMod val="50000"/>
                </a:prstClr>
              </a:solidFill>
              <a:latin typeface="Calibri" panose="020F0502020204030204"/>
            </a:endParaRPr>
          </a:p>
        </p:txBody>
      </p:sp>
      <p:sp>
        <p:nvSpPr>
          <p:cNvPr id="22" name="Rectangle 3">
            <a:extLst>
              <a:ext uri="{FF2B5EF4-FFF2-40B4-BE49-F238E27FC236}">
                <a16:creationId xmlns:a16="http://schemas.microsoft.com/office/drawing/2014/main" id="{973DDEF7-C28A-F04F-AD65-DE94D6CF205E}"/>
              </a:ext>
            </a:extLst>
          </p:cNvPr>
          <p:cNvSpPr txBox="1">
            <a:spLocks noChangeArrowheads="1"/>
          </p:cNvSpPr>
          <p:nvPr/>
        </p:nvSpPr>
        <p:spPr>
          <a:xfrm>
            <a:off x="599018" y="2152411"/>
            <a:ext cx="5922169" cy="2264569"/>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dirty="0">
                <a:solidFill>
                  <a:prstClr val="black"/>
                </a:solidFill>
                <a:latin typeface="Calibri" panose="020F0502020204030204"/>
              </a:rPr>
              <a:t>underlying channel perfectly reliable</a:t>
            </a:r>
          </a:p>
          <a:p>
            <a:pPr marL="521494" lvl="1" indent="-173831" defTabSz="685800">
              <a:spcBef>
                <a:spcPts val="375"/>
              </a:spcBef>
              <a:buFont typeface="Arial"/>
              <a:buChar char="•"/>
              <a:defRPr/>
            </a:pPr>
            <a:r>
              <a:rPr lang="en-US" sz="1800" dirty="0">
                <a:solidFill>
                  <a:prstClr val="black"/>
                </a:solidFill>
                <a:latin typeface="Calibri" panose="020F0502020204030204"/>
              </a:rPr>
              <a:t>no bit errors</a:t>
            </a:r>
          </a:p>
          <a:p>
            <a:pPr marL="521494" lvl="1" indent="-173831" defTabSz="685800">
              <a:spcBef>
                <a:spcPts val="375"/>
              </a:spcBef>
              <a:buFont typeface="Arial"/>
              <a:buChar char="•"/>
              <a:defRPr/>
            </a:pPr>
            <a:r>
              <a:rPr lang="en-US" sz="1800" dirty="0">
                <a:solidFill>
                  <a:prstClr val="black"/>
                </a:solidFill>
                <a:latin typeface="Calibri" panose="020F0502020204030204"/>
              </a:rPr>
              <a:t>no loss of packets</a:t>
            </a:r>
          </a:p>
        </p:txBody>
      </p:sp>
      <p:sp>
        <p:nvSpPr>
          <p:cNvPr id="42" name="Freeform 6">
            <a:extLst>
              <a:ext uri="{FF2B5EF4-FFF2-40B4-BE49-F238E27FC236}">
                <a16:creationId xmlns:a16="http://schemas.microsoft.com/office/drawing/2014/main" id="{72679C5D-F3D6-DB4D-B0B3-7D339F36B74D}"/>
              </a:ext>
            </a:extLst>
          </p:cNvPr>
          <p:cNvSpPr>
            <a:spLocks/>
          </p:cNvSpPr>
          <p:nvPr/>
        </p:nvSpPr>
        <p:spPr bwMode="auto">
          <a:xfrm>
            <a:off x="2138070" y="4594765"/>
            <a:ext cx="458390" cy="770334"/>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43" name="Text Box 7">
            <a:extLst>
              <a:ext uri="{FF2B5EF4-FFF2-40B4-BE49-F238E27FC236}">
                <a16:creationId xmlns:a16="http://schemas.microsoft.com/office/drawing/2014/main" id="{9B9E7156-7163-514D-9217-22616724C466}"/>
              </a:ext>
            </a:extLst>
          </p:cNvPr>
          <p:cNvSpPr txBox="1">
            <a:spLocks noChangeArrowheads="1"/>
          </p:cNvSpPr>
          <p:nvPr/>
        </p:nvSpPr>
        <p:spPr bwMode="auto">
          <a:xfrm>
            <a:off x="2438761" y="4910532"/>
            <a:ext cx="2012156" cy="44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packet = make_pkt(data)</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udt_send(packet)</a:t>
            </a:r>
            <a:endParaRPr lang="en-US" altLang="en-US" sz="1200" dirty="0">
              <a:solidFill>
                <a:srgbClr val="000000"/>
              </a:solidFill>
              <a:latin typeface="Times New Roman" panose="02020603050405020304" pitchFamily="18" charset="0"/>
            </a:endParaRPr>
          </a:p>
        </p:txBody>
      </p:sp>
      <p:grpSp>
        <p:nvGrpSpPr>
          <p:cNvPr id="5" name="Group 4">
            <a:extLst>
              <a:ext uri="{FF2B5EF4-FFF2-40B4-BE49-F238E27FC236}">
                <a16:creationId xmlns:a16="http://schemas.microsoft.com/office/drawing/2014/main" id="{C7585234-D59C-0545-841B-A27D389014BC}"/>
              </a:ext>
            </a:extLst>
          </p:cNvPr>
          <p:cNvGrpSpPr/>
          <p:nvPr/>
        </p:nvGrpSpPr>
        <p:grpSpPr>
          <a:xfrm>
            <a:off x="2446441" y="4628103"/>
            <a:ext cx="1691879" cy="321469"/>
            <a:chOff x="3084121" y="4379374"/>
            <a:chExt cx="2255838" cy="428625"/>
          </a:xfrm>
        </p:grpSpPr>
        <p:sp>
          <p:nvSpPr>
            <p:cNvPr id="44" name="Text Box 8">
              <a:extLst>
                <a:ext uri="{FF2B5EF4-FFF2-40B4-BE49-F238E27FC236}">
                  <a16:creationId xmlns:a16="http://schemas.microsoft.com/office/drawing/2014/main" id="{F76E2421-9F9F-FC42-837C-A6C05CDF5A21}"/>
                </a:ext>
              </a:extLst>
            </p:cNvPr>
            <p:cNvSpPr txBox="1">
              <a:spLocks noChangeArrowheads="1"/>
            </p:cNvSpPr>
            <p:nvPr/>
          </p:nvSpPr>
          <p:spPr bwMode="auto">
            <a:xfrm>
              <a:off x="3084121" y="4379374"/>
              <a:ext cx="22558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45" name="Line 9">
              <a:extLst>
                <a:ext uri="{FF2B5EF4-FFF2-40B4-BE49-F238E27FC236}">
                  <a16:creationId xmlns:a16="http://schemas.microsoft.com/office/drawing/2014/main" id="{7D992FAD-AF7B-FB47-8AD1-6805A49B2633}"/>
                </a:ext>
              </a:extLst>
            </p:cNvPr>
            <p:cNvSpPr>
              <a:spLocks noChangeShapeType="1"/>
            </p:cNvSpPr>
            <p:nvPr/>
          </p:nvSpPr>
          <p:spPr bwMode="auto">
            <a:xfrm>
              <a:off x="3184134" y="4722274"/>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sp>
        <p:nvSpPr>
          <p:cNvPr id="47" name="Text Box 11">
            <a:extLst>
              <a:ext uri="{FF2B5EF4-FFF2-40B4-BE49-F238E27FC236}">
                <a16:creationId xmlns:a16="http://schemas.microsoft.com/office/drawing/2014/main" id="{3D37D715-DFFD-D144-86D7-84AAD14254C9}"/>
              </a:ext>
            </a:extLst>
          </p:cNvPr>
          <p:cNvSpPr txBox="1">
            <a:spLocks noChangeArrowheads="1"/>
          </p:cNvSpPr>
          <p:nvPr/>
        </p:nvSpPr>
        <p:spPr bwMode="auto">
          <a:xfrm>
            <a:off x="7186175" y="4921951"/>
            <a:ext cx="1865709"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extract (packet,data)</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deliver_data(data)</a:t>
            </a:r>
            <a:endParaRPr lang="en-US" altLang="en-US" sz="1200" dirty="0">
              <a:solidFill>
                <a:srgbClr val="000000"/>
              </a:solidFill>
              <a:latin typeface="Times New Roman" panose="02020603050405020304" pitchFamily="18" charset="0"/>
            </a:endParaRPr>
          </a:p>
        </p:txBody>
      </p:sp>
      <p:sp>
        <p:nvSpPr>
          <p:cNvPr id="50" name="Freeform 14">
            <a:extLst>
              <a:ext uri="{FF2B5EF4-FFF2-40B4-BE49-F238E27FC236}">
                <a16:creationId xmlns:a16="http://schemas.microsoft.com/office/drawing/2014/main" id="{971AF932-17EF-C746-BE92-15D36EC0FFDD}"/>
              </a:ext>
            </a:extLst>
          </p:cNvPr>
          <p:cNvSpPr>
            <a:spLocks/>
          </p:cNvSpPr>
          <p:nvPr/>
        </p:nvSpPr>
        <p:spPr bwMode="auto">
          <a:xfrm>
            <a:off x="6878994" y="4624295"/>
            <a:ext cx="458390" cy="770335"/>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6" name="Group 5">
            <a:extLst>
              <a:ext uri="{FF2B5EF4-FFF2-40B4-BE49-F238E27FC236}">
                <a16:creationId xmlns:a16="http://schemas.microsoft.com/office/drawing/2014/main" id="{B8AF4F26-5E6F-8F4D-A612-50842B04E515}"/>
              </a:ext>
            </a:extLst>
          </p:cNvPr>
          <p:cNvGrpSpPr/>
          <p:nvPr/>
        </p:nvGrpSpPr>
        <p:grpSpPr>
          <a:xfrm>
            <a:off x="7171639" y="4681447"/>
            <a:ext cx="1208985" cy="276999"/>
            <a:chOff x="9384382" y="4450497"/>
            <a:chExt cx="1611980" cy="369331"/>
          </a:xfrm>
        </p:grpSpPr>
        <p:sp>
          <p:nvSpPr>
            <p:cNvPr id="52" name="Line 16">
              <a:extLst>
                <a:ext uri="{FF2B5EF4-FFF2-40B4-BE49-F238E27FC236}">
                  <a16:creationId xmlns:a16="http://schemas.microsoft.com/office/drawing/2014/main" id="{755DAE31-6FE9-AA43-BE65-0F2D63F3A75D}"/>
                </a:ext>
              </a:extLst>
            </p:cNvPr>
            <p:cNvSpPr>
              <a:spLocks noChangeShapeType="1"/>
            </p:cNvSpPr>
            <p:nvPr/>
          </p:nvSpPr>
          <p:spPr bwMode="auto">
            <a:xfrm>
              <a:off x="9505366" y="4774347"/>
              <a:ext cx="129698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54" name="Rectangle 18">
              <a:extLst>
                <a:ext uri="{FF2B5EF4-FFF2-40B4-BE49-F238E27FC236}">
                  <a16:creationId xmlns:a16="http://schemas.microsoft.com/office/drawing/2014/main" id="{CC7E66DF-39CF-1142-BEBC-BFB9E33B62F7}"/>
                </a:ext>
              </a:extLst>
            </p:cNvPr>
            <p:cNvSpPr>
              <a:spLocks noChangeArrowheads="1"/>
            </p:cNvSpPr>
            <p:nvPr/>
          </p:nvSpPr>
          <p:spPr bwMode="auto">
            <a:xfrm>
              <a:off x="9384382" y="4450497"/>
              <a:ext cx="1611980" cy="369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lgn="ctr" defTabSz="685800" eaLnBrk="0" fontAlgn="base" hangingPunct="0">
                <a:spcBef>
                  <a:spcPct val="0"/>
                </a:spcBef>
                <a:spcAft>
                  <a:spcPct val="0"/>
                </a:spcAft>
                <a:defRPr/>
              </a:pPr>
              <a:r>
                <a:rPr lang="en-US" sz="1200" dirty="0">
                  <a:solidFill>
                    <a:srgbClr val="000000"/>
                  </a:solidFill>
                  <a:latin typeface="Arial" charset="0"/>
                  <a:ea typeface="ＭＳ Ｐゴシック" charset="0"/>
                </a:rPr>
                <a:t>rdt_rcv(packet)</a:t>
              </a:r>
            </a:p>
          </p:txBody>
        </p:sp>
      </p:grpSp>
      <p:grpSp>
        <p:nvGrpSpPr>
          <p:cNvPr id="10" name="Group 9">
            <a:extLst>
              <a:ext uri="{FF2B5EF4-FFF2-40B4-BE49-F238E27FC236}">
                <a16:creationId xmlns:a16="http://schemas.microsoft.com/office/drawing/2014/main" id="{C6A7B144-988F-3142-A53D-2AD67E7E25EE}"/>
              </a:ext>
            </a:extLst>
          </p:cNvPr>
          <p:cNvGrpSpPr/>
          <p:nvPr/>
        </p:nvGrpSpPr>
        <p:grpSpPr>
          <a:xfrm>
            <a:off x="5081707" y="4624295"/>
            <a:ext cx="1899679" cy="770335"/>
            <a:chOff x="6039011" y="5479197"/>
            <a:chExt cx="2532905" cy="1027113"/>
          </a:xfrm>
        </p:grpSpPr>
        <p:sp>
          <p:nvSpPr>
            <p:cNvPr id="48" name="Oval 12">
              <a:extLst>
                <a:ext uri="{FF2B5EF4-FFF2-40B4-BE49-F238E27FC236}">
                  <a16:creationId xmlns:a16="http://schemas.microsoft.com/office/drawing/2014/main" id="{15A02CFE-8E15-5B47-955E-884B96AD154D}"/>
                </a:ext>
              </a:extLst>
            </p:cNvPr>
            <p:cNvSpPr>
              <a:spLocks noChangeArrowheads="1"/>
            </p:cNvSpPr>
            <p:nvPr/>
          </p:nvSpPr>
          <p:spPr bwMode="auto">
            <a:xfrm>
              <a:off x="7536866" y="5495072"/>
              <a:ext cx="955675" cy="101123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49" name="Text Box 13">
              <a:extLst>
                <a:ext uri="{FF2B5EF4-FFF2-40B4-BE49-F238E27FC236}">
                  <a16:creationId xmlns:a16="http://schemas.microsoft.com/office/drawing/2014/main" id="{CBC9B555-6B5C-7741-88F2-5079C590022D}"/>
                </a:ext>
              </a:extLst>
            </p:cNvPr>
            <p:cNvSpPr txBox="1">
              <a:spLocks noChangeArrowheads="1"/>
            </p:cNvSpPr>
            <p:nvPr/>
          </p:nvSpPr>
          <p:spPr bwMode="auto">
            <a:xfrm>
              <a:off x="7473366" y="5580797"/>
              <a:ext cx="1098550"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Wait for call from below</a:t>
              </a:r>
              <a:endParaRPr lang="en-US" altLang="en-US" sz="1200" dirty="0">
                <a:solidFill>
                  <a:srgbClr val="000000"/>
                </a:solidFill>
                <a:latin typeface="Times New Roman" panose="02020603050405020304" pitchFamily="18" charset="0"/>
              </a:endParaRPr>
            </a:p>
          </p:txBody>
        </p:sp>
        <p:sp>
          <p:nvSpPr>
            <p:cNvPr id="53" name="Line 17">
              <a:extLst>
                <a:ext uri="{FF2B5EF4-FFF2-40B4-BE49-F238E27FC236}">
                  <a16:creationId xmlns:a16="http://schemas.microsoft.com/office/drawing/2014/main" id="{07806C13-AC0C-744F-A689-B195B8638391}"/>
                </a:ext>
              </a:extLst>
            </p:cNvPr>
            <p:cNvSpPr>
              <a:spLocks noChangeShapeType="1"/>
            </p:cNvSpPr>
            <p:nvPr/>
          </p:nvSpPr>
          <p:spPr bwMode="auto">
            <a:xfrm>
              <a:off x="7213016" y="5479197"/>
              <a:ext cx="385762" cy="242888"/>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56" name="Text Box 20">
              <a:extLst>
                <a:ext uri="{FF2B5EF4-FFF2-40B4-BE49-F238E27FC236}">
                  <a16:creationId xmlns:a16="http://schemas.microsoft.com/office/drawing/2014/main" id="{AD290DCB-DA87-BF46-B9F0-5E8404C38FE9}"/>
                </a:ext>
              </a:extLst>
            </p:cNvPr>
            <p:cNvSpPr txBox="1">
              <a:spLocks noChangeArrowheads="1"/>
            </p:cNvSpPr>
            <p:nvPr/>
          </p:nvSpPr>
          <p:spPr bwMode="auto">
            <a:xfrm>
              <a:off x="6039011" y="5745404"/>
              <a:ext cx="1321302"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receiver</a:t>
              </a:r>
            </a:p>
          </p:txBody>
        </p:sp>
      </p:grpSp>
      <p:pic>
        <p:nvPicPr>
          <p:cNvPr id="25604" name="Picture 4" descr="Image result for easy button&quot;">
            <a:extLst>
              <a:ext uri="{FF2B5EF4-FFF2-40B4-BE49-F238E27FC236}">
                <a16:creationId xmlns:a16="http://schemas.microsoft.com/office/drawing/2014/main" id="{FD822998-0D59-7945-AC2A-EA37C240B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8456" y="2527990"/>
            <a:ext cx="1604813" cy="1604813"/>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3">
            <a:extLst>
              <a:ext uri="{FF2B5EF4-FFF2-40B4-BE49-F238E27FC236}">
                <a16:creationId xmlns:a16="http://schemas.microsoft.com/office/drawing/2014/main" id="{85610A16-2670-7448-8F41-F03B9E524F38}"/>
              </a:ext>
            </a:extLst>
          </p:cNvPr>
          <p:cNvSpPr txBox="1">
            <a:spLocks noChangeArrowheads="1"/>
          </p:cNvSpPr>
          <p:nvPr/>
        </p:nvSpPr>
        <p:spPr>
          <a:xfrm>
            <a:off x="599018" y="3219998"/>
            <a:ext cx="5922169" cy="1133475"/>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Font typeface="Wingdings" charset="2"/>
              <a:buChar char="§"/>
              <a:defRPr/>
            </a:pPr>
            <a:r>
              <a:rPr lang="en-US" sz="2100" i="1" dirty="0">
                <a:solidFill>
                  <a:srgbClr val="C00000"/>
                </a:solidFill>
                <a:latin typeface="Calibri" panose="020F0502020204030204"/>
              </a:rPr>
              <a:t>separate</a:t>
            </a:r>
            <a:r>
              <a:rPr lang="en-US" sz="2100" dirty="0">
                <a:solidFill>
                  <a:prstClr val="black"/>
                </a:solidFill>
                <a:latin typeface="Calibri" panose="020F0502020204030204"/>
              </a:rPr>
              <a:t> FSMs for sender, receiver:</a:t>
            </a:r>
          </a:p>
          <a:p>
            <a:pPr marL="521494" lvl="1" indent="-173831" defTabSz="685800">
              <a:spcBef>
                <a:spcPts val="375"/>
              </a:spcBef>
              <a:buFont typeface="Arial"/>
              <a:buChar char="•"/>
              <a:defRPr/>
            </a:pPr>
            <a:r>
              <a:rPr lang="en-US" sz="1800" dirty="0">
                <a:solidFill>
                  <a:prstClr val="black"/>
                </a:solidFill>
                <a:latin typeface="Calibri" panose="020F0502020204030204"/>
              </a:rPr>
              <a:t>sender sends data into underlying channel</a:t>
            </a:r>
          </a:p>
          <a:p>
            <a:pPr marL="521494" lvl="1" indent="-173831" defTabSz="685800">
              <a:spcBef>
                <a:spcPts val="375"/>
              </a:spcBef>
              <a:buFont typeface="Arial"/>
              <a:buChar char="•"/>
              <a:defRPr/>
            </a:pPr>
            <a:r>
              <a:rPr lang="en-US" sz="1800" dirty="0">
                <a:solidFill>
                  <a:prstClr val="black"/>
                </a:solidFill>
                <a:latin typeface="Calibri" panose="020F0502020204030204"/>
              </a:rPr>
              <a:t>receiver reads data from underlying channel</a:t>
            </a:r>
          </a:p>
        </p:txBody>
      </p:sp>
      <p:grpSp>
        <p:nvGrpSpPr>
          <p:cNvPr id="9" name="Group 8">
            <a:extLst>
              <a:ext uri="{FF2B5EF4-FFF2-40B4-BE49-F238E27FC236}">
                <a16:creationId xmlns:a16="http://schemas.microsoft.com/office/drawing/2014/main" id="{7F2EE118-43B6-9B4F-B323-BCE06C274814}"/>
              </a:ext>
            </a:extLst>
          </p:cNvPr>
          <p:cNvGrpSpPr/>
          <p:nvPr/>
        </p:nvGrpSpPr>
        <p:grpSpPr>
          <a:xfrm>
            <a:off x="503139" y="4575715"/>
            <a:ext cx="1730474" cy="770334"/>
            <a:chOff x="226352" y="5579524"/>
            <a:chExt cx="2307298" cy="1027112"/>
          </a:xfrm>
        </p:grpSpPr>
        <p:grpSp>
          <p:nvGrpSpPr>
            <p:cNvPr id="8" name="Group 7">
              <a:extLst>
                <a:ext uri="{FF2B5EF4-FFF2-40B4-BE49-F238E27FC236}">
                  <a16:creationId xmlns:a16="http://schemas.microsoft.com/office/drawing/2014/main" id="{685AB00B-9A93-AB4E-B61E-272D7AC641F9}"/>
                </a:ext>
              </a:extLst>
            </p:cNvPr>
            <p:cNvGrpSpPr/>
            <p:nvPr/>
          </p:nvGrpSpPr>
          <p:grpSpPr>
            <a:xfrm>
              <a:off x="226352" y="5579524"/>
              <a:ext cx="2237057" cy="1027112"/>
              <a:chOff x="759752" y="4614324"/>
              <a:chExt cx="2237057" cy="1027112"/>
            </a:xfrm>
          </p:grpSpPr>
          <p:sp>
            <p:nvSpPr>
              <p:cNvPr id="46" name="Line 10">
                <a:extLst>
                  <a:ext uri="{FF2B5EF4-FFF2-40B4-BE49-F238E27FC236}">
                    <a16:creationId xmlns:a16="http://schemas.microsoft.com/office/drawing/2014/main" id="{53CBEB33-D2BE-EA4E-9053-8A4F592B82D6}"/>
                  </a:ext>
                </a:extLst>
              </p:cNvPr>
              <p:cNvSpPr>
                <a:spLocks noChangeShapeType="1"/>
              </p:cNvSpPr>
              <p:nvPr/>
            </p:nvSpPr>
            <p:spPr bwMode="auto">
              <a:xfrm>
                <a:off x="1717284" y="4614324"/>
                <a:ext cx="385762" cy="242887"/>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55" name="Text Box 19">
                <a:extLst>
                  <a:ext uri="{FF2B5EF4-FFF2-40B4-BE49-F238E27FC236}">
                    <a16:creationId xmlns:a16="http://schemas.microsoft.com/office/drawing/2014/main" id="{16E30F35-9D21-5542-B316-8DC5ACBE27DA}"/>
                  </a:ext>
                </a:extLst>
              </p:cNvPr>
              <p:cNvSpPr txBox="1">
                <a:spLocks noChangeArrowheads="1"/>
              </p:cNvSpPr>
              <p:nvPr/>
            </p:nvSpPr>
            <p:spPr bwMode="auto">
              <a:xfrm>
                <a:off x="759752" y="4985781"/>
                <a:ext cx="1161001" cy="49244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sender</a:t>
                </a:r>
              </a:p>
            </p:txBody>
          </p:sp>
          <p:sp>
            <p:nvSpPr>
              <p:cNvPr id="40" name="Oval 4">
                <a:extLst>
                  <a:ext uri="{FF2B5EF4-FFF2-40B4-BE49-F238E27FC236}">
                    <a16:creationId xmlns:a16="http://schemas.microsoft.com/office/drawing/2014/main" id="{1B157770-6762-CF45-9B74-7457DBFE2B56}"/>
                  </a:ext>
                </a:extLst>
              </p:cNvPr>
              <p:cNvSpPr>
                <a:spLocks noChangeArrowheads="1"/>
              </p:cNvSpPr>
              <p:nvPr/>
            </p:nvSpPr>
            <p:spPr bwMode="auto">
              <a:xfrm>
                <a:off x="2041134" y="4630199"/>
                <a:ext cx="955675" cy="1011237"/>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grpSp>
        <p:sp>
          <p:nvSpPr>
            <p:cNvPr id="41" name="Text Box 5">
              <a:extLst>
                <a:ext uri="{FF2B5EF4-FFF2-40B4-BE49-F238E27FC236}">
                  <a16:creationId xmlns:a16="http://schemas.microsoft.com/office/drawing/2014/main" id="{CE38ECA0-E265-FA4A-950E-CC50EF2CA516}"/>
                </a:ext>
              </a:extLst>
            </p:cNvPr>
            <p:cNvSpPr txBox="1">
              <a:spLocks noChangeArrowheads="1"/>
            </p:cNvSpPr>
            <p:nvPr/>
          </p:nvSpPr>
          <p:spPr bwMode="auto">
            <a:xfrm>
              <a:off x="1435100" y="5693824"/>
              <a:ext cx="1098550"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Wait for call from above</a:t>
              </a:r>
              <a:endParaRPr lang="en-US" altLang="en-US" sz="1200" dirty="0">
                <a:solidFill>
                  <a:srgbClr val="000000"/>
                </a:solidFill>
                <a:latin typeface="Times New Roman" panose="02020603050405020304" pitchFamily="18" charset="0"/>
              </a:endParaRPr>
            </a:p>
          </p:txBody>
        </p:sp>
      </p:grpSp>
    </p:spTree>
    <p:extLst>
      <p:ext uri="{BB962C8B-B14F-4D97-AF65-F5344CB8AC3E}">
        <p14:creationId xmlns:p14="http://schemas.microsoft.com/office/powerpoint/2010/main" val="851839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a:t>
            </a:r>
            <a:endParaRPr lang="en-US" dirty="0"/>
          </a:p>
        </p:txBody>
      </p:sp>
      <p:sp>
        <p:nvSpPr>
          <p:cNvPr id="3" name="Content Placeholder 2">
            <a:extLst>
              <a:ext uri="{FF2B5EF4-FFF2-40B4-BE49-F238E27FC236}">
                <a16:creationId xmlns:a16="http://schemas.microsoft.com/office/drawing/2014/main" id="{3A6A7D94-751F-E488-6991-2B608AECCF88}"/>
              </a:ext>
            </a:extLst>
          </p:cNvPr>
          <p:cNvSpPr>
            <a:spLocks noGrp="1"/>
          </p:cNvSpPr>
          <p:nvPr>
            <p:ph idx="1"/>
          </p:nvPr>
        </p:nvSpPr>
        <p:spPr/>
        <p:txBody>
          <a:bodyPr/>
          <a:lstStyle/>
          <a:p>
            <a:r>
              <a:rPr lang="en-US" sz="2800" dirty="0"/>
              <a:t>channel with bit errors</a:t>
            </a:r>
            <a:endParaRPr lang="en-US" dirty="0"/>
          </a:p>
        </p:txBody>
      </p:sp>
      <p:sp>
        <p:nvSpPr>
          <p:cNvPr id="5" name="Slide Number Placeholder 2">
            <a:extLst>
              <a:ext uri="{FF2B5EF4-FFF2-40B4-BE49-F238E27FC236}">
                <a16:creationId xmlns:a16="http://schemas.microsoft.com/office/drawing/2014/main" id="{05B1A153-C333-754C-9249-656206CB5CCF}"/>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10</a:t>
            </a:fld>
            <a:endParaRPr lang="en-US" dirty="0">
              <a:solidFill>
                <a:prstClr val="white">
                  <a:lumMod val="50000"/>
                </a:prstClr>
              </a:solidFill>
              <a:latin typeface="Calibri" panose="020F0502020204030204"/>
            </a:endParaRPr>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505496" y="2255062"/>
            <a:ext cx="8325469" cy="333613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219075" defTabSz="685800">
              <a:lnSpc>
                <a:spcPct val="75000"/>
              </a:lnSpc>
              <a:spcBef>
                <a:spcPts val="750"/>
              </a:spcBef>
              <a:buFont typeface="Wingdings" charset="2"/>
              <a:buChar char="§"/>
              <a:defRPr/>
            </a:pPr>
            <a:r>
              <a:rPr lang="en-US" sz="2400" dirty="0">
                <a:solidFill>
                  <a:prstClr val="black"/>
                </a:solidFill>
                <a:latin typeface="Calibri" panose="020F0502020204030204"/>
              </a:rPr>
              <a:t>underlying channel may flip bits in packet</a:t>
            </a:r>
          </a:p>
          <a:p>
            <a:pPr marL="600075" lvl="1" indent="-171450" defTabSz="685800">
              <a:lnSpc>
                <a:spcPct val="75000"/>
              </a:lnSpc>
              <a:spcBef>
                <a:spcPts val="375"/>
              </a:spcBef>
              <a:buFont typeface="Arial"/>
              <a:buChar char="•"/>
              <a:defRPr/>
            </a:pPr>
            <a:r>
              <a:rPr lang="en-US" sz="2100" dirty="0">
                <a:solidFill>
                  <a:prstClr val="black"/>
                </a:solidFill>
                <a:latin typeface="Calibri" panose="020F0502020204030204"/>
              </a:rPr>
              <a:t>checksum (e.g., Internet checksum) to detect bit errors</a:t>
            </a:r>
          </a:p>
          <a:p>
            <a:pPr marL="342900" indent="-219075" defTabSz="685800">
              <a:lnSpc>
                <a:spcPct val="75000"/>
              </a:lnSpc>
              <a:spcBef>
                <a:spcPts val="750"/>
              </a:spcBef>
              <a:buFont typeface="Wingdings" charset="2"/>
              <a:buChar char="§"/>
              <a:defRPr/>
            </a:pPr>
            <a:r>
              <a:rPr lang="en-US" sz="2400" i="1" dirty="0">
                <a:solidFill>
                  <a:prstClr val="black"/>
                </a:solidFill>
                <a:latin typeface="Calibri" panose="020F0502020204030204"/>
              </a:rPr>
              <a:t>the</a:t>
            </a:r>
            <a:r>
              <a:rPr lang="en-US" sz="2400" dirty="0">
                <a:solidFill>
                  <a:prstClr val="black"/>
                </a:solidFill>
                <a:latin typeface="Calibri" panose="020F0502020204030204"/>
              </a:rPr>
              <a:t> question: how to recover from errors?</a:t>
            </a:r>
            <a:endParaRPr lang="en-US" sz="2100" dirty="0">
              <a:solidFill>
                <a:prstClr val="black"/>
              </a:solidFill>
              <a:latin typeface="Calibri" panose="020F0502020204030204"/>
            </a:endParaRPr>
          </a:p>
        </p:txBody>
      </p:sp>
      <p:sp>
        <p:nvSpPr>
          <p:cNvPr id="24" name="Text Box 10">
            <a:extLst>
              <a:ext uri="{FF2B5EF4-FFF2-40B4-BE49-F238E27FC236}">
                <a16:creationId xmlns:a16="http://schemas.microsoft.com/office/drawing/2014/main" id="{DDD1DAD8-493C-8447-8752-319FA74AD634}"/>
              </a:ext>
            </a:extLst>
          </p:cNvPr>
          <p:cNvSpPr txBox="1">
            <a:spLocks noChangeArrowheads="1"/>
          </p:cNvSpPr>
          <p:nvPr/>
        </p:nvSpPr>
        <p:spPr bwMode="auto">
          <a:xfrm>
            <a:off x="949042" y="4076387"/>
            <a:ext cx="762542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2400" i="1" dirty="0">
                <a:solidFill>
                  <a:srgbClr val="CC0000"/>
                </a:solidFill>
                <a:latin typeface="Calibri" panose="020F0502020204030204"/>
              </a:rPr>
              <a:t>How do humans recover from “</a:t>
            </a:r>
            <a:r>
              <a:rPr lang="en-US" altLang="ja-JP" sz="2400" i="1" dirty="0">
                <a:solidFill>
                  <a:srgbClr val="CC0000"/>
                </a:solidFill>
                <a:latin typeface="Calibri" panose="020F0502020204030204"/>
              </a:rPr>
              <a:t>errors” </a:t>
            </a:r>
            <a:r>
              <a:rPr lang="en-US" altLang="en-US" sz="2400" i="1" dirty="0">
                <a:solidFill>
                  <a:srgbClr val="CC0000"/>
                </a:solidFill>
                <a:latin typeface="Calibri" panose="020F0502020204030204"/>
              </a:rPr>
              <a:t>during conversation?</a:t>
            </a:r>
          </a:p>
        </p:txBody>
      </p:sp>
    </p:spTree>
    <p:extLst>
      <p:ext uri="{BB962C8B-B14F-4D97-AF65-F5344CB8AC3E}">
        <p14:creationId xmlns:p14="http://schemas.microsoft.com/office/powerpoint/2010/main" val="194831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a:t>
            </a:r>
            <a:endParaRPr lang="en-US" dirty="0"/>
          </a:p>
        </p:txBody>
      </p:sp>
      <p:sp>
        <p:nvSpPr>
          <p:cNvPr id="12" name="Slide Number Placeholder 2">
            <a:extLst>
              <a:ext uri="{FF2B5EF4-FFF2-40B4-BE49-F238E27FC236}">
                <a16:creationId xmlns:a16="http://schemas.microsoft.com/office/drawing/2014/main" id="{8EDA3199-9071-AC4D-8C68-A368602E92B1}"/>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11</a:t>
            </a:fld>
            <a:endParaRPr lang="en-US" dirty="0">
              <a:solidFill>
                <a:prstClr val="white">
                  <a:lumMod val="50000"/>
                </a:prstClr>
              </a:solidFill>
              <a:latin typeface="Calibri" panose="020F0502020204030204"/>
            </a:endParaRPr>
          </a:p>
        </p:txBody>
      </p:sp>
      <p:sp>
        <p:nvSpPr>
          <p:cNvPr id="23" name="Rectangle 3">
            <a:extLst>
              <a:ext uri="{FF2B5EF4-FFF2-40B4-BE49-F238E27FC236}">
                <a16:creationId xmlns:a16="http://schemas.microsoft.com/office/drawing/2014/main" id="{3E368E9F-FC61-C94B-B4CE-5CA7B0FEB788}"/>
              </a:ext>
            </a:extLst>
          </p:cNvPr>
          <p:cNvSpPr txBox="1">
            <a:spLocks noChangeArrowheads="1"/>
          </p:cNvSpPr>
          <p:nvPr/>
        </p:nvSpPr>
        <p:spPr>
          <a:xfrm>
            <a:off x="505496" y="1813049"/>
            <a:ext cx="8325469" cy="333613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7181" indent="-221456" defTabSz="685800">
              <a:lnSpc>
                <a:spcPct val="75000"/>
              </a:lnSpc>
              <a:spcBef>
                <a:spcPts val="750"/>
              </a:spcBef>
              <a:buFont typeface="Wingdings" charset="2"/>
              <a:buChar char="§"/>
              <a:defRPr/>
            </a:pPr>
            <a:r>
              <a:rPr lang="en-US" sz="2400" dirty="0">
                <a:solidFill>
                  <a:prstClr val="black"/>
                </a:solidFill>
                <a:latin typeface="Calibri" panose="020F0502020204030204"/>
              </a:rPr>
              <a:t>underlying channel may flip bits in packet</a:t>
            </a:r>
          </a:p>
          <a:p>
            <a:pPr marL="521494" lvl="1" indent="-173831" defTabSz="685800">
              <a:lnSpc>
                <a:spcPct val="80000"/>
              </a:lnSpc>
              <a:spcBef>
                <a:spcPts val="600"/>
              </a:spcBef>
              <a:buFont typeface="Arial"/>
              <a:buChar char="•"/>
              <a:defRPr/>
            </a:pPr>
            <a:r>
              <a:rPr lang="en-US" sz="2100" dirty="0">
                <a:solidFill>
                  <a:prstClr val="black"/>
                </a:solidFill>
                <a:latin typeface="Calibri" panose="020F0502020204030204"/>
              </a:rPr>
              <a:t>checksum to detect bit errors</a:t>
            </a:r>
          </a:p>
          <a:p>
            <a:pPr marL="307181" indent="-209550" defTabSz="685800">
              <a:lnSpc>
                <a:spcPct val="75000"/>
              </a:lnSpc>
              <a:spcBef>
                <a:spcPts val="750"/>
              </a:spcBef>
              <a:buFont typeface="Wingdings" charset="2"/>
              <a:buChar char="§"/>
              <a:defRPr/>
            </a:pPr>
            <a:r>
              <a:rPr lang="en-US" sz="2400" i="1" dirty="0">
                <a:solidFill>
                  <a:prstClr val="black"/>
                </a:solidFill>
                <a:latin typeface="Calibri" panose="020F0502020204030204"/>
              </a:rPr>
              <a:t>the</a:t>
            </a:r>
            <a:r>
              <a:rPr lang="en-US" sz="2400" dirty="0">
                <a:solidFill>
                  <a:prstClr val="black"/>
                </a:solidFill>
                <a:latin typeface="Calibri" panose="020F0502020204030204"/>
              </a:rPr>
              <a:t> question: how to recover from errors?</a:t>
            </a:r>
            <a:endParaRPr lang="en-US" sz="2100" dirty="0">
              <a:solidFill>
                <a:prstClr val="black"/>
              </a:solidFill>
              <a:latin typeface="Calibri" panose="020F0502020204030204"/>
            </a:endParaRPr>
          </a:p>
        </p:txBody>
      </p:sp>
      <p:sp>
        <p:nvSpPr>
          <p:cNvPr id="25" name="Rectangle 2">
            <a:extLst>
              <a:ext uri="{FF2B5EF4-FFF2-40B4-BE49-F238E27FC236}">
                <a16:creationId xmlns:a16="http://schemas.microsoft.com/office/drawing/2014/main" id="{6EBA4373-2F4E-9C40-8D34-CD4CD038CE07}"/>
              </a:ext>
            </a:extLst>
          </p:cNvPr>
          <p:cNvSpPr txBox="1">
            <a:spLocks noChangeArrowheads="1"/>
          </p:cNvSpPr>
          <p:nvPr/>
        </p:nvSpPr>
        <p:spPr>
          <a:xfrm>
            <a:off x="496814" y="2867804"/>
            <a:ext cx="8253647" cy="1617752"/>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21494" lvl="1" indent="-173831" defTabSz="685800">
              <a:spcBef>
                <a:spcPct val="45000"/>
              </a:spcBef>
              <a:buFont typeface="Arial"/>
              <a:buChar char="•"/>
              <a:defRPr/>
            </a:pPr>
            <a:r>
              <a:rPr lang="en-US" sz="2100" i="1" dirty="0">
                <a:solidFill>
                  <a:srgbClr val="CC0000"/>
                </a:solidFill>
                <a:latin typeface="Calibri" panose="020F0502020204030204"/>
              </a:rPr>
              <a:t>acknowledgements (ACKs):</a:t>
            </a:r>
            <a:r>
              <a:rPr lang="en-US" sz="2100" dirty="0">
                <a:solidFill>
                  <a:prstClr val="black"/>
                </a:solidFill>
                <a:latin typeface="Calibri" panose="020F0502020204030204"/>
              </a:rPr>
              <a:t> receiver explicitly tells sender that pkt received OK</a:t>
            </a:r>
          </a:p>
          <a:p>
            <a:pPr marL="521494" lvl="1" indent="-173831" defTabSz="685800">
              <a:spcBef>
                <a:spcPts val="375"/>
              </a:spcBef>
              <a:buFont typeface="Arial"/>
              <a:buChar char="•"/>
              <a:defRPr/>
            </a:pPr>
            <a:r>
              <a:rPr lang="en-US" sz="2100" i="1" dirty="0">
                <a:solidFill>
                  <a:srgbClr val="CC0000"/>
                </a:solidFill>
                <a:latin typeface="Calibri" panose="020F0502020204030204"/>
              </a:rPr>
              <a:t>negative acknowledgements (NAKs):</a:t>
            </a:r>
            <a:r>
              <a:rPr lang="en-US" sz="2100" dirty="0">
                <a:solidFill>
                  <a:prstClr val="black"/>
                </a:solidFill>
                <a:latin typeface="Calibri" panose="020F0502020204030204"/>
              </a:rPr>
              <a:t> receiver explicitly tells sender that pkt had errors</a:t>
            </a:r>
          </a:p>
          <a:p>
            <a:pPr marL="521494" lvl="1" indent="-173831" defTabSz="685800">
              <a:spcBef>
                <a:spcPts val="375"/>
              </a:spcBef>
              <a:buFont typeface="Arial"/>
              <a:buChar char="•"/>
              <a:defRPr/>
            </a:pPr>
            <a:r>
              <a:rPr lang="en-US" sz="2100" dirty="0">
                <a:solidFill>
                  <a:prstClr val="black"/>
                </a:solidFill>
                <a:latin typeface="Calibri" panose="020F0502020204030204"/>
              </a:rPr>
              <a:t>sender </a:t>
            </a:r>
            <a:r>
              <a:rPr lang="en-US" sz="2100" i="1" dirty="0">
                <a:solidFill>
                  <a:srgbClr val="C00000"/>
                </a:solidFill>
                <a:latin typeface="Calibri" panose="020F0502020204030204"/>
              </a:rPr>
              <a:t>retransmits</a:t>
            </a:r>
            <a:r>
              <a:rPr lang="en-US" sz="2100" dirty="0">
                <a:solidFill>
                  <a:prstClr val="black"/>
                </a:solidFill>
                <a:latin typeface="Calibri" panose="020F0502020204030204"/>
              </a:rPr>
              <a:t> pkt on receipt of NAK</a:t>
            </a:r>
          </a:p>
        </p:txBody>
      </p:sp>
      <p:grpSp>
        <p:nvGrpSpPr>
          <p:cNvPr id="7" name="Group 13">
            <a:extLst>
              <a:ext uri="{FF2B5EF4-FFF2-40B4-BE49-F238E27FC236}">
                <a16:creationId xmlns:a16="http://schemas.microsoft.com/office/drawing/2014/main" id="{0DED2191-7C7B-EA46-AFB1-5A7A4509EEC8}"/>
              </a:ext>
            </a:extLst>
          </p:cNvPr>
          <p:cNvGrpSpPr>
            <a:grpSpLocks/>
          </p:cNvGrpSpPr>
          <p:nvPr/>
        </p:nvGrpSpPr>
        <p:grpSpPr bwMode="auto">
          <a:xfrm>
            <a:off x="703162" y="4673090"/>
            <a:ext cx="8047298" cy="915591"/>
            <a:chOff x="1552" y="2800"/>
            <a:chExt cx="2578" cy="769"/>
          </a:xfrm>
        </p:grpSpPr>
        <p:sp>
          <p:nvSpPr>
            <p:cNvPr id="8" name="Rectangle 7">
              <a:extLst>
                <a:ext uri="{FF2B5EF4-FFF2-40B4-BE49-F238E27FC236}">
                  <a16:creationId xmlns:a16="http://schemas.microsoft.com/office/drawing/2014/main" id="{CA5C33DB-F1DF-074B-AA2F-B41978703359}"/>
                </a:ext>
              </a:extLst>
            </p:cNvPr>
            <p:cNvSpPr>
              <a:spLocks noChangeArrowheads="1"/>
            </p:cNvSpPr>
            <p:nvPr/>
          </p:nvSpPr>
          <p:spPr bwMode="auto">
            <a:xfrm>
              <a:off x="1552" y="2974"/>
              <a:ext cx="2578" cy="595"/>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9" name="Rectangle 9">
              <a:extLst>
                <a:ext uri="{FF2B5EF4-FFF2-40B4-BE49-F238E27FC236}">
                  <a16:creationId xmlns:a16="http://schemas.microsoft.com/office/drawing/2014/main" id="{CB4139DF-921F-E940-9AD8-677EFA8E24B3}"/>
                </a:ext>
              </a:extLst>
            </p:cNvPr>
            <p:cNvSpPr>
              <a:spLocks noChangeArrowheads="1"/>
            </p:cNvSpPr>
            <p:nvPr/>
          </p:nvSpPr>
          <p:spPr bwMode="auto">
            <a:xfrm>
              <a:off x="2226" y="2864"/>
              <a:ext cx="88" cy="22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10" name="Text Box 10">
              <a:extLst>
                <a:ext uri="{FF2B5EF4-FFF2-40B4-BE49-F238E27FC236}">
                  <a16:creationId xmlns:a16="http://schemas.microsoft.com/office/drawing/2014/main" id="{B44BC4A2-14C8-8A47-B1A1-506171B4D389}"/>
                </a:ext>
              </a:extLst>
            </p:cNvPr>
            <p:cNvSpPr txBox="1">
              <a:spLocks noChangeArrowheads="1"/>
            </p:cNvSpPr>
            <p:nvPr/>
          </p:nvSpPr>
          <p:spPr bwMode="auto">
            <a:xfrm>
              <a:off x="1724" y="2800"/>
              <a:ext cx="687" cy="38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2400" dirty="0">
                  <a:solidFill>
                    <a:srgbClr val="CC0000"/>
                  </a:solidFill>
                  <a:latin typeface="Calibri" panose="020F0502020204030204"/>
                </a:rPr>
                <a:t>stop and wait</a:t>
              </a:r>
            </a:p>
          </p:txBody>
        </p:sp>
        <p:sp>
          <p:nvSpPr>
            <p:cNvPr id="11" name="Text Box 6">
              <a:extLst>
                <a:ext uri="{FF2B5EF4-FFF2-40B4-BE49-F238E27FC236}">
                  <a16:creationId xmlns:a16="http://schemas.microsoft.com/office/drawing/2014/main" id="{EEE47A92-87A4-AD48-8A94-DC9DCFA6DD50}"/>
                </a:ext>
              </a:extLst>
            </p:cNvPr>
            <p:cNvSpPr txBox="1">
              <a:spLocks noChangeArrowheads="1"/>
            </p:cNvSpPr>
            <p:nvPr/>
          </p:nvSpPr>
          <p:spPr bwMode="auto">
            <a:xfrm>
              <a:off x="1678" y="3136"/>
              <a:ext cx="2452" cy="34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CC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lnSpc>
                  <a:spcPct val="85000"/>
                </a:lnSpc>
                <a:defRPr/>
              </a:pPr>
              <a:r>
                <a:rPr lang="en-US" sz="2400" dirty="0">
                  <a:solidFill>
                    <a:prstClr val="black"/>
                  </a:solidFill>
                  <a:latin typeface="Calibri" panose="020F0502020204030204"/>
                </a:rPr>
                <a:t>sender sends one packet,  then waits for receiver  response</a:t>
              </a:r>
            </a:p>
          </p:txBody>
        </p:sp>
      </p:grpSp>
    </p:spTree>
    <p:extLst>
      <p:ext uri="{BB962C8B-B14F-4D97-AF65-F5344CB8AC3E}">
        <p14:creationId xmlns:p14="http://schemas.microsoft.com/office/powerpoint/2010/main" val="157211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 FSM specifications</a:t>
            </a:r>
            <a:endParaRPr lang="en-US" dirty="0"/>
          </a:p>
        </p:txBody>
      </p:sp>
      <p:sp>
        <p:nvSpPr>
          <p:cNvPr id="44" name="Slide Number Placeholder 2">
            <a:extLst>
              <a:ext uri="{FF2B5EF4-FFF2-40B4-BE49-F238E27FC236}">
                <a16:creationId xmlns:a16="http://schemas.microsoft.com/office/drawing/2014/main" id="{C5DFF1AE-5E68-A349-98EF-93FDA954903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12</a:t>
            </a:fld>
            <a:endParaRPr lang="en-US" dirty="0">
              <a:solidFill>
                <a:prstClr val="white">
                  <a:lumMod val="50000"/>
                </a:prstClr>
              </a:solidFill>
              <a:latin typeface="Calibri" panose="020F0502020204030204"/>
            </a:endParaRPr>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1836714"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1760513"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call from above</a:t>
            </a:r>
            <a:endParaRPr lang="en-US" altLang="en-US" sz="1200" dirty="0">
              <a:solidFill>
                <a:prstClr val="black"/>
              </a:solidFill>
              <a:latin typeface="Times New Roman" panose="02020603050405020304" pitchFamily="18" charset="0"/>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3753619" y="2657652"/>
            <a:ext cx="2755107" cy="689453"/>
            <a:chOff x="5004826" y="2400535"/>
            <a:chExt cx="3673477"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7" y="2740368"/>
              <a:ext cx="1909374" cy="40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9" y="2400535"/>
              <a:ext cx="3389314" cy="63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latin typeface="Times New Roman" panose="02020603050405020304" pitchFamily="18" charset="0"/>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3033291" y="2629158"/>
            <a:ext cx="806054" cy="721519"/>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ACK or NAK</a:t>
              </a:r>
              <a:endParaRPr lang="en-US" altLang="en-US" sz="1200" dirty="0">
                <a:solidFill>
                  <a:prstClr val="black"/>
                </a:solidFill>
                <a:latin typeface="Times New Roman" panose="02020603050405020304" pitchFamily="18" charset="0"/>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067695" y="1862395"/>
            <a:ext cx="2732484" cy="770335"/>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snkpkt = make_pkt(data, checksum)</a:t>
              </a:r>
            </a:p>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rdt_send(data)</a:t>
              </a:r>
              <a:endParaRPr lang="en-US" altLang="en-US" sz="1200" dirty="0">
                <a:solidFill>
                  <a:prstClr val="black"/>
                </a:solidFill>
                <a:latin typeface="Times New Roman" panose="02020603050405020304" pitchFamily="18" charset="0"/>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1702768" y="3319755"/>
            <a:ext cx="2661047" cy="766554"/>
            <a:chOff x="2270357" y="3283338"/>
            <a:chExt cx="3548062" cy="1022072"/>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a:defRPr/>
              </a:pPr>
              <a:r>
                <a:rPr lang="en-US" sz="1350" dirty="0">
                  <a:solidFill>
                    <a:prstClr val="black"/>
                  </a:solidFill>
                  <a:latin typeface="Calibri" panose="020F0502020204030204"/>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59487"/>
              <a:chOff x="2270357" y="3545923"/>
              <a:chExt cx="3548062" cy="759487"/>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200" dirty="0">
                    <a:solidFill>
                      <a:prstClr val="black"/>
                    </a:solidFill>
                    <a:latin typeface="Symbol" charset="0"/>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sender</a:t>
            </a:r>
          </a:p>
        </p:txBody>
      </p:sp>
      <p:sp>
        <p:nvSpPr>
          <p:cNvPr id="43" name="Text Box 16">
            <a:extLst>
              <a:ext uri="{FF2B5EF4-FFF2-40B4-BE49-F238E27FC236}">
                <a16:creationId xmlns:a16="http://schemas.microsoft.com/office/drawing/2014/main" id="{99B9B250-0EDF-9940-8119-8A3858DACA6A}"/>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&amp;&amp;</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006643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168">
            <a:extLst>
              <a:ext uri="{FF2B5EF4-FFF2-40B4-BE49-F238E27FC236}">
                <a16:creationId xmlns:a16="http://schemas.microsoft.com/office/drawing/2014/main" id="{68EB694D-F4ED-0141-BBB1-034CE4FDF113}"/>
              </a:ext>
            </a:extLst>
          </p:cNvPr>
          <p:cNvSpPr/>
          <p:nvPr/>
        </p:nvSpPr>
        <p:spPr>
          <a:xfrm>
            <a:off x="7402665" y="4665224"/>
            <a:ext cx="1251938" cy="23328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68" name="Rectangle 167">
            <a:extLst>
              <a:ext uri="{FF2B5EF4-FFF2-40B4-BE49-F238E27FC236}">
                <a16:creationId xmlns:a16="http://schemas.microsoft.com/office/drawing/2014/main" id="{D3935A0A-DEFE-0D4A-A039-8D2F8EDE2B13}"/>
              </a:ext>
            </a:extLst>
          </p:cNvPr>
          <p:cNvSpPr/>
          <p:nvPr/>
        </p:nvSpPr>
        <p:spPr>
          <a:xfrm>
            <a:off x="7577371" y="2907898"/>
            <a:ext cx="999959" cy="23328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 FSM specifications</a:t>
            </a:r>
            <a:endParaRPr lang="en-US" dirty="0"/>
          </a:p>
        </p:txBody>
      </p:sp>
      <p:sp>
        <p:nvSpPr>
          <p:cNvPr id="44" name="Slide Number Placeholder 2">
            <a:extLst>
              <a:ext uri="{FF2B5EF4-FFF2-40B4-BE49-F238E27FC236}">
                <a16:creationId xmlns:a16="http://schemas.microsoft.com/office/drawing/2014/main" id="{C5DFF1AE-5E68-A349-98EF-93FDA954903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13</a:t>
            </a:fld>
            <a:endParaRPr lang="en-US" dirty="0">
              <a:solidFill>
                <a:prstClr val="white">
                  <a:lumMod val="50000"/>
                </a:prstClr>
              </a:solidFill>
              <a:latin typeface="Calibri" panose="020F0502020204030204"/>
            </a:endParaRPr>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1836714"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1760513"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call from above</a:t>
            </a:r>
            <a:endParaRPr lang="en-US" altLang="en-US" sz="1200" dirty="0">
              <a:solidFill>
                <a:prstClr val="black"/>
              </a:solidFill>
              <a:latin typeface="Times New Roman" panose="02020603050405020304" pitchFamily="18" charset="0"/>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3753620" y="2657652"/>
            <a:ext cx="2755106" cy="689453"/>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latin typeface="Times New Roman" panose="02020603050405020304" pitchFamily="18" charset="0"/>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3033291" y="2629158"/>
            <a:ext cx="806054" cy="721519"/>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ACK or NAK</a:t>
              </a:r>
              <a:endParaRPr lang="en-US" altLang="en-US" sz="1200" dirty="0">
                <a:solidFill>
                  <a:prstClr val="black"/>
                </a:solidFill>
                <a:latin typeface="Times New Roman" panose="02020603050405020304" pitchFamily="18" charset="0"/>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6244408" y="2898238"/>
            <a:ext cx="2545556" cy="777479"/>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6387282"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6321797"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call from below</a:t>
            </a:r>
            <a:endParaRPr lang="en-US" altLang="en-US" sz="1200" dirty="0">
              <a:solidFill>
                <a:prstClr val="black"/>
              </a:solidFill>
              <a:latin typeface="Times New Roman" panose="02020603050405020304" pitchFamily="18" charset="0"/>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6037238" y="4300661"/>
            <a:ext cx="3106762" cy="1034904"/>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extract(rcvpkt,data)</a:t>
                </a:r>
              </a:p>
              <a:p>
                <a:pPr defTabSz="685800">
                  <a:defRPr/>
                </a:pPr>
                <a:r>
                  <a:rPr lang="en-US" altLang="en-US" sz="1200" dirty="0">
                    <a:solidFill>
                      <a:prstClr val="black"/>
                    </a:solidFill>
                    <a:latin typeface="Arial" panose="020B0604020202020204" pitchFamily="34" charset="0"/>
                  </a:rPr>
                  <a:t>deliver_data(data)</a:t>
                </a:r>
              </a:p>
              <a:p>
                <a:pPr defTabSz="685800">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067695" y="1862395"/>
            <a:ext cx="2732484" cy="770335"/>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snkpkt = make_pkt(data, checksum)</a:t>
              </a:r>
            </a:p>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rdt_send(data)</a:t>
              </a:r>
              <a:endParaRPr lang="en-US" altLang="en-US" sz="1200" dirty="0">
                <a:solidFill>
                  <a:prstClr val="black"/>
                </a:solidFill>
                <a:latin typeface="Times New Roman" panose="02020603050405020304" pitchFamily="18" charset="0"/>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1702768" y="3319755"/>
            <a:ext cx="2661047" cy="766554"/>
            <a:chOff x="2270357" y="3283338"/>
            <a:chExt cx="3548062" cy="1022072"/>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a:defRPr/>
              </a:pPr>
              <a:r>
                <a:rPr lang="en-US" sz="1350" dirty="0">
                  <a:solidFill>
                    <a:prstClr val="black"/>
                  </a:solidFill>
                  <a:latin typeface="Calibri" panose="020F0502020204030204"/>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59487"/>
              <a:chOff x="2270357" y="3545923"/>
              <a:chExt cx="3548062" cy="759487"/>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200" dirty="0">
                    <a:solidFill>
                      <a:prstClr val="black"/>
                    </a:solidFill>
                    <a:latin typeface="Symbol" charset="0"/>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receiver</a:t>
            </a:r>
          </a:p>
        </p:txBody>
      </p:sp>
      <p:sp>
        <p:nvSpPr>
          <p:cNvPr id="43" name="Text Box 16">
            <a:extLst>
              <a:ext uri="{FF2B5EF4-FFF2-40B4-BE49-F238E27FC236}">
                <a16:creationId xmlns:a16="http://schemas.microsoft.com/office/drawing/2014/main" id="{99B9B250-0EDF-9940-8119-8A3858DACA6A}"/>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&amp;&amp;</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111777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 FSM specifications</a:t>
            </a:r>
            <a:endParaRPr lang="en-US" dirty="0"/>
          </a:p>
        </p:txBody>
      </p:sp>
      <p:sp>
        <p:nvSpPr>
          <p:cNvPr id="45" name="Slide Number Placeholder 2">
            <a:extLst>
              <a:ext uri="{FF2B5EF4-FFF2-40B4-BE49-F238E27FC236}">
                <a16:creationId xmlns:a16="http://schemas.microsoft.com/office/drawing/2014/main" id="{74821291-B2F1-5248-8BEE-C21E2CB09702}"/>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14</a:t>
            </a:fld>
            <a:endParaRPr lang="en-US" dirty="0">
              <a:solidFill>
                <a:prstClr val="white">
                  <a:lumMod val="50000"/>
                </a:prstClr>
              </a:solidFill>
              <a:latin typeface="Calibri" panose="020F0502020204030204"/>
            </a:endParaRPr>
          </a:p>
        </p:txBody>
      </p:sp>
      <p:sp>
        <p:nvSpPr>
          <p:cNvPr id="109" name="Oval 3">
            <a:extLst>
              <a:ext uri="{FF2B5EF4-FFF2-40B4-BE49-F238E27FC236}">
                <a16:creationId xmlns:a16="http://schemas.microsoft.com/office/drawing/2014/main" id="{606B9A69-736A-BE4F-8E57-1E4DD86ADE7D}"/>
              </a:ext>
            </a:extLst>
          </p:cNvPr>
          <p:cNvSpPr>
            <a:spLocks noChangeArrowheads="1"/>
          </p:cNvSpPr>
          <p:nvPr/>
        </p:nvSpPr>
        <p:spPr bwMode="auto">
          <a:xfrm>
            <a:off x="1836714"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10" name="Text Box 4">
            <a:extLst>
              <a:ext uri="{FF2B5EF4-FFF2-40B4-BE49-F238E27FC236}">
                <a16:creationId xmlns:a16="http://schemas.microsoft.com/office/drawing/2014/main" id="{9158E582-2053-DB47-8544-5430174AAC29}"/>
              </a:ext>
            </a:extLst>
          </p:cNvPr>
          <p:cNvSpPr txBox="1">
            <a:spLocks noChangeArrowheads="1"/>
          </p:cNvSpPr>
          <p:nvPr/>
        </p:nvSpPr>
        <p:spPr bwMode="auto">
          <a:xfrm>
            <a:off x="1760513"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call from above</a:t>
            </a:r>
            <a:endParaRPr lang="en-US" altLang="en-US" sz="1200" dirty="0">
              <a:solidFill>
                <a:prstClr val="black"/>
              </a:solidFill>
              <a:latin typeface="Times New Roman" panose="02020603050405020304" pitchFamily="18" charset="0"/>
            </a:endParaRPr>
          </a:p>
        </p:txBody>
      </p:sp>
      <p:grpSp>
        <p:nvGrpSpPr>
          <p:cNvPr id="156" name="Group 155">
            <a:extLst>
              <a:ext uri="{FF2B5EF4-FFF2-40B4-BE49-F238E27FC236}">
                <a16:creationId xmlns:a16="http://schemas.microsoft.com/office/drawing/2014/main" id="{1A819A83-E50E-0842-8735-DFC0B065BABA}"/>
              </a:ext>
            </a:extLst>
          </p:cNvPr>
          <p:cNvGrpSpPr/>
          <p:nvPr/>
        </p:nvGrpSpPr>
        <p:grpSpPr>
          <a:xfrm>
            <a:off x="3753620" y="2657652"/>
            <a:ext cx="2755106" cy="689453"/>
            <a:chOff x="5004826" y="2400535"/>
            <a:chExt cx="3673475" cy="919271"/>
          </a:xfrm>
        </p:grpSpPr>
        <p:sp>
          <p:nvSpPr>
            <p:cNvPr id="120" name="Freeform 14">
              <a:extLst>
                <a:ext uri="{FF2B5EF4-FFF2-40B4-BE49-F238E27FC236}">
                  <a16:creationId xmlns:a16="http://schemas.microsoft.com/office/drawing/2014/main" id="{6794142E-E5B8-3F45-81C1-8A8F8E602B04}"/>
                </a:ext>
              </a:extLst>
            </p:cNvPr>
            <p:cNvSpPr>
              <a:spLocks/>
            </p:cNvSpPr>
            <p:nvPr/>
          </p:nvSpPr>
          <p:spPr bwMode="auto">
            <a:xfrm>
              <a:off x="5004826" y="2426043"/>
              <a:ext cx="466725" cy="893763"/>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121" name="Text Box 15">
              <a:extLst>
                <a:ext uri="{FF2B5EF4-FFF2-40B4-BE49-F238E27FC236}">
                  <a16:creationId xmlns:a16="http://schemas.microsoft.com/office/drawing/2014/main" id="{EBF1463C-CBD7-1049-80A6-FED400C12A10}"/>
                </a:ext>
              </a:extLst>
            </p:cNvPr>
            <p:cNvSpPr txBox="1">
              <a:spLocks noChangeArrowheads="1"/>
            </p:cNvSpPr>
            <p:nvPr/>
          </p:nvSpPr>
          <p:spPr bwMode="auto">
            <a:xfrm>
              <a:off x="5314388" y="2740368"/>
              <a:ext cx="1763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22" name="Text Box 16">
              <a:extLst>
                <a:ext uri="{FF2B5EF4-FFF2-40B4-BE49-F238E27FC236}">
                  <a16:creationId xmlns:a16="http://schemas.microsoft.com/office/drawing/2014/main" id="{C1489951-F533-6243-BF54-F4FB192513F6}"/>
                </a:ext>
              </a:extLst>
            </p:cNvPr>
            <p:cNvSpPr txBox="1">
              <a:spLocks noChangeArrowheads="1"/>
            </p:cNvSpPr>
            <p:nvPr/>
          </p:nvSpPr>
          <p:spPr bwMode="auto">
            <a:xfrm>
              <a:off x="5288988" y="2400535"/>
              <a:ext cx="3389313"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latin typeface="Times New Roman" panose="02020603050405020304" pitchFamily="18" charset="0"/>
              </a:endParaRPr>
            </a:p>
          </p:txBody>
        </p:sp>
        <p:sp>
          <p:nvSpPr>
            <p:cNvPr id="123" name="Line 17">
              <a:extLst>
                <a:ext uri="{FF2B5EF4-FFF2-40B4-BE49-F238E27FC236}">
                  <a16:creationId xmlns:a16="http://schemas.microsoft.com/office/drawing/2014/main" id="{E7CC9AD6-FAA9-474E-B46B-1E603A7D16C8}"/>
                </a:ext>
              </a:extLst>
            </p:cNvPr>
            <p:cNvSpPr>
              <a:spLocks noChangeShapeType="1"/>
            </p:cNvSpPr>
            <p:nvPr/>
          </p:nvSpPr>
          <p:spPr bwMode="auto">
            <a:xfrm>
              <a:off x="5408051" y="2740368"/>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grpSp>
        <p:nvGrpSpPr>
          <p:cNvPr id="128" name="Group 22">
            <a:extLst>
              <a:ext uri="{FF2B5EF4-FFF2-40B4-BE49-F238E27FC236}">
                <a16:creationId xmlns:a16="http://schemas.microsoft.com/office/drawing/2014/main" id="{6E4E03EB-86D3-824C-9C7B-D6204AA45EF1}"/>
              </a:ext>
            </a:extLst>
          </p:cNvPr>
          <p:cNvGrpSpPr>
            <a:grpSpLocks/>
          </p:cNvGrpSpPr>
          <p:nvPr/>
        </p:nvGrpSpPr>
        <p:grpSpPr bwMode="auto">
          <a:xfrm>
            <a:off x="3033291" y="2629158"/>
            <a:ext cx="806054" cy="721519"/>
            <a:chOff x="1540" y="2116"/>
            <a:chExt cx="677" cy="606"/>
          </a:xfrm>
        </p:grpSpPr>
        <p:sp>
          <p:nvSpPr>
            <p:cNvPr id="129" name="Oval 23">
              <a:extLst>
                <a:ext uri="{FF2B5EF4-FFF2-40B4-BE49-F238E27FC236}">
                  <a16:creationId xmlns:a16="http://schemas.microsoft.com/office/drawing/2014/main" id="{290478B3-253F-D048-8DE9-187624FD0138}"/>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30" name="Text Box 24">
              <a:extLst>
                <a:ext uri="{FF2B5EF4-FFF2-40B4-BE49-F238E27FC236}">
                  <a16:creationId xmlns:a16="http://schemas.microsoft.com/office/drawing/2014/main" id="{33128FC3-7340-2B43-998B-4D14B544CCA9}"/>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ACK or NAK</a:t>
              </a:r>
              <a:endParaRPr lang="en-US" altLang="en-US" sz="1200" dirty="0">
                <a:solidFill>
                  <a:prstClr val="black"/>
                </a:solidFill>
                <a:latin typeface="Times New Roman" panose="02020603050405020304" pitchFamily="18" charset="0"/>
              </a:endParaRPr>
            </a:p>
          </p:txBody>
        </p:sp>
      </p:grpSp>
      <p:grpSp>
        <p:nvGrpSpPr>
          <p:cNvPr id="159" name="Group 158">
            <a:extLst>
              <a:ext uri="{FF2B5EF4-FFF2-40B4-BE49-F238E27FC236}">
                <a16:creationId xmlns:a16="http://schemas.microsoft.com/office/drawing/2014/main" id="{D0E913FD-5AB0-D647-A2DB-C235CF8D718B}"/>
              </a:ext>
            </a:extLst>
          </p:cNvPr>
          <p:cNvGrpSpPr/>
          <p:nvPr/>
        </p:nvGrpSpPr>
        <p:grpSpPr>
          <a:xfrm>
            <a:off x="6244408" y="2898238"/>
            <a:ext cx="2545556" cy="777479"/>
            <a:chOff x="8325876" y="2721318"/>
            <a:chExt cx="3394075" cy="1036638"/>
          </a:xfrm>
        </p:grpSpPr>
        <p:grpSp>
          <p:nvGrpSpPr>
            <p:cNvPr id="124" name="Group 18">
              <a:extLst>
                <a:ext uri="{FF2B5EF4-FFF2-40B4-BE49-F238E27FC236}">
                  <a16:creationId xmlns:a16="http://schemas.microsoft.com/office/drawing/2014/main" id="{1FD009B5-82D3-A54A-A742-8202ED8CE702}"/>
                </a:ext>
              </a:extLst>
            </p:cNvPr>
            <p:cNvGrpSpPr>
              <a:grpSpLocks/>
            </p:cNvGrpSpPr>
            <p:nvPr/>
          </p:nvGrpSpPr>
          <p:grpSpPr bwMode="auto">
            <a:xfrm>
              <a:off x="8325876" y="2721318"/>
              <a:ext cx="3394075" cy="630238"/>
              <a:chOff x="2222" y="2804"/>
              <a:chExt cx="2138" cy="397"/>
            </a:xfrm>
          </p:grpSpPr>
          <p:sp>
            <p:nvSpPr>
              <p:cNvPr id="125" name="Text Box 19">
                <a:extLst>
                  <a:ext uri="{FF2B5EF4-FFF2-40B4-BE49-F238E27FC236}">
                    <a16:creationId xmlns:a16="http://schemas.microsoft.com/office/drawing/2014/main" id="{A317A424-F2E1-824F-B626-E01E0E2404B1}"/>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126" name="Text Box 20">
                <a:extLst>
                  <a:ext uri="{FF2B5EF4-FFF2-40B4-BE49-F238E27FC236}">
                    <a16:creationId xmlns:a16="http://schemas.microsoft.com/office/drawing/2014/main" id="{F3C2F2D4-E406-8746-8990-3E5ED0A5CAE1}"/>
                  </a:ext>
                </a:extLst>
              </p:cNvPr>
              <p:cNvSpPr txBox="1">
                <a:spLocks noChangeArrowheads="1"/>
              </p:cNvSpPr>
              <p:nvPr/>
            </p:nvSpPr>
            <p:spPr bwMode="auto">
              <a:xfrm>
                <a:off x="2225" y="2804"/>
                <a:ext cx="2135"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sp>
            <p:nvSpPr>
              <p:cNvPr id="127" name="Line 21">
                <a:extLst>
                  <a:ext uri="{FF2B5EF4-FFF2-40B4-BE49-F238E27FC236}">
                    <a16:creationId xmlns:a16="http://schemas.microsoft.com/office/drawing/2014/main" id="{BE673EC8-DD07-7A43-8EF8-4AF46E325C31}"/>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31" name="Freeform 25">
              <a:extLst>
                <a:ext uri="{FF2B5EF4-FFF2-40B4-BE49-F238E27FC236}">
                  <a16:creationId xmlns:a16="http://schemas.microsoft.com/office/drawing/2014/main" id="{0EE6DE3B-8CC5-4840-9E43-E2F13B451312}"/>
                </a:ext>
              </a:extLst>
            </p:cNvPr>
            <p:cNvSpPr>
              <a:spLocks/>
            </p:cNvSpPr>
            <p:nvPr/>
          </p:nvSpPr>
          <p:spPr bwMode="auto">
            <a:xfrm>
              <a:off x="8424301" y="3288056"/>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32" name="Oval 26">
            <a:extLst>
              <a:ext uri="{FF2B5EF4-FFF2-40B4-BE49-F238E27FC236}">
                <a16:creationId xmlns:a16="http://schemas.microsoft.com/office/drawing/2014/main" id="{D886EFDE-A0BD-234F-9505-E1DFE71A45A0}"/>
              </a:ext>
            </a:extLst>
          </p:cNvPr>
          <p:cNvSpPr>
            <a:spLocks noChangeArrowheads="1"/>
          </p:cNvSpPr>
          <p:nvPr/>
        </p:nvSpPr>
        <p:spPr bwMode="auto">
          <a:xfrm>
            <a:off x="6387282"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33" name="Text Box 27">
            <a:extLst>
              <a:ext uri="{FF2B5EF4-FFF2-40B4-BE49-F238E27FC236}">
                <a16:creationId xmlns:a16="http://schemas.microsoft.com/office/drawing/2014/main" id="{7D124EF1-1801-CC41-AA27-4430B21813BF}"/>
              </a:ext>
            </a:extLst>
          </p:cNvPr>
          <p:cNvSpPr txBox="1">
            <a:spLocks noChangeArrowheads="1"/>
          </p:cNvSpPr>
          <p:nvPr/>
        </p:nvSpPr>
        <p:spPr bwMode="auto">
          <a:xfrm>
            <a:off x="6321797"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call from below</a:t>
            </a:r>
            <a:endParaRPr lang="en-US" altLang="en-US" sz="1200" dirty="0">
              <a:solidFill>
                <a:prstClr val="black"/>
              </a:solidFill>
              <a:latin typeface="Times New Roman" panose="02020603050405020304" pitchFamily="18" charset="0"/>
            </a:endParaRPr>
          </a:p>
        </p:txBody>
      </p:sp>
      <p:grpSp>
        <p:nvGrpSpPr>
          <p:cNvPr id="164" name="Group 163">
            <a:extLst>
              <a:ext uri="{FF2B5EF4-FFF2-40B4-BE49-F238E27FC236}">
                <a16:creationId xmlns:a16="http://schemas.microsoft.com/office/drawing/2014/main" id="{311BB54D-2176-2D44-BD7F-B18C9C74D8A4}"/>
              </a:ext>
            </a:extLst>
          </p:cNvPr>
          <p:cNvGrpSpPr/>
          <p:nvPr/>
        </p:nvGrpSpPr>
        <p:grpSpPr>
          <a:xfrm>
            <a:off x="6037238" y="4300661"/>
            <a:ext cx="3106762" cy="1034904"/>
            <a:chOff x="8049650" y="4591214"/>
            <a:chExt cx="4142349" cy="1379872"/>
          </a:xfrm>
        </p:grpSpPr>
        <p:grpSp>
          <p:nvGrpSpPr>
            <p:cNvPr id="163" name="Group 162">
              <a:extLst>
                <a:ext uri="{FF2B5EF4-FFF2-40B4-BE49-F238E27FC236}">
                  <a16:creationId xmlns:a16="http://schemas.microsoft.com/office/drawing/2014/main" id="{E182C09B-F3FC-C340-BB16-737F51CA96BE}"/>
                </a:ext>
              </a:extLst>
            </p:cNvPr>
            <p:cNvGrpSpPr/>
            <p:nvPr/>
          </p:nvGrpSpPr>
          <p:grpSpPr>
            <a:xfrm>
              <a:off x="8049650" y="5037504"/>
              <a:ext cx="4142349" cy="933582"/>
              <a:chOff x="8049650" y="5037504"/>
              <a:chExt cx="4142349" cy="933582"/>
            </a:xfrm>
          </p:grpSpPr>
          <p:sp>
            <p:nvSpPr>
              <p:cNvPr id="113" name="Text Box 7">
                <a:extLst>
                  <a:ext uri="{FF2B5EF4-FFF2-40B4-BE49-F238E27FC236}">
                    <a16:creationId xmlns:a16="http://schemas.microsoft.com/office/drawing/2014/main" id="{60B53257-B255-5D45-9C56-20A5CE5DE77F}"/>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extract(rcvpkt,data)</a:t>
                </a:r>
              </a:p>
              <a:p>
                <a:pPr defTabSz="685800">
                  <a:defRPr/>
                </a:pPr>
                <a:r>
                  <a:rPr lang="en-US" altLang="en-US" sz="1200" dirty="0">
                    <a:solidFill>
                      <a:prstClr val="black"/>
                    </a:solidFill>
                    <a:latin typeface="Arial" panose="020B0604020202020204" pitchFamily="34" charset="0"/>
                  </a:rPr>
                  <a:t>deliver_data(data)</a:t>
                </a:r>
              </a:p>
              <a:p>
                <a:pPr defTabSz="685800">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14" name="Text Box 8">
                <a:extLst>
                  <a:ext uri="{FF2B5EF4-FFF2-40B4-BE49-F238E27FC236}">
                    <a16:creationId xmlns:a16="http://schemas.microsoft.com/office/drawing/2014/main" id="{2151DB25-A53F-EF4A-BDBD-C8DD839A622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15" name="Line 9">
                <a:extLst>
                  <a:ext uri="{FF2B5EF4-FFF2-40B4-BE49-F238E27FC236}">
                    <a16:creationId xmlns:a16="http://schemas.microsoft.com/office/drawing/2014/main" id="{4797C970-D2E8-AA47-91A6-90DF435C025D}"/>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34" name="Freeform 28">
              <a:extLst>
                <a:ext uri="{FF2B5EF4-FFF2-40B4-BE49-F238E27FC236}">
                  <a16:creationId xmlns:a16="http://schemas.microsoft.com/office/drawing/2014/main" id="{8D9E8E7D-01E2-7040-828E-B4AD37E6C50C}"/>
                </a:ext>
              </a:extLst>
            </p:cNvPr>
            <p:cNvSpPr>
              <a:spLocks/>
            </p:cNvSpPr>
            <p:nvPr/>
          </p:nvSpPr>
          <p:spPr bwMode="auto">
            <a:xfrm flipV="1">
              <a:off x="8437001" y="4591214"/>
              <a:ext cx="12573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grpSp>
      <p:grpSp>
        <p:nvGrpSpPr>
          <p:cNvPr id="155" name="Group 154">
            <a:extLst>
              <a:ext uri="{FF2B5EF4-FFF2-40B4-BE49-F238E27FC236}">
                <a16:creationId xmlns:a16="http://schemas.microsoft.com/office/drawing/2014/main" id="{FCAE8B13-78CF-DD4C-AD79-FE70F24547E0}"/>
              </a:ext>
            </a:extLst>
          </p:cNvPr>
          <p:cNvGrpSpPr/>
          <p:nvPr/>
        </p:nvGrpSpPr>
        <p:grpSpPr>
          <a:xfrm>
            <a:off x="2067695" y="1862395"/>
            <a:ext cx="2732484" cy="770335"/>
            <a:chOff x="2756926" y="1340193"/>
            <a:chExt cx="3643312" cy="1027113"/>
          </a:xfrm>
        </p:grpSpPr>
        <p:sp>
          <p:nvSpPr>
            <p:cNvPr id="111" name="Text Box 5">
              <a:extLst>
                <a:ext uri="{FF2B5EF4-FFF2-40B4-BE49-F238E27FC236}">
                  <a16:creationId xmlns:a16="http://schemas.microsoft.com/office/drawing/2014/main" id="{B4419231-71F9-2847-A8A7-8F91C3BFAD5F}"/>
                </a:ext>
              </a:extLst>
            </p:cNvPr>
            <p:cNvSpPr txBox="1">
              <a:spLocks noChangeArrowheads="1"/>
            </p:cNvSpPr>
            <p:nvPr/>
          </p:nvSpPr>
          <p:spPr bwMode="auto">
            <a:xfrm>
              <a:off x="2756926" y="1630706"/>
              <a:ext cx="3643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snkpkt = make_pkt(data, checksum)</a:t>
              </a:r>
            </a:p>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112" name="Line 6">
              <a:extLst>
                <a:ext uri="{FF2B5EF4-FFF2-40B4-BE49-F238E27FC236}">
                  <a16:creationId xmlns:a16="http://schemas.microsoft.com/office/drawing/2014/main" id="{9D8A7D98-AFD4-AA49-B033-1C3F29FDF103}"/>
                </a:ext>
              </a:extLst>
            </p:cNvPr>
            <p:cNvSpPr>
              <a:spLocks noChangeShapeType="1"/>
            </p:cNvSpPr>
            <p:nvPr/>
          </p:nvSpPr>
          <p:spPr bwMode="auto">
            <a:xfrm>
              <a:off x="2861701" y="1675156"/>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16" name="Freeform 10">
              <a:extLst>
                <a:ext uri="{FF2B5EF4-FFF2-40B4-BE49-F238E27FC236}">
                  <a16:creationId xmlns:a16="http://schemas.microsoft.com/office/drawing/2014/main" id="{C65AC33D-DAC6-0248-903C-715D380A05CD}"/>
                </a:ext>
              </a:extLst>
            </p:cNvPr>
            <p:cNvSpPr>
              <a:spLocks/>
            </p:cNvSpPr>
            <p:nvPr/>
          </p:nvSpPr>
          <p:spPr bwMode="auto">
            <a:xfrm flipV="1">
              <a:off x="2809313" y="2119656"/>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141" name="Text Box 35">
              <a:extLst>
                <a:ext uri="{FF2B5EF4-FFF2-40B4-BE49-F238E27FC236}">
                  <a16:creationId xmlns:a16="http://schemas.microsoft.com/office/drawing/2014/main" id="{8B2CC675-7409-974B-A183-2AC7E249C391}"/>
                </a:ext>
              </a:extLst>
            </p:cNvPr>
            <p:cNvSpPr txBox="1">
              <a:spLocks noChangeArrowheads="1"/>
            </p:cNvSpPr>
            <p:nvPr/>
          </p:nvSpPr>
          <p:spPr bwMode="auto">
            <a:xfrm>
              <a:off x="2782326" y="1340193"/>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rdt_send(data)</a:t>
              </a:r>
              <a:endParaRPr lang="en-US" altLang="en-US" sz="1200" dirty="0">
                <a:solidFill>
                  <a:prstClr val="black"/>
                </a:solidFill>
                <a:latin typeface="Times New Roman" panose="02020603050405020304" pitchFamily="18" charset="0"/>
              </a:endParaRPr>
            </a:p>
          </p:txBody>
        </p:sp>
      </p:grpSp>
      <p:grpSp>
        <p:nvGrpSpPr>
          <p:cNvPr id="158" name="Group 157">
            <a:extLst>
              <a:ext uri="{FF2B5EF4-FFF2-40B4-BE49-F238E27FC236}">
                <a16:creationId xmlns:a16="http://schemas.microsoft.com/office/drawing/2014/main" id="{02805388-DFB1-CA42-9623-430C96CD0F0B}"/>
              </a:ext>
            </a:extLst>
          </p:cNvPr>
          <p:cNvGrpSpPr/>
          <p:nvPr/>
        </p:nvGrpSpPr>
        <p:grpSpPr>
          <a:xfrm>
            <a:off x="1702768" y="3319755"/>
            <a:ext cx="2661047" cy="766554"/>
            <a:chOff x="2270357" y="3283338"/>
            <a:chExt cx="3548062" cy="1022072"/>
          </a:xfrm>
        </p:grpSpPr>
        <p:sp>
          <p:nvSpPr>
            <p:cNvPr id="117" name="Freeform 11">
              <a:extLst>
                <a:ext uri="{FF2B5EF4-FFF2-40B4-BE49-F238E27FC236}">
                  <a16:creationId xmlns:a16="http://schemas.microsoft.com/office/drawing/2014/main" id="{A19E971B-C68E-A549-8D13-4C8364D2B1AA}"/>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a:defRPr/>
              </a:pPr>
              <a:r>
                <a:rPr lang="en-US" sz="1350" dirty="0">
                  <a:solidFill>
                    <a:prstClr val="black"/>
                  </a:solidFill>
                  <a:latin typeface="Calibri" panose="020F0502020204030204"/>
                </a:rPr>
                <a:t> </a:t>
              </a:r>
            </a:p>
          </p:txBody>
        </p:sp>
        <p:grpSp>
          <p:nvGrpSpPr>
            <p:cNvPr id="157" name="Group 156">
              <a:extLst>
                <a:ext uri="{FF2B5EF4-FFF2-40B4-BE49-F238E27FC236}">
                  <a16:creationId xmlns:a16="http://schemas.microsoft.com/office/drawing/2014/main" id="{ABF189C5-1BB2-BC42-81CE-EEB51DB2B907}"/>
                </a:ext>
              </a:extLst>
            </p:cNvPr>
            <p:cNvGrpSpPr/>
            <p:nvPr/>
          </p:nvGrpSpPr>
          <p:grpSpPr>
            <a:xfrm>
              <a:off x="2270357" y="3545923"/>
              <a:ext cx="3548062" cy="759487"/>
              <a:chOff x="2270357" y="3545923"/>
              <a:chExt cx="3548062" cy="759487"/>
            </a:xfrm>
          </p:grpSpPr>
          <p:sp>
            <p:nvSpPr>
              <p:cNvPr id="118" name="Text Box 12">
                <a:extLst>
                  <a:ext uri="{FF2B5EF4-FFF2-40B4-BE49-F238E27FC236}">
                    <a16:creationId xmlns:a16="http://schemas.microsoft.com/office/drawing/2014/main" id="{FCE2965F-754F-364F-B14F-750853FEF20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19" name="Line 13">
                <a:extLst>
                  <a:ext uri="{FF2B5EF4-FFF2-40B4-BE49-F238E27FC236}">
                    <a16:creationId xmlns:a16="http://schemas.microsoft.com/office/drawing/2014/main" id="{0299AD54-1602-364D-808A-ECEE022223FD}"/>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54" name="Text Box 48">
                <a:extLst>
                  <a:ext uri="{FF2B5EF4-FFF2-40B4-BE49-F238E27FC236}">
                    <a16:creationId xmlns:a16="http://schemas.microsoft.com/office/drawing/2014/main" id="{1FB61FFA-0819-7D46-887F-D92660FD923F}"/>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200" dirty="0">
                    <a:solidFill>
                      <a:prstClr val="black"/>
                    </a:solidFill>
                    <a:latin typeface="Symbol" charset="0"/>
                  </a:rPr>
                  <a:t>L</a:t>
                </a:r>
              </a:p>
            </p:txBody>
          </p:sp>
        </p:grpSp>
      </p:grpSp>
      <p:sp>
        <p:nvSpPr>
          <p:cNvPr id="161" name="Text Box 19">
            <a:extLst>
              <a:ext uri="{FF2B5EF4-FFF2-40B4-BE49-F238E27FC236}">
                <a16:creationId xmlns:a16="http://schemas.microsoft.com/office/drawing/2014/main" id="{E3EA8A75-DE92-3B4A-9ED1-2A5CE8EFB2FD}"/>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sender</a:t>
            </a:r>
          </a:p>
        </p:txBody>
      </p:sp>
      <p:sp>
        <p:nvSpPr>
          <p:cNvPr id="162" name="Text Box 20">
            <a:extLst>
              <a:ext uri="{FF2B5EF4-FFF2-40B4-BE49-F238E27FC236}">
                <a16:creationId xmlns:a16="http://schemas.microsoft.com/office/drawing/2014/main" id="{D2BC55B0-1B2D-D346-8B9C-EC274C2EC352}"/>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receiver</a:t>
            </a:r>
          </a:p>
        </p:txBody>
      </p:sp>
      <p:sp>
        <p:nvSpPr>
          <p:cNvPr id="4" name="TextBox 3">
            <a:extLst>
              <a:ext uri="{FF2B5EF4-FFF2-40B4-BE49-F238E27FC236}">
                <a16:creationId xmlns:a16="http://schemas.microsoft.com/office/drawing/2014/main" id="{6FA53170-F7EC-A34D-8A41-984A3AC85C5B}"/>
              </a:ext>
            </a:extLst>
          </p:cNvPr>
          <p:cNvSpPr txBox="1"/>
          <p:nvPr/>
        </p:nvSpPr>
        <p:spPr>
          <a:xfrm>
            <a:off x="724437" y="4367725"/>
            <a:ext cx="4899614" cy="1200329"/>
          </a:xfrm>
          <a:prstGeom prst="rect">
            <a:avLst/>
          </a:prstGeom>
          <a:noFill/>
        </p:spPr>
        <p:txBody>
          <a:bodyPr wrap="square" rtlCol="0">
            <a:spAutoFit/>
          </a:bodyPr>
          <a:lstStyle/>
          <a:p>
            <a:pPr defTabSz="685800">
              <a:defRPr/>
            </a:pPr>
            <a:r>
              <a:rPr lang="en-US" dirty="0">
                <a:solidFill>
                  <a:srgbClr val="C00000"/>
                </a:solidFill>
                <a:latin typeface="Calibri" panose="020F0502020204030204"/>
              </a:rPr>
              <a:t>Note: </a:t>
            </a:r>
            <a:r>
              <a:rPr lang="en-US" dirty="0">
                <a:solidFill>
                  <a:prstClr val="black"/>
                </a:solidFill>
                <a:latin typeface="Calibri" panose="020F0502020204030204"/>
              </a:rPr>
              <a:t>“state” of receiver (did the receiver get my message correctly?) isn’t known to sender unless somehow communicated from receiver to sender</a:t>
            </a:r>
          </a:p>
          <a:p>
            <a:pPr marL="257175" indent="-171450" defTabSz="685800">
              <a:buClr>
                <a:srgbClr val="0000A8"/>
              </a:buClr>
              <a:buFont typeface="Wingdings" pitchFamily="2" charset="2"/>
              <a:buChar char="§"/>
              <a:defRPr/>
            </a:pPr>
            <a:r>
              <a:rPr lang="en-US" dirty="0">
                <a:solidFill>
                  <a:prstClr val="black"/>
                </a:solidFill>
                <a:latin typeface="Calibri" panose="020F0502020204030204"/>
              </a:rPr>
              <a:t>that’s why we need a protocol!</a:t>
            </a:r>
          </a:p>
        </p:txBody>
      </p:sp>
      <p:sp>
        <p:nvSpPr>
          <p:cNvPr id="43" name="Text Box 16">
            <a:extLst>
              <a:ext uri="{FF2B5EF4-FFF2-40B4-BE49-F238E27FC236}">
                <a16:creationId xmlns:a16="http://schemas.microsoft.com/office/drawing/2014/main" id="{ADA65A1F-AF0E-7A4E-89E8-DE7816681B41}"/>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&amp;&amp;</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pic>
        <p:nvPicPr>
          <p:cNvPr id="44" name="Picture 43" descr="A shower curtain&#10;&#10;Description automatically generated">
            <a:extLst>
              <a:ext uri="{FF2B5EF4-FFF2-40B4-BE49-F238E27FC236}">
                <a16:creationId xmlns:a16="http://schemas.microsoft.com/office/drawing/2014/main" id="{AC45B1FA-8BA1-4648-AD93-40677902A5F6}"/>
              </a:ext>
            </a:extLst>
          </p:cNvPr>
          <p:cNvPicPr>
            <a:picLocks noChangeAspect="1"/>
          </p:cNvPicPr>
          <p:nvPr/>
        </p:nvPicPr>
        <p:blipFill>
          <a:blip r:embed="rId3"/>
          <a:stretch>
            <a:fillRect/>
          </a:stretch>
        </p:blipFill>
        <p:spPr>
          <a:xfrm>
            <a:off x="5499978" y="2474079"/>
            <a:ext cx="3482098" cy="3434812"/>
          </a:xfrm>
          <a:prstGeom prst="rect">
            <a:avLst/>
          </a:prstGeom>
        </p:spPr>
      </p:pic>
      <p:sp>
        <p:nvSpPr>
          <p:cNvPr id="46" name="Text Box 16">
            <a:extLst>
              <a:ext uri="{FF2B5EF4-FFF2-40B4-BE49-F238E27FC236}">
                <a16:creationId xmlns:a16="http://schemas.microsoft.com/office/drawing/2014/main" id="{D6DB0EA5-C28C-5D47-A606-CB6349A9853F}"/>
              </a:ext>
            </a:extLst>
          </p:cNvPr>
          <p:cNvSpPr txBox="1">
            <a:spLocks noChangeArrowheads="1"/>
          </p:cNvSpPr>
          <p:nvPr/>
        </p:nvSpPr>
        <p:spPr bwMode="auto">
          <a:xfrm>
            <a:off x="4094848" y="2657847"/>
            <a:ext cx="1564481" cy="29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highlight>
                  <a:srgbClr val="FFFF00"/>
                </a:highlight>
                <a:latin typeface="Arial" panose="020B0604020202020204" pitchFamily="34" charset="0"/>
              </a:rPr>
              <a:t>isNAK(rcvpkt)</a:t>
            </a:r>
            <a:endParaRPr lang="en-US" altLang="en-US" sz="1200" dirty="0">
              <a:solidFill>
                <a:srgbClr val="000000"/>
              </a:solidFill>
              <a:highlight>
                <a:srgbClr val="FFFF00"/>
              </a:highlight>
              <a:latin typeface="Times New Roman" panose="02020603050405020304" pitchFamily="18" charset="0"/>
            </a:endParaRPr>
          </a:p>
        </p:txBody>
      </p:sp>
      <p:sp>
        <p:nvSpPr>
          <p:cNvPr id="47" name="Text Box 16">
            <a:extLst>
              <a:ext uri="{FF2B5EF4-FFF2-40B4-BE49-F238E27FC236}">
                <a16:creationId xmlns:a16="http://schemas.microsoft.com/office/drawing/2014/main" id="{C8AFC91C-B2AA-274D-BDE6-DBE3D808D252}"/>
              </a:ext>
            </a:extLst>
          </p:cNvPr>
          <p:cNvSpPr txBox="1">
            <a:spLocks noChangeArrowheads="1"/>
          </p:cNvSpPr>
          <p:nvPr/>
        </p:nvSpPr>
        <p:spPr bwMode="auto">
          <a:xfrm>
            <a:off x="2961879" y="3525280"/>
            <a:ext cx="1564481" cy="29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highlight>
                  <a:srgbClr val="FFFF00"/>
                </a:highlight>
                <a:latin typeface="Arial" panose="020B0604020202020204" pitchFamily="34" charset="0"/>
              </a:rPr>
              <a:t>isACK(rcvpkt)</a:t>
            </a:r>
            <a:endParaRPr lang="en-US" altLang="en-US" sz="1200" dirty="0">
              <a:solidFill>
                <a:srgbClr val="000000"/>
              </a:solidFill>
              <a:highlight>
                <a:srgbClr val="FFFF00"/>
              </a:highlight>
              <a:latin typeface="Times New Roman" panose="02020603050405020304" pitchFamily="18" charset="0"/>
            </a:endParaRPr>
          </a:p>
        </p:txBody>
      </p:sp>
    </p:spTree>
    <p:extLst>
      <p:ext uri="{BB962C8B-B14F-4D97-AF65-F5344CB8AC3E}">
        <p14:creationId xmlns:p14="http://schemas.microsoft.com/office/powerpoint/2010/main" val="157285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p:cTn id="7" dur="1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a:t>
            </a:r>
            <a:endParaRPr lang="en-US" dirty="0"/>
          </a:p>
        </p:txBody>
      </p:sp>
      <p:sp>
        <p:nvSpPr>
          <p:cNvPr id="3" name="Content Placeholder 2">
            <a:extLst>
              <a:ext uri="{FF2B5EF4-FFF2-40B4-BE49-F238E27FC236}">
                <a16:creationId xmlns:a16="http://schemas.microsoft.com/office/drawing/2014/main" id="{11669133-A952-E3F4-AC86-741A68C18523}"/>
              </a:ext>
            </a:extLst>
          </p:cNvPr>
          <p:cNvSpPr>
            <a:spLocks noGrp="1"/>
          </p:cNvSpPr>
          <p:nvPr>
            <p:ph idx="1"/>
          </p:nvPr>
        </p:nvSpPr>
        <p:spPr>
          <a:xfrm>
            <a:off x="628650" y="1249230"/>
            <a:ext cx="7886700" cy="579580"/>
          </a:xfrm>
        </p:spPr>
        <p:txBody>
          <a:bodyPr/>
          <a:lstStyle/>
          <a:p>
            <a:r>
              <a:rPr lang="en-US" sz="2800" dirty="0"/>
              <a:t>operation with no errors</a:t>
            </a:r>
            <a:endParaRPr lang="en-US" dirty="0"/>
          </a:p>
        </p:txBody>
      </p:sp>
      <p:sp>
        <p:nvSpPr>
          <p:cNvPr id="75" name="Slide Number Placeholder 2">
            <a:extLst>
              <a:ext uri="{FF2B5EF4-FFF2-40B4-BE49-F238E27FC236}">
                <a16:creationId xmlns:a16="http://schemas.microsoft.com/office/drawing/2014/main" id="{70847C17-240C-8943-BAC9-8DEDA07FFF59}"/>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15</a:t>
            </a:fld>
            <a:endParaRPr lang="en-US" dirty="0">
              <a:solidFill>
                <a:prstClr val="white">
                  <a:lumMod val="50000"/>
                </a:prstClr>
              </a:solidFill>
              <a:latin typeface="Calibri" panose="020F0502020204030204"/>
            </a:endParaRPr>
          </a:p>
        </p:txBody>
      </p:sp>
      <p:sp>
        <p:nvSpPr>
          <p:cNvPr id="37" name="Oval 3">
            <a:extLst>
              <a:ext uri="{FF2B5EF4-FFF2-40B4-BE49-F238E27FC236}">
                <a16:creationId xmlns:a16="http://schemas.microsoft.com/office/drawing/2014/main" id="{20368D61-C8F9-C64D-9076-63AF0503E0F6}"/>
              </a:ext>
            </a:extLst>
          </p:cNvPr>
          <p:cNvSpPr>
            <a:spLocks noChangeArrowheads="1"/>
          </p:cNvSpPr>
          <p:nvPr/>
        </p:nvSpPr>
        <p:spPr bwMode="auto">
          <a:xfrm>
            <a:off x="1836714"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38" name="Text Box 4">
            <a:extLst>
              <a:ext uri="{FF2B5EF4-FFF2-40B4-BE49-F238E27FC236}">
                <a16:creationId xmlns:a16="http://schemas.microsoft.com/office/drawing/2014/main" id="{229D572B-0C64-BC4F-9787-CFDFDB4AFDBE}"/>
              </a:ext>
            </a:extLst>
          </p:cNvPr>
          <p:cNvSpPr txBox="1">
            <a:spLocks noChangeArrowheads="1"/>
          </p:cNvSpPr>
          <p:nvPr/>
        </p:nvSpPr>
        <p:spPr bwMode="auto">
          <a:xfrm>
            <a:off x="1760513"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call from above</a:t>
            </a:r>
            <a:endParaRPr lang="en-US" altLang="en-US" sz="1200" dirty="0">
              <a:solidFill>
                <a:prstClr val="black"/>
              </a:solidFill>
              <a:latin typeface="Times New Roman" panose="02020603050405020304" pitchFamily="18" charset="0"/>
            </a:endParaRPr>
          </a:p>
        </p:txBody>
      </p:sp>
      <p:sp>
        <p:nvSpPr>
          <p:cNvPr id="39" name="Text Box 5">
            <a:extLst>
              <a:ext uri="{FF2B5EF4-FFF2-40B4-BE49-F238E27FC236}">
                <a16:creationId xmlns:a16="http://schemas.microsoft.com/office/drawing/2014/main" id="{7E93FFA4-44C6-0E4F-ABD0-1688475EEC2D}"/>
              </a:ext>
            </a:extLst>
          </p:cNvPr>
          <p:cNvSpPr txBox="1">
            <a:spLocks noChangeArrowheads="1"/>
          </p:cNvSpPr>
          <p:nvPr/>
        </p:nvSpPr>
        <p:spPr bwMode="auto">
          <a:xfrm>
            <a:off x="2067695" y="2080279"/>
            <a:ext cx="2732484"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snkpkt = make_pkt(data, checksum)</a:t>
            </a:r>
          </a:p>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40" name="Line 6">
            <a:extLst>
              <a:ext uri="{FF2B5EF4-FFF2-40B4-BE49-F238E27FC236}">
                <a16:creationId xmlns:a16="http://schemas.microsoft.com/office/drawing/2014/main" id="{AAE6181D-40C5-4947-8D16-192C2CC21901}"/>
              </a:ext>
            </a:extLst>
          </p:cNvPr>
          <p:cNvSpPr>
            <a:spLocks noChangeShapeType="1"/>
          </p:cNvSpPr>
          <p:nvPr/>
        </p:nvSpPr>
        <p:spPr bwMode="auto">
          <a:xfrm>
            <a:off x="2146276" y="2113617"/>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44" name="Freeform 10">
            <a:extLst>
              <a:ext uri="{FF2B5EF4-FFF2-40B4-BE49-F238E27FC236}">
                <a16:creationId xmlns:a16="http://schemas.microsoft.com/office/drawing/2014/main" id="{C49AAF37-6767-EA4A-BCF2-2730B5DAFFCF}"/>
              </a:ext>
            </a:extLst>
          </p:cNvPr>
          <p:cNvSpPr>
            <a:spLocks/>
          </p:cNvSpPr>
          <p:nvPr/>
        </p:nvSpPr>
        <p:spPr bwMode="auto">
          <a:xfrm flipV="1">
            <a:off x="2106985" y="2446992"/>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45" name="Freeform 11">
            <a:extLst>
              <a:ext uri="{FF2B5EF4-FFF2-40B4-BE49-F238E27FC236}">
                <a16:creationId xmlns:a16="http://schemas.microsoft.com/office/drawing/2014/main" id="{F2665E42-05D1-2742-9715-0A7AB328CC68}"/>
              </a:ext>
            </a:extLst>
          </p:cNvPr>
          <p:cNvSpPr>
            <a:spLocks/>
          </p:cNvSpPr>
          <p:nvPr/>
        </p:nvSpPr>
        <p:spPr bwMode="auto">
          <a:xfrm>
            <a:off x="2142704" y="3317338"/>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48" name="Freeform 14">
            <a:extLst>
              <a:ext uri="{FF2B5EF4-FFF2-40B4-BE49-F238E27FC236}">
                <a16:creationId xmlns:a16="http://schemas.microsoft.com/office/drawing/2014/main" id="{FF5156B3-5F3E-7247-9787-81C01F98AADA}"/>
              </a:ext>
            </a:extLst>
          </p:cNvPr>
          <p:cNvSpPr>
            <a:spLocks/>
          </p:cNvSpPr>
          <p:nvPr/>
        </p:nvSpPr>
        <p:spPr bwMode="auto">
          <a:xfrm>
            <a:off x="3753620" y="2676783"/>
            <a:ext cx="350044" cy="67032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49" name="Text Box 15">
            <a:extLst>
              <a:ext uri="{FF2B5EF4-FFF2-40B4-BE49-F238E27FC236}">
                <a16:creationId xmlns:a16="http://schemas.microsoft.com/office/drawing/2014/main" id="{2F0C4339-9749-3E4B-AEF3-DFBC5861C0E1}"/>
              </a:ext>
            </a:extLst>
          </p:cNvPr>
          <p:cNvSpPr txBox="1">
            <a:spLocks noChangeArrowheads="1"/>
          </p:cNvSpPr>
          <p:nvPr/>
        </p:nvSpPr>
        <p:spPr bwMode="auto">
          <a:xfrm>
            <a:off x="3985791" y="2912526"/>
            <a:ext cx="1322785"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udt_send(sndpkt)</a:t>
            </a:r>
            <a:endParaRPr lang="en-US" altLang="en-US" sz="1200" dirty="0">
              <a:solidFill>
                <a:prstClr val="black"/>
              </a:solidFill>
              <a:latin typeface="Times New Roman" panose="02020603050405020304" pitchFamily="18" charset="0"/>
            </a:endParaRPr>
          </a:p>
        </p:txBody>
      </p:sp>
      <p:sp>
        <p:nvSpPr>
          <p:cNvPr id="51" name="Line 17">
            <a:extLst>
              <a:ext uri="{FF2B5EF4-FFF2-40B4-BE49-F238E27FC236}">
                <a16:creationId xmlns:a16="http://schemas.microsoft.com/office/drawing/2014/main" id="{B12405C6-9FEC-A645-ABAA-32067C853440}"/>
              </a:ext>
            </a:extLst>
          </p:cNvPr>
          <p:cNvSpPr>
            <a:spLocks noChangeShapeType="1"/>
          </p:cNvSpPr>
          <p:nvPr/>
        </p:nvSpPr>
        <p:spPr bwMode="auto">
          <a:xfrm>
            <a:off x="4056038" y="2912526"/>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nvGrpSpPr>
          <p:cNvPr id="52" name="Group 18">
            <a:extLst>
              <a:ext uri="{FF2B5EF4-FFF2-40B4-BE49-F238E27FC236}">
                <a16:creationId xmlns:a16="http://schemas.microsoft.com/office/drawing/2014/main" id="{6469EBCB-9365-8146-9A22-EA4BFBF0E079}"/>
              </a:ext>
            </a:extLst>
          </p:cNvPr>
          <p:cNvGrpSpPr>
            <a:grpSpLocks/>
          </p:cNvGrpSpPr>
          <p:nvPr/>
        </p:nvGrpSpPr>
        <p:grpSpPr bwMode="auto">
          <a:xfrm>
            <a:off x="6244407" y="3178034"/>
            <a:ext cx="1371600" cy="192881"/>
            <a:chOff x="2222" y="3039"/>
            <a:chExt cx="1152" cy="162"/>
          </a:xfrm>
        </p:grpSpPr>
        <p:sp>
          <p:nvSpPr>
            <p:cNvPr id="53" name="Text Box 19">
              <a:extLst>
                <a:ext uri="{FF2B5EF4-FFF2-40B4-BE49-F238E27FC236}">
                  <a16:creationId xmlns:a16="http://schemas.microsoft.com/office/drawing/2014/main" id="{3A6C17B0-3CB8-BD4F-82A3-F8BBBF7760BF}"/>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55" name="Line 21">
              <a:extLst>
                <a:ext uri="{FF2B5EF4-FFF2-40B4-BE49-F238E27FC236}">
                  <a16:creationId xmlns:a16="http://schemas.microsoft.com/office/drawing/2014/main" id="{7262AE28-C6B2-7A4B-B2BF-40A0797B4995}"/>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grpSp>
        <p:nvGrpSpPr>
          <p:cNvPr id="56" name="Group 22">
            <a:extLst>
              <a:ext uri="{FF2B5EF4-FFF2-40B4-BE49-F238E27FC236}">
                <a16:creationId xmlns:a16="http://schemas.microsoft.com/office/drawing/2014/main" id="{E9E74661-52F5-5E48-982A-52E52A35DC45}"/>
              </a:ext>
            </a:extLst>
          </p:cNvPr>
          <p:cNvGrpSpPr>
            <a:grpSpLocks/>
          </p:cNvGrpSpPr>
          <p:nvPr/>
        </p:nvGrpSpPr>
        <p:grpSpPr bwMode="auto">
          <a:xfrm>
            <a:off x="3033291" y="2629158"/>
            <a:ext cx="806054" cy="721519"/>
            <a:chOff x="1540" y="2116"/>
            <a:chExt cx="677" cy="606"/>
          </a:xfrm>
        </p:grpSpPr>
        <p:sp>
          <p:nvSpPr>
            <p:cNvPr id="57" name="Oval 23">
              <a:extLst>
                <a:ext uri="{FF2B5EF4-FFF2-40B4-BE49-F238E27FC236}">
                  <a16:creationId xmlns:a16="http://schemas.microsoft.com/office/drawing/2014/main" id="{8D34CBBE-DA94-E64E-9580-4F3F4131C86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58" name="Text Box 24">
              <a:extLst>
                <a:ext uri="{FF2B5EF4-FFF2-40B4-BE49-F238E27FC236}">
                  <a16:creationId xmlns:a16="http://schemas.microsoft.com/office/drawing/2014/main" id="{1B4A0021-CFA3-4E40-B284-73C34108A342}"/>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ACK or NAK</a:t>
              </a:r>
              <a:endParaRPr lang="en-US" altLang="en-US" sz="1200" dirty="0">
                <a:solidFill>
                  <a:prstClr val="black"/>
                </a:solidFill>
                <a:latin typeface="Times New Roman" panose="02020603050405020304" pitchFamily="18" charset="0"/>
              </a:endParaRPr>
            </a:p>
          </p:txBody>
        </p:sp>
      </p:grpSp>
      <p:sp>
        <p:nvSpPr>
          <p:cNvPr id="59" name="Freeform 25">
            <a:extLst>
              <a:ext uri="{FF2B5EF4-FFF2-40B4-BE49-F238E27FC236}">
                <a16:creationId xmlns:a16="http://schemas.microsoft.com/office/drawing/2014/main" id="{3DB66570-2E6B-DB42-959E-FB21F91FD83C}"/>
              </a:ext>
            </a:extLst>
          </p:cNvPr>
          <p:cNvSpPr>
            <a:spLocks/>
          </p:cNvSpPr>
          <p:nvPr/>
        </p:nvSpPr>
        <p:spPr bwMode="auto">
          <a:xfrm>
            <a:off x="6318226" y="3323292"/>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sp>
        <p:nvSpPr>
          <p:cNvPr id="60" name="Oval 26">
            <a:extLst>
              <a:ext uri="{FF2B5EF4-FFF2-40B4-BE49-F238E27FC236}">
                <a16:creationId xmlns:a16="http://schemas.microsoft.com/office/drawing/2014/main" id="{8A47B34C-876C-9A40-BB81-39CFF157E854}"/>
              </a:ext>
            </a:extLst>
          </p:cNvPr>
          <p:cNvSpPr>
            <a:spLocks noChangeArrowheads="1"/>
          </p:cNvSpPr>
          <p:nvPr/>
        </p:nvSpPr>
        <p:spPr bwMode="auto">
          <a:xfrm>
            <a:off x="6387282"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61" name="Text Box 27">
            <a:extLst>
              <a:ext uri="{FF2B5EF4-FFF2-40B4-BE49-F238E27FC236}">
                <a16:creationId xmlns:a16="http://schemas.microsoft.com/office/drawing/2014/main" id="{D69029E6-5338-FD44-BC15-0BA8A98F15B0}"/>
              </a:ext>
            </a:extLst>
          </p:cNvPr>
          <p:cNvSpPr txBox="1">
            <a:spLocks noChangeArrowheads="1"/>
          </p:cNvSpPr>
          <p:nvPr/>
        </p:nvSpPr>
        <p:spPr bwMode="auto">
          <a:xfrm>
            <a:off x="6321797"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a:defRPr/>
            </a:pPr>
            <a:r>
              <a:rPr lang="en-US" altLang="en-US" sz="1200" dirty="0">
                <a:solidFill>
                  <a:prstClr val="black"/>
                </a:solidFill>
                <a:latin typeface="Arial" panose="020B0604020202020204" pitchFamily="34" charset="0"/>
              </a:rPr>
              <a:t>Wait for call from below</a:t>
            </a:r>
            <a:endParaRPr lang="en-US" altLang="en-US" sz="1200" dirty="0">
              <a:solidFill>
                <a:prstClr val="black"/>
              </a:solidFill>
              <a:latin typeface="Times New Roman" panose="02020603050405020304" pitchFamily="18" charset="0"/>
            </a:endParaRPr>
          </a:p>
        </p:txBody>
      </p:sp>
      <p:sp>
        <p:nvSpPr>
          <p:cNvPr id="62" name="Freeform 28">
            <a:extLst>
              <a:ext uri="{FF2B5EF4-FFF2-40B4-BE49-F238E27FC236}">
                <a16:creationId xmlns:a16="http://schemas.microsoft.com/office/drawing/2014/main" id="{062C8ABB-D477-0442-96DB-AF4A7A380558}"/>
              </a:ext>
            </a:extLst>
          </p:cNvPr>
          <p:cNvSpPr>
            <a:spLocks/>
          </p:cNvSpPr>
          <p:nvPr/>
        </p:nvSpPr>
        <p:spPr bwMode="auto">
          <a:xfrm flipV="1">
            <a:off x="6327751" y="4300661"/>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defTabSz="685800">
              <a:defRPr/>
            </a:pPr>
            <a:endParaRPr lang="en-US" sz="1350" dirty="0">
              <a:solidFill>
                <a:prstClr val="black"/>
              </a:solidFill>
              <a:latin typeface="Calibri" panose="020F0502020204030204"/>
            </a:endParaRPr>
          </a:p>
        </p:txBody>
      </p:sp>
      <p:grpSp>
        <p:nvGrpSpPr>
          <p:cNvPr id="63" name="Group 29">
            <a:extLst>
              <a:ext uri="{FF2B5EF4-FFF2-40B4-BE49-F238E27FC236}">
                <a16:creationId xmlns:a16="http://schemas.microsoft.com/office/drawing/2014/main" id="{824EB22B-3441-BB4C-9908-EA5200566BEF}"/>
              </a:ext>
            </a:extLst>
          </p:cNvPr>
          <p:cNvGrpSpPr>
            <a:grpSpLocks/>
          </p:cNvGrpSpPr>
          <p:nvPr/>
        </p:nvGrpSpPr>
        <p:grpSpPr bwMode="auto">
          <a:xfrm>
            <a:off x="1575966" y="2587486"/>
            <a:ext cx="1000125" cy="753665"/>
            <a:chOff x="220" y="1365"/>
            <a:chExt cx="840" cy="633"/>
          </a:xfrm>
        </p:grpSpPr>
        <p:sp>
          <p:nvSpPr>
            <p:cNvPr id="64" name="Line 30">
              <a:extLst>
                <a:ext uri="{FF2B5EF4-FFF2-40B4-BE49-F238E27FC236}">
                  <a16:creationId xmlns:a16="http://schemas.microsoft.com/office/drawing/2014/main" id="{E482CA24-27A0-084A-87D9-E941B0A259BA}"/>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65" name="Oval 31">
              <a:extLst>
                <a:ext uri="{FF2B5EF4-FFF2-40B4-BE49-F238E27FC236}">
                  <a16:creationId xmlns:a16="http://schemas.microsoft.com/office/drawing/2014/main" id="{B1FC38D6-025E-7842-ADA7-35FDE217EA4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grpSp>
      <p:grpSp>
        <p:nvGrpSpPr>
          <p:cNvPr id="66" name="Group 32">
            <a:extLst>
              <a:ext uri="{FF2B5EF4-FFF2-40B4-BE49-F238E27FC236}">
                <a16:creationId xmlns:a16="http://schemas.microsoft.com/office/drawing/2014/main" id="{5BBC5929-B4AB-D94E-9C05-8B8E4E50A932}"/>
              </a:ext>
            </a:extLst>
          </p:cNvPr>
          <p:cNvGrpSpPr>
            <a:grpSpLocks/>
          </p:cNvGrpSpPr>
          <p:nvPr/>
        </p:nvGrpSpPr>
        <p:grpSpPr bwMode="auto">
          <a:xfrm>
            <a:off x="6064623" y="3585229"/>
            <a:ext cx="1060847" cy="775097"/>
            <a:chOff x="3990" y="2203"/>
            <a:chExt cx="891" cy="651"/>
          </a:xfrm>
        </p:grpSpPr>
        <p:sp>
          <p:nvSpPr>
            <p:cNvPr id="67" name="Line 33">
              <a:extLst>
                <a:ext uri="{FF2B5EF4-FFF2-40B4-BE49-F238E27FC236}">
                  <a16:creationId xmlns:a16="http://schemas.microsoft.com/office/drawing/2014/main" id="{C8C95C30-694C-3343-9A2B-29D823BB5369}"/>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68" name="Oval 34">
              <a:extLst>
                <a:ext uri="{FF2B5EF4-FFF2-40B4-BE49-F238E27FC236}">
                  <a16:creationId xmlns:a16="http://schemas.microsoft.com/office/drawing/2014/main" id="{9CF26F83-62A4-774B-95EC-D614996A7AD6}"/>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grpSp>
      <p:sp>
        <p:nvSpPr>
          <p:cNvPr id="69" name="Text Box 35">
            <a:extLst>
              <a:ext uri="{FF2B5EF4-FFF2-40B4-BE49-F238E27FC236}">
                <a16:creationId xmlns:a16="http://schemas.microsoft.com/office/drawing/2014/main" id="{4F145C19-20CA-7145-8B2A-77BEB54A39E8}"/>
              </a:ext>
            </a:extLst>
          </p:cNvPr>
          <p:cNvSpPr txBox="1">
            <a:spLocks noChangeArrowheads="1"/>
          </p:cNvSpPr>
          <p:nvPr/>
        </p:nvSpPr>
        <p:spPr bwMode="auto">
          <a:xfrm>
            <a:off x="2086745" y="1862395"/>
            <a:ext cx="1691878"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rdt_send(data)</a:t>
            </a:r>
            <a:endParaRPr lang="en-US" altLang="en-US" sz="1200" dirty="0">
              <a:solidFill>
                <a:prstClr val="black"/>
              </a:solidFill>
              <a:latin typeface="Times New Roman" panose="02020603050405020304" pitchFamily="18" charset="0"/>
            </a:endParaRPr>
          </a:p>
        </p:txBody>
      </p:sp>
      <p:sp>
        <p:nvSpPr>
          <p:cNvPr id="70" name="Line 36">
            <a:extLst>
              <a:ext uri="{FF2B5EF4-FFF2-40B4-BE49-F238E27FC236}">
                <a16:creationId xmlns:a16="http://schemas.microsoft.com/office/drawing/2014/main" id="{26143F76-F1DE-F740-8D25-07F17B3B05D6}"/>
              </a:ext>
            </a:extLst>
          </p:cNvPr>
          <p:cNvSpPr>
            <a:spLocks noChangeShapeType="1"/>
          </p:cNvSpPr>
          <p:nvPr/>
        </p:nvSpPr>
        <p:spPr bwMode="auto">
          <a:xfrm>
            <a:off x="2072457" y="1929070"/>
            <a:ext cx="9525" cy="560785"/>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a:defRPr/>
            </a:pPr>
            <a:endParaRPr lang="en-US" sz="1350" dirty="0">
              <a:solidFill>
                <a:prstClr val="black"/>
              </a:solidFill>
              <a:latin typeface="Tahoma" charset="0"/>
              <a:ea typeface="ＭＳ Ｐゴシック" charset="0"/>
            </a:endParaRPr>
          </a:p>
        </p:txBody>
      </p:sp>
      <p:sp>
        <p:nvSpPr>
          <p:cNvPr id="71" name="Freeform 37">
            <a:extLst>
              <a:ext uri="{FF2B5EF4-FFF2-40B4-BE49-F238E27FC236}">
                <a16:creationId xmlns:a16="http://schemas.microsoft.com/office/drawing/2014/main" id="{58B7878D-57FD-8A41-8E7B-6BF34CB3A771}"/>
              </a:ext>
            </a:extLst>
          </p:cNvPr>
          <p:cNvSpPr>
            <a:spLocks/>
          </p:cNvSpPr>
          <p:nvPr/>
        </p:nvSpPr>
        <p:spPr bwMode="auto">
          <a:xfrm>
            <a:off x="2072458" y="2467232"/>
            <a:ext cx="5361311" cy="2208524"/>
          </a:xfrm>
          <a:custGeom>
            <a:avLst/>
            <a:gdLst>
              <a:gd name="T0" fmla="*/ 0 w 4219"/>
              <a:gd name="T1" fmla="*/ 2147483647 h 1928"/>
              <a:gd name="T2" fmla="*/ 2147483647 w 4219"/>
              <a:gd name="T3" fmla="*/ 0 h 1928"/>
              <a:gd name="T4" fmla="*/ 2147483647 w 4219"/>
              <a:gd name="T5" fmla="*/ 2147483647 h 1928"/>
              <a:gd name="T6" fmla="*/ 2147483647 w 4219"/>
              <a:gd name="T7" fmla="*/ 2147483647 h 1928"/>
              <a:gd name="T8" fmla="*/ 0 60000 65536"/>
              <a:gd name="T9" fmla="*/ 0 60000 65536"/>
              <a:gd name="T10" fmla="*/ 0 60000 65536"/>
              <a:gd name="T11" fmla="*/ 0 60000 65536"/>
              <a:gd name="connsiteX0" fmla="*/ 0 w 10000"/>
              <a:gd name="connsiteY0" fmla="*/ 52 h 10000"/>
              <a:gd name="connsiteX1" fmla="*/ 2377 w 10000"/>
              <a:gd name="connsiteY1" fmla="*/ 0 h 10000"/>
              <a:gd name="connsiteX2" fmla="*/ 8009 w 10000"/>
              <a:gd name="connsiteY2" fmla="*/ 9621 h 10000"/>
              <a:gd name="connsiteX3" fmla="*/ 10000 w 10000"/>
              <a:gd name="connsiteY3" fmla="*/ 10000 h 10000"/>
              <a:gd name="connsiteX0" fmla="*/ 0 w 10673"/>
              <a:gd name="connsiteY0" fmla="*/ 52 h 9621"/>
              <a:gd name="connsiteX1" fmla="*/ 2377 w 10673"/>
              <a:gd name="connsiteY1" fmla="*/ 0 h 9621"/>
              <a:gd name="connsiteX2" fmla="*/ 8009 w 10673"/>
              <a:gd name="connsiteY2" fmla="*/ 9621 h 9621"/>
              <a:gd name="connsiteX3" fmla="*/ 10673 w 10673"/>
              <a:gd name="connsiteY3" fmla="*/ 9621 h 9621"/>
            </a:gdLst>
            <a:ahLst/>
            <a:cxnLst>
              <a:cxn ang="0">
                <a:pos x="connsiteX0" y="connsiteY0"/>
              </a:cxn>
              <a:cxn ang="0">
                <a:pos x="connsiteX1" y="connsiteY1"/>
              </a:cxn>
              <a:cxn ang="0">
                <a:pos x="connsiteX2" y="connsiteY2"/>
              </a:cxn>
              <a:cxn ang="0">
                <a:pos x="connsiteX3" y="connsiteY3"/>
              </a:cxn>
            </a:cxnLst>
            <a:rect l="l" t="t" r="r" b="b"/>
            <a:pathLst>
              <a:path w="10673" h="9621">
                <a:moveTo>
                  <a:pt x="0" y="52"/>
                </a:moveTo>
                <a:lnTo>
                  <a:pt x="2377" y="0"/>
                </a:lnTo>
                <a:lnTo>
                  <a:pt x="8009" y="9621"/>
                </a:lnTo>
                <a:lnTo>
                  <a:pt x="10673" y="962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en-US" sz="1350" dirty="0">
              <a:solidFill>
                <a:prstClr val="black"/>
              </a:solidFill>
              <a:latin typeface="Calibri" panose="020F0502020204030204"/>
            </a:endParaRPr>
          </a:p>
        </p:txBody>
      </p:sp>
      <p:grpSp>
        <p:nvGrpSpPr>
          <p:cNvPr id="72" name="Group 38">
            <a:extLst>
              <a:ext uri="{FF2B5EF4-FFF2-40B4-BE49-F238E27FC236}">
                <a16:creationId xmlns:a16="http://schemas.microsoft.com/office/drawing/2014/main" id="{81979E69-43B0-224E-AEE7-932D8FB25EC5}"/>
              </a:ext>
            </a:extLst>
          </p:cNvPr>
          <p:cNvGrpSpPr>
            <a:grpSpLocks/>
          </p:cNvGrpSpPr>
          <p:nvPr/>
        </p:nvGrpSpPr>
        <p:grpSpPr bwMode="auto">
          <a:xfrm>
            <a:off x="1574776" y="2587486"/>
            <a:ext cx="1000125" cy="753665"/>
            <a:chOff x="220" y="1365"/>
            <a:chExt cx="840" cy="633"/>
          </a:xfrm>
        </p:grpSpPr>
        <p:sp>
          <p:nvSpPr>
            <p:cNvPr id="73" name="Line 39">
              <a:extLst>
                <a:ext uri="{FF2B5EF4-FFF2-40B4-BE49-F238E27FC236}">
                  <a16:creationId xmlns:a16="http://schemas.microsoft.com/office/drawing/2014/main" id="{021756D2-A025-CF41-A055-C96F4929A19F}"/>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07" name="Oval 40">
              <a:extLst>
                <a:ext uri="{FF2B5EF4-FFF2-40B4-BE49-F238E27FC236}">
                  <a16:creationId xmlns:a16="http://schemas.microsoft.com/office/drawing/2014/main" id="{34F50062-00A1-4541-B9F4-BEF323F05F2D}"/>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grpSp>
      <p:sp>
        <p:nvSpPr>
          <p:cNvPr id="108" name="Oval 41">
            <a:extLst>
              <a:ext uri="{FF2B5EF4-FFF2-40B4-BE49-F238E27FC236}">
                <a16:creationId xmlns:a16="http://schemas.microsoft.com/office/drawing/2014/main" id="{9AEB6601-DAB8-A041-9DF0-30C886DDBE6D}"/>
              </a:ext>
            </a:extLst>
          </p:cNvPr>
          <p:cNvSpPr>
            <a:spLocks noChangeArrowheads="1"/>
          </p:cNvSpPr>
          <p:nvPr/>
        </p:nvSpPr>
        <p:spPr bwMode="auto">
          <a:xfrm>
            <a:off x="3063057" y="2629158"/>
            <a:ext cx="739378" cy="721519"/>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09" name="Line 42">
            <a:extLst>
              <a:ext uri="{FF2B5EF4-FFF2-40B4-BE49-F238E27FC236}">
                <a16:creationId xmlns:a16="http://schemas.microsoft.com/office/drawing/2014/main" id="{2CE2B382-7E31-324B-8E6C-07DE61767B89}"/>
              </a:ext>
            </a:extLst>
          </p:cNvPr>
          <p:cNvSpPr>
            <a:spLocks noChangeShapeType="1"/>
          </p:cNvSpPr>
          <p:nvPr/>
        </p:nvSpPr>
        <p:spPr bwMode="auto">
          <a:xfrm flipH="1">
            <a:off x="6009854" y="4638932"/>
            <a:ext cx="9525" cy="89535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a:defRPr/>
            </a:pPr>
            <a:endParaRPr lang="en-US" sz="1350" dirty="0">
              <a:solidFill>
                <a:prstClr val="black"/>
              </a:solidFill>
              <a:latin typeface="Tahoma" charset="0"/>
              <a:ea typeface="ＭＳ Ｐゴシック" charset="0"/>
            </a:endParaRPr>
          </a:p>
        </p:txBody>
      </p:sp>
      <p:sp>
        <p:nvSpPr>
          <p:cNvPr id="110" name="Freeform 43">
            <a:extLst>
              <a:ext uri="{FF2B5EF4-FFF2-40B4-BE49-F238E27FC236}">
                <a16:creationId xmlns:a16="http://schemas.microsoft.com/office/drawing/2014/main" id="{A4E624BD-18B7-E144-8B12-E9F34C001BC1}"/>
              </a:ext>
            </a:extLst>
          </p:cNvPr>
          <p:cNvSpPr>
            <a:spLocks/>
          </p:cNvSpPr>
          <p:nvPr/>
        </p:nvSpPr>
        <p:spPr bwMode="auto">
          <a:xfrm>
            <a:off x="1591730" y="3760963"/>
            <a:ext cx="5589699" cy="1811419"/>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684 h 10684"/>
              <a:gd name="connsiteX1" fmla="*/ 7676 w 10000"/>
              <a:gd name="connsiteY1" fmla="*/ 10684 h 10684"/>
              <a:gd name="connsiteX2" fmla="*/ 4167 w 10000"/>
              <a:gd name="connsiteY2" fmla="*/ 0 h 10684"/>
              <a:gd name="connsiteX3" fmla="*/ 0 w 10000"/>
              <a:gd name="connsiteY3" fmla="*/ 684 h 10684"/>
              <a:gd name="connsiteX0" fmla="*/ 11178 w 11178"/>
              <a:gd name="connsiteY0" fmla="*/ 10684 h 10684"/>
              <a:gd name="connsiteX1" fmla="*/ 8854 w 11178"/>
              <a:gd name="connsiteY1" fmla="*/ 10684 h 10684"/>
              <a:gd name="connsiteX2" fmla="*/ 5345 w 11178"/>
              <a:gd name="connsiteY2" fmla="*/ 0 h 10684"/>
              <a:gd name="connsiteX3" fmla="*/ 0 w 11178"/>
              <a:gd name="connsiteY3" fmla="*/ 0 h 10684"/>
            </a:gdLst>
            <a:ahLst/>
            <a:cxnLst>
              <a:cxn ang="0">
                <a:pos x="connsiteX0" y="connsiteY0"/>
              </a:cxn>
              <a:cxn ang="0">
                <a:pos x="connsiteX1" y="connsiteY1"/>
              </a:cxn>
              <a:cxn ang="0">
                <a:pos x="connsiteX2" y="connsiteY2"/>
              </a:cxn>
              <a:cxn ang="0">
                <a:pos x="connsiteX3" y="connsiteY3"/>
              </a:cxn>
            </a:cxnLst>
            <a:rect l="l" t="t" r="r" b="b"/>
            <a:pathLst>
              <a:path w="11178" h="10684">
                <a:moveTo>
                  <a:pt x="11178" y="10684"/>
                </a:moveTo>
                <a:lnTo>
                  <a:pt x="8854" y="10684"/>
                </a:lnTo>
                <a:lnTo>
                  <a:pt x="5345"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685800">
              <a:defRPr/>
            </a:pPr>
            <a:endParaRPr lang="en-US" sz="1350" dirty="0">
              <a:solidFill>
                <a:prstClr val="black"/>
              </a:solidFill>
              <a:latin typeface="Calibri" panose="020F0502020204030204"/>
            </a:endParaRPr>
          </a:p>
        </p:txBody>
      </p:sp>
      <p:grpSp>
        <p:nvGrpSpPr>
          <p:cNvPr id="111" name="Group 44">
            <a:extLst>
              <a:ext uri="{FF2B5EF4-FFF2-40B4-BE49-F238E27FC236}">
                <a16:creationId xmlns:a16="http://schemas.microsoft.com/office/drawing/2014/main" id="{433B53F6-3987-AD43-823C-811301531A05}"/>
              </a:ext>
            </a:extLst>
          </p:cNvPr>
          <p:cNvGrpSpPr>
            <a:grpSpLocks/>
          </p:cNvGrpSpPr>
          <p:nvPr/>
        </p:nvGrpSpPr>
        <p:grpSpPr bwMode="auto">
          <a:xfrm>
            <a:off x="1574776" y="2587486"/>
            <a:ext cx="1000125" cy="753665"/>
            <a:chOff x="220" y="1365"/>
            <a:chExt cx="840" cy="633"/>
          </a:xfrm>
        </p:grpSpPr>
        <p:sp>
          <p:nvSpPr>
            <p:cNvPr id="112" name="Line 45">
              <a:extLst>
                <a:ext uri="{FF2B5EF4-FFF2-40B4-BE49-F238E27FC236}">
                  <a16:creationId xmlns:a16="http://schemas.microsoft.com/office/drawing/2014/main" id="{4591E5D8-8C29-B847-85FE-27EBA5053B7E}"/>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13" name="Oval 46">
              <a:extLst>
                <a:ext uri="{FF2B5EF4-FFF2-40B4-BE49-F238E27FC236}">
                  <a16:creationId xmlns:a16="http://schemas.microsoft.com/office/drawing/2014/main" id="{611A2C5D-AEE6-DD42-9AF5-7922552584D9}"/>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grpSp>
      <p:sp>
        <p:nvSpPr>
          <p:cNvPr id="114" name="Oval 47">
            <a:extLst>
              <a:ext uri="{FF2B5EF4-FFF2-40B4-BE49-F238E27FC236}">
                <a16:creationId xmlns:a16="http://schemas.microsoft.com/office/drawing/2014/main" id="{14740803-52CF-044E-A44B-1C3382FD69A9}"/>
              </a:ext>
            </a:extLst>
          </p:cNvPr>
          <p:cNvSpPr>
            <a:spLocks noChangeArrowheads="1"/>
          </p:cNvSpPr>
          <p:nvPr/>
        </p:nvSpPr>
        <p:spPr bwMode="auto">
          <a:xfrm>
            <a:off x="3060676" y="2632730"/>
            <a:ext cx="739378" cy="721519"/>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endParaRPr>
          </a:p>
        </p:txBody>
      </p:sp>
      <p:sp>
        <p:nvSpPr>
          <p:cNvPr id="117" name="Text Box 16">
            <a:extLst>
              <a:ext uri="{FF2B5EF4-FFF2-40B4-BE49-F238E27FC236}">
                <a16:creationId xmlns:a16="http://schemas.microsoft.com/office/drawing/2014/main" id="{4960424F-A39C-9F48-B10B-6B92058EBF56}"/>
              </a:ext>
            </a:extLst>
          </p:cNvPr>
          <p:cNvSpPr txBox="1">
            <a:spLocks noChangeArrowheads="1"/>
          </p:cNvSpPr>
          <p:nvPr/>
        </p:nvSpPr>
        <p:spPr bwMode="auto">
          <a:xfrm>
            <a:off x="3966741" y="2657652"/>
            <a:ext cx="2541985"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endParaRPr lang="en-US" altLang="en-US" sz="1200" dirty="0">
              <a:solidFill>
                <a:prstClr val="black"/>
              </a:solidFill>
              <a:latin typeface="Times New Roman" panose="02020603050405020304" pitchFamily="18" charset="0"/>
            </a:endParaRPr>
          </a:p>
        </p:txBody>
      </p:sp>
      <p:sp>
        <p:nvSpPr>
          <p:cNvPr id="118" name="Text Box 20">
            <a:extLst>
              <a:ext uri="{FF2B5EF4-FFF2-40B4-BE49-F238E27FC236}">
                <a16:creationId xmlns:a16="http://schemas.microsoft.com/office/drawing/2014/main" id="{F83C8E12-3B9E-D846-B39E-2D62F350B930}"/>
              </a:ext>
            </a:extLst>
          </p:cNvPr>
          <p:cNvSpPr txBox="1">
            <a:spLocks noChangeArrowheads="1"/>
          </p:cNvSpPr>
          <p:nvPr/>
        </p:nvSpPr>
        <p:spPr bwMode="auto">
          <a:xfrm>
            <a:off x="6245673" y="2897650"/>
            <a:ext cx="2541985" cy="23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grpSp>
        <p:nvGrpSpPr>
          <p:cNvPr id="124" name="Group 123">
            <a:extLst>
              <a:ext uri="{FF2B5EF4-FFF2-40B4-BE49-F238E27FC236}">
                <a16:creationId xmlns:a16="http://schemas.microsoft.com/office/drawing/2014/main" id="{CC5AC3F7-1DB3-CE4F-B0C7-F20072FBA703}"/>
              </a:ext>
            </a:extLst>
          </p:cNvPr>
          <p:cNvGrpSpPr/>
          <p:nvPr/>
        </p:nvGrpSpPr>
        <p:grpSpPr>
          <a:xfrm>
            <a:off x="1703556" y="3321269"/>
            <a:ext cx="2661047" cy="766554"/>
            <a:chOff x="2270357" y="3283338"/>
            <a:chExt cx="3548062" cy="1022072"/>
          </a:xfrm>
        </p:grpSpPr>
        <p:sp>
          <p:nvSpPr>
            <p:cNvPr id="125" name="Freeform 11">
              <a:extLst>
                <a:ext uri="{FF2B5EF4-FFF2-40B4-BE49-F238E27FC236}">
                  <a16:creationId xmlns:a16="http://schemas.microsoft.com/office/drawing/2014/main" id="{1ECBB11C-9731-AE49-85C4-CC54A9C37108}"/>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a:defRPr/>
              </a:pPr>
              <a:r>
                <a:rPr lang="en-US" sz="1350" dirty="0">
                  <a:solidFill>
                    <a:prstClr val="black"/>
                  </a:solidFill>
                  <a:latin typeface="Calibri" panose="020F0502020204030204"/>
                </a:rPr>
                <a:t> </a:t>
              </a:r>
            </a:p>
          </p:txBody>
        </p:sp>
        <p:grpSp>
          <p:nvGrpSpPr>
            <p:cNvPr id="126" name="Group 125">
              <a:extLst>
                <a:ext uri="{FF2B5EF4-FFF2-40B4-BE49-F238E27FC236}">
                  <a16:creationId xmlns:a16="http://schemas.microsoft.com/office/drawing/2014/main" id="{803199FB-D06E-3542-B988-7EB9CD9168D8}"/>
                </a:ext>
              </a:extLst>
            </p:cNvPr>
            <p:cNvGrpSpPr/>
            <p:nvPr/>
          </p:nvGrpSpPr>
          <p:grpSpPr>
            <a:xfrm>
              <a:off x="2270357" y="3545923"/>
              <a:ext cx="3548062" cy="759487"/>
              <a:chOff x="2270357" y="3545923"/>
              <a:chExt cx="3548062" cy="759487"/>
            </a:xfrm>
          </p:grpSpPr>
          <p:sp>
            <p:nvSpPr>
              <p:cNvPr id="127" name="Text Box 12">
                <a:extLst>
                  <a:ext uri="{FF2B5EF4-FFF2-40B4-BE49-F238E27FC236}">
                    <a16:creationId xmlns:a16="http://schemas.microsoft.com/office/drawing/2014/main" id="{E0CFEDE3-2A91-2845-ABA4-C03E7492EE81}"/>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28" name="Line 13">
                <a:extLst>
                  <a:ext uri="{FF2B5EF4-FFF2-40B4-BE49-F238E27FC236}">
                    <a16:creationId xmlns:a16="http://schemas.microsoft.com/office/drawing/2014/main" id="{332EC257-20A6-9B48-A641-8E69142E58DC}"/>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29" name="Text Box 48">
                <a:extLst>
                  <a:ext uri="{FF2B5EF4-FFF2-40B4-BE49-F238E27FC236}">
                    <a16:creationId xmlns:a16="http://schemas.microsoft.com/office/drawing/2014/main" id="{BC7A4A01-571A-C94B-BAEC-EA73E5A39295}"/>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200" dirty="0">
                    <a:solidFill>
                      <a:prstClr val="black"/>
                    </a:solidFill>
                    <a:latin typeface="Symbol" charset="0"/>
                  </a:rPr>
                  <a:t>L</a:t>
                </a:r>
              </a:p>
            </p:txBody>
          </p:sp>
        </p:grpSp>
      </p:grpSp>
      <p:grpSp>
        <p:nvGrpSpPr>
          <p:cNvPr id="130" name="Group 129">
            <a:extLst>
              <a:ext uri="{FF2B5EF4-FFF2-40B4-BE49-F238E27FC236}">
                <a16:creationId xmlns:a16="http://schemas.microsoft.com/office/drawing/2014/main" id="{5E324CA8-B37F-8C4E-9533-D4557801C16E}"/>
              </a:ext>
            </a:extLst>
          </p:cNvPr>
          <p:cNvGrpSpPr/>
          <p:nvPr/>
        </p:nvGrpSpPr>
        <p:grpSpPr>
          <a:xfrm>
            <a:off x="6037238" y="4635378"/>
            <a:ext cx="3106762" cy="700187"/>
            <a:chOff x="8049650" y="5037504"/>
            <a:chExt cx="4142349" cy="933582"/>
          </a:xfrm>
        </p:grpSpPr>
        <p:sp>
          <p:nvSpPr>
            <p:cNvPr id="131" name="Text Box 7">
              <a:extLst>
                <a:ext uri="{FF2B5EF4-FFF2-40B4-BE49-F238E27FC236}">
                  <a16:creationId xmlns:a16="http://schemas.microsoft.com/office/drawing/2014/main" id="{723DBA89-E099-1146-9344-FD97D358659B}"/>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extract(rcvpkt,data)</a:t>
              </a:r>
            </a:p>
            <a:p>
              <a:pPr defTabSz="685800">
                <a:defRPr/>
              </a:pPr>
              <a:r>
                <a:rPr lang="en-US" altLang="en-US" sz="1200" dirty="0">
                  <a:solidFill>
                    <a:prstClr val="black"/>
                  </a:solidFill>
                  <a:latin typeface="Arial" panose="020B0604020202020204" pitchFamily="34" charset="0"/>
                </a:rPr>
                <a:t>deliver_data(data)</a:t>
              </a:r>
            </a:p>
            <a:p>
              <a:pPr defTabSz="685800">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32" name="Text Box 8">
              <a:extLst>
                <a:ext uri="{FF2B5EF4-FFF2-40B4-BE49-F238E27FC236}">
                  <a16:creationId xmlns:a16="http://schemas.microsoft.com/office/drawing/2014/main" id="{05CEFA42-064E-3142-841C-4AC47C36BCC4}"/>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33" name="Line 9">
              <a:extLst>
                <a:ext uri="{FF2B5EF4-FFF2-40B4-BE49-F238E27FC236}">
                  <a16:creationId xmlns:a16="http://schemas.microsoft.com/office/drawing/2014/main" id="{0872816E-A3BC-B14C-B375-097293AE6178}"/>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34" name="Text Box 19">
            <a:extLst>
              <a:ext uri="{FF2B5EF4-FFF2-40B4-BE49-F238E27FC236}">
                <a16:creationId xmlns:a16="http://schemas.microsoft.com/office/drawing/2014/main" id="{55D8DBB5-D62B-EB4E-B678-676582C50DB5}"/>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sender</a:t>
            </a:r>
          </a:p>
        </p:txBody>
      </p:sp>
      <p:sp>
        <p:nvSpPr>
          <p:cNvPr id="135" name="Text Box 20">
            <a:extLst>
              <a:ext uri="{FF2B5EF4-FFF2-40B4-BE49-F238E27FC236}">
                <a16:creationId xmlns:a16="http://schemas.microsoft.com/office/drawing/2014/main" id="{6A4DBB19-70E8-BE4F-86ED-46D7FF5489BB}"/>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receiver</a:t>
            </a:r>
          </a:p>
        </p:txBody>
      </p:sp>
      <p:sp>
        <p:nvSpPr>
          <p:cNvPr id="74" name="Text Box 16">
            <a:extLst>
              <a:ext uri="{FF2B5EF4-FFF2-40B4-BE49-F238E27FC236}">
                <a16:creationId xmlns:a16="http://schemas.microsoft.com/office/drawing/2014/main" id="{312C203B-3A0A-BD4E-8578-6F37A2E7EB80}"/>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&amp;&amp;</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741472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dissolv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dissolv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wipe(up)">
                                      <p:cBhvr>
                                        <p:cTn id="17" dur="1000"/>
                                        <p:tgtEl>
                                          <p:spTgt spid="70"/>
                                        </p:tgtEl>
                                      </p:cBhvr>
                                    </p:animEffect>
                                  </p:childTnLst>
                                  <p:subTnLst>
                                    <p:set>
                                      <p:cBhvr override="childStyle">
                                        <p:cTn dur="1" fill="hold" display="0" masterRel="nextClick" afterEffect="1"/>
                                        <p:tgtEl>
                                          <p:spTgt spid="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left)">
                                      <p:cBhvr>
                                        <p:cTn id="22" dur="1000"/>
                                        <p:tgtEl>
                                          <p:spTgt spid="71"/>
                                        </p:tgtEl>
                                      </p:cBhvr>
                                    </p:animEffect>
                                  </p:childTnLst>
                                  <p:subTnLst>
                                    <p:set>
                                      <p:cBhvr override="childStyle">
                                        <p:cTn dur="1" fill="hold" display="0" masterRel="nextClick" afterEffect="1"/>
                                        <p:tgtEl>
                                          <p:spTgt spid="71"/>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09"/>
                                        </p:tgtEl>
                                        <p:attrNameLst>
                                          <p:attrName>style.visibility</p:attrName>
                                        </p:attrNameLst>
                                      </p:cBhvr>
                                      <p:to>
                                        <p:strVal val="visible"/>
                                      </p:to>
                                    </p:set>
                                    <p:animEffect transition="in" filter="wipe(up)">
                                      <p:cBhvr>
                                        <p:cTn id="31" dur="1000"/>
                                        <p:tgtEl>
                                          <p:spTgt spid="109"/>
                                        </p:tgtEl>
                                      </p:cBhvr>
                                    </p:animEffect>
                                  </p:childTnLst>
                                  <p:subTnLst>
                                    <p:set>
                                      <p:cBhvr override="childStyle">
                                        <p:cTn dur="1" fill="hold" display="0" masterRel="nextClick" afterEffect="1"/>
                                        <p:tgtEl>
                                          <p:spTgt spid="10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10"/>
                                        </p:tgtEl>
                                        <p:attrNameLst>
                                          <p:attrName>style.visibility</p:attrName>
                                        </p:attrNameLst>
                                      </p:cBhvr>
                                      <p:to>
                                        <p:strVal val="visible"/>
                                      </p:to>
                                    </p:set>
                                    <p:animEffect transition="in" filter="wipe(right)">
                                      <p:cBhvr>
                                        <p:cTn id="36" dur="1000"/>
                                        <p:tgtEl>
                                          <p:spTgt spid="110"/>
                                        </p:tgtEl>
                                      </p:cBhvr>
                                    </p:animEffect>
                                  </p:childTnLst>
                                  <p:subTnLst>
                                    <p:set>
                                      <p:cBhvr override="childStyle">
                                        <p:cTn dur="1" fill="hold" display="0" masterRel="sameClick" afterEffect="1">
                                          <p:stCondLst>
                                            <p:cond evt="end" delay="0">
                                              <p:tn val="34"/>
                                            </p:cond>
                                          </p:stCondLst>
                                        </p:cTn>
                                        <p:tgtEl>
                                          <p:spTgt spid="110"/>
                                        </p:tgtEl>
                                        <p:attrNameLst>
                                          <p:attrName>style.visibility</p:attrName>
                                        </p:attrNameLst>
                                      </p:cBhvr>
                                      <p:to>
                                        <p:strVal val="hidden"/>
                                      </p:to>
                                    </p:set>
                                  </p:sub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1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14"/>
                                        </p:tgtEl>
                                        <p:attrNameLst>
                                          <p:attrName>style.visibility</p:attrName>
                                        </p:attrNameLst>
                                      </p:cBhvr>
                                      <p:to>
                                        <p:strVal val="visible"/>
                                      </p:to>
                                    </p:set>
                                  </p:childTnLst>
                                </p:cTn>
                              </p:par>
                              <p:par>
                                <p:cTn id="42" presetID="1" presetClass="entr" presetSubtype="0" fill="hold" grpId="1" nodeType="withEffect">
                                  <p:stCondLst>
                                    <p:cond delay="0"/>
                                  </p:stCondLst>
                                  <p:childTnLst>
                                    <p:set>
                                      <p:cBhvr>
                                        <p:cTn id="43"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14" grpId="0" animBg="1"/>
      <p:bldP spid="114"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a:t>
            </a:r>
            <a:endParaRPr lang="en-US" dirty="0"/>
          </a:p>
        </p:txBody>
      </p:sp>
      <p:sp>
        <p:nvSpPr>
          <p:cNvPr id="3" name="Content Placeholder 2">
            <a:extLst>
              <a:ext uri="{FF2B5EF4-FFF2-40B4-BE49-F238E27FC236}">
                <a16:creationId xmlns:a16="http://schemas.microsoft.com/office/drawing/2014/main" id="{734B3468-27D1-92C5-0F63-76889AB42880}"/>
              </a:ext>
            </a:extLst>
          </p:cNvPr>
          <p:cNvSpPr>
            <a:spLocks noGrp="1"/>
          </p:cNvSpPr>
          <p:nvPr>
            <p:ph idx="1"/>
          </p:nvPr>
        </p:nvSpPr>
        <p:spPr>
          <a:xfrm>
            <a:off x="628650" y="1278648"/>
            <a:ext cx="7886700" cy="579580"/>
          </a:xfrm>
        </p:spPr>
        <p:txBody>
          <a:bodyPr/>
          <a:lstStyle/>
          <a:p>
            <a:r>
              <a:rPr lang="en-US" sz="2800" dirty="0"/>
              <a:t>corrupted packet scenario</a:t>
            </a:r>
            <a:endParaRPr lang="en-US" dirty="0"/>
          </a:p>
        </p:txBody>
      </p:sp>
      <p:sp>
        <p:nvSpPr>
          <p:cNvPr id="59" name="Slide Number Placeholder 2">
            <a:extLst>
              <a:ext uri="{FF2B5EF4-FFF2-40B4-BE49-F238E27FC236}">
                <a16:creationId xmlns:a16="http://schemas.microsoft.com/office/drawing/2014/main" id="{4C651C60-2DE4-0846-A035-0E312850CE3C}"/>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16</a:t>
            </a:fld>
            <a:endParaRPr lang="en-US" dirty="0">
              <a:solidFill>
                <a:prstClr val="white">
                  <a:lumMod val="50000"/>
                </a:prstClr>
              </a:solidFill>
              <a:latin typeface="Calibri" panose="020F0502020204030204"/>
            </a:endParaRPr>
          </a:p>
        </p:txBody>
      </p:sp>
      <p:sp>
        <p:nvSpPr>
          <p:cNvPr id="133" name="Oval 3">
            <a:extLst>
              <a:ext uri="{FF2B5EF4-FFF2-40B4-BE49-F238E27FC236}">
                <a16:creationId xmlns:a16="http://schemas.microsoft.com/office/drawing/2014/main" id="{69A00FB9-348A-D448-9793-795F22B57161}"/>
              </a:ext>
            </a:extLst>
          </p:cNvPr>
          <p:cNvSpPr>
            <a:spLocks noChangeArrowheads="1"/>
          </p:cNvSpPr>
          <p:nvPr/>
        </p:nvSpPr>
        <p:spPr bwMode="auto">
          <a:xfrm>
            <a:off x="1836330" y="2619633"/>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34" name="Text Box 4">
            <a:extLst>
              <a:ext uri="{FF2B5EF4-FFF2-40B4-BE49-F238E27FC236}">
                <a16:creationId xmlns:a16="http://schemas.microsoft.com/office/drawing/2014/main" id="{77096BA8-8AE7-EA4F-B0FD-7469803EAB64}"/>
              </a:ext>
            </a:extLst>
          </p:cNvPr>
          <p:cNvSpPr txBox="1">
            <a:spLocks noChangeArrowheads="1"/>
          </p:cNvSpPr>
          <p:nvPr/>
        </p:nvSpPr>
        <p:spPr bwMode="auto">
          <a:xfrm>
            <a:off x="1760130" y="2682736"/>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Wait for call from above</a:t>
            </a:r>
            <a:endParaRPr lang="en-US" altLang="en-US" sz="1200" dirty="0">
              <a:solidFill>
                <a:srgbClr val="000000"/>
              </a:solidFill>
              <a:latin typeface="Times New Roman" panose="02020603050405020304" pitchFamily="18" charset="0"/>
            </a:endParaRPr>
          </a:p>
        </p:txBody>
      </p:sp>
      <p:sp>
        <p:nvSpPr>
          <p:cNvPr id="135" name="Text Box 5">
            <a:extLst>
              <a:ext uri="{FF2B5EF4-FFF2-40B4-BE49-F238E27FC236}">
                <a16:creationId xmlns:a16="http://schemas.microsoft.com/office/drawing/2014/main" id="{D6DC2F34-5901-DE44-A6E9-F9649709412A}"/>
              </a:ext>
            </a:extLst>
          </p:cNvPr>
          <p:cNvSpPr txBox="1">
            <a:spLocks noChangeArrowheads="1"/>
          </p:cNvSpPr>
          <p:nvPr/>
        </p:nvSpPr>
        <p:spPr bwMode="auto">
          <a:xfrm>
            <a:off x="2067311" y="2080279"/>
            <a:ext cx="2732484"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snkpkt = make_pkt(data, checksum)</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136" name="Line 6">
            <a:extLst>
              <a:ext uri="{FF2B5EF4-FFF2-40B4-BE49-F238E27FC236}">
                <a16:creationId xmlns:a16="http://schemas.microsoft.com/office/drawing/2014/main" id="{D357F502-19B9-7A40-B1E5-CD7250CA97C6}"/>
              </a:ext>
            </a:extLst>
          </p:cNvPr>
          <p:cNvSpPr>
            <a:spLocks noChangeShapeType="1"/>
          </p:cNvSpPr>
          <p:nvPr/>
        </p:nvSpPr>
        <p:spPr bwMode="auto">
          <a:xfrm>
            <a:off x="2145893" y="2113617"/>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0" name="Freeform 10">
            <a:extLst>
              <a:ext uri="{FF2B5EF4-FFF2-40B4-BE49-F238E27FC236}">
                <a16:creationId xmlns:a16="http://schemas.microsoft.com/office/drawing/2014/main" id="{3ADC35A3-77A4-3D42-9882-FB506CCCFA61}"/>
              </a:ext>
            </a:extLst>
          </p:cNvPr>
          <p:cNvSpPr>
            <a:spLocks/>
          </p:cNvSpPr>
          <p:nvPr/>
        </p:nvSpPr>
        <p:spPr bwMode="auto">
          <a:xfrm flipV="1">
            <a:off x="2106602" y="2446992"/>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1" name="Freeform 11">
            <a:extLst>
              <a:ext uri="{FF2B5EF4-FFF2-40B4-BE49-F238E27FC236}">
                <a16:creationId xmlns:a16="http://schemas.microsoft.com/office/drawing/2014/main" id="{3907903E-8186-0B48-B29F-40C6FD559F99}"/>
              </a:ext>
            </a:extLst>
          </p:cNvPr>
          <p:cNvSpPr>
            <a:spLocks/>
          </p:cNvSpPr>
          <p:nvPr/>
        </p:nvSpPr>
        <p:spPr bwMode="auto">
          <a:xfrm>
            <a:off x="2142321" y="3317338"/>
            <a:ext cx="1350169"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4" name="Freeform 14">
            <a:extLst>
              <a:ext uri="{FF2B5EF4-FFF2-40B4-BE49-F238E27FC236}">
                <a16:creationId xmlns:a16="http://schemas.microsoft.com/office/drawing/2014/main" id="{C5D67D61-82E5-5642-B2D5-452A20671145}"/>
              </a:ext>
            </a:extLst>
          </p:cNvPr>
          <p:cNvSpPr>
            <a:spLocks/>
          </p:cNvSpPr>
          <p:nvPr/>
        </p:nvSpPr>
        <p:spPr bwMode="auto">
          <a:xfrm>
            <a:off x="3753237" y="2676783"/>
            <a:ext cx="350044" cy="670322"/>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5" name="Text Box 15">
            <a:extLst>
              <a:ext uri="{FF2B5EF4-FFF2-40B4-BE49-F238E27FC236}">
                <a16:creationId xmlns:a16="http://schemas.microsoft.com/office/drawing/2014/main" id="{7BABC5B8-9BD6-F145-8E9A-0912B8AEEF10}"/>
              </a:ext>
            </a:extLst>
          </p:cNvPr>
          <p:cNvSpPr txBox="1">
            <a:spLocks noChangeArrowheads="1"/>
          </p:cNvSpPr>
          <p:nvPr/>
        </p:nvSpPr>
        <p:spPr bwMode="auto">
          <a:xfrm>
            <a:off x="3985408" y="2912526"/>
            <a:ext cx="1322785"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146" name="Text Box 16">
            <a:extLst>
              <a:ext uri="{FF2B5EF4-FFF2-40B4-BE49-F238E27FC236}">
                <a16:creationId xmlns:a16="http://schemas.microsoft.com/office/drawing/2014/main" id="{BE38BF73-5EF1-6B42-B012-9E244200F5F0}"/>
              </a:ext>
            </a:extLst>
          </p:cNvPr>
          <p:cNvSpPr txBox="1">
            <a:spLocks noChangeArrowheads="1"/>
          </p:cNvSpPr>
          <p:nvPr/>
        </p:nvSpPr>
        <p:spPr bwMode="auto">
          <a:xfrm>
            <a:off x="3966358" y="2473186"/>
            <a:ext cx="1564481"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&amp;&amp;</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   isNAK(rcvpkt)</a:t>
            </a:r>
            <a:endParaRPr lang="en-US" altLang="en-US" sz="1200" dirty="0">
              <a:solidFill>
                <a:srgbClr val="000000"/>
              </a:solidFill>
              <a:latin typeface="Times New Roman" panose="02020603050405020304" pitchFamily="18" charset="0"/>
            </a:endParaRPr>
          </a:p>
        </p:txBody>
      </p:sp>
      <p:sp>
        <p:nvSpPr>
          <p:cNvPr id="147" name="Line 17">
            <a:extLst>
              <a:ext uri="{FF2B5EF4-FFF2-40B4-BE49-F238E27FC236}">
                <a16:creationId xmlns:a16="http://schemas.microsoft.com/office/drawing/2014/main" id="{6082D473-667E-D744-BD55-1C35E0FE8710}"/>
              </a:ext>
            </a:extLst>
          </p:cNvPr>
          <p:cNvSpPr>
            <a:spLocks noChangeShapeType="1"/>
          </p:cNvSpPr>
          <p:nvPr/>
        </p:nvSpPr>
        <p:spPr bwMode="auto">
          <a:xfrm>
            <a:off x="4055655" y="2912526"/>
            <a:ext cx="742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52" name="Group 22">
            <a:extLst>
              <a:ext uri="{FF2B5EF4-FFF2-40B4-BE49-F238E27FC236}">
                <a16:creationId xmlns:a16="http://schemas.microsoft.com/office/drawing/2014/main" id="{DCE40CB4-F0AE-734E-AA44-08F29CD02D52}"/>
              </a:ext>
            </a:extLst>
          </p:cNvPr>
          <p:cNvGrpSpPr>
            <a:grpSpLocks/>
          </p:cNvGrpSpPr>
          <p:nvPr/>
        </p:nvGrpSpPr>
        <p:grpSpPr bwMode="auto">
          <a:xfrm>
            <a:off x="3032908" y="2629158"/>
            <a:ext cx="806054" cy="721519"/>
            <a:chOff x="1540" y="2116"/>
            <a:chExt cx="677" cy="606"/>
          </a:xfrm>
        </p:grpSpPr>
        <p:sp>
          <p:nvSpPr>
            <p:cNvPr id="153" name="Oval 23">
              <a:extLst>
                <a:ext uri="{FF2B5EF4-FFF2-40B4-BE49-F238E27FC236}">
                  <a16:creationId xmlns:a16="http://schemas.microsoft.com/office/drawing/2014/main" id="{D3BB9C31-5D9C-684A-BB70-14F20480A9BA}"/>
                </a:ext>
              </a:extLst>
            </p:cNvPr>
            <p:cNvSpPr>
              <a:spLocks noChangeArrowheads="1"/>
            </p:cNvSpPr>
            <p:nvPr/>
          </p:nvSpPr>
          <p:spPr bwMode="auto">
            <a:xfrm>
              <a:off x="1565" y="2116"/>
              <a:ext cx="621" cy="60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54" name="Text Box 24">
              <a:extLst>
                <a:ext uri="{FF2B5EF4-FFF2-40B4-BE49-F238E27FC236}">
                  <a16:creationId xmlns:a16="http://schemas.microsoft.com/office/drawing/2014/main" id="{7290D8CF-233C-DA4F-8144-17F1D181B533}"/>
                </a:ext>
              </a:extLst>
            </p:cNvPr>
            <p:cNvSpPr txBox="1">
              <a:spLocks noChangeArrowheads="1"/>
            </p:cNvSpPr>
            <p:nvPr/>
          </p:nvSpPr>
          <p:spPr bwMode="auto">
            <a:xfrm>
              <a:off x="1540" y="2163"/>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Wait for ACK or NAK</a:t>
              </a:r>
              <a:endParaRPr lang="en-US" altLang="en-US" sz="1200" kern="0" dirty="0">
                <a:solidFill>
                  <a:srgbClr val="000000"/>
                </a:solidFill>
                <a:latin typeface="Times New Roman" panose="02020603050405020304" pitchFamily="18" charset="0"/>
              </a:endParaRPr>
            </a:p>
          </p:txBody>
        </p:sp>
      </p:grpSp>
      <p:sp>
        <p:nvSpPr>
          <p:cNvPr id="155" name="Freeform 25">
            <a:extLst>
              <a:ext uri="{FF2B5EF4-FFF2-40B4-BE49-F238E27FC236}">
                <a16:creationId xmlns:a16="http://schemas.microsoft.com/office/drawing/2014/main" id="{1FC9F4AC-60DA-664B-8892-94963AC43A62}"/>
              </a:ext>
            </a:extLst>
          </p:cNvPr>
          <p:cNvSpPr>
            <a:spLocks/>
          </p:cNvSpPr>
          <p:nvPr/>
        </p:nvSpPr>
        <p:spPr bwMode="auto">
          <a:xfrm>
            <a:off x="6317843" y="3323292"/>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56" name="Oval 26">
            <a:extLst>
              <a:ext uri="{FF2B5EF4-FFF2-40B4-BE49-F238E27FC236}">
                <a16:creationId xmlns:a16="http://schemas.microsoft.com/office/drawing/2014/main" id="{C6A7C088-049A-2642-9A7F-7E6B3149EB38}"/>
              </a:ext>
            </a:extLst>
          </p:cNvPr>
          <p:cNvSpPr>
            <a:spLocks noChangeArrowheads="1"/>
          </p:cNvSpPr>
          <p:nvPr/>
        </p:nvSpPr>
        <p:spPr bwMode="auto">
          <a:xfrm>
            <a:off x="6386899" y="3638808"/>
            <a:ext cx="739378" cy="721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57" name="Text Box 27">
            <a:extLst>
              <a:ext uri="{FF2B5EF4-FFF2-40B4-BE49-F238E27FC236}">
                <a16:creationId xmlns:a16="http://schemas.microsoft.com/office/drawing/2014/main" id="{579E5E2D-B23D-BF43-A731-1D8C59C74825}"/>
              </a:ext>
            </a:extLst>
          </p:cNvPr>
          <p:cNvSpPr txBox="1">
            <a:spLocks noChangeArrowheads="1"/>
          </p:cNvSpPr>
          <p:nvPr/>
        </p:nvSpPr>
        <p:spPr bwMode="auto">
          <a:xfrm>
            <a:off x="6321414" y="3701911"/>
            <a:ext cx="90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Wait for call from below</a:t>
            </a:r>
            <a:endParaRPr lang="en-US" altLang="en-US" sz="1200" dirty="0">
              <a:solidFill>
                <a:srgbClr val="000000"/>
              </a:solidFill>
              <a:latin typeface="Times New Roman" panose="02020603050405020304" pitchFamily="18" charset="0"/>
            </a:endParaRPr>
          </a:p>
        </p:txBody>
      </p:sp>
      <p:sp>
        <p:nvSpPr>
          <p:cNvPr id="158" name="Freeform 28">
            <a:extLst>
              <a:ext uri="{FF2B5EF4-FFF2-40B4-BE49-F238E27FC236}">
                <a16:creationId xmlns:a16="http://schemas.microsoft.com/office/drawing/2014/main" id="{82DEFCAC-19A6-8E44-8FD1-83883629ABA7}"/>
              </a:ext>
            </a:extLst>
          </p:cNvPr>
          <p:cNvSpPr>
            <a:spLocks/>
          </p:cNvSpPr>
          <p:nvPr/>
        </p:nvSpPr>
        <p:spPr bwMode="auto">
          <a:xfrm flipV="1">
            <a:off x="6327368" y="4300661"/>
            <a:ext cx="9429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28575"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59" name="Group 29">
            <a:extLst>
              <a:ext uri="{FF2B5EF4-FFF2-40B4-BE49-F238E27FC236}">
                <a16:creationId xmlns:a16="http://schemas.microsoft.com/office/drawing/2014/main" id="{C486E2AA-5514-8349-8774-4B86574332CB}"/>
              </a:ext>
            </a:extLst>
          </p:cNvPr>
          <p:cNvGrpSpPr>
            <a:grpSpLocks/>
          </p:cNvGrpSpPr>
          <p:nvPr/>
        </p:nvGrpSpPr>
        <p:grpSpPr bwMode="auto">
          <a:xfrm>
            <a:off x="1575583" y="2587486"/>
            <a:ext cx="1000125" cy="753665"/>
            <a:chOff x="220" y="1365"/>
            <a:chExt cx="840" cy="633"/>
          </a:xfrm>
        </p:grpSpPr>
        <p:sp>
          <p:nvSpPr>
            <p:cNvPr id="160" name="Line 30">
              <a:extLst>
                <a:ext uri="{FF2B5EF4-FFF2-40B4-BE49-F238E27FC236}">
                  <a16:creationId xmlns:a16="http://schemas.microsoft.com/office/drawing/2014/main" id="{C0CC58D1-8C84-3E47-909F-D82E63AA1223}"/>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61" name="Oval 31">
              <a:extLst>
                <a:ext uri="{FF2B5EF4-FFF2-40B4-BE49-F238E27FC236}">
                  <a16:creationId xmlns:a16="http://schemas.microsoft.com/office/drawing/2014/main" id="{852C29BD-DA30-1D45-9733-0851CEB0A1B7}"/>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grpSp>
      <p:grpSp>
        <p:nvGrpSpPr>
          <p:cNvPr id="162" name="Group 32">
            <a:extLst>
              <a:ext uri="{FF2B5EF4-FFF2-40B4-BE49-F238E27FC236}">
                <a16:creationId xmlns:a16="http://schemas.microsoft.com/office/drawing/2014/main" id="{A05DCA54-BB9F-EB48-8E9C-19DBD5FE15BE}"/>
              </a:ext>
            </a:extLst>
          </p:cNvPr>
          <p:cNvGrpSpPr>
            <a:grpSpLocks/>
          </p:cNvGrpSpPr>
          <p:nvPr/>
        </p:nvGrpSpPr>
        <p:grpSpPr bwMode="auto">
          <a:xfrm>
            <a:off x="6064240" y="3585229"/>
            <a:ext cx="1060847" cy="775097"/>
            <a:chOff x="3990" y="2203"/>
            <a:chExt cx="891" cy="651"/>
          </a:xfrm>
        </p:grpSpPr>
        <p:sp>
          <p:nvSpPr>
            <p:cNvPr id="163" name="Line 33">
              <a:extLst>
                <a:ext uri="{FF2B5EF4-FFF2-40B4-BE49-F238E27FC236}">
                  <a16:creationId xmlns:a16="http://schemas.microsoft.com/office/drawing/2014/main" id="{E80E2DDF-EEB5-964A-90BC-641CEA2AE378}"/>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64" name="Oval 34">
              <a:extLst>
                <a:ext uri="{FF2B5EF4-FFF2-40B4-BE49-F238E27FC236}">
                  <a16:creationId xmlns:a16="http://schemas.microsoft.com/office/drawing/2014/main" id="{1AD65A4C-E940-0B4D-BFA8-963C7F4DFAD4}"/>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grpSp>
      <p:sp>
        <p:nvSpPr>
          <p:cNvPr id="165" name="Text Box 35">
            <a:extLst>
              <a:ext uri="{FF2B5EF4-FFF2-40B4-BE49-F238E27FC236}">
                <a16:creationId xmlns:a16="http://schemas.microsoft.com/office/drawing/2014/main" id="{EB12FDE8-F0FD-FF44-9743-6CC34031C13C}"/>
              </a:ext>
            </a:extLst>
          </p:cNvPr>
          <p:cNvSpPr txBox="1">
            <a:spLocks noChangeArrowheads="1"/>
          </p:cNvSpPr>
          <p:nvPr/>
        </p:nvSpPr>
        <p:spPr bwMode="auto">
          <a:xfrm>
            <a:off x="2086362" y="1862395"/>
            <a:ext cx="1691878" cy="32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166" name="Line 36">
            <a:extLst>
              <a:ext uri="{FF2B5EF4-FFF2-40B4-BE49-F238E27FC236}">
                <a16:creationId xmlns:a16="http://schemas.microsoft.com/office/drawing/2014/main" id="{EC5F8159-C72E-AD42-9E10-261F73F1A7D7}"/>
              </a:ext>
            </a:extLst>
          </p:cNvPr>
          <p:cNvSpPr>
            <a:spLocks noChangeShapeType="1"/>
          </p:cNvSpPr>
          <p:nvPr/>
        </p:nvSpPr>
        <p:spPr bwMode="auto">
          <a:xfrm>
            <a:off x="2072074" y="1929070"/>
            <a:ext cx="9525" cy="560785"/>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7" name="Freeform 37">
            <a:extLst>
              <a:ext uri="{FF2B5EF4-FFF2-40B4-BE49-F238E27FC236}">
                <a16:creationId xmlns:a16="http://schemas.microsoft.com/office/drawing/2014/main" id="{35077D8E-9690-5846-914B-870B57CBFFC1}"/>
              </a:ext>
            </a:extLst>
          </p:cNvPr>
          <p:cNvSpPr>
            <a:spLocks/>
          </p:cNvSpPr>
          <p:nvPr/>
        </p:nvSpPr>
        <p:spPr bwMode="auto">
          <a:xfrm>
            <a:off x="2072074" y="2467232"/>
            <a:ext cx="5205413" cy="490538"/>
          </a:xfrm>
          <a:custGeom>
            <a:avLst/>
            <a:gdLst>
              <a:gd name="T0" fmla="*/ 0 w 4372"/>
              <a:gd name="T1" fmla="*/ 2147483647 h 412"/>
              <a:gd name="T2" fmla="*/ 2147483647 w 4372"/>
              <a:gd name="T3" fmla="*/ 0 h 412"/>
              <a:gd name="T4" fmla="*/ 2147483647 w 4372"/>
              <a:gd name="T5" fmla="*/ 2147483647 h 412"/>
              <a:gd name="T6" fmla="*/ 2147483647 w 4372"/>
              <a:gd name="T7" fmla="*/ 2147483647 h 4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72" h="412">
                <a:moveTo>
                  <a:pt x="0" y="10"/>
                </a:moveTo>
                <a:lnTo>
                  <a:pt x="1003" y="0"/>
                </a:lnTo>
                <a:lnTo>
                  <a:pt x="3508" y="412"/>
                </a:lnTo>
                <a:lnTo>
                  <a:pt x="4372" y="412"/>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68" name="Group 38">
            <a:extLst>
              <a:ext uri="{FF2B5EF4-FFF2-40B4-BE49-F238E27FC236}">
                <a16:creationId xmlns:a16="http://schemas.microsoft.com/office/drawing/2014/main" id="{39365D95-8B18-AE4F-9CEC-9330CADCC26B}"/>
              </a:ext>
            </a:extLst>
          </p:cNvPr>
          <p:cNvGrpSpPr>
            <a:grpSpLocks/>
          </p:cNvGrpSpPr>
          <p:nvPr/>
        </p:nvGrpSpPr>
        <p:grpSpPr bwMode="auto">
          <a:xfrm>
            <a:off x="1574393" y="2587486"/>
            <a:ext cx="1000125" cy="753665"/>
            <a:chOff x="220" y="1365"/>
            <a:chExt cx="840" cy="633"/>
          </a:xfrm>
        </p:grpSpPr>
        <p:sp>
          <p:nvSpPr>
            <p:cNvPr id="169" name="Line 39">
              <a:extLst>
                <a:ext uri="{FF2B5EF4-FFF2-40B4-BE49-F238E27FC236}">
                  <a16:creationId xmlns:a16="http://schemas.microsoft.com/office/drawing/2014/main" id="{68593BDB-565B-C544-A698-EAB1100890B7}"/>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70" name="Oval 40">
              <a:extLst>
                <a:ext uri="{FF2B5EF4-FFF2-40B4-BE49-F238E27FC236}">
                  <a16:creationId xmlns:a16="http://schemas.microsoft.com/office/drawing/2014/main" id="{99432816-2BCC-7742-BBCC-636611297B08}"/>
                </a:ext>
              </a:extLst>
            </p:cNvPr>
            <p:cNvSpPr>
              <a:spLocks noChangeArrowheads="1"/>
            </p:cNvSpPr>
            <p:nvPr/>
          </p:nvSpPr>
          <p:spPr bwMode="auto">
            <a:xfrm>
              <a:off x="439" y="1392"/>
              <a:ext cx="621" cy="606"/>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grpSp>
      <p:sp>
        <p:nvSpPr>
          <p:cNvPr id="171" name="Oval 41">
            <a:extLst>
              <a:ext uri="{FF2B5EF4-FFF2-40B4-BE49-F238E27FC236}">
                <a16:creationId xmlns:a16="http://schemas.microsoft.com/office/drawing/2014/main" id="{2992E4B8-7EF2-1A40-9095-9F4F00D2899A}"/>
              </a:ext>
            </a:extLst>
          </p:cNvPr>
          <p:cNvSpPr>
            <a:spLocks noChangeArrowheads="1"/>
          </p:cNvSpPr>
          <p:nvPr/>
        </p:nvSpPr>
        <p:spPr bwMode="auto">
          <a:xfrm>
            <a:off x="3062674" y="2629158"/>
            <a:ext cx="739378" cy="721519"/>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72" name="Line 42">
            <a:extLst>
              <a:ext uri="{FF2B5EF4-FFF2-40B4-BE49-F238E27FC236}">
                <a16:creationId xmlns:a16="http://schemas.microsoft.com/office/drawing/2014/main" id="{FBE55EA3-B145-414B-A6FF-0F0EE400CF3B}"/>
              </a:ext>
            </a:extLst>
          </p:cNvPr>
          <p:cNvSpPr>
            <a:spLocks noChangeShapeType="1"/>
          </p:cNvSpPr>
          <p:nvPr/>
        </p:nvSpPr>
        <p:spPr bwMode="auto">
          <a:xfrm flipH="1">
            <a:off x="6009470" y="4638932"/>
            <a:ext cx="9525" cy="895350"/>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3" name="Freeform 43">
            <a:extLst>
              <a:ext uri="{FF2B5EF4-FFF2-40B4-BE49-F238E27FC236}">
                <a16:creationId xmlns:a16="http://schemas.microsoft.com/office/drawing/2014/main" id="{59879249-0649-F24B-B236-6C80F47AAC2E}"/>
              </a:ext>
            </a:extLst>
          </p:cNvPr>
          <p:cNvSpPr>
            <a:spLocks/>
          </p:cNvSpPr>
          <p:nvPr/>
        </p:nvSpPr>
        <p:spPr bwMode="auto">
          <a:xfrm>
            <a:off x="1764973" y="3751420"/>
            <a:ext cx="5454633" cy="1772642"/>
          </a:xfrm>
          <a:custGeom>
            <a:avLst/>
            <a:gdLst>
              <a:gd name="T0" fmla="*/ 2147483647 w 4200"/>
              <a:gd name="T1" fmla="*/ 2147483647 h 1424"/>
              <a:gd name="T2" fmla="*/ 2147483647 w 4200"/>
              <a:gd name="T3" fmla="*/ 2147483647 h 1424"/>
              <a:gd name="T4" fmla="*/ 2147483647 w 4200"/>
              <a:gd name="T5" fmla="*/ 0 h 1424"/>
              <a:gd name="T6" fmla="*/ 0 w 4200"/>
              <a:gd name="T7" fmla="*/ 0 h 1424"/>
              <a:gd name="T8" fmla="*/ 0 60000 65536"/>
              <a:gd name="T9" fmla="*/ 0 60000 65536"/>
              <a:gd name="T10" fmla="*/ 0 60000 65536"/>
              <a:gd name="T11" fmla="*/ 0 60000 65536"/>
              <a:gd name="connsiteX0" fmla="*/ 10000 w 10000"/>
              <a:gd name="connsiteY0" fmla="*/ 10000 h 10000"/>
              <a:gd name="connsiteX1" fmla="*/ 7637 w 10000"/>
              <a:gd name="connsiteY1" fmla="*/ 9715 h 10000"/>
              <a:gd name="connsiteX2" fmla="*/ 4476 w 10000"/>
              <a:gd name="connsiteY2" fmla="*/ 0 h 10000"/>
              <a:gd name="connsiteX3" fmla="*/ 0 w 10000"/>
              <a:gd name="connsiteY3" fmla="*/ 0 h 10000"/>
              <a:gd name="connsiteX0" fmla="*/ 10058 w 10058"/>
              <a:gd name="connsiteY0" fmla="*/ 9601 h 9715"/>
              <a:gd name="connsiteX1" fmla="*/ 7637 w 10058"/>
              <a:gd name="connsiteY1" fmla="*/ 9715 h 9715"/>
              <a:gd name="connsiteX2" fmla="*/ 4476 w 10058"/>
              <a:gd name="connsiteY2" fmla="*/ 0 h 9715"/>
              <a:gd name="connsiteX3" fmla="*/ 0 w 10058"/>
              <a:gd name="connsiteY3" fmla="*/ 0 h 9715"/>
              <a:gd name="connsiteX0" fmla="*/ 10000 w 10000"/>
              <a:gd name="connsiteY0" fmla="*/ 10059 h 10059"/>
              <a:gd name="connsiteX1" fmla="*/ 7593 w 10000"/>
              <a:gd name="connsiteY1" fmla="*/ 10000 h 10059"/>
              <a:gd name="connsiteX2" fmla="*/ 4450 w 10000"/>
              <a:gd name="connsiteY2" fmla="*/ 0 h 10059"/>
              <a:gd name="connsiteX3" fmla="*/ 0 w 10000"/>
              <a:gd name="connsiteY3" fmla="*/ 0 h 10059"/>
              <a:gd name="connsiteX0" fmla="*/ 10019 w 10019"/>
              <a:gd name="connsiteY0" fmla="*/ 10000 h 10000"/>
              <a:gd name="connsiteX1" fmla="*/ 7593 w 10019"/>
              <a:gd name="connsiteY1" fmla="*/ 10000 h 10000"/>
              <a:gd name="connsiteX2" fmla="*/ 4450 w 10019"/>
              <a:gd name="connsiteY2" fmla="*/ 0 h 10000"/>
              <a:gd name="connsiteX3" fmla="*/ 0 w 10019"/>
              <a:gd name="connsiteY3" fmla="*/ 0 h 10000"/>
              <a:gd name="connsiteX0" fmla="*/ 10019 w 10019"/>
              <a:gd name="connsiteY0" fmla="*/ 10586 h 10586"/>
              <a:gd name="connsiteX1" fmla="*/ 7593 w 10019"/>
              <a:gd name="connsiteY1" fmla="*/ 10586 h 10586"/>
              <a:gd name="connsiteX2" fmla="*/ 3989 w 10019"/>
              <a:gd name="connsiteY2" fmla="*/ 0 h 10586"/>
              <a:gd name="connsiteX3" fmla="*/ 0 w 10019"/>
              <a:gd name="connsiteY3" fmla="*/ 586 h 10586"/>
              <a:gd name="connsiteX0" fmla="*/ 10845 w 10845"/>
              <a:gd name="connsiteY0" fmla="*/ 10762 h 10762"/>
              <a:gd name="connsiteX1" fmla="*/ 8419 w 10845"/>
              <a:gd name="connsiteY1" fmla="*/ 10762 h 10762"/>
              <a:gd name="connsiteX2" fmla="*/ 4815 w 10845"/>
              <a:gd name="connsiteY2" fmla="*/ 176 h 10762"/>
              <a:gd name="connsiteX3" fmla="*/ 0 w 10845"/>
              <a:gd name="connsiteY3" fmla="*/ 0 h 10762"/>
              <a:gd name="connsiteX0" fmla="*/ 10845 w 10845"/>
              <a:gd name="connsiteY0" fmla="*/ 10762 h 10762"/>
              <a:gd name="connsiteX1" fmla="*/ 8419 w 10845"/>
              <a:gd name="connsiteY1" fmla="*/ 10762 h 10762"/>
              <a:gd name="connsiteX2" fmla="*/ 4911 w 10845"/>
              <a:gd name="connsiteY2" fmla="*/ 0 h 10762"/>
              <a:gd name="connsiteX3" fmla="*/ 0 w 10845"/>
              <a:gd name="connsiteY3" fmla="*/ 0 h 10762"/>
            </a:gdLst>
            <a:ahLst/>
            <a:cxnLst>
              <a:cxn ang="0">
                <a:pos x="connsiteX0" y="connsiteY0"/>
              </a:cxn>
              <a:cxn ang="0">
                <a:pos x="connsiteX1" y="connsiteY1"/>
              </a:cxn>
              <a:cxn ang="0">
                <a:pos x="connsiteX2" y="connsiteY2"/>
              </a:cxn>
              <a:cxn ang="0">
                <a:pos x="connsiteX3" y="connsiteY3"/>
              </a:cxn>
            </a:cxnLst>
            <a:rect l="l" t="t" r="r" b="b"/>
            <a:pathLst>
              <a:path w="10845" h="10762">
                <a:moveTo>
                  <a:pt x="10845" y="10762"/>
                </a:moveTo>
                <a:lnTo>
                  <a:pt x="8419" y="10762"/>
                </a:lnTo>
                <a:lnTo>
                  <a:pt x="4911"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74" name="Group 44">
            <a:extLst>
              <a:ext uri="{FF2B5EF4-FFF2-40B4-BE49-F238E27FC236}">
                <a16:creationId xmlns:a16="http://schemas.microsoft.com/office/drawing/2014/main" id="{4CB3F7B7-A92F-9B44-92D1-D6DEC5F500AB}"/>
              </a:ext>
            </a:extLst>
          </p:cNvPr>
          <p:cNvGrpSpPr>
            <a:grpSpLocks/>
          </p:cNvGrpSpPr>
          <p:nvPr/>
        </p:nvGrpSpPr>
        <p:grpSpPr bwMode="auto">
          <a:xfrm>
            <a:off x="1574393" y="2587486"/>
            <a:ext cx="1000125" cy="753665"/>
            <a:chOff x="220" y="1365"/>
            <a:chExt cx="840" cy="633"/>
          </a:xfrm>
        </p:grpSpPr>
        <p:sp>
          <p:nvSpPr>
            <p:cNvPr id="175" name="Line 45">
              <a:extLst>
                <a:ext uri="{FF2B5EF4-FFF2-40B4-BE49-F238E27FC236}">
                  <a16:creationId xmlns:a16="http://schemas.microsoft.com/office/drawing/2014/main" id="{DA8F54E3-D3E2-5B44-B37B-20E7E272BF11}"/>
                </a:ext>
              </a:extLst>
            </p:cNvPr>
            <p:cNvSpPr>
              <a:spLocks noChangeShapeType="1"/>
            </p:cNvSpPr>
            <p:nvPr/>
          </p:nvSpPr>
          <p:spPr bwMode="auto">
            <a:xfrm>
              <a:off x="220" y="1365"/>
              <a:ext cx="273" cy="154"/>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176" name="Oval 46">
              <a:extLst>
                <a:ext uri="{FF2B5EF4-FFF2-40B4-BE49-F238E27FC236}">
                  <a16:creationId xmlns:a16="http://schemas.microsoft.com/office/drawing/2014/main" id="{33BDD6FC-64CC-2347-921C-94F2A9140CAE}"/>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grpSp>
      <p:sp>
        <p:nvSpPr>
          <p:cNvPr id="177" name="Oval 47">
            <a:extLst>
              <a:ext uri="{FF2B5EF4-FFF2-40B4-BE49-F238E27FC236}">
                <a16:creationId xmlns:a16="http://schemas.microsoft.com/office/drawing/2014/main" id="{2345AD26-ED57-8F45-B85E-B4144CC9753D}"/>
              </a:ext>
            </a:extLst>
          </p:cNvPr>
          <p:cNvSpPr>
            <a:spLocks noChangeArrowheads="1"/>
          </p:cNvSpPr>
          <p:nvPr/>
        </p:nvSpPr>
        <p:spPr bwMode="auto">
          <a:xfrm>
            <a:off x="3060293" y="2632730"/>
            <a:ext cx="739378" cy="721519"/>
          </a:xfrm>
          <a:prstGeom prst="ellipse">
            <a:avLst/>
          </a:pr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78" name="Line 48">
            <a:extLst>
              <a:ext uri="{FF2B5EF4-FFF2-40B4-BE49-F238E27FC236}">
                <a16:creationId xmlns:a16="http://schemas.microsoft.com/office/drawing/2014/main" id="{99C86BB6-8396-7A4F-A95C-226EFE593D74}"/>
              </a:ext>
            </a:extLst>
          </p:cNvPr>
          <p:cNvSpPr>
            <a:spLocks noChangeShapeType="1"/>
          </p:cNvSpPr>
          <p:nvPr/>
        </p:nvSpPr>
        <p:spPr bwMode="auto">
          <a:xfrm>
            <a:off x="6228545" y="2832754"/>
            <a:ext cx="0" cy="613172"/>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9" name="Freeform 49">
            <a:extLst>
              <a:ext uri="{FF2B5EF4-FFF2-40B4-BE49-F238E27FC236}">
                <a16:creationId xmlns:a16="http://schemas.microsoft.com/office/drawing/2014/main" id="{A524866B-F3C3-0047-A24A-49C2FB7D032D}"/>
              </a:ext>
            </a:extLst>
          </p:cNvPr>
          <p:cNvSpPr>
            <a:spLocks/>
          </p:cNvSpPr>
          <p:nvPr/>
        </p:nvSpPr>
        <p:spPr bwMode="auto">
          <a:xfrm>
            <a:off x="4056846" y="2624395"/>
            <a:ext cx="3283744" cy="769144"/>
          </a:xfrm>
          <a:custGeom>
            <a:avLst/>
            <a:gdLst>
              <a:gd name="T0" fmla="*/ 2147483647 w 2758"/>
              <a:gd name="T1" fmla="*/ 2147483647 h 646"/>
              <a:gd name="T2" fmla="*/ 2147483647 w 2758"/>
              <a:gd name="T3" fmla="*/ 2147483647 h 646"/>
              <a:gd name="T4" fmla="*/ 2147483647 w 2758"/>
              <a:gd name="T5" fmla="*/ 0 h 646"/>
              <a:gd name="T6" fmla="*/ 0 w 2758"/>
              <a:gd name="T7" fmla="*/ 0 h 6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 h="646">
                <a:moveTo>
                  <a:pt x="2758" y="646"/>
                </a:moveTo>
                <a:lnTo>
                  <a:pt x="1763" y="629"/>
                </a:lnTo>
                <a:lnTo>
                  <a:pt x="1039" y="0"/>
                </a:lnTo>
                <a:lnTo>
                  <a:pt x="0" y="0"/>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80" name="Line 50">
            <a:extLst>
              <a:ext uri="{FF2B5EF4-FFF2-40B4-BE49-F238E27FC236}">
                <a16:creationId xmlns:a16="http://schemas.microsoft.com/office/drawing/2014/main" id="{E379A4B3-232E-9D4E-A4C6-40DC647EE314}"/>
              </a:ext>
            </a:extLst>
          </p:cNvPr>
          <p:cNvSpPr>
            <a:spLocks noChangeShapeType="1"/>
          </p:cNvSpPr>
          <p:nvPr/>
        </p:nvSpPr>
        <p:spPr bwMode="auto">
          <a:xfrm>
            <a:off x="3974693" y="2530336"/>
            <a:ext cx="0" cy="634603"/>
          </a:xfrm>
          <a:prstGeom prst="line">
            <a:avLst/>
          </a:prstGeom>
          <a:noFill/>
          <a:ln w="762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81" name="Freeform 51">
            <a:extLst>
              <a:ext uri="{FF2B5EF4-FFF2-40B4-BE49-F238E27FC236}">
                <a16:creationId xmlns:a16="http://schemas.microsoft.com/office/drawing/2014/main" id="{7739BB93-5816-A945-B555-C2290DB78FDA}"/>
              </a:ext>
            </a:extLst>
          </p:cNvPr>
          <p:cNvSpPr>
            <a:spLocks/>
          </p:cNvSpPr>
          <p:nvPr/>
        </p:nvSpPr>
        <p:spPr bwMode="auto">
          <a:xfrm>
            <a:off x="4046130" y="3175655"/>
            <a:ext cx="4098563" cy="1474775"/>
          </a:xfrm>
          <a:custGeom>
            <a:avLst/>
            <a:gdLst>
              <a:gd name="T0" fmla="*/ 0 w 2566"/>
              <a:gd name="T1" fmla="*/ 0 h 1344"/>
              <a:gd name="T2" fmla="*/ 2147483647 w 2566"/>
              <a:gd name="T3" fmla="*/ 0 h 1344"/>
              <a:gd name="T4" fmla="*/ 2147483647 w 2566"/>
              <a:gd name="T5" fmla="*/ 2147483647 h 1344"/>
              <a:gd name="T6" fmla="*/ 2147483647 w 2566"/>
              <a:gd name="T7" fmla="*/ 2147483647 h 1344"/>
              <a:gd name="T8" fmla="*/ 0 60000 65536"/>
              <a:gd name="T9" fmla="*/ 0 60000 65536"/>
              <a:gd name="T10" fmla="*/ 0 60000 65536"/>
              <a:gd name="T11" fmla="*/ 0 60000 65536"/>
              <a:gd name="connsiteX0" fmla="*/ 0 w 10000"/>
              <a:gd name="connsiteY0" fmla="*/ 0 h 10000"/>
              <a:gd name="connsiteX1" fmla="*/ 3948 w 10000"/>
              <a:gd name="connsiteY1" fmla="*/ 0 h 10000"/>
              <a:gd name="connsiteX2" fmla="*/ 6367 w 10000"/>
              <a:gd name="connsiteY2" fmla="*/ 9215 h 10000"/>
              <a:gd name="connsiteX3" fmla="*/ 10000 w 10000"/>
              <a:gd name="connsiteY3" fmla="*/ 10000 h 10000"/>
              <a:gd name="connsiteX0" fmla="*/ 0 w 13541"/>
              <a:gd name="connsiteY0" fmla="*/ 0 h 9215"/>
              <a:gd name="connsiteX1" fmla="*/ 3948 w 13541"/>
              <a:gd name="connsiteY1" fmla="*/ 0 h 9215"/>
              <a:gd name="connsiteX2" fmla="*/ 6367 w 13541"/>
              <a:gd name="connsiteY2" fmla="*/ 9215 h 9215"/>
              <a:gd name="connsiteX3" fmla="*/ 13541 w 13541"/>
              <a:gd name="connsiteY3" fmla="*/ 9155 h 9215"/>
              <a:gd name="connsiteX0" fmla="*/ 0 w 9977"/>
              <a:gd name="connsiteY0" fmla="*/ 0 h 10132"/>
              <a:gd name="connsiteX1" fmla="*/ 2916 w 9977"/>
              <a:gd name="connsiteY1" fmla="*/ 0 h 10132"/>
              <a:gd name="connsiteX2" fmla="*/ 4702 w 9977"/>
              <a:gd name="connsiteY2" fmla="*/ 10000 h 10132"/>
              <a:gd name="connsiteX3" fmla="*/ 9977 w 9977"/>
              <a:gd name="connsiteY3" fmla="*/ 10132 h 10132"/>
              <a:gd name="connsiteX0" fmla="*/ 0 w 9930"/>
              <a:gd name="connsiteY0" fmla="*/ 0 h 9871"/>
              <a:gd name="connsiteX1" fmla="*/ 2923 w 9930"/>
              <a:gd name="connsiteY1" fmla="*/ 0 h 9871"/>
              <a:gd name="connsiteX2" fmla="*/ 4713 w 9930"/>
              <a:gd name="connsiteY2" fmla="*/ 9870 h 9871"/>
              <a:gd name="connsiteX3" fmla="*/ 9930 w 9930"/>
              <a:gd name="connsiteY3" fmla="*/ 9871 h 9871"/>
            </a:gdLst>
            <a:ahLst/>
            <a:cxnLst>
              <a:cxn ang="0">
                <a:pos x="connsiteX0" y="connsiteY0"/>
              </a:cxn>
              <a:cxn ang="0">
                <a:pos x="connsiteX1" y="connsiteY1"/>
              </a:cxn>
              <a:cxn ang="0">
                <a:pos x="connsiteX2" y="connsiteY2"/>
              </a:cxn>
              <a:cxn ang="0">
                <a:pos x="connsiteX3" y="connsiteY3"/>
              </a:cxn>
            </a:cxnLst>
            <a:rect l="l" t="t" r="r" b="b"/>
            <a:pathLst>
              <a:path w="9930" h="9871">
                <a:moveTo>
                  <a:pt x="0" y="0"/>
                </a:moveTo>
                <a:lnTo>
                  <a:pt x="2923" y="0"/>
                </a:lnTo>
                <a:lnTo>
                  <a:pt x="4713" y="9870"/>
                </a:lnTo>
                <a:lnTo>
                  <a:pt x="9930" y="9871"/>
                </a:lnTo>
              </a:path>
            </a:pathLst>
          </a:custGeom>
          <a:noFill/>
          <a:ln w="3810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83" name="Group 18">
            <a:extLst>
              <a:ext uri="{FF2B5EF4-FFF2-40B4-BE49-F238E27FC236}">
                <a16:creationId xmlns:a16="http://schemas.microsoft.com/office/drawing/2014/main" id="{E284CB69-9F56-5447-BEF7-41A6F2097E8E}"/>
              </a:ext>
            </a:extLst>
          </p:cNvPr>
          <p:cNvGrpSpPr>
            <a:grpSpLocks/>
          </p:cNvGrpSpPr>
          <p:nvPr/>
        </p:nvGrpSpPr>
        <p:grpSpPr bwMode="auto">
          <a:xfrm>
            <a:off x="6244407" y="3178034"/>
            <a:ext cx="1371600" cy="192881"/>
            <a:chOff x="2222" y="3039"/>
            <a:chExt cx="1152" cy="162"/>
          </a:xfrm>
        </p:grpSpPr>
        <p:sp>
          <p:nvSpPr>
            <p:cNvPr id="184" name="Text Box 19">
              <a:extLst>
                <a:ext uri="{FF2B5EF4-FFF2-40B4-BE49-F238E27FC236}">
                  <a16:creationId xmlns:a16="http://schemas.microsoft.com/office/drawing/2014/main" id="{678874A7-3358-5245-A855-DD7E0879D4F7}"/>
                </a:ext>
              </a:extLst>
            </p:cNvPr>
            <p:cNvSpPr txBox="1">
              <a:spLocks noChangeArrowheads="1"/>
            </p:cNvSpPr>
            <p:nvPr/>
          </p:nvSpPr>
          <p:spPr bwMode="auto">
            <a:xfrm>
              <a:off x="2222" y="3039"/>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udt_send(NAK)</a:t>
              </a:r>
              <a:endParaRPr lang="en-US" altLang="en-US" sz="1200" dirty="0">
                <a:solidFill>
                  <a:prstClr val="black"/>
                </a:solidFill>
                <a:latin typeface="Times New Roman" panose="02020603050405020304" pitchFamily="18" charset="0"/>
              </a:endParaRPr>
            </a:p>
          </p:txBody>
        </p:sp>
        <p:sp>
          <p:nvSpPr>
            <p:cNvPr id="185" name="Line 21">
              <a:extLst>
                <a:ext uri="{FF2B5EF4-FFF2-40B4-BE49-F238E27FC236}">
                  <a16:creationId xmlns:a16="http://schemas.microsoft.com/office/drawing/2014/main" id="{56F7C457-03D8-8D48-AA90-B8A469907EAC}"/>
                </a:ext>
              </a:extLst>
            </p:cNvPr>
            <p:cNvSpPr>
              <a:spLocks noChangeShapeType="1"/>
            </p:cNvSpPr>
            <p:nvPr/>
          </p:nvSpPr>
          <p:spPr bwMode="auto">
            <a:xfrm>
              <a:off x="2285" y="3040"/>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sp>
        <p:nvSpPr>
          <p:cNvPr id="186" name="Text Box 20">
            <a:extLst>
              <a:ext uri="{FF2B5EF4-FFF2-40B4-BE49-F238E27FC236}">
                <a16:creationId xmlns:a16="http://schemas.microsoft.com/office/drawing/2014/main" id="{69FC3B3A-305F-9B42-8C7E-1C83075E3B36}"/>
              </a:ext>
            </a:extLst>
          </p:cNvPr>
          <p:cNvSpPr txBox="1">
            <a:spLocks noChangeArrowheads="1"/>
          </p:cNvSpPr>
          <p:nvPr/>
        </p:nvSpPr>
        <p:spPr bwMode="auto">
          <a:xfrm>
            <a:off x="6245673" y="2897650"/>
            <a:ext cx="2541985" cy="234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corrupt(rcvpkt)</a:t>
            </a:r>
            <a:endParaRPr lang="en-US" altLang="en-US" sz="1200" dirty="0">
              <a:solidFill>
                <a:prstClr val="black"/>
              </a:solidFill>
              <a:latin typeface="Times New Roman" panose="02020603050405020304" pitchFamily="18" charset="0"/>
            </a:endParaRPr>
          </a:p>
        </p:txBody>
      </p:sp>
      <p:grpSp>
        <p:nvGrpSpPr>
          <p:cNvPr id="187" name="Group 186">
            <a:extLst>
              <a:ext uri="{FF2B5EF4-FFF2-40B4-BE49-F238E27FC236}">
                <a16:creationId xmlns:a16="http://schemas.microsoft.com/office/drawing/2014/main" id="{5E98E9E8-48DD-2748-A76A-B86C9C5E697C}"/>
              </a:ext>
            </a:extLst>
          </p:cNvPr>
          <p:cNvGrpSpPr/>
          <p:nvPr/>
        </p:nvGrpSpPr>
        <p:grpSpPr>
          <a:xfrm>
            <a:off x="6037238" y="4635378"/>
            <a:ext cx="3106762" cy="700187"/>
            <a:chOff x="8049650" y="5037504"/>
            <a:chExt cx="4142349" cy="933582"/>
          </a:xfrm>
        </p:grpSpPr>
        <p:sp>
          <p:nvSpPr>
            <p:cNvPr id="188" name="Text Box 7">
              <a:extLst>
                <a:ext uri="{FF2B5EF4-FFF2-40B4-BE49-F238E27FC236}">
                  <a16:creationId xmlns:a16="http://schemas.microsoft.com/office/drawing/2014/main" id="{547ACF72-ABFE-F64D-A037-06CF279C9791}"/>
                </a:ext>
              </a:extLst>
            </p:cNvPr>
            <p:cNvSpPr txBox="1">
              <a:spLocks noChangeArrowheads="1"/>
            </p:cNvSpPr>
            <p:nvPr/>
          </p:nvSpPr>
          <p:spPr bwMode="auto">
            <a:xfrm>
              <a:off x="8071876" y="5351961"/>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extract(rcvpkt,data)</a:t>
              </a:r>
            </a:p>
            <a:p>
              <a:pPr defTabSz="685800">
                <a:defRPr/>
              </a:pPr>
              <a:r>
                <a:rPr lang="en-US" altLang="en-US" sz="1200" dirty="0">
                  <a:solidFill>
                    <a:prstClr val="black"/>
                  </a:solidFill>
                  <a:latin typeface="Arial" panose="020B0604020202020204" pitchFamily="34" charset="0"/>
                </a:rPr>
                <a:t>deliver_data(data)</a:t>
              </a:r>
            </a:p>
            <a:p>
              <a:pPr defTabSz="685800">
                <a:defRPr/>
              </a:pPr>
              <a:r>
                <a:rPr lang="en-US" altLang="en-US" sz="1200" dirty="0">
                  <a:solidFill>
                    <a:prstClr val="black"/>
                  </a:solidFill>
                  <a:latin typeface="Arial" panose="020B0604020202020204" pitchFamily="34" charset="0"/>
                </a:rPr>
                <a:t>udt_send(ACK)</a:t>
              </a:r>
              <a:endParaRPr lang="en-US" altLang="en-US" sz="1200" dirty="0">
                <a:solidFill>
                  <a:prstClr val="black"/>
                </a:solidFill>
                <a:latin typeface="Times New Roman" panose="02020603050405020304" pitchFamily="18" charset="0"/>
              </a:endParaRPr>
            </a:p>
          </p:txBody>
        </p:sp>
        <p:sp>
          <p:nvSpPr>
            <p:cNvPr id="189" name="Text Box 8">
              <a:extLst>
                <a:ext uri="{FF2B5EF4-FFF2-40B4-BE49-F238E27FC236}">
                  <a16:creationId xmlns:a16="http://schemas.microsoft.com/office/drawing/2014/main" id="{ECD6AB09-3FC5-E94A-8358-34E4DEA2C45B}"/>
                </a:ext>
              </a:extLst>
            </p:cNvPr>
            <p:cNvSpPr txBox="1">
              <a:spLocks noChangeArrowheads="1"/>
            </p:cNvSpPr>
            <p:nvPr/>
          </p:nvSpPr>
          <p:spPr bwMode="auto">
            <a:xfrm>
              <a:off x="8049650" y="5037504"/>
              <a:ext cx="4142349"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notcorrupt(rcvpkt)</a:t>
              </a:r>
              <a:endParaRPr lang="en-US" altLang="en-US" sz="1200" dirty="0">
                <a:solidFill>
                  <a:prstClr val="black"/>
                </a:solidFill>
                <a:latin typeface="Times New Roman" panose="02020603050405020304" pitchFamily="18" charset="0"/>
              </a:endParaRPr>
            </a:p>
          </p:txBody>
        </p:sp>
        <p:sp>
          <p:nvSpPr>
            <p:cNvPr id="190" name="Line 9">
              <a:extLst>
                <a:ext uri="{FF2B5EF4-FFF2-40B4-BE49-F238E27FC236}">
                  <a16:creationId xmlns:a16="http://schemas.microsoft.com/office/drawing/2014/main" id="{7D4185C1-C6BE-C246-B80B-AE0463D5FBCE}"/>
                </a:ext>
              </a:extLst>
            </p:cNvPr>
            <p:cNvSpPr>
              <a:spLocks noChangeShapeType="1"/>
            </p:cNvSpPr>
            <p:nvPr/>
          </p:nvSpPr>
          <p:spPr bwMode="auto">
            <a:xfrm>
              <a:off x="8171888" y="5407524"/>
              <a:ext cx="14890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grpSp>
      <p:grpSp>
        <p:nvGrpSpPr>
          <p:cNvPr id="192" name="Group 191">
            <a:extLst>
              <a:ext uri="{FF2B5EF4-FFF2-40B4-BE49-F238E27FC236}">
                <a16:creationId xmlns:a16="http://schemas.microsoft.com/office/drawing/2014/main" id="{72958F88-7074-B842-A46E-481DB4E01207}"/>
              </a:ext>
            </a:extLst>
          </p:cNvPr>
          <p:cNvGrpSpPr/>
          <p:nvPr/>
        </p:nvGrpSpPr>
        <p:grpSpPr>
          <a:xfrm>
            <a:off x="1703556" y="3321269"/>
            <a:ext cx="2661047" cy="766554"/>
            <a:chOff x="2270357" y="3283338"/>
            <a:chExt cx="3548062" cy="1022072"/>
          </a:xfrm>
        </p:grpSpPr>
        <p:sp>
          <p:nvSpPr>
            <p:cNvPr id="193" name="Freeform 11">
              <a:extLst>
                <a:ext uri="{FF2B5EF4-FFF2-40B4-BE49-F238E27FC236}">
                  <a16:creationId xmlns:a16="http://schemas.microsoft.com/office/drawing/2014/main" id="{52733FCF-77DF-9549-96B3-58AA1212641C}"/>
                </a:ext>
              </a:extLst>
            </p:cNvPr>
            <p:cNvSpPr>
              <a:spLocks/>
            </p:cNvSpPr>
            <p:nvPr/>
          </p:nvSpPr>
          <p:spPr bwMode="auto">
            <a:xfrm>
              <a:off x="2882338" y="3283338"/>
              <a:ext cx="1800225"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28575"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defTabSz="685800">
                <a:defRPr/>
              </a:pPr>
              <a:r>
                <a:rPr lang="en-US" sz="1350" dirty="0">
                  <a:solidFill>
                    <a:prstClr val="black"/>
                  </a:solidFill>
                  <a:latin typeface="Calibri" panose="020F0502020204030204"/>
                </a:rPr>
                <a:t> </a:t>
              </a:r>
            </a:p>
          </p:txBody>
        </p:sp>
        <p:grpSp>
          <p:nvGrpSpPr>
            <p:cNvPr id="194" name="Group 193">
              <a:extLst>
                <a:ext uri="{FF2B5EF4-FFF2-40B4-BE49-F238E27FC236}">
                  <a16:creationId xmlns:a16="http://schemas.microsoft.com/office/drawing/2014/main" id="{C96D5C38-D258-7844-A167-A26AFEEF24DC}"/>
                </a:ext>
              </a:extLst>
            </p:cNvPr>
            <p:cNvGrpSpPr/>
            <p:nvPr/>
          </p:nvGrpSpPr>
          <p:grpSpPr>
            <a:xfrm>
              <a:off x="2270357" y="3545923"/>
              <a:ext cx="3548062" cy="759487"/>
              <a:chOff x="2270357" y="3545923"/>
              <a:chExt cx="3548062" cy="759487"/>
            </a:xfrm>
          </p:grpSpPr>
          <p:sp>
            <p:nvSpPr>
              <p:cNvPr id="195" name="Text Box 12">
                <a:extLst>
                  <a:ext uri="{FF2B5EF4-FFF2-40B4-BE49-F238E27FC236}">
                    <a16:creationId xmlns:a16="http://schemas.microsoft.com/office/drawing/2014/main" id="{3746DB42-5771-AD4D-9F11-055A2239F8EA}"/>
                  </a:ext>
                </a:extLst>
              </p:cNvPr>
              <p:cNvSpPr txBox="1">
                <a:spLocks noChangeArrowheads="1"/>
              </p:cNvSpPr>
              <p:nvPr/>
            </p:nvSpPr>
            <p:spPr bwMode="auto">
              <a:xfrm>
                <a:off x="2270357" y="3545923"/>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a:defRPr/>
                </a:pPr>
                <a:r>
                  <a:rPr lang="en-US" altLang="en-US" sz="1200" dirty="0">
                    <a:solidFill>
                      <a:prstClr val="black"/>
                    </a:solidFill>
                    <a:latin typeface="Arial" panose="020B0604020202020204" pitchFamily="34" charset="0"/>
                  </a:rPr>
                  <a:t>rdt_rcv(rcvpkt) &amp;&amp; isACK(rcvpkt)</a:t>
                </a:r>
                <a:endParaRPr lang="en-US" altLang="en-US" sz="1200" dirty="0">
                  <a:solidFill>
                    <a:prstClr val="black"/>
                  </a:solidFill>
                  <a:latin typeface="Times New Roman" panose="02020603050405020304" pitchFamily="18" charset="0"/>
                </a:endParaRPr>
              </a:p>
            </p:txBody>
          </p:sp>
          <p:sp>
            <p:nvSpPr>
              <p:cNvPr id="196" name="Line 13">
                <a:extLst>
                  <a:ext uri="{FF2B5EF4-FFF2-40B4-BE49-F238E27FC236}">
                    <a16:creationId xmlns:a16="http://schemas.microsoft.com/office/drawing/2014/main" id="{F8840150-1E50-BA43-88E4-6F9188C56B55}"/>
                  </a:ext>
                </a:extLst>
              </p:cNvPr>
              <p:cNvSpPr>
                <a:spLocks noChangeShapeType="1"/>
              </p:cNvSpPr>
              <p:nvPr/>
            </p:nvSpPr>
            <p:spPr bwMode="auto">
              <a:xfrm>
                <a:off x="3330476" y="3919619"/>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defTabSz="685800">
                  <a:defRPr/>
                </a:pPr>
                <a:endParaRPr lang="en-US" sz="1350" dirty="0">
                  <a:solidFill>
                    <a:prstClr val="black"/>
                  </a:solidFill>
                  <a:latin typeface="Calibri" panose="020F0502020204030204"/>
                </a:endParaRPr>
              </a:p>
            </p:txBody>
          </p:sp>
          <p:sp>
            <p:nvSpPr>
              <p:cNvPr id="197" name="Text Box 48">
                <a:extLst>
                  <a:ext uri="{FF2B5EF4-FFF2-40B4-BE49-F238E27FC236}">
                    <a16:creationId xmlns:a16="http://schemas.microsoft.com/office/drawing/2014/main" id="{13B3F6FD-1B58-2540-B908-71B7D9EFB8FD}"/>
                  </a:ext>
                </a:extLst>
              </p:cNvPr>
              <p:cNvSpPr txBox="1">
                <a:spLocks noChangeArrowheads="1"/>
              </p:cNvSpPr>
              <p:nvPr/>
            </p:nvSpPr>
            <p:spPr bwMode="auto">
              <a:xfrm>
                <a:off x="3665151" y="3936078"/>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1200" dirty="0">
                    <a:solidFill>
                      <a:prstClr val="black"/>
                    </a:solidFill>
                    <a:latin typeface="Symbol" charset="0"/>
                  </a:rPr>
                  <a:t>L</a:t>
                </a:r>
              </a:p>
            </p:txBody>
          </p:sp>
        </p:grpSp>
      </p:grpSp>
      <p:sp>
        <p:nvSpPr>
          <p:cNvPr id="198" name="Text Box 19">
            <a:extLst>
              <a:ext uri="{FF2B5EF4-FFF2-40B4-BE49-F238E27FC236}">
                <a16:creationId xmlns:a16="http://schemas.microsoft.com/office/drawing/2014/main" id="{A11F89D9-6E4B-F142-B680-CA9246FEB5B1}"/>
              </a:ext>
            </a:extLst>
          </p:cNvPr>
          <p:cNvSpPr txBox="1">
            <a:spLocks noChangeArrowheads="1"/>
          </p:cNvSpPr>
          <p:nvPr/>
        </p:nvSpPr>
        <p:spPr bwMode="auto">
          <a:xfrm>
            <a:off x="845309" y="2745543"/>
            <a:ext cx="87075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sender</a:t>
            </a:r>
          </a:p>
        </p:txBody>
      </p:sp>
      <p:sp>
        <p:nvSpPr>
          <p:cNvPr id="199" name="Text Box 20">
            <a:extLst>
              <a:ext uri="{FF2B5EF4-FFF2-40B4-BE49-F238E27FC236}">
                <a16:creationId xmlns:a16="http://schemas.microsoft.com/office/drawing/2014/main" id="{F9D8503E-DBC4-144B-9DCA-064A69A8F4DF}"/>
              </a:ext>
            </a:extLst>
          </p:cNvPr>
          <p:cNvSpPr txBox="1">
            <a:spLocks noChangeArrowheads="1"/>
          </p:cNvSpPr>
          <p:nvPr/>
        </p:nvSpPr>
        <p:spPr bwMode="auto">
          <a:xfrm>
            <a:off x="7218150" y="3828116"/>
            <a:ext cx="99097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800" kern="0" dirty="0">
                <a:solidFill>
                  <a:srgbClr val="CC0000"/>
                </a:solidFill>
              </a:rPr>
              <a:t>receiver</a:t>
            </a:r>
          </a:p>
        </p:txBody>
      </p:sp>
    </p:spTree>
    <p:extLst>
      <p:ext uri="{BB962C8B-B14F-4D97-AF65-F5344CB8AC3E}">
        <p14:creationId xmlns:p14="http://schemas.microsoft.com/office/powerpoint/2010/main" val="3815305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dissolve">
                                      <p:cBhvr>
                                        <p:cTn id="7" dur="500"/>
                                        <p:tgtEl>
                                          <p:spTgt spid="15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2"/>
                                        </p:tgtEl>
                                        <p:attrNameLst>
                                          <p:attrName>style.visibility</p:attrName>
                                        </p:attrNameLst>
                                      </p:cBhvr>
                                      <p:to>
                                        <p:strVal val="visible"/>
                                      </p:to>
                                    </p:set>
                                    <p:animEffect transition="in" filter="dissolve">
                                      <p:cBhvr>
                                        <p:cTn id="12" dur="500"/>
                                        <p:tgtEl>
                                          <p:spTgt spid="1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66"/>
                                        </p:tgtEl>
                                        <p:attrNameLst>
                                          <p:attrName>style.visibility</p:attrName>
                                        </p:attrNameLst>
                                      </p:cBhvr>
                                      <p:to>
                                        <p:strVal val="visible"/>
                                      </p:to>
                                    </p:set>
                                    <p:animEffect transition="in" filter="wipe(up)">
                                      <p:cBhvr>
                                        <p:cTn id="17" dur="1000"/>
                                        <p:tgtEl>
                                          <p:spTgt spid="166"/>
                                        </p:tgtEl>
                                      </p:cBhvr>
                                    </p:animEffect>
                                  </p:childTnLst>
                                  <p:subTnLst>
                                    <p:set>
                                      <p:cBhvr override="childStyle">
                                        <p:cTn dur="1" fill="hold" display="0" masterRel="nextClick" afterEffect="1"/>
                                        <p:tgtEl>
                                          <p:spTgt spid="1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wipe(left)">
                                      <p:cBhvr>
                                        <p:cTn id="22" dur="1000"/>
                                        <p:tgtEl>
                                          <p:spTgt spid="167"/>
                                        </p:tgtEl>
                                      </p:cBhvr>
                                    </p:animEffect>
                                  </p:childTnLst>
                                  <p:subTnLst>
                                    <p:set>
                                      <p:cBhvr override="childStyle">
                                        <p:cTn dur="1" fill="hold" display="0" masterRel="nextClick" afterEffect="1"/>
                                        <p:tgtEl>
                                          <p:spTgt spid="167"/>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78"/>
                                        </p:tgtEl>
                                        <p:attrNameLst>
                                          <p:attrName>style.visibility</p:attrName>
                                        </p:attrNameLst>
                                      </p:cBhvr>
                                      <p:to>
                                        <p:strVal val="visible"/>
                                      </p:to>
                                    </p:set>
                                    <p:animEffect transition="in" filter="wipe(up)">
                                      <p:cBhvr>
                                        <p:cTn id="31" dur="10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179"/>
                                        </p:tgtEl>
                                        <p:attrNameLst>
                                          <p:attrName>style.visibility</p:attrName>
                                        </p:attrNameLst>
                                      </p:cBhvr>
                                      <p:to>
                                        <p:strVal val="visible"/>
                                      </p:to>
                                    </p:set>
                                    <p:animEffect transition="in" filter="wipe(right)">
                                      <p:cBhvr>
                                        <p:cTn id="36" dur="10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180"/>
                                        </p:tgtEl>
                                        <p:attrNameLst>
                                          <p:attrName>style.visibility</p:attrName>
                                        </p:attrNameLst>
                                      </p:cBhvr>
                                      <p:to>
                                        <p:strVal val="visible"/>
                                      </p:to>
                                    </p:set>
                                    <p:animEffect transition="in" filter="wipe(up)">
                                      <p:cBhvr>
                                        <p:cTn id="41" dur="1000"/>
                                        <p:tgtEl>
                                          <p:spTgt spid="180"/>
                                        </p:tgtEl>
                                      </p:cBhvr>
                                    </p:animEffect>
                                  </p:childTnLst>
                                  <p:subTnLst>
                                    <p:set>
                                      <p:cBhvr override="childStyle">
                                        <p:cTn dur="1" fill="hold" display="0" masterRel="nextClick" afterEffect="1"/>
                                        <p:tgtEl>
                                          <p:spTgt spid="1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1"/>
                                        </p:tgtEl>
                                        <p:attrNameLst>
                                          <p:attrName>style.visibility</p:attrName>
                                        </p:attrNameLst>
                                      </p:cBhvr>
                                      <p:to>
                                        <p:strVal val="visible"/>
                                      </p:to>
                                    </p:set>
                                    <p:animEffect transition="in" filter="wipe(left)">
                                      <p:cBhvr>
                                        <p:cTn id="46" dur="2000"/>
                                        <p:tgtEl>
                                          <p:spTgt spid="181"/>
                                        </p:tgtEl>
                                      </p:cBhvr>
                                    </p:animEffect>
                                  </p:childTnLst>
                                  <p:subTnLst>
                                    <p:set>
                                      <p:cBhvr override="childStyle">
                                        <p:cTn dur="1" fill="hold" display="0" masterRel="nextClick" afterEffect="1"/>
                                        <p:tgtEl>
                                          <p:spTgt spid="181"/>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72"/>
                                        </p:tgtEl>
                                        <p:attrNameLst>
                                          <p:attrName>style.visibility</p:attrName>
                                        </p:attrNameLst>
                                      </p:cBhvr>
                                      <p:to>
                                        <p:strVal val="visible"/>
                                      </p:to>
                                    </p:set>
                                    <p:animEffect transition="in" filter="wipe(up)">
                                      <p:cBhvr>
                                        <p:cTn id="51" dur="1000"/>
                                        <p:tgtEl>
                                          <p:spTgt spid="172"/>
                                        </p:tgtEl>
                                      </p:cBhvr>
                                    </p:animEffect>
                                  </p:childTnLst>
                                  <p:subTnLst>
                                    <p:set>
                                      <p:cBhvr override="childStyle">
                                        <p:cTn dur="1" fill="hold" display="0" masterRel="nextClick" afterEffect="1"/>
                                        <p:tgtEl>
                                          <p:spTgt spid="172"/>
                                        </p:tgtEl>
                                        <p:attrNameLst>
                                          <p:attrName>style.visibility</p:attrName>
                                        </p:attrNameLst>
                                      </p:cBhvr>
                                      <p:to>
                                        <p:strVal val="hidden"/>
                                      </p:to>
                                    </p:set>
                                  </p:sub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73"/>
                                        </p:tgtEl>
                                        <p:attrNameLst>
                                          <p:attrName>style.visibility</p:attrName>
                                        </p:attrNameLst>
                                      </p:cBhvr>
                                      <p:to>
                                        <p:strVal val="visible"/>
                                      </p:to>
                                    </p:set>
                                    <p:animEffect transition="in" filter="wipe(down)">
                                      <p:cBhvr>
                                        <p:cTn id="56" dur="1000"/>
                                        <p:tgtEl>
                                          <p:spTgt spid="173"/>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174"/>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7"/>
                                        </p:tgtEl>
                                        <p:attrNameLst>
                                          <p:attrName>style.visibility</p:attrName>
                                        </p:attrNameLst>
                                      </p:cBhvr>
                                      <p:to>
                                        <p:strVal val="visible"/>
                                      </p:to>
                                    </p:set>
                                  </p:childTnLst>
                                </p:cTn>
                              </p:par>
                              <p:par>
                                <p:cTn id="62" presetID="1" presetClass="entr" presetSubtype="0" fill="hold" grpId="1" nodeType="withEffect">
                                  <p:stCondLst>
                                    <p:cond delay="0"/>
                                  </p:stCondLst>
                                  <p:childTnLst>
                                    <p:set>
                                      <p:cBhvr>
                                        <p:cTn id="63" dur="1" fill="hold">
                                          <p:stCondLst>
                                            <p:cond delay="0"/>
                                          </p:stCondLst>
                                        </p:cTn>
                                        <p:tgtEl>
                                          <p:spTgt spid="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7" grpId="0" animBg="1"/>
      <p:bldP spid="177"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RDT2.0</a:t>
            </a:r>
            <a:endParaRPr lang="en-US" dirty="0"/>
          </a:p>
        </p:txBody>
      </p:sp>
      <p:sp>
        <p:nvSpPr>
          <p:cNvPr id="3" name="Content Placeholder 2">
            <a:extLst>
              <a:ext uri="{FF2B5EF4-FFF2-40B4-BE49-F238E27FC236}">
                <a16:creationId xmlns:a16="http://schemas.microsoft.com/office/drawing/2014/main" id="{44ACE546-D791-FE5B-33C5-632BF2C49880}"/>
              </a:ext>
            </a:extLst>
          </p:cNvPr>
          <p:cNvSpPr>
            <a:spLocks noGrp="1"/>
          </p:cNvSpPr>
          <p:nvPr>
            <p:ph idx="1"/>
          </p:nvPr>
        </p:nvSpPr>
        <p:spPr/>
        <p:txBody>
          <a:bodyPr/>
          <a:lstStyle/>
          <a:p>
            <a:r>
              <a:rPr lang="en-US" sz="2800" dirty="0"/>
              <a:t>rdt2.0 has a fatal flaw!</a:t>
            </a:r>
            <a:endParaRPr lang="en-US" dirty="0"/>
          </a:p>
        </p:txBody>
      </p:sp>
      <p:sp>
        <p:nvSpPr>
          <p:cNvPr id="10" name="Slide Number Placeholder 2">
            <a:extLst>
              <a:ext uri="{FF2B5EF4-FFF2-40B4-BE49-F238E27FC236}">
                <a16:creationId xmlns:a16="http://schemas.microsoft.com/office/drawing/2014/main" id="{85301A5D-98A1-5549-8702-D978C38EA8B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17</a:t>
            </a:fld>
            <a:endParaRPr lang="en-US" dirty="0">
              <a:solidFill>
                <a:prstClr val="white">
                  <a:lumMod val="50000"/>
                </a:prstClr>
              </a:solidFill>
              <a:latin typeface="Calibri" panose="020F0502020204030204"/>
            </a:endParaRPr>
          </a:p>
        </p:txBody>
      </p:sp>
      <p:sp>
        <p:nvSpPr>
          <p:cNvPr id="54" name="Rectangle 3">
            <a:extLst>
              <a:ext uri="{FF2B5EF4-FFF2-40B4-BE49-F238E27FC236}">
                <a16:creationId xmlns:a16="http://schemas.microsoft.com/office/drawing/2014/main" id="{24A7E6D3-44BD-F44B-9E30-860EE5046FF6}"/>
              </a:ext>
            </a:extLst>
          </p:cNvPr>
          <p:cNvSpPr txBox="1">
            <a:spLocks noChangeArrowheads="1"/>
          </p:cNvSpPr>
          <p:nvPr/>
        </p:nvSpPr>
        <p:spPr>
          <a:xfrm>
            <a:off x="518610" y="2417169"/>
            <a:ext cx="4368923"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lnSpc>
                <a:spcPct val="80000"/>
              </a:lnSpc>
              <a:spcBef>
                <a:spcPts val="750"/>
              </a:spcBef>
              <a:buNone/>
              <a:defRPr/>
            </a:pPr>
            <a:r>
              <a:rPr lang="en-US" altLang="en-US" sz="2400" dirty="0">
                <a:solidFill>
                  <a:srgbClr val="CC0000"/>
                </a:solidFill>
                <a:latin typeface="Calibri" panose="020F0502020204030204"/>
                <a:ea typeface="ＭＳ Ｐゴシック" panose="020B0600070205080204" pitchFamily="34" charset="-128"/>
              </a:rPr>
              <a:t>what happens if ACK/NAK corrupted</a:t>
            </a:r>
            <a:r>
              <a:rPr lang="en-US" altLang="en-US" sz="2100" dirty="0">
                <a:solidFill>
                  <a:srgbClr val="CC0000"/>
                </a:solidFill>
                <a:latin typeface="Calibri" panose="020F0502020204030204"/>
                <a:ea typeface="ＭＳ Ｐゴシック" panose="020B0600070205080204" pitchFamily="34" charset="-128"/>
              </a:rPr>
              <a:t>?</a:t>
            </a:r>
          </a:p>
          <a:p>
            <a:pPr marL="345281" indent="-163116" defTabSz="685800">
              <a:lnSpc>
                <a:spcPct val="8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sender doesn’</a:t>
            </a:r>
            <a:r>
              <a:rPr lang="en-US" altLang="ja-JP" sz="2100" dirty="0">
                <a:solidFill>
                  <a:prstClr val="black"/>
                </a:solidFill>
                <a:latin typeface="Calibri" panose="020F0502020204030204"/>
                <a:ea typeface="ＭＳ Ｐゴシック" panose="020B0600070205080204" pitchFamily="34" charset="-128"/>
              </a:rPr>
              <a:t>t know what happened at receiver!</a:t>
            </a:r>
          </a:p>
          <a:p>
            <a:pPr marL="345281" indent="-163116" defTabSz="685800">
              <a:lnSpc>
                <a:spcPct val="80000"/>
              </a:lnSpc>
              <a:spcBef>
                <a:spcPts val="750"/>
              </a:spcBef>
              <a:defRPr/>
            </a:pPr>
            <a:r>
              <a:rPr lang="en-US" altLang="en-US" sz="2100" dirty="0">
                <a:solidFill>
                  <a:prstClr val="black"/>
                </a:solidFill>
                <a:latin typeface="Calibri" panose="020F0502020204030204"/>
                <a:ea typeface="ＭＳ Ｐゴシック" panose="020B0600070205080204" pitchFamily="34" charset="-128"/>
              </a:rPr>
              <a:t>can’</a:t>
            </a:r>
            <a:r>
              <a:rPr lang="en-US" altLang="ja-JP" sz="2100" dirty="0">
                <a:solidFill>
                  <a:prstClr val="black"/>
                </a:solidFill>
                <a:latin typeface="Calibri" panose="020F0502020204030204"/>
                <a:ea typeface="ＭＳ Ｐゴシック" panose="020B0600070205080204" pitchFamily="34" charset="-128"/>
              </a:rPr>
              <a:t>t just retransmit: possible duplicate</a:t>
            </a:r>
            <a:endParaRPr lang="en-US" altLang="ja-JP" sz="2400" dirty="0">
              <a:solidFill>
                <a:prstClr val="black"/>
              </a:solidFill>
              <a:latin typeface="Calibri" panose="020F0502020204030204"/>
              <a:ea typeface="ＭＳ Ｐゴシック" panose="020B0600070205080204" pitchFamily="34" charset="-128"/>
            </a:endParaRPr>
          </a:p>
          <a:p>
            <a:pPr marL="264319" indent="-166688" defTabSz="685800">
              <a:lnSpc>
                <a:spcPct val="80000"/>
              </a:lnSpc>
              <a:spcBef>
                <a:spcPct val="60000"/>
              </a:spcBef>
              <a:buNone/>
              <a:defRPr/>
            </a:pPr>
            <a:endParaRPr lang="en-US" altLang="en-US" sz="1800" dirty="0">
              <a:solidFill>
                <a:prstClr val="black"/>
              </a:solidFill>
              <a:latin typeface="Calibri" panose="020F0502020204030204"/>
              <a:ea typeface="ＭＳ Ｐゴシック" panose="020B0600070205080204" pitchFamily="34" charset="-128"/>
            </a:endParaRPr>
          </a:p>
          <a:p>
            <a:pPr marL="264319" indent="-166688" defTabSz="685800">
              <a:lnSpc>
                <a:spcPct val="70000"/>
              </a:lnSpc>
              <a:spcBef>
                <a:spcPts val="750"/>
              </a:spcBef>
              <a:buNone/>
              <a:defRPr/>
            </a:pPr>
            <a:endParaRPr lang="en-US" altLang="en-US" sz="2100" dirty="0">
              <a:solidFill>
                <a:prstClr val="black"/>
              </a:solidFill>
              <a:latin typeface="Calibri" panose="020F0502020204030204"/>
              <a:ea typeface="ＭＳ Ｐゴシック" panose="020B0600070205080204" pitchFamily="34" charset="-128"/>
            </a:endParaRPr>
          </a:p>
          <a:p>
            <a:pPr marL="264319" indent="-166688" defTabSz="685800">
              <a:lnSpc>
                <a:spcPct val="70000"/>
              </a:lnSpc>
              <a:spcBef>
                <a:spcPts val="750"/>
              </a:spcBef>
              <a:buNone/>
              <a:defRPr/>
            </a:pPr>
            <a:endParaRPr lang="en-US" altLang="en-US" sz="2100" dirty="0">
              <a:solidFill>
                <a:prstClr val="black"/>
              </a:solidFill>
              <a:latin typeface="Calibri" panose="020F0502020204030204"/>
              <a:ea typeface="ＭＳ Ｐゴシック" panose="020B0600070205080204" pitchFamily="34" charset="-128"/>
            </a:endParaRPr>
          </a:p>
        </p:txBody>
      </p:sp>
      <p:sp>
        <p:nvSpPr>
          <p:cNvPr id="55" name="Rectangle 4">
            <a:extLst>
              <a:ext uri="{FF2B5EF4-FFF2-40B4-BE49-F238E27FC236}">
                <a16:creationId xmlns:a16="http://schemas.microsoft.com/office/drawing/2014/main" id="{A5980F19-9541-754D-B1F9-A97DD6E77B8E}"/>
              </a:ext>
            </a:extLst>
          </p:cNvPr>
          <p:cNvSpPr txBox="1">
            <a:spLocks noChangeArrowheads="1"/>
          </p:cNvSpPr>
          <p:nvPr/>
        </p:nvSpPr>
        <p:spPr>
          <a:xfrm>
            <a:off x="4655500" y="2407510"/>
            <a:ext cx="3969890" cy="2297918"/>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altLang="en-US" sz="2625" dirty="0">
                <a:solidFill>
                  <a:srgbClr val="CC0000"/>
                </a:solidFill>
                <a:latin typeface="Calibri" panose="020F0502020204030204"/>
                <a:ea typeface="ＭＳ Ｐゴシック" panose="020B0600070205080204" pitchFamily="34" charset="-128"/>
              </a:rPr>
              <a:t>handling duplicates</a:t>
            </a:r>
            <a:r>
              <a:rPr lang="en-US" altLang="en-US" sz="2625" dirty="0">
                <a:solidFill>
                  <a:srgbClr val="FF0000"/>
                </a:solidFill>
                <a:latin typeface="Calibri" panose="020F0502020204030204"/>
                <a:ea typeface="ＭＳ Ｐゴシック" panose="020B0600070205080204" pitchFamily="34" charset="-128"/>
              </a:rPr>
              <a:t>: </a:t>
            </a:r>
          </a:p>
          <a:p>
            <a:pPr marL="345281" indent="-163116"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sender retransmits current pkt if ACK/NAK corrupted</a:t>
            </a:r>
          </a:p>
          <a:p>
            <a:pPr marL="345281" indent="-163116"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sender adds </a:t>
            </a:r>
            <a:r>
              <a:rPr lang="en-US" altLang="en-US" sz="2100" i="1" dirty="0">
                <a:solidFill>
                  <a:srgbClr val="000099"/>
                </a:solidFill>
                <a:latin typeface="Calibri" panose="020F0502020204030204"/>
                <a:ea typeface="ＭＳ Ｐゴシック" panose="020B0600070205080204" pitchFamily="34" charset="-128"/>
              </a:rPr>
              <a:t>sequence number</a:t>
            </a:r>
            <a:r>
              <a:rPr lang="en-US" altLang="en-US" sz="2100" dirty="0">
                <a:solidFill>
                  <a:prstClr val="black"/>
                </a:solidFill>
                <a:latin typeface="Calibri" panose="020F0502020204030204"/>
                <a:ea typeface="ＭＳ Ｐゴシック" panose="020B0600070205080204" pitchFamily="34" charset="-128"/>
              </a:rPr>
              <a:t> to each pkt</a:t>
            </a:r>
          </a:p>
          <a:p>
            <a:pPr marL="345281" indent="-163116"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receiver discards (doesn’</a:t>
            </a:r>
            <a:r>
              <a:rPr lang="en-US" altLang="ja-JP" sz="2100" dirty="0">
                <a:solidFill>
                  <a:prstClr val="black"/>
                </a:solidFill>
                <a:latin typeface="Calibri" panose="020F0502020204030204"/>
                <a:ea typeface="ＭＳ Ｐゴシック" panose="020B0600070205080204" pitchFamily="34" charset="-128"/>
              </a:rPr>
              <a:t>t deliver up) duplicate pkt</a:t>
            </a:r>
            <a:endParaRPr lang="en-US" altLang="en-US" sz="2100" dirty="0">
              <a:solidFill>
                <a:prstClr val="black"/>
              </a:solidFill>
              <a:latin typeface="Calibri" panose="020F0502020204030204"/>
              <a:ea typeface="ＭＳ Ｐゴシック" panose="020B0600070205080204" pitchFamily="34" charset="-128"/>
            </a:endParaRPr>
          </a:p>
        </p:txBody>
      </p:sp>
      <p:grpSp>
        <p:nvGrpSpPr>
          <p:cNvPr id="56" name="Group 13">
            <a:extLst>
              <a:ext uri="{FF2B5EF4-FFF2-40B4-BE49-F238E27FC236}">
                <a16:creationId xmlns:a16="http://schemas.microsoft.com/office/drawing/2014/main" id="{DD203542-E210-7447-A332-31A71101B61E}"/>
              </a:ext>
            </a:extLst>
          </p:cNvPr>
          <p:cNvGrpSpPr>
            <a:grpSpLocks/>
          </p:cNvGrpSpPr>
          <p:nvPr/>
        </p:nvGrpSpPr>
        <p:grpSpPr bwMode="auto">
          <a:xfrm>
            <a:off x="2327750" y="4812617"/>
            <a:ext cx="4488500" cy="1202531"/>
            <a:chOff x="1552" y="2800"/>
            <a:chExt cx="2578" cy="1010"/>
          </a:xfrm>
        </p:grpSpPr>
        <p:sp>
          <p:nvSpPr>
            <p:cNvPr id="57" name="Rectangle 7">
              <a:extLst>
                <a:ext uri="{FF2B5EF4-FFF2-40B4-BE49-F238E27FC236}">
                  <a16:creationId xmlns:a16="http://schemas.microsoft.com/office/drawing/2014/main" id="{7263B3B4-235C-B144-9AEF-471ED41D188E}"/>
                </a:ext>
              </a:extLst>
            </p:cNvPr>
            <p:cNvSpPr>
              <a:spLocks noChangeArrowheads="1"/>
            </p:cNvSpPr>
            <p:nvPr/>
          </p:nvSpPr>
          <p:spPr bwMode="auto">
            <a:xfrm>
              <a:off x="1552" y="2974"/>
              <a:ext cx="2578" cy="836"/>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58" name="Rectangle 9">
              <a:extLst>
                <a:ext uri="{FF2B5EF4-FFF2-40B4-BE49-F238E27FC236}">
                  <a16:creationId xmlns:a16="http://schemas.microsoft.com/office/drawing/2014/main" id="{2C183582-BCD6-964F-9986-EC99BBA65A9F}"/>
                </a:ext>
              </a:extLst>
            </p:cNvPr>
            <p:cNvSpPr>
              <a:spLocks noChangeArrowheads="1"/>
            </p:cNvSpPr>
            <p:nvPr/>
          </p:nvSpPr>
          <p:spPr bwMode="auto">
            <a:xfrm>
              <a:off x="2226" y="2864"/>
              <a:ext cx="596" cy="223"/>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59" name="Text Box 10">
              <a:extLst>
                <a:ext uri="{FF2B5EF4-FFF2-40B4-BE49-F238E27FC236}">
                  <a16:creationId xmlns:a16="http://schemas.microsoft.com/office/drawing/2014/main" id="{51B6B572-EC0D-AF4F-816C-095262254C5F}"/>
                </a:ext>
              </a:extLst>
            </p:cNvPr>
            <p:cNvSpPr txBox="1">
              <a:spLocks noChangeArrowheads="1"/>
            </p:cNvSpPr>
            <p:nvPr/>
          </p:nvSpPr>
          <p:spPr bwMode="auto">
            <a:xfrm>
              <a:off x="1724" y="2800"/>
              <a:ext cx="1074" cy="38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2400" dirty="0">
                  <a:solidFill>
                    <a:srgbClr val="CC0000"/>
                  </a:solidFill>
                  <a:latin typeface="Calibri" panose="020F0502020204030204"/>
                </a:rPr>
                <a:t>stop and wait</a:t>
              </a:r>
            </a:p>
          </p:txBody>
        </p:sp>
        <p:sp>
          <p:nvSpPr>
            <p:cNvPr id="60" name="Text Box 6">
              <a:extLst>
                <a:ext uri="{FF2B5EF4-FFF2-40B4-BE49-F238E27FC236}">
                  <a16:creationId xmlns:a16="http://schemas.microsoft.com/office/drawing/2014/main" id="{76C910B9-5EA9-F245-95E8-43CDADF70A45}"/>
                </a:ext>
              </a:extLst>
            </p:cNvPr>
            <p:cNvSpPr txBox="1">
              <a:spLocks noChangeArrowheads="1"/>
            </p:cNvSpPr>
            <p:nvPr/>
          </p:nvSpPr>
          <p:spPr bwMode="auto">
            <a:xfrm>
              <a:off x="1678" y="3136"/>
              <a:ext cx="2452" cy="60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CC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lnSpc>
                  <a:spcPct val="85000"/>
                </a:lnSpc>
                <a:defRPr/>
              </a:pPr>
              <a:r>
                <a:rPr lang="en-US" sz="2400" dirty="0">
                  <a:solidFill>
                    <a:prstClr val="black"/>
                  </a:solidFill>
                  <a:latin typeface="Calibri" panose="020F0502020204030204"/>
                </a:rPr>
                <a:t>sender sends one packet,  then waits for receiver  response</a:t>
              </a:r>
            </a:p>
          </p:txBody>
        </p:sp>
      </p:grpSp>
    </p:spTree>
    <p:extLst>
      <p:ext uri="{BB962C8B-B14F-4D97-AF65-F5344CB8AC3E}">
        <p14:creationId xmlns:p14="http://schemas.microsoft.com/office/powerpoint/2010/main" val="3967303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RDT2.1</a:t>
            </a:r>
            <a:endParaRPr lang="en-US" dirty="0"/>
          </a:p>
        </p:txBody>
      </p:sp>
      <p:sp>
        <p:nvSpPr>
          <p:cNvPr id="3" name="Content Placeholder 2">
            <a:extLst>
              <a:ext uri="{FF2B5EF4-FFF2-40B4-BE49-F238E27FC236}">
                <a16:creationId xmlns:a16="http://schemas.microsoft.com/office/drawing/2014/main" id="{96F365F4-43E0-56F2-5B2A-E5C8D285AEA5}"/>
              </a:ext>
            </a:extLst>
          </p:cNvPr>
          <p:cNvSpPr>
            <a:spLocks noGrp="1"/>
          </p:cNvSpPr>
          <p:nvPr>
            <p:ph idx="1"/>
          </p:nvPr>
        </p:nvSpPr>
        <p:spPr>
          <a:xfrm>
            <a:off x="628650" y="1250954"/>
            <a:ext cx="7886700" cy="579580"/>
          </a:xfrm>
        </p:spPr>
        <p:txBody>
          <a:bodyPr/>
          <a:lstStyle/>
          <a:p>
            <a:r>
              <a:rPr lang="en-US" sz="2800" dirty="0"/>
              <a:t>sender, handling garbled ACK/NAKs</a:t>
            </a:r>
            <a:endParaRPr lang="en-US" dirty="0"/>
          </a:p>
        </p:txBody>
      </p:sp>
      <p:sp>
        <p:nvSpPr>
          <p:cNvPr id="46" name="Slide Number Placeholder 2">
            <a:extLst>
              <a:ext uri="{FF2B5EF4-FFF2-40B4-BE49-F238E27FC236}">
                <a16:creationId xmlns:a16="http://schemas.microsoft.com/office/drawing/2014/main" id="{B69BA466-748A-4F41-808A-2B33C515BE9E}"/>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18</a:t>
            </a:fld>
            <a:endParaRPr lang="en-US" dirty="0">
              <a:solidFill>
                <a:prstClr val="white">
                  <a:lumMod val="50000"/>
                </a:prstClr>
              </a:solidFill>
              <a:latin typeface="Calibri" panose="020F0502020204030204"/>
            </a:endParaRPr>
          </a:p>
        </p:txBody>
      </p:sp>
      <p:sp>
        <p:nvSpPr>
          <p:cNvPr id="47" name="Oval 3">
            <a:extLst>
              <a:ext uri="{FF2B5EF4-FFF2-40B4-BE49-F238E27FC236}">
                <a16:creationId xmlns:a16="http://schemas.microsoft.com/office/drawing/2014/main" id="{F4C9F03D-E67B-234E-BA55-D7E8F7DDDD11}"/>
              </a:ext>
            </a:extLst>
          </p:cNvPr>
          <p:cNvSpPr>
            <a:spLocks noChangeArrowheads="1"/>
          </p:cNvSpPr>
          <p:nvPr/>
        </p:nvSpPr>
        <p:spPr bwMode="auto">
          <a:xfrm>
            <a:off x="3494083" y="2683820"/>
            <a:ext cx="676275" cy="62745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48" name="Text Box 4">
            <a:extLst>
              <a:ext uri="{FF2B5EF4-FFF2-40B4-BE49-F238E27FC236}">
                <a16:creationId xmlns:a16="http://schemas.microsoft.com/office/drawing/2014/main" id="{512826EB-423D-0E49-8FDB-270557859D99}"/>
              </a:ext>
            </a:extLst>
          </p:cNvPr>
          <p:cNvSpPr txBox="1">
            <a:spLocks noChangeArrowheads="1"/>
          </p:cNvSpPr>
          <p:nvPr/>
        </p:nvSpPr>
        <p:spPr bwMode="auto">
          <a:xfrm>
            <a:off x="3425814" y="2740836"/>
            <a:ext cx="81796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Wait for call 0 from above</a:t>
            </a:r>
            <a:endParaRPr lang="en-US" altLang="en-US" sz="1050" dirty="0">
              <a:solidFill>
                <a:srgbClr val="000000"/>
              </a:solidFill>
              <a:latin typeface="Times New Roman" panose="02020603050405020304" pitchFamily="18" charset="0"/>
            </a:endParaRPr>
          </a:p>
        </p:txBody>
      </p:sp>
      <p:sp>
        <p:nvSpPr>
          <p:cNvPr id="52" name="Line 8">
            <a:extLst>
              <a:ext uri="{FF2B5EF4-FFF2-40B4-BE49-F238E27FC236}">
                <a16:creationId xmlns:a16="http://schemas.microsoft.com/office/drawing/2014/main" id="{6251CAAF-59B3-6049-8269-0136EB3BA476}"/>
              </a:ext>
            </a:extLst>
          </p:cNvPr>
          <p:cNvSpPr>
            <a:spLocks noChangeShapeType="1"/>
          </p:cNvSpPr>
          <p:nvPr/>
        </p:nvSpPr>
        <p:spPr bwMode="auto">
          <a:xfrm>
            <a:off x="3288105" y="2650483"/>
            <a:ext cx="283369" cy="1428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61" name="Group 10">
            <a:extLst>
              <a:ext uri="{FF2B5EF4-FFF2-40B4-BE49-F238E27FC236}">
                <a16:creationId xmlns:a16="http://schemas.microsoft.com/office/drawing/2014/main" id="{BA1E332A-47D4-2B43-8C9F-38C21B1C7E8C}"/>
              </a:ext>
            </a:extLst>
          </p:cNvPr>
          <p:cNvGrpSpPr>
            <a:grpSpLocks/>
          </p:cNvGrpSpPr>
          <p:nvPr/>
        </p:nvGrpSpPr>
        <p:grpSpPr bwMode="auto">
          <a:xfrm>
            <a:off x="4869255" y="2644529"/>
            <a:ext cx="816769" cy="648891"/>
            <a:chOff x="2848" y="1499"/>
            <a:chExt cx="660" cy="510"/>
          </a:xfrm>
        </p:grpSpPr>
        <p:sp>
          <p:nvSpPr>
            <p:cNvPr id="62" name="Oval 11">
              <a:extLst>
                <a:ext uri="{FF2B5EF4-FFF2-40B4-BE49-F238E27FC236}">
                  <a16:creationId xmlns:a16="http://schemas.microsoft.com/office/drawing/2014/main" id="{9DE4F784-AF0C-E34C-81A2-913DC58F10E2}"/>
                </a:ext>
              </a:extLst>
            </p:cNvPr>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63" name="Text Box 12">
              <a:extLst>
                <a:ext uri="{FF2B5EF4-FFF2-40B4-BE49-F238E27FC236}">
                  <a16:creationId xmlns:a16="http://schemas.microsoft.com/office/drawing/2014/main" id="{0E862915-5D53-444E-973B-D7C43BF97183}"/>
                </a:ext>
              </a:extLst>
            </p:cNvPr>
            <p:cNvSpPr txBox="1">
              <a:spLocks noChangeArrowheads="1"/>
            </p:cNvSpPr>
            <p:nvPr/>
          </p:nvSpPr>
          <p:spPr bwMode="auto">
            <a:xfrm>
              <a:off x="2848" y="1551"/>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 or NAK 0</a:t>
              </a:r>
              <a:endParaRPr lang="en-US" altLang="en-US" sz="1050" kern="0" dirty="0">
                <a:solidFill>
                  <a:srgbClr val="000000"/>
                </a:solidFill>
                <a:latin typeface="Times New Roman" panose="02020603050405020304" pitchFamily="18" charset="0"/>
              </a:endParaRPr>
            </a:p>
          </p:txBody>
        </p:sp>
      </p:grpSp>
      <p:grpSp>
        <p:nvGrpSpPr>
          <p:cNvPr id="5" name="Group 4">
            <a:extLst>
              <a:ext uri="{FF2B5EF4-FFF2-40B4-BE49-F238E27FC236}">
                <a16:creationId xmlns:a16="http://schemas.microsoft.com/office/drawing/2014/main" id="{7BA1DA02-294B-934E-8385-25257F63BA6D}"/>
              </a:ext>
            </a:extLst>
          </p:cNvPr>
          <p:cNvGrpSpPr/>
          <p:nvPr/>
        </p:nvGrpSpPr>
        <p:grpSpPr>
          <a:xfrm>
            <a:off x="3494083" y="1902771"/>
            <a:ext cx="2962275" cy="815578"/>
            <a:chOff x="4914364" y="1394027"/>
            <a:chExt cx="3694113" cy="1087437"/>
          </a:xfrm>
        </p:grpSpPr>
        <p:sp>
          <p:nvSpPr>
            <p:cNvPr id="49" name="Text Box 5">
              <a:extLst>
                <a:ext uri="{FF2B5EF4-FFF2-40B4-BE49-F238E27FC236}">
                  <a16:creationId xmlns:a16="http://schemas.microsoft.com/office/drawing/2014/main" id="{87E331C0-8956-B94A-9617-A05FF5ABFB5A}"/>
                </a:ext>
              </a:extLst>
            </p:cNvPr>
            <p:cNvSpPr txBox="1">
              <a:spLocks noChangeArrowheads="1"/>
            </p:cNvSpPr>
            <p:nvPr/>
          </p:nvSpPr>
          <p:spPr bwMode="auto">
            <a:xfrm>
              <a:off x="4914364" y="1706764"/>
              <a:ext cx="3694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sndpkt = make_pkt(0, data, checksum)</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grpSp>
          <p:nvGrpSpPr>
            <p:cNvPr id="4" name="Group 3">
              <a:extLst>
                <a:ext uri="{FF2B5EF4-FFF2-40B4-BE49-F238E27FC236}">
                  <a16:creationId xmlns:a16="http://schemas.microsoft.com/office/drawing/2014/main" id="{A70C87B1-30A2-CF4B-8F5E-B415D876E20D}"/>
                </a:ext>
              </a:extLst>
            </p:cNvPr>
            <p:cNvGrpSpPr/>
            <p:nvPr/>
          </p:nvGrpSpPr>
          <p:grpSpPr>
            <a:xfrm>
              <a:off x="4928652" y="1394027"/>
              <a:ext cx="2852737" cy="1087437"/>
              <a:chOff x="4928652" y="1394027"/>
              <a:chExt cx="2852737" cy="1087437"/>
            </a:xfrm>
          </p:grpSpPr>
          <p:sp>
            <p:nvSpPr>
              <p:cNvPr id="50" name="Text Box 6">
                <a:extLst>
                  <a:ext uri="{FF2B5EF4-FFF2-40B4-BE49-F238E27FC236}">
                    <a16:creationId xmlns:a16="http://schemas.microsoft.com/office/drawing/2014/main" id="{8B74C9CA-A3E5-1442-BBC9-D8DC3707E24B}"/>
                  </a:ext>
                </a:extLst>
              </p:cNvPr>
              <p:cNvSpPr txBox="1">
                <a:spLocks noChangeArrowheads="1"/>
              </p:cNvSpPr>
              <p:nvPr/>
            </p:nvSpPr>
            <p:spPr bwMode="auto">
              <a:xfrm>
                <a:off x="4928652" y="1394027"/>
                <a:ext cx="211137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51" name="Line 7">
                <a:extLst>
                  <a:ext uri="{FF2B5EF4-FFF2-40B4-BE49-F238E27FC236}">
                    <a16:creationId xmlns:a16="http://schemas.microsoft.com/office/drawing/2014/main" id="{70072A5C-7BD3-1347-8EE9-8CEAFBB1A8C6}"/>
                  </a:ext>
                </a:extLst>
              </p:cNvPr>
              <p:cNvSpPr>
                <a:spLocks noChangeShapeType="1"/>
              </p:cNvSpPr>
              <p:nvPr/>
            </p:nvSpPr>
            <p:spPr bwMode="auto">
              <a:xfrm>
                <a:off x="5046127" y="1759152"/>
                <a:ext cx="27352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64" name="Freeform 13">
                <a:extLst>
                  <a:ext uri="{FF2B5EF4-FFF2-40B4-BE49-F238E27FC236}">
                    <a16:creationId xmlns:a16="http://schemas.microsoft.com/office/drawing/2014/main" id="{0B9BE592-AD70-2042-904B-EEC5293B290D}"/>
                  </a:ext>
                </a:extLst>
              </p:cNvPr>
              <p:cNvSpPr>
                <a:spLocks/>
              </p:cNvSpPr>
              <p:nvPr/>
            </p:nvSpPr>
            <p:spPr bwMode="auto">
              <a:xfrm flipV="1">
                <a:off x="5215989" y="2260802"/>
                <a:ext cx="1482725" cy="22066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grpSp>
        <p:nvGrpSpPr>
          <p:cNvPr id="6" name="Group 5">
            <a:extLst>
              <a:ext uri="{FF2B5EF4-FFF2-40B4-BE49-F238E27FC236}">
                <a16:creationId xmlns:a16="http://schemas.microsoft.com/office/drawing/2014/main" id="{39449F5B-E30E-EB4E-8D88-CA2F8497E472}"/>
              </a:ext>
            </a:extLst>
          </p:cNvPr>
          <p:cNvGrpSpPr/>
          <p:nvPr/>
        </p:nvGrpSpPr>
        <p:grpSpPr>
          <a:xfrm>
            <a:off x="5534814" y="2357137"/>
            <a:ext cx="2635071" cy="905327"/>
            <a:chOff x="7379752" y="1999849"/>
            <a:chExt cx="3513428" cy="1207103"/>
          </a:xfrm>
        </p:grpSpPr>
        <p:sp>
          <p:nvSpPr>
            <p:cNvPr id="65" name="Freeform 14">
              <a:extLst>
                <a:ext uri="{FF2B5EF4-FFF2-40B4-BE49-F238E27FC236}">
                  <a16:creationId xmlns:a16="http://schemas.microsoft.com/office/drawing/2014/main" id="{441BD95E-662D-EC44-934A-74A441B70166}"/>
                </a:ext>
              </a:extLst>
            </p:cNvPr>
            <p:cNvSpPr>
              <a:spLocks/>
            </p:cNvSpPr>
            <p:nvPr/>
          </p:nvSpPr>
          <p:spPr bwMode="auto">
            <a:xfrm rot="20242820">
              <a:off x="7379752" y="2244927"/>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66" name="Text Box 15">
              <a:extLst>
                <a:ext uri="{FF2B5EF4-FFF2-40B4-BE49-F238E27FC236}">
                  <a16:creationId xmlns:a16="http://schemas.microsoft.com/office/drawing/2014/main" id="{4B2E9E68-BA62-3348-B352-724365F815A2}"/>
                </a:ext>
              </a:extLst>
            </p:cNvPr>
            <p:cNvSpPr txBox="1">
              <a:spLocks noChangeArrowheads="1"/>
            </p:cNvSpPr>
            <p:nvPr/>
          </p:nvSpPr>
          <p:spPr bwMode="auto">
            <a:xfrm>
              <a:off x="7742239" y="2806902"/>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67" name="Text Box 16">
              <a:extLst>
                <a:ext uri="{FF2B5EF4-FFF2-40B4-BE49-F238E27FC236}">
                  <a16:creationId xmlns:a16="http://schemas.microsoft.com/office/drawing/2014/main" id="{8B1473FF-396D-124F-BBF5-94242E43AC72}"/>
                </a:ext>
              </a:extLst>
            </p:cNvPr>
            <p:cNvSpPr txBox="1">
              <a:spLocks noChangeArrowheads="1"/>
            </p:cNvSpPr>
            <p:nvPr/>
          </p:nvSpPr>
          <p:spPr bwMode="auto">
            <a:xfrm>
              <a:off x="7714671" y="1999849"/>
              <a:ext cx="3178509"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&amp;&amp;  (corrupt(rcvpkt) || </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isNAK(rcvpkt) )</a:t>
              </a:r>
              <a:endParaRPr lang="en-US" altLang="en-US" sz="1200" dirty="0">
                <a:solidFill>
                  <a:srgbClr val="000000"/>
                </a:solidFill>
                <a:latin typeface="Times New Roman" panose="02020603050405020304" pitchFamily="18" charset="0"/>
              </a:endParaRPr>
            </a:p>
          </p:txBody>
        </p:sp>
        <p:sp>
          <p:nvSpPr>
            <p:cNvPr id="68" name="Line 17">
              <a:extLst>
                <a:ext uri="{FF2B5EF4-FFF2-40B4-BE49-F238E27FC236}">
                  <a16:creationId xmlns:a16="http://schemas.microsoft.com/office/drawing/2014/main" id="{9508C46B-C13D-114D-A7F0-B0645626527A}"/>
                </a:ext>
              </a:extLst>
            </p:cNvPr>
            <p:cNvSpPr>
              <a:spLocks noChangeShapeType="1"/>
            </p:cNvSpPr>
            <p:nvPr/>
          </p:nvSpPr>
          <p:spPr bwMode="auto">
            <a:xfrm>
              <a:off x="7835364" y="2846589"/>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8" name="Group 7">
            <a:extLst>
              <a:ext uri="{FF2B5EF4-FFF2-40B4-BE49-F238E27FC236}">
                <a16:creationId xmlns:a16="http://schemas.microsoft.com/office/drawing/2014/main" id="{27D86620-4FC8-1B4F-B3F3-482BB43DB050}"/>
              </a:ext>
            </a:extLst>
          </p:cNvPr>
          <p:cNvGrpSpPr/>
          <p:nvPr/>
        </p:nvGrpSpPr>
        <p:grpSpPr>
          <a:xfrm>
            <a:off x="3866749" y="4538814"/>
            <a:ext cx="2822972" cy="738188"/>
            <a:chOff x="5155664" y="4908752"/>
            <a:chExt cx="3763963" cy="984250"/>
          </a:xfrm>
        </p:grpSpPr>
        <p:sp>
          <p:nvSpPr>
            <p:cNvPr id="70" name="Freeform 19">
              <a:extLst>
                <a:ext uri="{FF2B5EF4-FFF2-40B4-BE49-F238E27FC236}">
                  <a16:creationId xmlns:a16="http://schemas.microsoft.com/office/drawing/2014/main" id="{BD6C0BB1-99C8-4749-986C-88E4780E3782}"/>
                </a:ext>
              </a:extLst>
            </p:cNvPr>
            <p:cNvSpPr>
              <a:spLocks/>
            </p:cNvSpPr>
            <p:nvPr/>
          </p:nvSpPr>
          <p:spPr bwMode="auto">
            <a:xfrm>
              <a:off x="5390614" y="4908752"/>
              <a:ext cx="1606550" cy="247650"/>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72" name="Text Box 21">
              <a:extLst>
                <a:ext uri="{FF2B5EF4-FFF2-40B4-BE49-F238E27FC236}">
                  <a16:creationId xmlns:a16="http://schemas.microsoft.com/office/drawing/2014/main" id="{71FAC561-AE6B-3048-917F-15508B28AAB6}"/>
                </a:ext>
              </a:extLst>
            </p:cNvPr>
            <p:cNvSpPr txBox="1">
              <a:spLocks noChangeArrowheads="1"/>
            </p:cNvSpPr>
            <p:nvPr/>
          </p:nvSpPr>
          <p:spPr bwMode="auto">
            <a:xfrm>
              <a:off x="5155664" y="5492952"/>
              <a:ext cx="37639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sndpkt = make_pkt(1, data, checksum)</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73" name="Text Box 22">
              <a:extLst>
                <a:ext uri="{FF2B5EF4-FFF2-40B4-BE49-F238E27FC236}">
                  <a16:creationId xmlns:a16="http://schemas.microsoft.com/office/drawing/2014/main" id="{15BBCB1C-B6A9-344E-9CA2-0BBB0CAD20E4}"/>
                </a:ext>
              </a:extLst>
            </p:cNvPr>
            <p:cNvSpPr txBox="1">
              <a:spLocks noChangeArrowheads="1"/>
            </p:cNvSpPr>
            <p:nvPr/>
          </p:nvSpPr>
          <p:spPr bwMode="auto">
            <a:xfrm>
              <a:off x="5225514" y="5154814"/>
              <a:ext cx="2389188"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rdt_send(data)</a:t>
              </a:r>
              <a:endParaRPr lang="en-US" altLang="en-US" sz="1200" dirty="0">
                <a:solidFill>
                  <a:srgbClr val="000000"/>
                </a:solidFill>
                <a:latin typeface="Times New Roman" panose="02020603050405020304" pitchFamily="18" charset="0"/>
              </a:endParaRPr>
            </a:p>
          </p:txBody>
        </p:sp>
        <p:sp>
          <p:nvSpPr>
            <p:cNvPr id="74" name="Line 23">
              <a:extLst>
                <a:ext uri="{FF2B5EF4-FFF2-40B4-BE49-F238E27FC236}">
                  <a16:creationId xmlns:a16="http://schemas.microsoft.com/office/drawing/2014/main" id="{0C2DB497-B042-9046-9811-10519C1E7B1C}"/>
                </a:ext>
              </a:extLst>
            </p:cNvPr>
            <p:cNvSpPr>
              <a:spLocks noChangeShapeType="1"/>
            </p:cNvSpPr>
            <p:nvPr/>
          </p:nvSpPr>
          <p:spPr bwMode="auto">
            <a:xfrm>
              <a:off x="5273139" y="5507239"/>
              <a:ext cx="29035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9" name="Group 8">
            <a:extLst>
              <a:ext uri="{FF2B5EF4-FFF2-40B4-BE49-F238E27FC236}">
                <a16:creationId xmlns:a16="http://schemas.microsoft.com/office/drawing/2014/main" id="{98CECDF8-D246-4049-B950-BA60CB64C4FE}"/>
              </a:ext>
            </a:extLst>
          </p:cNvPr>
          <p:cNvGrpSpPr/>
          <p:nvPr/>
        </p:nvGrpSpPr>
        <p:grpSpPr>
          <a:xfrm>
            <a:off x="1394847" y="4225680"/>
            <a:ext cx="2115905" cy="1012031"/>
            <a:chOff x="1859796" y="4491239"/>
            <a:chExt cx="2821206" cy="1349375"/>
          </a:xfrm>
        </p:grpSpPr>
        <p:sp>
          <p:nvSpPr>
            <p:cNvPr id="53" name="Freeform 9">
              <a:extLst>
                <a:ext uri="{FF2B5EF4-FFF2-40B4-BE49-F238E27FC236}">
                  <a16:creationId xmlns:a16="http://schemas.microsoft.com/office/drawing/2014/main" id="{5AA1EA36-A375-E043-A8A6-573B3CDB17AB}"/>
                </a:ext>
              </a:extLst>
            </p:cNvPr>
            <p:cNvSpPr>
              <a:spLocks/>
            </p:cNvSpPr>
            <p:nvPr/>
          </p:nvSpPr>
          <p:spPr bwMode="auto">
            <a:xfrm rot="14610547">
              <a:off x="3969802" y="4732539"/>
              <a:ext cx="952500" cy="469900"/>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77" name="Text Box 26">
              <a:extLst>
                <a:ext uri="{FF2B5EF4-FFF2-40B4-BE49-F238E27FC236}">
                  <a16:creationId xmlns:a16="http://schemas.microsoft.com/office/drawing/2014/main" id="{C0C2767A-6838-D340-B9F9-D72D920A7DC7}"/>
                </a:ext>
              </a:extLst>
            </p:cNvPr>
            <p:cNvSpPr txBox="1">
              <a:spLocks noChangeArrowheads="1"/>
            </p:cNvSpPr>
            <p:nvPr/>
          </p:nvSpPr>
          <p:spPr bwMode="auto">
            <a:xfrm>
              <a:off x="2510889" y="5564389"/>
              <a:ext cx="18192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udt_send(sndpkt)</a:t>
              </a:r>
              <a:endParaRPr lang="en-US" altLang="en-US" sz="1200" dirty="0">
                <a:solidFill>
                  <a:srgbClr val="000000"/>
                </a:solidFill>
                <a:latin typeface="Times New Roman" panose="02020603050405020304" pitchFamily="18" charset="0"/>
              </a:endParaRPr>
            </a:p>
          </p:txBody>
        </p:sp>
        <p:sp>
          <p:nvSpPr>
            <p:cNvPr id="78" name="Text Box 27">
              <a:extLst>
                <a:ext uri="{FF2B5EF4-FFF2-40B4-BE49-F238E27FC236}">
                  <a16:creationId xmlns:a16="http://schemas.microsoft.com/office/drawing/2014/main" id="{28A57471-B5B0-D741-A10E-89210112FB35}"/>
                </a:ext>
              </a:extLst>
            </p:cNvPr>
            <p:cNvSpPr txBox="1">
              <a:spLocks noChangeArrowheads="1"/>
            </p:cNvSpPr>
            <p:nvPr/>
          </p:nvSpPr>
          <p:spPr bwMode="auto">
            <a:xfrm>
              <a:off x="1859796" y="4726939"/>
              <a:ext cx="2391034"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t>
              </a:r>
            </a:p>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&amp;&amp; (corrupt(rcvpkt) ||</a:t>
              </a:r>
            </a:p>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isNAK(rcvpkt) )</a:t>
              </a:r>
              <a:endParaRPr lang="en-US" altLang="en-US" sz="1200" dirty="0">
                <a:solidFill>
                  <a:srgbClr val="000000"/>
                </a:solidFill>
                <a:latin typeface="Times New Roman" panose="02020603050405020304" pitchFamily="18" charset="0"/>
              </a:endParaRPr>
            </a:p>
          </p:txBody>
        </p:sp>
        <p:sp>
          <p:nvSpPr>
            <p:cNvPr id="79" name="Line 28">
              <a:extLst>
                <a:ext uri="{FF2B5EF4-FFF2-40B4-BE49-F238E27FC236}">
                  <a16:creationId xmlns:a16="http://schemas.microsoft.com/office/drawing/2014/main" id="{5E70559D-E25D-834D-BB11-04C3EEB77E6D}"/>
                </a:ext>
              </a:extLst>
            </p:cNvPr>
            <p:cNvSpPr>
              <a:spLocks noChangeShapeType="1"/>
            </p:cNvSpPr>
            <p:nvPr/>
          </p:nvSpPr>
          <p:spPr bwMode="auto">
            <a:xfrm>
              <a:off x="2601377" y="5572327"/>
              <a:ext cx="1557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82" name="Group 31">
            <a:extLst>
              <a:ext uri="{FF2B5EF4-FFF2-40B4-BE49-F238E27FC236}">
                <a16:creationId xmlns:a16="http://schemas.microsoft.com/office/drawing/2014/main" id="{81C031FC-110D-E943-BFA4-8F8C747060C6}"/>
              </a:ext>
            </a:extLst>
          </p:cNvPr>
          <p:cNvGrpSpPr>
            <a:grpSpLocks/>
          </p:cNvGrpSpPr>
          <p:nvPr/>
        </p:nvGrpSpPr>
        <p:grpSpPr bwMode="auto">
          <a:xfrm>
            <a:off x="4982364" y="4104236"/>
            <a:ext cx="838200" cy="617935"/>
            <a:chOff x="4156" y="2812"/>
            <a:chExt cx="704" cy="519"/>
          </a:xfrm>
        </p:grpSpPr>
        <p:sp>
          <p:nvSpPr>
            <p:cNvPr id="83" name="Oval 32">
              <a:extLst>
                <a:ext uri="{FF2B5EF4-FFF2-40B4-BE49-F238E27FC236}">
                  <a16:creationId xmlns:a16="http://schemas.microsoft.com/office/drawing/2014/main" id="{DBC13DE2-6448-6042-A76F-1AA9FA583930}"/>
                </a:ext>
              </a:extLst>
            </p:cNvPr>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84" name="Text Box 33">
              <a:extLst>
                <a:ext uri="{FF2B5EF4-FFF2-40B4-BE49-F238E27FC236}">
                  <a16:creationId xmlns:a16="http://schemas.microsoft.com/office/drawing/2014/main" id="{E29BDAD6-5FEC-F24F-BE6F-CD21C3CA8FB1}"/>
                </a:ext>
              </a:extLst>
            </p:cNvPr>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 call 1 from above</a:t>
              </a:r>
              <a:endParaRPr lang="en-US" altLang="en-US" sz="1050" kern="0" dirty="0">
                <a:solidFill>
                  <a:srgbClr val="000000"/>
                </a:solidFill>
                <a:latin typeface="Times New Roman" panose="02020603050405020304" pitchFamily="18" charset="0"/>
              </a:endParaRPr>
            </a:p>
          </p:txBody>
        </p:sp>
      </p:grpSp>
      <p:grpSp>
        <p:nvGrpSpPr>
          <p:cNvPr id="85" name="Group 34">
            <a:extLst>
              <a:ext uri="{FF2B5EF4-FFF2-40B4-BE49-F238E27FC236}">
                <a16:creationId xmlns:a16="http://schemas.microsoft.com/office/drawing/2014/main" id="{A719D103-2F81-5E46-A5A0-A41FEB02DBAE}"/>
              </a:ext>
            </a:extLst>
          </p:cNvPr>
          <p:cNvGrpSpPr>
            <a:grpSpLocks/>
          </p:cNvGrpSpPr>
          <p:nvPr/>
        </p:nvGrpSpPr>
        <p:grpSpPr bwMode="auto">
          <a:xfrm>
            <a:off x="3340492" y="4063755"/>
            <a:ext cx="784622" cy="617935"/>
            <a:chOff x="4916" y="3266"/>
            <a:chExt cx="659" cy="519"/>
          </a:xfrm>
        </p:grpSpPr>
        <p:sp>
          <p:nvSpPr>
            <p:cNvPr id="86" name="Oval 35">
              <a:extLst>
                <a:ext uri="{FF2B5EF4-FFF2-40B4-BE49-F238E27FC236}">
                  <a16:creationId xmlns:a16="http://schemas.microsoft.com/office/drawing/2014/main" id="{452B4C18-F351-424F-9F61-578D01454D2C}"/>
                </a:ext>
              </a:extLst>
            </p:cNvPr>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87" name="Text Box 36">
              <a:extLst>
                <a:ext uri="{FF2B5EF4-FFF2-40B4-BE49-F238E27FC236}">
                  <a16:creationId xmlns:a16="http://schemas.microsoft.com/office/drawing/2014/main" id="{6D1F24C4-2629-794A-B55E-60C945FDCEA3}"/>
                </a:ext>
              </a:extLst>
            </p:cNvPr>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 or NAK 1</a:t>
              </a:r>
              <a:endParaRPr lang="en-US" altLang="en-US" sz="1050" kern="0" dirty="0">
                <a:solidFill>
                  <a:srgbClr val="000000"/>
                </a:solidFill>
                <a:latin typeface="Times New Roman" panose="02020603050405020304" pitchFamily="18" charset="0"/>
              </a:endParaRPr>
            </a:p>
          </p:txBody>
        </p:sp>
      </p:grpSp>
      <p:grpSp>
        <p:nvGrpSpPr>
          <p:cNvPr id="7" name="Group 6">
            <a:extLst>
              <a:ext uri="{FF2B5EF4-FFF2-40B4-BE49-F238E27FC236}">
                <a16:creationId xmlns:a16="http://schemas.microsoft.com/office/drawing/2014/main" id="{1A5D53C9-4BB8-5043-8DC5-F0E5CF4CABAD}"/>
              </a:ext>
            </a:extLst>
          </p:cNvPr>
          <p:cNvGrpSpPr/>
          <p:nvPr/>
        </p:nvGrpSpPr>
        <p:grpSpPr>
          <a:xfrm>
            <a:off x="5505048" y="3099348"/>
            <a:ext cx="2388738" cy="1127106"/>
            <a:chOff x="7340064" y="2989464"/>
            <a:chExt cx="3184984" cy="1502807"/>
          </a:xfrm>
        </p:grpSpPr>
        <p:sp>
          <p:nvSpPr>
            <p:cNvPr id="71" name="Freeform 20">
              <a:extLst>
                <a:ext uri="{FF2B5EF4-FFF2-40B4-BE49-F238E27FC236}">
                  <a16:creationId xmlns:a16="http://schemas.microsoft.com/office/drawing/2014/main" id="{9CD05C47-D1BA-A640-9C82-600A98940CDA}"/>
                </a:ext>
              </a:extLst>
            </p:cNvPr>
            <p:cNvSpPr>
              <a:spLocks/>
            </p:cNvSpPr>
            <p:nvPr/>
          </p:nvSpPr>
          <p:spPr bwMode="auto">
            <a:xfrm rot="5400000" flipH="1" flipV="1">
              <a:off x="6760626" y="3568902"/>
              <a:ext cx="1363663" cy="20478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75" name="Text Box 24">
              <a:extLst>
                <a:ext uri="{FF2B5EF4-FFF2-40B4-BE49-F238E27FC236}">
                  <a16:creationId xmlns:a16="http://schemas.microsoft.com/office/drawing/2014/main" id="{F253FA80-34F7-E440-9662-0A8A9E206D8C}"/>
                </a:ext>
              </a:extLst>
            </p:cNvPr>
            <p:cNvSpPr txBox="1">
              <a:spLocks noChangeArrowheads="1"/>
            </p:cNvSpPr>
            <p:nvPr/>
          </p:nvSpPr>
          <p:spPr bwMode="auto">
            <a:xfrm>
              <a:off x="7529435" y="3255707"/>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&amp;&amp; notcorrupt(rcvpkt) </a:t>
              </a:r>
            </a:p>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&amp;&amp; isACK(rcvpkt) </a:t>
              </a:r>
            </a:p>
          </p:txBody>
        </p:sp>
        <p:sp>
          <p:nvSpPr>
            <p:cNvPr id="76" name="Line 25">
              <a:extLst>
                <a:ext uri="{FF2B5EF4-FFF2-40B4-BE49-F238E27FC236}">
                  <a16:creationId xmlns:a16="http://schemas.microsoft.com/office/drawing/2014/main" id="{66DBD07B-79D8-0F4A-A6FF-59EB09F7736C}"/>
                </a:ext>
              </a:extLst>
            </p:cNvPr>
            <p:cNvSpPr>
              <a:spLocks noChangeShapeType="1"/>
            </p:cNvSpPr>
            <p:nvPr/>
          </p:nvSpPr>
          <p:spPr bwMode="auto">
            <a:xfrm>
              <a:off x="7611527" y="411341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8" name="Text Box 37">
              <a:extLst>
                <a:ext uri="{FF2B5EF4-FFF2-40B4-BE49-F238E27FC236}">
                  <a16:creationId xmlns:a16="http://schemas.microsoft.com/office/drawing/2014/main" id="{3EF62ED3-CC68-F04E-85DE-74B808ECDB5D}"/>
                </a:ext>
              </a:extLst>
            </p:cNvPr>
            <p:cNvSpPr txBox="1">
              <a:spLocks noChangeArrowheads="1"/>
            </p:cNvSpPr>
            <p:nvPr/>
          </p:nvSpPr>
          <p:spPr bwMode="auto">
            <a:xfrm>
              <a:off x="7962396" y="412293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grpSp>
      <p:grpSp>
        <p:nvGrpSpPr>
          <p:cNvPr id="10" name="Group 9">
            <a:extLst>
              <a:ext uri="{FF2B5EF4-FFF2-40B4-BE49-F238E27FC236}">
                <a16:creationId xmlns:a16="http://schemas.microsoft.com/office/drawing/2014/main" id="{41D39DAE-4584-FA45-975F-927834C99F4E}"/>
              </a:ext>
            </a:extLst>
          </p:cNvPr>
          <p:cNvGrpSpPr/>
          <p:nvPr/>
        </p:nvGrpSpPr>
        <p:grpSpPr>
          <a:xfrm>
            <a:off x="576372" y="3144593"/>
            <a:ext cx="2939143" cy="987803"/>
            <a:chOff x="768495" y="3049789"/>
            <a:chExt cx="3918857" cy="1317070"/>
          </a:xfrm>
        </p:grpSpPr>
        <p:sp>
          <p:nvSpPr>
            <p:cNvPr id="69" name="Freeform 18">
              <a:extLst>
                <a:ext uri="{FF2B5EF4-FFF2-40B4-BE49-F238E27FC236}">
                  <a16:creationId xmlns:a16="http://schemas.microsoft.com/office/drawing/2014/main" id="{E4C63A38-513E-6D46-AD73-8B315DEB4A90}"/>
                </a:ext>
              </a:extLst>
            </p:cNvPr>
            <p:cNvSpPr>
              <a:spLocks/>
            </p:cNvSpPr>
            <p:nvPr/>
          </p:nvSpPr>
          <p:spPr bwMode="auto">
            <a:xfrm rot="16200000" flipV="1">
              <a:off x="3992027" y="3621289"/>
              <a:ext cx="1266825" cy="12382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0" name="Text Box 29">
              <a:extLst>
                <a:ext uri="{FF2B5EF4-FFF2-40B4-BE49-F238E27FC236}">
                  <a16:creationId xmlns:a16="http://schemas.microsoft.com/office/drawing/2014/main" id="{10C84F04-9916-C447-98C1-9B431D5078A3}"/>
                </a:ext>
              </a:extLst>
            </p:cNvPr>
            <p:cNvSpPr txBox="1">
              <a:spLocks noChangeArrowheads="1"/>
            </p:cNvSpPr>
            <p:nvPr/>
          </p:nvSpPr>
          <p:spPr bwMode="auto">
            <a:xfrm>
              <a:off x="768495" y="3141125"/>
              <a:ext cx="3623727"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rdt_rcv(rcvpkt)  </a:t>
              </a:r>
            </a:p>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&amp;&amp; notcorrupt(rcvpkt) &amp;&amp; isACK(rcvpkt)</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1" name="Line 30">
              <a:extLst>
                <a:ext uri="{FF2B5EF4-FFF2-40B4-BE49-F238E27FC236}">
                  <a16:creationId xmlns:a16="http://schemas.microsoft.com/office/drawing/2014/main" id="{3CE13E4F-EE16-CD4F-B855-807B9A4D3AC5}"/>
                </a:ext>
              </a:extLst>
            </p:cNvPr>
            <p:cNvSpPr>
              <a:spLocks noChangeShapeType="1"/>
            </p:cNvSpPr>
            <p:nvPr/>
          </p:nvSpPr>
          <p:spPr bwMode="auto">
            <a:xfrm>
              <a:off x="2572802" y="3983239"/>
              <a:ext cx="17383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9" name="Text Box 38">
              <a:extLst>
                <a:ext uri="{FF2B5EF4-FFF2-40B4-BE49-F238E27FC236}">
                  <a16:creationId xmlns:a16="http://schemas.microsoft.com/office/drawing/2014/main" id="{82E244E2-C5AE-4445-BF1E-C90A2091B07F}"/>
                </a:ext>
              </a:extLst>
            </p:cNvPr>
            <p:cNvSpPr txBox="1">
              <a:spLocks noChangeArrowheads="1"/>
            </p:cNvSpPr>
            <p:nvPr/>
          </p:nvSpPr>
          <p:spPr bwMode="auto">
            <a:xfrm>
              <a:off x="3112584" y="3997527"/>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grpSp>
    </p:spTree>
    <p:extLst>
      <p:ext uri="{BB962C8B-B14F-4D97-AF65-F5344CB8AC3E}">
        <p14:creationId xmlns:p14="http://schemas.microsoft.com/office/powerpoint/2010/main" val="641017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RDT2.1</a:t>
            </a:r>
            <a:endParaRPr lang="en-US" dirty="0"/>
          </a:p>
        </p:txBody>
      </p:sp>
      <p:sp>
        <p:nvSpPr>
          <p:cNvPr id="41" name="Slide Number Placeholder 2">
            <a:extLst>
              <a:ext uri="{FF2B5EF4-FFF2-40B4-BE49-F238E27FC236}">
                <a16:creationId xmlns:a16="http://schemas.microsoft.com/office/drawing/2014/main" id="{AEE3DD85-1A48-8443-9ED5-CEDD24C7FA99}"/>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19</a:t>
            </a:fld>
            <a:endParaRPr lang="en-US" dirty="0">
              <a:solidFill>
                <a:prstClr val="white">
                  <a:lumMod val="50000"/>
                </a:prstClr>
              </a:solidFill>
              <a:latin typeface="Calibri" panose="020F0502020204030204"/>
            </a:endParaRPr>
          </a:p>
        </p:txBody>
      </p:sp>
      <p:grpSp>
        <p:nvGrpSpPr>
          <p:cNvPr id="138" name="Group 3">
            <a:extLst>
              <a:ext uri="{FF2B5EF4-FFF2-40B4-BE49-F238E27FC236}">
                <a16:creationId xmlns:a16="http://schemas.microsoft.com/office/drawing/2014/main" id="{C1CD05A1-04E4-FC48-B0C5-45F2AACDECEF}"/>
              </a:ext>
            </a:extLst>
          </p:cNvPr>
          <p:cNvGrpSpPr>
            <a:grpSpLocks/>
          </p:cNvGrpSpPr>
          <p:nvPr/>
        </p:nvGrpSpPr>
        <p:grpSpPr bwMode="auto">
          <a:xfrm>
            <a:off x="3557706" y="3366749"/>
            <a:ext cx="644128" cy="596504"/>
            <a:chOff x="950" y="1131"/>
            <a:chExt cx="541" cy="501"/>
          </a:xfrm>
        </p:grpSpPr>
        <p:sp>
          <p:nvSpPr>
            <p:cNvPr id="139" name="Oval 4">
              <a:extLst>
                <a:ext uri="{FF2B5EF4-FFF2-40B4-BE49-F238E27FC236}">
                  <a16:creationId xmlns:a16="http://schemas.microsoft.com/office/drawing/2014/main" id="{1AA1B3B3-9BE5-B941-861C-6A95AE615AE0}"/>
                </a:ext>
              </a:extLst>
            </p:cNvPr>
            <p:cNvSpPr>
              <a:spLocks noChangeArrowheads="1"/>
            </p:cNvSpPr>
            <p:nvPr/>
          </p:nvSpPr>
          <p:spPr bwMode="auto">
            <a:xfrm>
              <a:off x="963" y="1131"/>
              <a:ext cx="490"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40" name="Text Box 5">
              <a:extLst>
                <a:ext uri="{FF2B5EF4-FFF2-40B4-BE49-F238E27FC236}">
                  <a16:creationId xmlns:a16="http://schemas.microsoft.com/office/drawing/2014/main" id="{E4E7D8C2-369B-AA4D-BFEC-61A1CB9BBDF5}"/>
                </a:ext>
              </a:extLst>
            </p:cNvPr>
            <p:cNvSpPr txBox="1">
              <a:spLocks noChangeArrowheads="1"/>
            </p:cNvSpPr>
            <p:nvPr/>
          </p:nvSpPr>
          <p:spPr bwMode="auto">
            <a:xfrm>
              <a:off x="950" y="1153"/>
              <a:ext cx="54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0 from below</a:t>
              </a:r>
              <a:endParaRPr lang="en-US" altLang="en-US" sz="1050" kern="0" dirty="0">
                <a:solidFill>
                  <a:srgbClr val="000000"/>
                </a:solidFill>
                <a:latin typeface="Times New Roman" panose="02020603050405020304" pitchFamily="18" charset="0"/>
              </a:endParaRPr>
            </a:p>
          </p:txBody>
        </p:sp>
      </p:grpSp>
      <p:sp>
        <p:nvSpPr>
          <p:cNvPr id="141" name="Line 6">
            <a:extLst>
              <a:ext uri="{FF2B5EF4-FFF2-40B4-BE49-F238E27FC236}">
                <a16:creationId xmlns:a16="http://schemas.microsoft.com/office/drawing/2014/main" id="{8BBFC15E-678E-0147-A56E-4A3A32B91FBE}"/>
              </a:ext>
            </a:extLst>
          </p:cNvPr>
          <p:cNvSpPr>
            <a:spLocks noChangeShapeType="1"/>
          </p:cNvSpPr>
          <p:nvPr/>
        </p:nvSpPr>
        <p:spPr bwMode="auto">
          <a:xfrm>
            <a:off x="3450549" y="2564268"/>
            <a:ext cx="314325" cy="80962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6" name="Group 5">
            <a:extLst>
              <a:ext uri="{FF2B5EF4-FFF2-40B4-BE49-F238E27FC236}">
                <a16:creationId xmlns:a16="http://schemas.microsoft.com/office/drawing/2014/main" id="{E6FABB75-14DE-C74F-9D57-A9DEB7587596}"/>
              </a:ext>
            </a:extLst>
          </p:cNvPr>
          <p:cNvGrpSpPr/>
          <p:nvPr/>
        </p:nvGrpSpPr>
        <p:grpSpPr>
          <a:xfrm>
            <a:off x="3516033" y="3978731"/>
            <a:ext cx="2896791" cy="1640681"/>
            <a:chOff x="4688044" y="4161974"/>
            <a:chExt cx="3862388" cy="2187575"/>
          </a:xfrm>
        </p:grpSpPr>
        <p:sp>
          <p:nvSpPr>
            <p:cNvPr id="146" name="Freeform 11">
              <a:extLst>
                <a:ext uri="{FF2B5EF4-FFF2-40B4-BE49-F238E27FC236}">
                  <a16:creationId xmlns:a16="http://schemas.microsoft.com/office/drawing/2014/main" id="{57F6D8C5-C177-EA4A-8A0D-C9ECA2E44CD8}"/>
                </a:ext>
              </a:extLst>
            </p:cNvPr>
            <p:cNvSpPr>
              <a:spLocks/>
            </p:cNvSpPr>
            <p:nvPr/>
          </p:nvSpPr>
          <p:spPr bwMode="auto">
            <a:xfrm>
              <a:off x="5299232" y="4161974"/>
              <a:ext cx="1590675" cy="688975"/>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7" name="Text Box 12">
              <a:extLst>
                <a:ext uri="{FF2B5EF4-FFF2-40B4-BE49-F238E27FC236}">
                  <a16:creationId xmlns:a16="http://schemas.microsoft.com/office/drawing/2014/main" id="{39FBA62B-425E-884D-B8D0-53837C7194C3}"/>
                </a:ext>
              </a:extLst>
            </p:cNvPr>
            <p:cNvSpPr txBox="1">
              <a:spLocks noChangeArrowheads="1"/>
            </p:cNvSpPr>
            <p:nvPr/>
          </p:nvSpPr>
          <p:spPr bwMode="auto">
            <a:xfrm>
              <a:off x="4688044" y="4742999"/>
              <a:ext cx="3581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notcorrupt(rcvpkt)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&amp;&amp; has_seq1(rcvpkt)</a:t>
              </a:r>
              <a:r>
                <a:rPr lang="en-US" altLang="en-US" sz="1200" dirty="0">
                  <a:solidFill>
                    <a:srgbClr val="000000"/>
                  </a:solidFill>
                  <a:latin typeface="Arial" panose="020B0604020202020204" pitchFamily="34" charset="0"/>
                </a:rPr>
                <a:t> </a:t>
              </a:r>
              <a:endParaRPr lang="en-US" altLang="en-US" sz="1200" dirty="0">
                <a:solidFill>
                  <a:srgbClr val="000000"/>
                </a:solidFill>
                <a:latin typeface="Times New Roman" panose="02020603050405020304" pitchFamily="18" charset="0"/>
              </a:endParaRPr>
            </a:p>
          </p:txBody>
        </p:sp>
        <p:sp>
          <p:nvSpPr>
            <p:cNvPr id="148" name="Line 13">
              <a:extLst>
                <a:ext uri="{FF2B5EF4-FFF2-40B4-BE49-F238E27FC236}">
                  <a16:creationId xmlns:a16="http://schemas.microsoft.com/office/drawing/2014/main" id="{1082C30A-F447-2048-A881-DB90328221D2}"/>
                </a:ext>
              </a:extLst>
            </p:cNvPr>
            <p:cNvSpPr>
              <a:spLocks noChangeShapeType="1"/>
            </p:cNvSpPr>
            <p:nvPr/>
          </p:nvSpPr>
          <p:spPr bwMode="auto">
            <a:xfrm>
              <a:off x="4754719" y="5300212"/>
              <a:ext cx="28987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9" name="Text Box 14">
              <a:extLst>
                <a:ext uri="{FF2B5EF4-FFF2-40B4-BE49-F238E27FC236}">
                  <a16:creationId xmlns:a16="http://schemas.microsoft.com/office/drawing/2014/main" id="{29182A79-7B96-1B4E-B5FE-E02DEA7CEAB7}"/>
                </a:ext>
              </a:extLst>
            </p:cNvPr>
            <p:cNvSpPr txBox="1">
              <a:spLocks noChangeArrowheads="1"/>
            </p:cNvSpPr>
            <p:nvPr/>
          </p:nvSpPr>
          <p:spPr bwMode="auto">
            <a:xfrm>
              <a:off x="4697569" y="5355774"/>
              <a:ext cx="385286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extract(rcvpkt,data)</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deliver_data(data)</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make_pkt(ACK1, chksum)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grpSp>
      <p:grpSp>
        <p:nvGrpSpPr>
          <p:cNvPr id="150" name="Group 15">
            <a:extLst>
              <a:ext uri="{FF2B5EF4-FFF2-40B4-BE49-F238E27FC236}">
                <a16:creationId xmlns:a16="http://schemas.microsoft.com/office/drawing/2014/main" id="{A479FFEA-FE33-2B4E-8918-3A674DE0585E}"/>
              </a:ext>
            </a:extLst>
          </p:cNvPr>
          <p:cNvGrpSpPr>
            <a:grpSpLocks/>
          </p:cNvGrpSpPr>
          <p:nvPr/>
        </p:nvGrpSpPr>
        <p:grpSpPr bwMode="auto">
          <a:xfrm>
            <a:off x="4809054" y="3392943"/>
            <a:ext cx="702469" cy="597694"/>
            <a:chOff x="4366" y="3133"/>
            <a:chExt cx="590" cy="502"/>
          </a:xfrm>
        </p:grpSpPr>
        <p:sp>
          <p:nvSpPr>
            <p:cNvPr id="151" name="Oval 16">
              <a:extLst>
                <a:ext uri="{FF2B5EF4-FFF2-40B4-BE49-F238E27FC236}">
                  <a16:creationId xmlns:a16="http://schemas.microsoft.com/office/drawing/2014/main" id="{6D36849B-325C-BB44-97CF-6F19DE4D9B84}"/>
                </a:ext>
              </a:extLst>
            </p:cNvPr>
            <p:cNvSpPr>
              <a:spLocks noChangeArrowheads="1"/>
            </p:cNvSpPr>
            <p:nvPr/>
          </p:nvSpPr>
          <p:spPr bwMode="auto">
            <a:xfrm>
              <a:off x="4398" y="3133"/>
              <a:ext cx="507" cy="502"/>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52" name="Text Box 17">
              <a:extLst>
                <a:ext uri="{FF2B5EF4-FFF2-40B4-BE49-F238E27FC236}">
                  <a16:creationId xmlns:a16="http://schemas.microsoft.com/office/drawing/2014/main" id="{B8F092A3-F065-5542-858A-5CCD8650616E}"/>
                </a:ext>
              </a:extLst>
            </p:cNvPr>
            <p:cNvSpPr txBox="1">
              <a:spLocks noChangeArrowheads="1"/>
            </p:cNvSpPr>
            <p:nvPr/>
          </p:nvSpPr>
          <p:spPr bwMode="auto">
            <a:xfrm>
              <a:off x="4366" y="3163"/>
              <a:ext cx="59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1 from below</a:t>
              </a:r>
              <a:endParaRPr lang="en-US" altLang="en-US" sz="1050" kern="0" dirty="0">
                <a:solidFill>
                  <a:srgbClr val="000000"/>
                </a:solidFill>
                <a:latin typeface="Times New Roman" panose="02020603050405020304" pitchFamily="18" charset="0"/>
              </a:endParaRPr>
            </a:p>
          </p:txBody>
        </p:sp>
      </p:grpSp>
      <p:grpSp>
        <p:nvGrpSpPr>
          <p:cNvPr id="5" name="Group 4">
            <a:extLst>
              <a:ext uri="{FF2B5EF4-FFF2-40B4-BE49-F238E27FC236}">
                <a16:creationId xmlns:a16="http://schemas.microsoft.com/office/drawing/2014/main" id="{FB3EE5B1-79C6-6A42-B7CC-0473574A8080}"/>
              </a:ext>
            </a:extLst>
          </p:cNvPr>
          <p:cNvGrpSpPr/>
          <p:nvPr/>
        </p:nvGrpSpPr>
        <p:grpSpPr>
          <a:xfrm>
            <a:off x="3637477" y="1815365"/>
            <a:ext cx="2986088" cy="1576388"/>
            <a:chOff x="4849969" y="1277487"/>
            <a:chExt cx="3981450" cy="2101850"/>
          </a:xfrm>
        </p:grpSpPr>
        <p:sp>
          <p:nvSpPr>
            <p:cNvPr id="142" name="Freeform 7">
              <a:extLst>
                <a:ext uri="{FF2B5EF4-FFF2-40B4-BE49-F238E27FC236}">
                  <a16:creationId xmlns:a16="http://schemas.microsoft.com/office/drawing/2014/main" id="{5956BEBC-4701-3244-B0E2-D13AA47CCD93}"/>
                </a:ext>
              </a:extLst>
            </p:cNvPr>
            <p:cNvSpPr>
              <a:spLocks/>
            </p:cNvSpPr>
            <p:nvPr/>
          </p:nvSpPr>
          <p:spPr bwMode="auto">
            <a:xfrm flipV="1">
              <a:off x="5281769" y="2593524"/>
              <a:ext cx="1590675" cy="785813"/>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4" name="Group 3">
              <a:extLst>
                <a:ext uri="{FF2B5EF4-FFF2-40B4-BE49-F238E27FC236}">
                  <a16:creationId xmlns:a16="http://schemas.microsoft.com/office/drawing/2014/main" id="{6F2A2B9E-82C1-DF40-942B-E0130357CCCD}"/>
                </a:ext>
              </a:extLst>
            </p:cNvPr>
            <p:cNvGrpSpPr/>
            <p:nvPr/>
          </p:nvGrpSpPr>
          <p:grpSpPr>
            <a:xfrm>
              <a:off x="4849969" y="1277487"/>
              <a:ext cx="3981450" cy="1231900"/>
              <a:chOff x="4849969" y="1277487"/>
              <a:chExt cx="3981450" cy="1231900"/>
            </a:xfrm>
          </p:grpSpPr>
          <p:sp>
            <p:nvSpPr>
              <p:cNvPr id="154" name="Text Box 19">
                <a:extLst>
                  <a:ext uri="{FF2B5EF4-FFF2-40B4-BE49-F238E27FC236}">
                    <a16:creationId xmlns:a16="http://schemas.microsoft.com/office/drawing/2014/main" id="{CCF30C45-BBF0-FD4D-9104-16CC43E990C6}"/>
                  </a:ext>
                </a:extLst>
              </p:cNvPr>
              <p:cNvSpPr txBox="1">
                <a:spLocks noChangeArrowheads="1"/>
              </p:cNvSpPr>
              <p:nvPr/>
            </p:nvSpPr>
            <p:spPr bwMode="auto">
              <a:xfrm>
                <a:off x="4849969" y="1277487"/>
                <a:ext cx="39814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notcorrupt(rcvpkt)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&amp;&amp; has_seq0(rcvpkt) </a:t>
                </a:r>
                <a:endParaRPr lang="en-US" altLang="en-US" sz="1050" dirty="0">
                  <a:solidFill>
                    <a:srgbClr val="000000"/>
                  </a:solidFill>
                  <a:latin typeface="Times New Roman" panose="02020603050405020304" pitchFamily="18" charset="0"/>
                </a:endParaRPr>
              </a:p>
            </p:txBody>
          </p:sp>
          <p:sp>
            <p:nvSpPr>
              <p:cNvPr id="155" name="Line 20">
                <a:extLst>
                  <a:ext uri="{FF2B5EF4-FFF2-40B4-BE49-F238E27FC236}">
                    <a16:creationId xmlns:a16="http://schemas.microsoft.com/office/drawing/2014/main" id="{C92F6C31-A846-0748-B2A3-BB4C9B51951C}"/>
                  </a:ext>
                </a:extLst>
              </p:cNvPr>
              <p:cNvSpPr>
                <a:spLocks noChangeShapeType="1"/>
              </p:cNvSpPr>
              <p:nvPr/>
            </p:nvSpPr>
            <p:spPr bwMode="auto">
              <a:xfrm>
                <a:off x="4959507" y="1847399"/>
                <a:ext cx="19145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56" name="Text Box 21">
                <a:extLst>
                  <a:ext uri="{FF2B5EF4-FFF2-40B4-BE49-F238E27FC236}">
                    <a16:creationId xmlns:a16="http://schemas.microsoft.com/office/drawing/2014/main" id="{2563B9BF-FC09-7947-B99A-A4DD70E1D75B}"/>
                  </a:ext>
                </a:extLst>
              </p:cNvPr>
              <p:cNvSpPr txBox="1">
                <a:spLocks noChangeArrowheads="1"/>
              </p:cNvSpPr>
              <p:nvPr/>
            </p:nvSpPr>
            <p:spPr bwMode="auto">
              <a:xfrm>
                <a:off x="4862669" y="1804537"/>
                <a:ext cx="3475038"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extract(rcvpkt,data)</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deliver_data(data)</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make_pkt(ACK0, chksum)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grpSp>
      </p:grpSp>
      <p:grpSp>
        <p:nvGrpSpPr>
          <p:cNvPr id="7" name="Group 6">
            <a:extLst>
              <a:ext uri="{FF2B5EF4-FFF2-40B4-BE49-F238E27FC236}">
                <a16:creationId xmlns:a16="http://schemas.microsoft.com/office/drawing/2014/main" id="{02B61178-E4F0-604F-AB5E-F5831FB7128A}"/>
              </a:ext>
            </a:extLst>
          </p:cNvPr>
          <p:cNvGrpSpPr/>
          <p:nvPr/>
        </p:nvGrpSpPr>
        <p:grpSpPr>
          <a:xfrm>
            <a:off x="5372219" y="2848828"/>
            <a:ext cx="2876432" cy="885825"/>
            <a:chOff x="7162957" y="2655437"/>
            <a:chExt cx="3835242" cy="1181100"/>
          </a:xfrm>
        </p:grpSpPr>
        <p:sp>
          <p:nvSpPr>
            <p:cNvPr id="143" name="Text Box 8">
              <a:extLst>
                <a:ext uri="{FF2B5EF4-FFF2-40B4-BE49-F238E27FC236}">
                  <a16:creationId xmlns:a16="http://schemas.microsoft.com/office/drawing/2014/main" id="{A21CD6E7-B2BE-A349-915D-B57A67904863}"/>
                </a:ext>
              </a:extLst>
            </p:cNvPr>
            <p:cNvSpPr txBox="1">
              <a:spLocks noChangeArrowheads="1"/>
            </p:cNvSpPr>
            <p:nvPr/>
          </p:nvSpPr>
          <p:spPr bwMode="auto">
            <a:xfrm>
              <a:off x="7842406" y="2952300"/>
              <a:ext cx="309991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make_pkt(NAK1, chksum)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sp>
          <p:nvSpPr>
            <p:cNvPr id="153" name="Freeform 18">
              <a:extLst>
                <a:ext uri="{FF2B5EF4-FFF2-40B4-BE49-F238E27FC236}">
                  <a16:creationId xmlns:a16="http://schemas.microsoft.com/office/drawing/2014/main" id="{3D087F38-543B-C34D-B7BE-6B89BE2E7B5B}"/>
                </a:ext>
              </a:extLst>
            </p:cNvPr>
            <p:cNvSpPr>
              <a:spLocks/>
            </p:cNvSpPr>
            <p:nvPr/>
          </p:nvSpPr>
          <p:spPr bwMode="auto">
            <a:xfrm rot="20238987">
              <a:off x="7162957" y="2972937"/>
              <a:ext cx="839787"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58" name="Text Box 23">
              <a:extLst>
                <a:ext uri="{FF2B5EF4-FFF2-40B4-BE49-F238E27FC236}">
                  <a16:creationId xmlns:a16="http://schemas.microsoft.com/office/drawing/2014/main" id="{DDF68430-2E9C-884F-8086-CA60927C1761}"/>
                </a:ext>
              </a:extLst>
            </p:cNvPr>
            <p:cNvSpPr txBox="1">
              <a:spLocks noChangeArrowheads="1"/>
            </p:cNvSpPr>
            <p:nvPr/>
          </p:nvSpPr>
          <p:spPr bwMode="auto">
            <a:xfrm>
              <a:off x="7793194" y="2655437"/>
              <a:ext cx="320500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(corrupt(rcvpkt)</a:t>
              </a:r>
              <a:endParaRPr lang="en-US" altLang="en-US" sz="1050" dirty="0">
                <a:solidFill>
                  <a:srgbClr val="000000"/>
                </a:solidFill>
                <a:latin typeface="Times New Roman" panose="02020603050405020304" pitchFamily="18" charset="0"/>
              </a:endParaRPr>
            </a:p>
          </p:txBody>
        </p:sp>
        <p:sp>
          <p:nvSpPr>
            <p:cNvPr id="159" name="Line 24">
              <a:extLst>
                <a:ext uri="{FF2B5EF4-FFF2-40B4-BE49-F238E27FC236}">
                  <a16:creationId xmlns:a16="http://schemas.microsoft.com/office/drawing/2014/main" id="{D2CC787C-2255-A845-AD3E-70CEB47CFB2A}"/>
                </a:ext>
              </a:extLst>
            </p:cNvPr>
            <p:cNvSpPr>
              <a:spLocks noChangeShapeType="1"/>
            </p:cNvSpPr>
            <p:nvPr/>
          </p:nvSpPr>
          <p:spPr bwMode="auto">
            <a:xfrm>
              <a:off x="7931307" y="2966587"/>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8" name="Group 7">
            <a:extLst>
              <a:ext uri="{FF2B5EF4-FFF2-40B4-BE49-F238E27FC236}">
                <a16:creationId xmlns:a16="http://schemas.microsoft.com/office/drawing/2014/main" id="{576F6D3B-6D30-394F-ADF3-836AA573CD16}"/>
              </a:ext>
            </a:extLst>
          </p:cNvPr>
          <p:cNvGrpSpPr/>
          <p:nvPr/>
        </p:nvGrpSpPr>
        <p:grpSpPr>
          <a:xfrm>
            <a:off x="5390077" y="3606065"/>
            <a:ext cx="2816662" cy="871538"/>
            <a:chOff x="7186769" y="3665087"/>
            <a:chExt cx="3755549" cy="1162050"/>
          </a:xfrm>
        </p:grpSpPr>
        <p:sp>
          <p:nvSpPr>
            <p:cNvPr id="144" name="Text Box 9">
              <a:extLst>
                <a:ext uri="{FF2B5EF4-FFF2-40B4-BE49-F238E27FC236}">
                  <a16:creationId xmlns:a16="http://schemas.microsoft.com/office/drawing/2014/main" id="{863BE306-B92E-0D41-8022-3AC94A1F0327}"/>
                </a:ext>
              </a:extLst>
            </p:cNvPr>
            <p:cNvSpPr txBox="1">
              <a:spLocks noChangeArrowheads="1"/>
            </p:cNvSpPr>
            <p:nvPr/>
          </p:nvSpPr>
          <p:spPr bwMode="auto">
            <a:xfrm>
              <a:off x="7845582" y="3665087"/>
              <a:ext cx="26241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not corrupt(rcvpkt) &amp;&amp;</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has_seq0(rcvpkt)</a:t>
              </a:r>
            </a:p>
            <a:p>
              <a:pPr algn="ctr" defTabSz="685800" eaLnBrk="0" fontAlgn="base" hangingPunct="0">
                <a:spcBef>
                  <a:spcPct val="0"/>
                </a:spcBef>
                <a:spcAft>
                  <a:spcPct val="0"/>
                </a:spcAft>
                <a:defRPr/>
              </a:pPr>
              <a:endParaRPr lang="en-US" altLang="en-US" sz="1200" dirty="0">
                <a:solidFill>
                  <a:srgbClr val="000000"/>
                </a:solidFill>
                <a:latin typeface="Times New Roman" panose="02020603050405020304" pitchFamily="18" charset="0"/>
              </a:endParaRPr>
            </a:p>
          </p:txBody>
        </p:sp>
        <p:sp>
          <p:nvSpPr>
            <p:cNvPr id="145" name="Line 10">
              <a:extLst>
                <a:ext uri="{FF2B5EF4-FFF2-40B4-BE49-F238E27FC236}">
                  <a16:creationId xmlns:a16="http://schemas.microsoft.com/office/drawing/2014/main" id="{4D8DB833-9730-9A45-AE05-260A7F50D391}"/>
                </a:ext>
              </a:extLst>
            </p:cNvPr>
            <p:cNvSpPr>
              <a:spLocks noChangeShapeType="1"/>
            </p:cNvSpPr>
            <p:nvPr/>
          </p:nvSpPr>
          <p:spPr bwMode="auto">
            <a:xfrm>
              <a:off x="7929719" y="4363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57" name="Freeform 22">
              <a:extLst>
                <a:ext uri="{FF2B5EF4-FFF2-40B4-BE49-F238E27FC236}">
                  <a16:creationId xmlns:a16="http://schemas.microsoft.com/office/drawing/2014/main" id="{44226EF2-4DB5-4A44-84C3-50A9A97F405E}"/>
                </a:ext>
              </a:extLst>
            </p:cNvPr>
            <p:cNvSpPr>
              <a:spLocks/>
            </p:cNvSpPr>
            <p:nvPr/>
          </p:nvSpPr>
          <p:spPr bwMode="auto">
            <a:xfrm rot="1020547">
              <a:off x="7186769" y="36968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60" name="Text Box 25">
              <a:extLst>
                <a:ext uri="{FF2B5EF4-FFF2-40B4-BE49-F238E27FC236}">
                  <a16:creationId xmlns:a16="http://schemas.microsoft.com/office/drawing/2014/main" id="{389C4316-C6A1-6149-8DFC-130B841DAC29}"/>
                </a:ext>
              </a:extLst>
            </p:cNvPr>
            <p:cNvSpPr txBox="1">
              <a:spLocks noChangeArrowheads="1"/>
            </p:cNvSpPr>
            <p:nvPr/>
          </p:nvSpPr>
          <p:spPr bwMode="auto">
            <a:xfrm>
              <a:off x="7801132" y="4417563"/>
              <a:ext cx="3141186" cy="409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make_pkt(ACK0, chksum)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grpSp>
      <p:grpSp>
        <p:nvGrpSpPr>
          <p:cNvPr id="9" name="Group 8">
            <a:extLst>
              <a:ext uri="{FF2B5EF4-FFF2-40B4-BE49-F238E27FC236}">
                <a16:creationId xmlns:a16="http://schemas.microsoft.com/office/drawing/2014/main" id="{B8256823-0B67-DD4E-A7B9-605255FA34C2}"/>
              </a:ext>
            </a:extLst>
          </p:cNvPr>
          <p:cNvGrpSpPr/>
          <p:nvPr/>
        </p:nvGrpSpPr>
        <p:grpSpPr>
          <a:xfrm>
            <a:off x="1439583" y="3582253"/>
            <a:ext cx="2325291" cy="863203"/>
            <a:chOff x="1919444" y="3633337"/>
            <a:chExt cx="3100388" cy="1150937"/>
          </a:xfrm>
        </p:grpSpPr>
        <p:sp>
          <p:nvSpPr>
            <p:cNvPr id="161" name="Text Box 26">
              <a:extLst>
                <a:ext uri="{FF2B5EF4-FFF2-40B4-BE49-F238E27FC236}">
                  <a16:creationId xmlns:a16="http://schemas.microsoft.com/office/drawing/2014/main" id="{ACB1E596-56BD-034F-BB66-4DA583949941}"/>
                </a:ext>
              </a:extLst>
            </p:cNvPr>
            <p:cNvSpPr txBox="1">
              <a:spLocks noChangeArrowheads="1"/>
            </p:cNvSpPr>
            <p:nvPr/>
          </p:nvSpPr>
          <p:spPr bwMode="auto">
            <a:xfrm>
              <a:off x="1919444" y="3644449"/>
              <a:ext cx="26241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not corrupt(rcvpkt) &amp;&amp;</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has_seq1(rcvpkt)</a:t>
              </a:r>
            </a:p>
            <a:p>
              <a:pPr algn="ctr" defTabSz="685800" eaLnBrk="0" fontAlgn="base" hangingPunct="0">
                <a:spcBef>
                  <a:spcPct val="0"/>
                </a:spcBef>
                <a:spcAft>
                  <a:spcPct val="0"/>
                </a:spcAft>
                <a:defRPr/>
              </a:pPr>
              <a:endParaRPr lang="en-US" altLang="en-US" sz="1200" dirty="0">
                <a:solidFill>
                  <a:srgbClr val="000000"/>
                </a:solidFill>
                <a:latin typeface="Times New Roman" panose="02020603050405020304" pitchFamily="18" charset="0"/>
              </a:endParaRPr>
            </a:p>
          </p:txBody>
        </p:sp>
        <p:sp>
          <p:nvSpPr>
            <p:cNvPr id="162" name="Line 27">
              <a:extLst>
                <a:ext uri="{FF2B5EF4-FFF2-40B4-BE49-F238E27FC236}">
                  <a16:creationId xmlns:a16="http://schemas.microsoft.com/office/drawing/2014/main" id="{67A0F00F-84BF-E042-8147-9C34AABEE9CA}"/>
                </a:ext>
              </a:extLst>
            </p:cNvPr>
            <p:cNvSpPr>
              <a:spLocks noChangeShapeType="1"/>
            </p:cNvSpPr>
            <p:nvPr/>
          </p:nvSpPr>
          <p:spPr bwMode="auto">
            <a:xfrm>
              <a:off x="2003582" y="4352474"/>
              <a:ext cx="1938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65" name="Text Box 30">
              <a:extLst>
                <a:ext uri="{FF2B5EF4-FFF2-40B4-BE49-F238E27FC236}">
                  <a16:creationId xmlns:a16="http://schemas.microsoft.com/office/drawing/2014/main" id="{2795743C-B771-D245-AED8-771117828B64}"/>
                </a:ext>
              </a:extLst>
            </p:cNvPr>
            <p:cNvSpPr txBox="1">
              <a:spLocks noChangeArrowheads="1"/>
            </p:cNvSpPr>
            <p:nvPr/>
          </p:nvSpPr>
          <p:spPr bwMode="auto">
            <a:xfrm>
              <a:off x="1951195" y="4374699"/>
              <a:ext cx="306863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make_pkt(ACK1, chksum)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sp>
          <p:nvSpPr>
            <p:cNvPr id="167" name="Freeform 32">
              <a:extLst>
                <a:ext uri="{FF2B5EF4-FFF2-40B4-BE49-F238E27FC236}">
                  <a16:creationId xmlns:a16="http://schemas.microsoft.com/office/drawing/2014/main" id="{1E683D9A-8417-BA48-A53B-EEFB96D0B5CE}"/>
                </a:ext>
              </a:extLst>
            </p:cNvPr>
            <p:cNvSpPr>
              <a:spLocks/>
            </p:cNvSpPr>
            <p:nvPr/>
          </p:nvSpPr>
          <p:spPr bwMode="auto">
            <a:xfrm rot="20579453" flipH="1">
              <a:off x="3960969" y="36333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10" name="Group 9">
            <a:extLst>
              <a:ext uri="{FF2B5EF4-FFF2-40B4-BE49-F238E27FC236}">
                <a16:creationId xmlns:a16="http://schemas.microsoft.com/office/drawing/2014/main" id="{8D1AF017-5F2C-A146-BF02-EC8C570DCE87}"/>
              </a:ext>
            </a:extLst>
          </p:cNvPr>
          <p:cNvGrpSpPr/>
          <p:nvPr/>
        </p:nvGrpSpPr>
        <p:grpSpPr>
          <a:xfrm>
            <a:off x="1400292" y="2801203"/>
            <a:ext cx="2409825" cy="942975"/>
            <a:chOff x="1867056" y="2591937"/>
            <a:chExt cx="3213100" cy="1257300"/>
          </a:xfrm>
        </p:grpSpPr>
        <p:sp>
          <p:nvSpPr>
            <p:cNvPr id="163" name="Text Box 28">
              <a:extLst>
                <a:ext uri="{FF2B5EF4-FFF2-40B4-BE49-F238E27FC236}">
                  <a16:creationId xmlns:a16="http://schemas.microsoft.com/office/drawing/2014/main" id="{9D2A8CCC-BEB9-A242-89C2-1A10D7FDB422}"/>
                </a:ext>
              </a:extLst>
            </p:cNvPr>
            <p:cNvSpPr txBox="1">
              <a:spLocks noChangeArrowheads="1"/>
            </p:cNvSpPr>
            <p:nvPr/>
          </p:nvSpPr>
          <p:spPr bwMode="auto">
            <a:xfrm>
              <a:off x="1867056" y="2591937"/>
              <a:ext cx="3152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(corrupt(rcvpkt)</a:t>
              </a:r>
              <a:endParaRPr lang="en-US" altLang="en-US" sz="1050" dirty="0">
                <a:solidFill>
                  <a:srgbClr val="000000"/>
                </a:solidFill>
                <a:latin typeface="Times New Roman" panose="02020603050405020304" pitchFamily="18" charset="0"/>
              </a:endParaRPr>
            </a:p>
          </p:txBody>
        </p:sp>
        <p:sp>
          <p:nvSpPr>
            <p:cNvPr id="164" name="Line 29">
              <a:extLst>
                <a:ext uri="{FF2B5EF4-FFF2-40B4-BE49-F238E27FC236}">
                  <a16:creationId xmlns:a16="http://schemas.microsoft.com/office/drawing/2014/main" id="{78EDC414-17DA-964B-A17F-A1BDC2DCE547}"/>
                </a:ext>
              </a:extLst>
            </p:cNvPr>
            <p:cNvSpPr>
              <a:spLocks noChangeShapeType="1"/>
            </p:cNvSpPr>
            <p:nvPr/>
          </p:nvSpPr>
          <p:spPr bwMode="auto">
            <a:xfrm>
              <a:off x="2005169" y="2966587"/>
              <a:ext cx="1938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66" name="Text Box 31">
              <a:extLst>
                <a:ext uri="{FF2B5EF4-FFF2-40B4-BE49-F238E27FC236}">
                  <a16:creationId xmlns:a16="http://schemas.microsoft.com/office/drawing/2014/main" id="{CAC3A516-419E-4F4A-95ED-4CF413F4D203}"/>
                </a:ext>
              </a:extLst>
            </p:cNvPr>
            <p:cNvSpPr txBox="1">
              <a:spLocks noChangeArrowheads="1"/>
            </p:cNvSpPr>
            <p:nvPr/>
          </p:nvSpPr>
          <p:spPr bwMode="auto">
            <a:xfrm>
              <a:off x="1927381" y="2933249"/>
              <a:ext cx="31527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make_pkt(NAK0, chksum)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endParaRPr lang="en-US" altLang="en-US" sz="1050" dirty="0">
                <a:solidFill>
                  <a:srgbClr val="000000"/>
                </a:solidFill>
                <a:latin typeface="Times New Roman" panose="02020603050405020304" pitchFamily="18" charset="0"/>
              </a:endParaRPr>
            </a:p>
          </p:txBody>
        </p:sp>
        <p:sp>
          <p:nvSpPr>
            <p:cNvPr id="168" name="Freeform 33">
              <a:extLst>
                <a:ext uri="{FF2B5EF4-FFF2-40B4-BE49-F238E27FC236}">
                  <a16:creationId xmlns:a16="http://schemas.microsoft.com/office/drawing/2014/main" id="{C9A1B12C-9183-8C4D-9DF0-A7E0C472A15B}"/>
                </a:ext>
              </a:extLst>
            </p:cNvPr>
            <p:cNvSpPr>
              <a:spLocks/>
            </p:cNvSpPr>
            <p:nvPr/>
          </p:nvSpPr>
          <p:spPr bwMode="auto">
            <a:xfrm rot="1361013" flipH="1">
              <a:off x="3948269" y="2985637"/>
              <a:ext cx="839788" cy="863600"/>
            </a:xfrm>
            <a:custGeom>
              <a:avLst/>
              <a:gdLst>
                <a:gd name="T0" fmla="*/ 2147483647 w 619"/>
                <a:gd name="T1" fmla="*/ 2147483647 h 1815"/>
                <a:gd name="T2" fmla="*/ 0 w 619"/>
                <a:gd name="T3" fmla="*/ 2147483647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spTree>
    <p:extLst>
      <p:ext uri="{BB962C8B-B14F-4D97-AF65-F5344CB8AC3E}">
        <p14:creationId xmlns:p14="http://schemas.microsoft.com/office/powerpoint/2010/main" val="3454344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RDT2.1</a:t>
            </a:r>
            <a:endParaRPr lang="en-US" dirty="0"/>
          </a:p>
        </p:txBody>
      </p:sp>
      <p:sp>
        <p:nvSpPr>
          <p:cNvPr id="5" name="Slide Number Placeholder 2">
            <a:extLst>
              <a:ext uri="{FF2B5EF4-FFF2-40B4-BE49-F238E27FC236}">
                <a16:creationId xmlns:a16="http://schemas.microsoft.com/office/drawing/2014/main" id="{ADBE880F-C2E4-0642-AE62-E70C2E89903D}"/>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20</a:t>
            </a:fld>
            <a:endParaRPr lang="en-US" dirty="0">
              <a:solidFill>
                <a:prstClr val="white">
                  <a:lumMod val="50000"/>
                </a:prstClr>
              </a:solidFill>
              <a:latin typeface="Calibri" panose="020F0502020204030204"/>
            </a:endParaRPr>
          </a:p>
        </p:txBody>
      </p:sp>
      <p:sp>
        <p:nvSpPr>
          <p:cNvPr id="44" name="Rectangle 3">
            <a:extLst>
              <a:ext uri="{FF2B5EF4-FFF2-40B4-BE49-F238E27FC236}">
                <a16:creationId xmlns:a16="http://schemas.microsoft.com/office/drawing/2014/main" id="{4DBF4802-B282-F141-BA7A-BF4F98FB2E8F}"/>
              </a:ext>
            </a:extLst>
          </p:cNvPr>
          <p:cNvSpPr txBox="1">
            <a:spLocks noChangeArrowheads="1"/>
          </p:cNvSpPr>
          <p:nvPr/>
        </p:nvSpPr>
        <p:spPr>
          <a:xfrm>
            <a:off x="599017" y="1873877"/>
            <a:ext cx="3972983"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altLang="en-US" sz="2400" u="sng" dirty="0">
                <a:solidFill>
                  <a:srgbClr val="CC0000"/>
                </a:solidFill>
                <a:latin typeface="Calibri" panose="020F0502020204030204"/>
                <a:ea typeface="ＭＳ Ｐゴシック" panose="020B0600070205080204" pitchFamily="34" charset="-128"/>
              </a:rPr>
              <a:t>sender:</a:t>
            </a:r>
            <a:endParaRPr lang="en-US" altLang="en-US" sz="2400" dirty="0">
              <a:solidFill>
                <a:srgbClr val="CC0000"/>
              </a:solidFill>
              <a:latin typeface="Calibri" panose="020F0502020204030204"/>
              <a:ea typeface="ＭＳ Ｐゴシック" panose="020B0600070205080204" pitchFamily="34" charset="-128"/>
            </a:endParaRP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seq # added to pkt</a:t>
            </a: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two seq. #</a:t>
            </a:r>
            <a:r>
              <a:rPr lang="en-US" altLang="ja-JP" sz="2100" dirty="0">
                <a:solidFill>
                  <a:prstClr val="black"/>
                </a:solidFill>
                <a:latin typeface="Calibri" panose="020F0502020204030204"/>
                <a:ea typeface="ＭＳ Ｐゴシック" panose="020B0600070205080204" pitchFamily="34" charset="-128"/>
              </a:rPr>
              <a:t>s (0,1) will suffice.  Why?</a:t>
            </a: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must check if received ACK/NAK corrupted </a:t>
            </a: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twice as many states</a:t>
            </a:r>
          </a:p>
          <a:p>
            <a:pPr marL="521494" lvl="1" indent="-173831" defTabSz="685800">
              <a:spcBef>
                <a:spcPts val="375"/>
              </a:spcBef>
              <a:defRPr/>
            </a:pPr>
            <a:r>
              <a:rPr lang="en-US" altLang="en-US" sz="1800" dirty="0">
                <a:solidFill>
                  <a:prstClr val="black"/>
                </a:solidFill>
                <a:latin typeface="Calibri" panose="020F0502020204030204"/>
                <a:ea typeface="ＭＳ Ｐゴシック" panose="020B0600070205080204" pitchFamily="34" charset="-128"/>
              </a:rPr>
              <a:t>state must “</a:t>
            </a:r>
            <a:r>
              <a:rPr lang="en-US" altLang="ja-JP" sz="1800" dirty="0">
                <a:solidFill>
                  <a:prstClr val="black"/>
                </a:solidFill>
                <a:latin typeface="Calibri" panose="020F0502020204030204"/>
                <a:ea typeface="ＭＳ Ｐゴシック" panose="020B0600070205080204" pitchFamily="34" charset="-128"/>
              </a:rPr>
              <a:t>remember” whether “expected” pkt should have seq # of 0 or 1 </a:t>
            </a:r>
          </a:p>
          <a:p>
            <a:pPr marL="264319" indent="-166688" defTabSz="685800">
              <a:spcBef>
                <a:spcPts val="750"/>
              </a:spcBef>
              <a:defRPr/>
            </a:pPr>
            <a:endParaRPr lang="en-US" altLang="en-US" sz="2100" dirty="0">
              <a:solidFill>
                <a:prstClr val="black"/>
              </a:solidFill>
              <a:latin typeface="Calibri" panose="020F0502020204030204"/>
              <a:ea typeface="ＭＳ Ｐゴシック" panose="020B0600070205080204" pitchFamily="34" charset="-128"/>
            </a:endParaRPr>
          </a:p>
        </p:txBody>
      </p:sp>
      <p:sp>
        <p:nvSpPr>
          <p:cNvPr id="45" name="Rectangle 4">
            <a:extLst>
              <a:ext uri="{FF2B5EF4-FFF2-40B4-BE49-F238E27FC236}">
                <a16:creationId xmlns:a16="http://schemas.microsoft.com/office/drawing/2014/main" id="{BEBB060B-A254-E240-9526-00C3EB96E136}"/>
              </a:ext>
            </a:extLst>
          </p:cNvPr>
          <p:cNvSpPr txBox="1">
            <a:spLocks noChangeArrowheads="1"/>
          </p:cNvSpPr>
          <p:nvPr/>
        </p:nvSpPr>
        <p:spPr>
          <a:xfrm>
            <a:off x="4907655" y="1873877"/>
            <a:ext cx="3637327"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sz="2400" u="sng" dirty="0">
                <a:solidFill>
                  <a:srgbClr val="CC0000"/>
                </a:solidFill>
                <a:latin typeface="Calibri" panose="020F0502020204030204"/>
              </a:rPr>
              <a:t>receiver:</a:t>
            </a:r>
            <a:endParaRPr lang="en-US" sz="2400" dirty="0">
              <a:solidFill>
                <a:srgbClr val="CC0000"/>
              </a:solidFill>
              <a:latin typeface="Calibri" panose="020F0502020204030204"/>
            </a:endParaRPr>
          </a:p>
          <a:p>
            <a:pPr marL="264319" indent="-166688" defTabSz="685800">
              <a:spcBef>
                <a:spcPts val="750"/>
              </a:spcBef>
              <a:buFont typeface="Wingdings" charset="2"/>
              <a:buChar char="§"/>
              <a:defRPr/>
            </a:pPr>
            <a:r>
              <a:rPr lang="en-US" sz="2100" dirty="0">
                <a:solidFill>
                  <a:prstClr val="black"/>
                </a:solidFill>
                <a:latin typeface="Calibri" panose="020F0502020204030204"/>
              </a:rPr>
              <a:t>must check if received packet is duplicate</a:t>
            </a:r>
          </a:p>
          <a:p>
            <a:pPr marL="521494" lvl="1" indent="-173831" defTabSz="685800">
              <a:spcBef>
                <a:spcPts val="375"/>
              </a:spcBef>
              <a:buFont typeface="Arial"/>
              <a:buChar char="•"/>
              <a:defRPr/>
            </a:pPr>
            <a:r>
              <a:rPr lang="en-US" sz="1800" dirty="0">
                <a:solidFill>
                  <a:prstClr val="black"/>
                </a:solidFill>
                <a:latin typeface="Calibri" panose="020F0502020204030204"/>
              </a:rPr>
              <a:t>state indicates whether 0 or 1 is expected pkt seq #</a:t>
            </a:r>
          </a:p>
          <a:p>
            <a:pPr marL="264319" indent="-166688" defTabSz="685800">
              <a:spcBef>
                <a:spcPts val="750"/>
              </a:spcBef>
              <a:buFont typeface="Wingdings" charset="2"/>
              <a:buChar char="§"/>
              <a:defRPr/>
            </a:pPr>
            <a:r>
              <a:rPr lang="en-US" sz="2100" dirty="0">
                <a:solidFill>
                  <a:prstClr val="black"/>
                </a:solidFill>
                <a:latin typeface="Calibri" panose="020F0502020204030204"/>
              </a:rPr>
              <a:t>note: receiver can </a:t>
            </a:r>
            <a:r>
              <a:rPr lang="en-US" sz="2100" i="1" dirty="0">
                <a:solidFill>
                  <a:prstClr val="black"/>
                </a:solidFill>
                <a:latin typeface="Calibri" panose="020F0502020204030204"/>
              </a:rPr>
              <a:t>not</a:t>
            </a:r>
            <a:r>
              <a:rPr lang="en-US" sz="2100" dirty="0">
                <a:solidFill>
                  <a:prstClr val="black"/>
                </a:solidFill>
                <a:latin typeface="Calibri" panose="020F0502020204030204"/>
              </a:rPr>
              <a:t> know if its last ACK/NAK received OK at sender</a:t>
            </a:r>
          </a:p>
        </p:txBody>
      </p:sp>
    </p:spTree>
    <p:extLst>
      <p:ext uri="{BB962C8B-B14F-4D97-AF65-F5344CB8AC3E}">
        <p14:creationId xmlns:p14="http://schemas.microsoft.com/office/powerpoint/2010/main" val="3964008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RDT2.2</a:t>
            </a:r>
            <a:endParaRPr lang="en-US" dirty="0"/>
          </a:p>
        </p:txBody>
      </p:sp>
      <p:sp>
        <p:nvSpPr>
          <p:cNvPr id="3" name="Content Placeholder 2">
            <a:extLst>
              <a:ext uri="{FF2B5EF4-FFF2-40B4-BE49-F238E27FC236}">
                <a16:creationId xmlns:a16="http://schemas.microsoft.com/office/drawing/2014/main" id="{B320023B-F012-51C0-4FE2-CFC333C0C44D}"/>
              </a:ext>
            </a:extLst>
          </p:cNvPr>
          <p:cNvSpPr>
            <a:spLocks noGrp="1"/>
          </p:cNvSpPr>
          <p:nvPr>
            <p:ph idx="1"/>
          </p:nvPr>
        </p:nvSpPr>
        <p:spPr>
          <a:xfrm>
            <a:off x="628650" y="1317628"/>
            <a:ext cx="7886700" cy="579580"/>
          </a:xfrm>
        </p:spPr>
        <p:txBody>
          <a:bodyPr/>
          <a:lstStyle/>
          <a:p>
            <a:r>
              <a:rPr lang="en-US" sz="2800" dirty="0"/>
              <a:t>a NAK-free protocol</a:t>
            </a:r>
            <a:endParaRPr lang="en-US" dirty="0"/>
          </a:p>
        </p:txBody>
      </p:sp>
      <p:sp>
        <p:nvSpPr>
          <p:cNvPr id="5" name="Slide Number Placeholder 2">
            <a:extLst>
              <a:ext uri="{FF2B5EF4-FFF2-40B4-BE49-F238E27FC236}">
                <a16:creationId xmlns:a16="http://schemas.microsoft.com/office/drawing/2014/main" id="{27705518-50B7-6645-9746-6EF1FD05E894}"/>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21</a:t>
            </a:fld>
            <a:endParaRPr lang="en-US" dirty="0">
              <a:solidFill>
                <a:prstClr val="white">
                  <a:lumMod val="50000"/>
                </a:prstClr>
              </a:solidFill>
              <a:latin typeface="Calibri" panose="020F0502020204030204"/>
            </a:endParaRPr>
          </a:p>
        </p:txBody>
      </p:sp>
      <p:sp>
        <p:nvSpPr>
          <p:cNvPr id="8" name="Rectangle 3">
            <a:extLst>
              <a:ext uri="{FF2B5EF4-FFF2-40B4-BE49-F238E27FC236}">
                <a16:creationId xmlns:a16="http://schemas.microsoft.com/office/drawing/2014/main" id="{1BA8C5E8-28A5-424A-B91B-D36BE3AFCEC5}"/>
              </a:ext>
            </a:extLst>
          </p:cNvPr>
          <p:cNvSpPr txBox="1">
            <a:spLocks noChangeArrowheads="1"/>
          </p:cNvSpPr>
          <p:nvPr/>
        </p:nvSpPr>
        <p:spPr>
          <a:xfrm>
            <a:off x="454987" y="2143125"/>
            <a:ext cx="8234027" cy="253915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5281" indent="-210741" defTabSz="685800">
              <a:spcBef>
                <a:spcPts val="750"/>
              </a:spcBef>
              <a:buFont typeface="Wingdings" charset="2"/>
              <a:buChar char="§"/>
              <a:defRPr/>
            </a:pPr>
            <a:r>
              <a:rPr lang="en-US" sz="2400" dirty="0">
                <a:solidFill>
                  <a:prstClr val="black"/>
                </a:solidFill>
                <a:latin typeface="Calibri" panose="020F0502020204030204"/>
              </a:rPr>
              <a:t>same functionality as rdt2.1, using ACKs only</a:t>
            </a:r>
          </a:p>
          <a:p>
            <a:pPr marL="345281" indent="-210741" defTabSz="685800">
              <a:spcBef>
                <a:spcPts val="750"/>
              </a:spcBef>
              <a:buFont typeface="Wingdings" charset="2"/>
              <a:buChar char="§"/>
              <a:defRPr/>
            </a:pPr>
            <a:r>
              <a:rPr lang="en-US" sz="2400" dirty="0">
                <a:solidFill>
                  <a:prstClr val="black"/>
                </a:solidFill>
                <a:latin typeface="Calibri" panose="020F0502020204030204"/>
              </a:rPr>
              <a:t>instead of NAK, receiver sends ACK for last pkt received OK</a:t>
            </a:r>
          </a:p>
          <a:p>
            <a:pPr marL="606029" lvl="1" indent="-164306" defTabSz="685800">
              <a:spcBef>
                <a:spcPts val="375"/>
              </a:spcBef>
              <a:buFont typeface="Arial"/>
              <a:buChar char="•"/>
              <a:defRPr/>
            </a:pPr>
            <a:r>
              <a:rPr lang="en-US" sz="2100" dirty="0">
                <a:solidFill>
                  <a:prstClr val="black"/>
                </a:solidFill>
                <a:latin typeface="Calibri" panose="020F0502020204030204"/>
              </a:rPr>
              <a:t>receiver must </a:t>
            </a:r>
            <a:r>
              <a:rPr lang="en-US" sz="2100" i="1" dirty="0">
                <a:solidFill>
                  <a:prstClr val="black"/>
                </a:solidFill>
                <a:latin typeface="Calibri" panose="020F0502020204030204"/>
              </a:rPr>
              <a:t>explicitly</a:t>
            </a:r>
            <a:r>
              <a:rPr lang="en-US" sz="2100" dirty="0">
                <a:solidFill>
                  <a:prstClr val="black"/>
                </a:solidFill>
                <a:latin typeface="Calibri" panose="020F0502020204030204"/>
              </a:rPr>
              <a:t> include seq # of pkt being ACKed </a:t>
            </a:r>
          </a:p>
          <a:p>
            <a:pPr marL="345281" indent="-210741" defTabSz="685800">
              <a:spcBef>
                <a:spcPts val="750"/>
              </a:spcBef>
              <a:buFont typeface="Wingdings" charset="2"/>
              <a:buChar char="§"/>
              <a:defRPr/>
            </a:pPr>
            <a:r>
              <a:rPr lang="en-US" sz="2400" dirty="0">
                <a:solidFill>
                  <a:prstClr val="black"/>
                </a:solidFill>
                <a:latin typeface="Calibri" panose="020F0502020204030204"/>
              </a:rPr>
              <a:t>duplicate ACK at sender results in same action as NAK: </a:t>
            </a:r>
            <a:r>
              <a:rPr lang="en-US" sz="2400" i="1" dirty="0">
                <a:solidFill>
                  <a:prstClr val="black"/>
                </a:solidFill>
                <a:latin typeface="Calibri" panose="020F0502020204030204"/>
              </a:rPr>
              <a:t>retransmit current pkt</a:t>
            </a:r>
            <a:endParaRPr lang="en-US" sz="2400" dirty="0">
              <a:solidFill>
                <a:prstClr val="black"/>
              </a:solidFill>
              <a:latin typeface="Calibri" panose="020F0502020204030204"/>
            </a:endParaRPr>
          </a:p>
        </p:txBody>
      </p:sp>
      <p:sp>
        <p:nvSpPr>
          <p:cNvPr id="4" name="TextBox 3">
            <a:extLst>
              <a:ext uri="{FF2B5EF4-FFF2-40B4-BE49-F238E27FC236}">
                <a16:creationId xmlns:a16="http://schemas.microsoft.com/office/drawing/2014/main" id="{BD1719ED-B423-3644-A6E8-F9BF7FA75BB0}"/>
              </a:ext>
            </a:extLst>
          </p:cNvPr>
          <p:cNvSpPr txBox="1"/>
          <p:nvPr/>
        </p:nvSpPr>
        <p:spPr>
          <a:xfrm>
            <a:off x="599017" y="4324887"/>
            <a:ext cx="6846618" cy="461665"/>
          </a:xfrm>
          <a:prstGeom prst="rect">
            <a:avLst/>
          </a:prstGeom>
          <a:noFill/>
        </p:spPr>
        <p:txBody>
          <a:bodyPr wrap="none" rtlCol="0">
            <a:spAutoFit/>
          </a:bodyPr>
          <a:lstStyle/>
          <a:p>
            <a:pPr defTabSz="685800">
              <a:defRPr/>
            </a:pPr>
            <a:r>
              <a:rPr lang="en-US" sz="2400" dirty="0">
                <a:solidFill>
                  <a:prstClr val="black"/>
                </a:solidFill>
                <a:latin typeface="Calibri" panose="020F0502020204030204"/>
              </a:rPr>
              <a:t>As we will see, TCP uses this approach to be NAK-free</a:t>
            </a:r>
          </a:p>
        </p:txBody>
      </p:sp>
    </p:spTree>
    <p:extLst>
      <p:ext uri="{BB962C8B-B14F-4D97-AF65-F5344CB8AC3E}">
        <p14:creationId xmlns:p14="http://schemas.microsoft.com/office/powerpoint/2010/main" val="1046636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RDT2.2</a:t>
            </a:r>
            <a:endParaRPr lang="en-US" dirty="0"/>
          </a:p>
        </p:txBody>
      </p:sp>
      <p:sp>
        <p:nvSpPr>
          <p:cNvPr id="3" name="Content Placeholder 2">
            <a:extLst>
              <a:ext uri="{FF2B5EF4-FFF2-40B4-BE49-F238E27FC236}">
                <a16:creationId xmlns:a16="http://schemas.microsoft.com/office/drawing/2014/main" id="{BC36C020-73E6-5053-62F4-BFCB01F3B106}"/>
              </a:ext>
            </a:extLst>
          </p:cNvPr>
          <p:cNvSpPr>
            <a:spLocks noGrp="1"/>
          </p:cNvSpPr>
          <p:nvPr>
            <p:ph idx="1"/>
          </p:nvPr>
        </p:nvSpPr>
        <p:spPr>
          <a:xfrm>
            <a:off x="628650" y="1184682"/>
            <a:ext cx="7886700" cy="579580"/>
          </a:xfrm>
        </p:spPr>
        <p:txBody>
          <a:bodyPr/>
          <a:lstStyle/>
          <a:p>
            <a:r>
              <a:rPr lang="en-US" sz="2800" dirty="0"/>
              <a:t>sender, receiver fragments</a:t>
            </a:r>
            <a:endParaRPr lang="en-US" dirty="0"/>
          </a:p>
        </p:txBody>
      </p:sp>
      <p:sp>
        <p:nvSpPr>
          <p:cNvPr id="40" name="Slide Number Placeholder 2">
            <a:extLst>
              <a:ext uri="{FF2B5EF4-FFF2-40B4-BE49-F238E27FC236}">
                <a16:creationId xmlns:a16="http://schemas.microsoft.com/office/drawing/2014/main" id="{F6D97494-9500-EB4E-A367-8D096797D41B}"/>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22</a:t>
            </a:fld>
            <a:endParaRPr lang="en-US" dirty="0">
              <a:solidFill>
                <a:prstClr val="white">
                  <a:lumMod val="50000"/>
                </a:prstClr>
              </a:solidFill>
              <a:latin typeface="Calibri" panose="020F0502020204030204"/>
            </a:endParaRPr>
          </a:p>
        </p:txBody>
      </p:sp>
      <p:grpSp>
        <p:nvGrpSpPr>
          <p:cNvPr id="45" name="Group 3">
            <a:extLst>
              <a:ext uri="{FF2B5EF4-FFF2-40B4-BE49-F238E27FC236}">
                <a16:creationId xmlns:a16="http://schemas.microsoft.com/office/drawing/2014/main" id="{44C8BE99-8D47-E84F-BBFA-C24F85149C9B}"/>
              </a:ext>
            </a:extLst>
          </p:cNvPr>
          <p:cNvGrpSpPr>
            <a:grpSpLocks/>
          </p:cNvGrpSpPr>
          <p:nvPr/>
        </p:nvGrpSpPr>
        <p:grpSpPr bwMode="auto">
          <a:xfrm>
            <a:off x="2805700" y="1745211"/>
            <a:ext cx="4881563" cy="2131219"/>
            <a:chOff x="1529" y="780"/>
            <a:chExt cx="4100" cy="1790"/>
          </a:xfrm>
        </p:grpSpPr>
        <p:grpSp>
          <p:nvGrpSpPr>
            <p:cNvPr id="46" name="Group 4">
              <a:extLst>
                <a:ext uri="{FF2B5EF4-FFF2-40B4-BE49-F238E27FC236}">
                  <a16:creationId xmlns:a16="http://schemas.microsoft.com/office/drawing/2014/main" id="{B559F62B-A8CC-314C-9FFF-E4BE95186DBA}"/>
                </a:ext>
              </a:extLst>
            </p:cNvPr>
            <p:cNvGrpSpPr>
              <a:grpSpLocks/>
            </p:cNvGrpSpPr>
            <p:nvPr/>
          </p:nvGrpSpPr>
          <p:grpSpPr bwMode="auto">
            <a:xfrm>
              <a:off x="1651" y="1399"/>
              <a:ext cx="669" cy="528"/>
              <a:chOff x="1441" y="2062"/>
              <a:chExt cx="669" cy="528"/>
            </a:xfrm>
          </p:grpSpPr>
          <p:sp>
            <p:nvSpPr>
              <p:cNvPr id="63" name="Oval 5">
                <a:extLst>
                  <a:ext uri="{FF2B5EF4-FFF2-40B4-BE49-F238E27FC236}">
                    <a16:creationId xmlns:a16="http://schemas.microsoft.com/office/drawing/2014/main" id="{62508AC8-0382-1842-A725-28AD6849BC1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64" name="Text Box 6">
                <a:extLst>
                  <a:ext uri="{FF2B5EF4-FFF2-40B4-BE49-F238E27FC236}">
                    <a16:creationId xmlns:a16="http://schemas.microsoft.com/office/drawing/2014/main" id="{1C6CF7DE-4208-0546-B6D6-E98910387184}"/>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call 0 from above</a:t>
                </a:r>
                <a:endParaRPr lang="en-US" altLang="en-US" sz="1050" kern="0" dirty="0">
                  <a:solidFill>
                    <a:srgbClr val="000000"/>
                  </a:solidFill>
                  <a:latin typeface="Times New Roman" panose="02020603050405020304" pitchFamily="18" charset="0"/>
                </a:endParaRPr>
              </a:p>
            </p:txBody>
          </p:sp>
        </p:grpSp>
        <p:sp>
          <p:nvSpPr>
            <p:cNvPr id="47" name="Text Box 7">
              <a:extLst>
                <a:ext uri="{FF2B5EF4-FFF2-40B4-BE49-F238E27FC236}">
                  <a16:creationId xmlns:a16="http://schemas.microsoft.com/office/drawing/2014/main" id="{487FB5C4-F933-D746-9E6B-EB36683D91FA}"/>
                </a:ext>
              </a:extLst>
            </p:cNvPr>
            <p:cNvSpPr txBox="1">
              <a:spLocks noChangeArrowheads="1"/>
            </p:cNvSpPr>
            <p:nvPr/>
          </p:nvSpPr>
          <p:spPr bwMode="auto">
            <a:xfrm>
              <a:off x="1863" y="957"/>
              <a:ext cx="24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sndpkt = make_pkt(0, data, checksum)</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udt_send(sndpkt)</a:t>
              </a:r>
              <a:endParaRPr lang="en-US" altLang="en-US" sz="1200" kern="0" dirty="0">
                <a:solidFill>
                  <a:srgbClr val="000000"/>
                </a:solidFill>
                <a:latin typeface="Times New Roman" panose="02020603050405020304" pitchFamily="18" charset="0"/>
              </a:endParaRPr>
            </a:p>
          </p:txBody>
        </p:sp>
        <p:sp>
          <p:nvSpPr>
            <p:cNvPr id="48" name="Text Box 8">
              <a:extLst>
                <a:ext uri="{FF2B5EF4-FFF2-40B4-BE49-F238E27FC236}">
                  <a16:creationId xmlns:a16="http://schemas.microsoft.com/office/drawing/2014/main" id="{3AA6880E-F456-D948-8214-9C93DC52D9A7}"/>
                </a:ext>
              </a:extLst>
            </p:cNvPr>
            <p:cNvSpPr txBox="1">
              <a:spLocks noChangeArrowheads="1"/>
            </p:cNvSpPr>
            <p:nvPr/>
          </p:nvSpPr>
          <p:spPr bwMode="auto">
            <a:xfrm>
              <a:off x="1871" y="780"/>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rdt_send(data)</a:t>
              </a:r>
              <a:endParaRPr lang="en-US" altLang="en-US" sz="1200" kern="0" dirty="0">
                <a:solidFill>
                  <a:srgbClr val="000000"/>
                </a:solidFill>
                <a:latin typeface="Times New Roman" panose="02020603050405020304" pitchFamily="18" charset="0"/>
              </a:endParaRPr>
            </a:p>
          </p:txBody>
        </p:sp>
        <p:sp>
          <p:nvSpPr>
            <p:cNvPr id="49" name="Line 9">
              <a:extLst>
                <a:ext uri="{FF2B5EF4-FFF2-40B4-BE49-F238E27FC236}">
                  <a16:creationId xmlns:a16="http://schemas.microsoft.com/office/drawing/2014/main" id="{7356AE7C-383F-CD4D-A8D4-0D863BECC90E}"/>
                </a:ext>
              </a:extLst>
            </p:cNvPr>
            <p:cNvSpPr>
              <a:spLocks noChangeShapeType="1"/>
            </p:cNvSpPr>
            <p:nvPr/>
          </p:nvSpPr>
          <p:spPr bwMode="auto">
            <a:xfrm>
              <a:off x="1910" y="992"/>
              <a:ext cx="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50" name="Line 10">
              <a:extLst>
                <a:ext uri="{FF2B5EF4-FFF2-40B4-BE49-F238E27FC236}">
                  <a16:creationId xmlns:a16="http://schemas.microsoft.com/office/drawing/2014/main" id="{AABAA468-88B5-FD4A-933F-BEE3E0E800E0}"/>
                </a:ext>
              </a:extLst>
            </p:cNvPr>
            <p:cNvSpPr>
              <a:spLocks noChangeShapeType="1"/>
            </p:cNvSpPr>
            <p:nvPr/>
          </p:nvSpPr>
          <p:spPr bwMode="auto">
            <a:xfrm>
              <a:off x="1529" y="1313"/>
              <a:ext cx="264" cy="145"/>
            </a:xfrm>
            <a:prstGeom prst="line">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51" name="Freeform 11">
              <a:extLst>
                <a:ext uri="{FF2B5EF4-FFF2-40B4-BE49-F238E27FC236}">
                  <a16:creationId xmlns:a16="http://schemas.microsoft.com/office/drawing/2014/main" id="{1B01ED8E-ABE5-DB46-A6A7-6A5FF2599E94}"/>
                </a:ext>
              </a:extLst>
            </p:cNvPr>
            <p:cNvSpPr>
              <a:spLocks/>
            </p:cNvSpPr>
            <p:nvPr/>
          </p:nvSpPr>
          <p:spPr bwMode="auto">
            <a:xfrm flipV="1">
              <a:off x="2096" y="1272"/>
              <a:ext cx="1195" cy="130"/>
            </a:xfrm>
            <a:custGeom>
              <a:avLst/>
              <a:gdLst>
                <a:gd name="T0" fmla="*/ 0 w 2835"/>
                <a:gd name="T1" fmla="*/ 0 h 525"/>
                <a:gd name="T2" fmla="*/ 0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52" name="Freeform 12">
              <a:extLst>
                <a:ext uri="{FF2B5EF4-FFF2-40B4-BE49-F238E27FC236}">
                  <a16:creationId xmlns:a16="http://schemas.microsoft.com/office/drawing/2014/main" id="{09A24A5A-3284-ED40-94E5-9F6FD9D580F8}"/>
                </a:ext>
              </a:extLst>
            </p:cNvPr>
            <p:cNvSpPr>
              <a:spLocks/>
            </p:cNvSpPr>
            <p:nvPr/>
          </p:nvSpPr>
          <p:spPr bwMode="auto">
            <a:xfrm rot="-1357180">
              <a:off x="3655" y="1225"/>
              <a:ext cx="285" cy="542"/>
            </a:xfrm>
            <a:custGeom>
              <a:avLst/>
              <a:gdLst>
                <a:gd name="T0" fmla="*/ 0 w 735"/>
                <a:gd name="T1" fmla="*/ 1 h 1080"/>
                <a:gd name="T2" fmla="*/ 0 w 735"/>
                <a:gd name="T3" fmla="*/ 1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53" name="Text Box 13">
              <a:extLst>
                <a:ext uri="{FF2B5EF4-FFF2-40B4-BE49-F238E27FC236}">
                  <a16:creationId xmlns:a16="http://schemas.microsoft.com/office/drawing/2014/main" id="{735F1B93-CE98-BB48-B7B4-F46E52A4B8B0}"/>
                </a:ext>
              </a:extLst>
            </p:cNvPr>
            <p:cNvSpPr txBox="1">
              <a:spLocks noChangeArrowheads="1"/>
            </p:cNvSpPr>
            <p:nvPr/>
          </p:nvSpPr>
          <p:spPr bwMode="auto">
            <a:xfrm>
              <a:off x="3978" y="1670"/>
              <a:ext cx="133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b="1" kern="0" dirty="0">
                  <a:solidFill>
                    <a:srgbClr val="FF0000"/>
                  </a:solidFill>
                  <a:latin typeface="Arial" panose="020B0604020202020204" pitchFamily="34" charset="0"/>
                </a:rPr>
                <a:t>udt_send(sndpkt)</a:t>
              </a:r>
              <a:endParaRPr lang="en-US" altLang="en-US" sz="1200" b="1" kern="0" dirty="0">
                <a:solidFill>
                  <a:srgbClr val="FF0000"/>
                </a:solidFill>
                <a:latin typeface="Times New Roman" panose="02020603050405020304" pitchFamily="18" charset="0"/>
              </a:endParaRPr>
            </a:p>
          </p:txBody>
        </p:sp>
        <p:sp>
          <p:nvSpPr>
            <p:cNvPr id="54" name="Text Box 14">
              <a:extLst>
                <a:ext uri="{FF2B5EF4-FFF2-40B4-BE49-F238E27FC236}">
                  <a16:creationId xmlns:a16="http://schemas.microsoft.com/office/drawing/2014/main" id="{1358189F-C49B-9547-B76A-603CC6295715}"/>
                </a:ext>
              </a:extLst>
            </p:cNvPr>
            <p:cNvSpPr txBox="1">
              <a:spLocks noChangeArrowheads="1"/>
            </p:cNvSpPr>
            <p:nvPr/>
          </p:nvSpPr>
          <p:spPr bwMode="auto">
            <a:xfrm>
              <a:off x="3917" y="1174"/>
              <a:ext cx="171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rdt_rcv(rcvpkt) &amp;&amp;  </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 corrupt(rcvpkt) ||</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  </a:t>
              </a:r>
              <a:r>
                <a:rPr lang="en-US" altLang="en-US" sz="1200" b="1" kern="0" dirty="0">
                  <a:solidFill>
                    <a:srgbClr val="FF0000"/>
                  </a:solidFill>
                  <a:latin typeface="Arial" panose="020B0604020202020204" pitchFamily="34" charset="0"/>
                </a:rPr>
                <a:t>isACK(rcvpkt,1)</a:t>
              </a:r>
              <a:r>
                <a:rPr lang="en-US" altLang="en-US" sz="1200" kern="0" dirty="0">
                  <a:solidFill>
                    <a:srgbClr val="000000"/>
                  </a:solidFill>
                  <a:latin typeface="Arial" panose="020B0604020202020204" pitchFamily="34" charset="0"/>
                </a:rPr>
                <a:t> )</a:t>
              </a:r>
              <a:endParaRPr lang="en-US" altLang="en-US" sz="1200" kern="0" dirty="0">
                <a:solidFill>
                  <a:srgbClr val="000000"/>
                </a:solidFill>
                <a:latin typeface="Times New Roman" panose="02020603050405020304" pitchFamily="18" charset="0"/>
              </a:endParaRPr>
            </a:p>
          </p:txBody>
        </p:sp>
        <p:sp>
          <p:nvSpPr>
            <p:cNvPr id="55" name="Line 15">
              <a:extLst>
                <a:ext uri="{FF2B5EF4-FFF2-40B4-BE49-F238E27FC236}">
                  <a16:creationId xmlns:a16="http://schemas.microsoft.com/office/drawing/2014/main" id="{96FCE930-1E3E-9749-A456-2BE07EE342E4}"/>
                </a:ext>
              </a:extLst>
            </p:cNvPr>
            <p:cNvSpPr>
              <a:spLocks noChangeShapeType="1"/>
            </p:cNvSpPr>
            <p:nvPr/>
          </p:nvSpPr>
          <p:spPr bwMode="auto">
            <a:xfrm flipV="1">
              <a:off x="4043" y="1666"/>
              <a:ext cx="89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56" name="Freeform 16">
              <a:extLst>
                <a:ext uri="{FF2B5EF4-FFF2-40B4-BE49-F238E27FC236}">
                  <a16:creationId xmlns:a16="http://schemas.microsoft.com/office/drawing/2014/main" id="{FF0C2363-5AAB-A541-81DC-66A1639302B9}"/>
                </a:ext>
              </a:extLst>
            </p:cNvPr>
            <p:cNvSpPr>
              <a:spLocks/>
            </p:cNvSpPr>
            <p:nvPr/>
          </p:nvSpPr>
          <p:spPr bwMode="auto">
            <a:xfrm>
              <a:off x="3747" y="1792"/>
              <a:ext cx="128" cy="774"/>
            </a:xfrm>
            <a:custGeom>
              <a:avLst/>
              <a:gdLst>
                <a:gd name="T0" fmla="*/ 67 w 128"/>
                <a:gd name="T1" fmla="*/ 774 h 774"/>
                <a:gd name="T2" fmla="*/ 0 w 128"/>
                <a:gd name="T3" fmla="*/ 0 h 774"/>
                <a:gd name="T4" fmla="*/ 0 60000 65536"/>
                <a:gd name="T5" fmla="*/ 0 60000 65536"/>
              </a:gdLst>
              <a:ahLst/>
              <a:cxnLst>
                <a:cxn ang="T4">
                  <a:pos x="T0" y="T1"/>
                </a:cxn>
                <a:cxn ang="T5">
                  <a:pos x="T2" y="T3"/>
                </a:cxn>
              </a:cxnLst>
              <a:rect l="0" t="0" r="r" b="b"/>
              <a:pathLst>
                <a:path w="128" h="774">
                  <a:moveTo>
                    <a:pt x="67" y="774"/>
                  </a:moveTo>
                  <a:cubicBezTo>
                    <a:pt x="128" y="425"/>
                    <a:pt x="81" y="0"/>
                    <a:pt x="0"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57" name="Text Box 17">
              <a:extLst>
                <a:ext uri="{FF2B5EF4-FFF2-40B4-BE49-F238E27FC236}">
                  <a16:creationId xmlns:a16="http://schemas.microsoft.com/office/drawing/2014/main" id="{A50A3675-BB4B-2C49-9E0C-E3B6864FCDC4}"/>
                </a:ext>
              </a:extLst>
            </p:cNvPr>
            <p:cNvSpPr txBox="1">
              <a:spLocks noChangeArrowheads="1"/>
            </p:cNvSpPr>
            <p:nvPr/>
          </p:nvSpPr>
          <p:spPr bwMode="auto">
            <a:xfrm>
              <a:off x="3838" y="2051"/>
              <a:ext cx="15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rdt_rcv(rcvpkt)   </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&amp;&amp; notcorrupt(rcvpkt) </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&amp;&amp; </a:t>
              </a:r>
              <a:r>
                <a:rPr lang="en-US" altLang="en-US" sz="1200" b="1" kern="0" dirty="0">
                  <a:solidFill>
                    <a:srgbClr val="FF0000"/>
                  </a:solidFill>
                  <a:latin typeface="Arial" panose="020B0604020202020204" pitchFamily="34" charset="0"/>
                </a:rPr>
                <a:t>isACK(rcvpkt,0)</a:t>
              </a:r>
              <a:r>
                <a:rPr lang="en-US" altLang="en-US" sz="750" kern="0" dirty="0">
                  <a:solidFill>
                    <a:srgbClr val="000000"/>
                  </a:solidFill>
                  <a:latin typeface="Arial" panose="020B0604020202020204" pitchFamily="34" charset="0"/>
                </a:rPr>
                <a:t> </a:t>
              </a:r>
              <a:endParaRPr lang="en-US" altLang="en-US" sz="1800" kern="0" dirty="0">
                <a:solidFill>
                  <a:srgbClr val="000000"/>
                </a:solidFill>
                <a:latin typeface="Times New Roman" panose="02020603050405020304" pitchFamily="18" charset="0"/>
              </a:endParaRPr>
            </a:p>
          </p:txBody>
        </p:sp>
        <p:sp>
          <p:nvSpPr>
            <p:cNvPr id="58" name="Line 18">
              <a:extLst>
                <a:ext uri="{FF2B5EF4-FFF2-40B4-BE49-F238E27FC236}">
                  <a16:creationId xmlns:a16="http://schemas.microsoft.com/office/drawing/2014/main" id="{398A4307-79FC-E54C-B8A4-CCE6DE226EAE}"/>
                </a:ext>
              </a:extLst>
            </p:cNvPr>
            <p:cNvSpPr>
              <a:spLocks noChangeShapeType="1"/>
            </p:cNvSpPr>
            <p:nvPr/>
          </p:nvSpPr>
          <p:spPr bwMode="auto">
            <a:xfrm>
              <a:off x="3894" y="2570"/>
              <a:ext cx="11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grpSp>
          <p:nvGrpSpPr>
            <p:cNvPr id="59" name="Group 19">
              <a:extLst>
                <a:ext uri="{FF2B5EF4-FFF2-40B4-BE49-F238E27FC236}">
                  <a16:creationId xmlns:a16="http://schemas.microsoft.com/office/drawing/2014/main" id="{C0094035-BD90-5741-A641-F8D8DD3C7B8B}"/>
                </a:ext>
              </a:extLst>
            </p:cNvPr>
            <p:cNvGrpSpPr>
              <a:grpSpLocks/>
            </p:cNvGrpSpPr>
            <p:nvPr/>
          </p:nvGrpSpPr>
          <p:grpSpPr bwMode="auto">
            <a:xfrm>
              <a:off x="3135" y="1365"/>
              <a:ext cx="669" cy="528"/>
              <a:chOff x="1441" y="2062"/>
              <a:chExt cx="669" cy="528"/>
            </a:xfrm>
          </p:grpSpPr>
          <p:sp>
            <p:nvSpPr>
              <p:cNvPr id="61" name="Oval 20">
                <a:extLst>
                  <a:ext uri="{FF2B5EF4-FFF2-40B4-BE49-F238E27FC236}">
                    <a16:creationId xmlns:a16="http://schemas.microsoft.com/office/drawing/2014/main" id="{86E2B18C-13F1-BA46-BE50-CDE79E0D47C8}"/>
                  </a:ext>
                </a:extLst>
              </p:cNvPr>
              <p:cNvSpPr>
                <a:spLocks noChangeArrowheads="1"/>
              </p:cNvSpPr>
              <p:nvPr/>
            </p:nvSpPr>
            <p:spPr bwMode="auto">
              <a:xfrm>
                <a:off x="1483" y="2062"/>
                <a:ext cx="578" cy="528"/>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62" name="Text Box 21">
                <a:extLst>
                  <a:ext uri="{FF2B5EF4-FFF2-40B4-BE49-F238E27FC236}">
                    <a16:creationId xmlns:a16="http://schemas.microsoft.com/office/drawing/2014/main" id="{26734C2A-3109-3D4C-BAB8-AB1B111CE996}"/>
                  </a:ext>
                </a:extLst>
              </p:cNvPr>
              <p:cNvSpPr txBox="1">
                <a:spLocks noChangeArrowheads="1"/>
              </p:cNvSpPr>
              <p:nvPr/>
            </p:nvSpPr>
            <p:spPr bwMode="auto">
              <a:xfrm>
                <a:off x="1441"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0</a:t>
                </a:r>
                <a:endParaRPr lang="en-US" altLang="en-US" sz="1050" kern="0" dirty="0">
                  <a:solidFill>
                    <a:srgbClr val="000000"/>
                  </a:solidFill>
                  <a:latin typeface="Times New Roman" panose="02020603050405020304" pitchFamily="18" charset="0"/>
                </a:endParaRPr>
              </a:p>
            </p:txBody>
          </p:sp>
        </p:grpSp>
        <p:sp>
          <p:nvSpPr>
            <p:cNvPr id="60" name="Text Box 22">
              <a:extLst>
                <a:ext uri="{FF2B5EF4-FFF2-40B4-BE49-F238E27FC236}">
                  <a16:creationId xmlns:a16="http://schemas.microsoft.com/office/drawing/2014/main" id="{A3A125D1-1D1E-2E4D-AE79-0DE766971E4B}"/>
                </a:ext>
              </a:extLst>
            </p:cNvPr>
            <p:cNvSpPr txBox="1">
              <a:spLocks noChangeArrowheads="1"/>
            </p:cNvSpPr>
            <p:nvPr/>
          </p:nvSpPr>
          <p:spPr bwMode="auto">
            <a:xfrm>
              <a:off x="2338" y="1810"/>
              <a:ext cx="984"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99"/>
                  </a:solidFill>
                </a:rPr>
                <a:t>sender FSM</a:t>
              </a:r>
            </a:p>
            <a:p>
              <a:pPr algn="ctr" defTabSz="685800" eaLnBrk="0" fontAlgn="base" hangingPunct="0">
                <a:spcBef>
                  <a:spcPct val="0"/>
                </a:spcBef>
                <a:spcAft>
                  <a:spcPct val="0"/>
                </a:spcAft>
                <a:defRPr/>
              </a:pPr>
              <a:r>
                <a:rPr lang="en-US" sz="1500" kern="0" dirty="0">
                  <a:solidFill>
                    <a:srgbClr val="000099"/>
                  </a:solidFill>
                </a:rPr>
                <a:t>fragment</a:t>
              </a:r>
            </a:p>
          </p:txBody>
        </p:sp>
      </p:grpSp>
      <p:sp>
        <p:nvSpPr>
          <p:cNvPr id="65" name="Line 23">
            <a:extLst>
              <a:ext uri="{FF2B5EF4-FFF2-40B4-BE49-F238E27FC236}">
                <a16:creationId xmlns:a16="http://schemas.microsoft.com/office/drawing/2014/main" id="{E71BBDED-78BE-4142-9E45-4E7E4B24FCA8}"/>
              </a:ext>
            </a:extLst>
          </p:cNvPr>
          <p:cNvSpPr>
            <a:spLocks noChangeShapeType="1"/>
          </p:cNvSpPr>
          <p:nvPr/>
        </p:nvSpPr>
        <p:spPr bwMode="auto">
          <a:xfrm>
            <a:off x="1484106" y="2769148"/>
            <a:ext cx="5912644" cy="2068116"/>
          </a:xfrm>
          <a:prstGeom prst="line">
            <a:avLst/>
          </a:prstGeom>
          <a:noFill/>
          <a:ln w="9525">
            <a:solidFill>
              <a:srgbClr val="00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nvGrpSpPr>
          <p:cNvPr id="66" name="Group 24">
            <a:extLst>
              <a:ext uri="{FF2B5EF4-FFF2-40B4-BE49-F238E27FC236}">
                <a16:creationId xmlns:a16="http://schemas.microsoft.com/office/drawing/2014/main" id="{2E138519-EBF4-3B44-AD97-E2407D82A043}"/>
              </a:ext>
            </a:extLst>
          </p:cNvPr>
          <p:cNvGrpSpPr>
            <a:grpSpLocks/>
          </p:cNvGrpSpPr>
          <p:nvPr/>
        </p:nvGrpSpPr>
        <p:grpSpPr bwMode="auto">
          <a:xfrm>
            <a:off x="985234" y="3684739"/>
            <a:ext cx="5425679" cy="1901428"/>
            <a:chOff x="0" y="2409"/>
            <a:chExt cx="4557" cy="1597"/>
          </a:xfrm>
        </p:grpSpPr>
        <p:sp>
          <p:nvSpPr>
            <p:cNvPr id="67" name="Text Box 25">
              <a:extLst>
                <a:ext uri="{FF2B5EF4-FFF2-40B4-BE49-F238E27FC236}">
                  <a16:creationId xmlns:a16="http://schemas.microsoft.com/office/drawing/2014/main" id="{C7F7CA42-D362-5647-A3B4-192876672E60}"/>
                </a:ext>
              </a:extLst>
            </p:cNvPr>
            <p:cNvSpPr txBox="1">
              <a:spLocks noChangeArrowheads="1"/>
            </p:cNvSpPr>
            <p:nvPr/>
          </p:nvSpPr>
          <p:spPr bwMode="auto">
            <a:xfrm>
              <a:off x="1849" y="3217"/>
              <a:ext cx="248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rdt_rcv(rcvpkt) &amp;&amp; notcorrupt(rcvpkt) </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  &amp;&amp; has_seq1(rcvpkt) </a:t>
              </a:r>
              <a:endParaRPr lang="en-US" altLang="en-US" sz="1200" kern="0" dirty="0">
                <a:solidFill>
                  <a:srgbClr val="000000"/>
                </a:solidFill>
                <a:latin typeface="Times New Roman" panose="02020603050405020304" pitchFamily="18" charset="0"/>
              </a:endParaRPr>
            </a:p>
          </p:txBody>
        </p:sp>
        <p:sp>
          <p:nvSpPr>
            <p:cNvPr id="68" name="Text Box 26">
              <a:extLst>
                <a:ext uri="{FF2B5EF4-FFF2-40B4-BE49-F238E27FC236}">
                  <a16:creationId xmlns:a16="http://schemas.microsoft.com/office/drawing/2014/main" id="{2AC2EAAE-2D47-A740-B364-15C85D65C9FB}"/>
                </a:ext>
              </a:extLst>
            </p:cNvPr>
            <p:cNvSpPr txBox="1">
              <a:spLocks noChangeArrowheads="1"/>
            </p:cNvSpPr>
            <p:nvPr/>
          </p:nvSpPr>
          <p:spPr bwMode="auto">
            <a:xfrm>
              <a:off x="1829" y="3568"/>
              <a:ext cx="263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extract(rcvpkt,data)</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deliver_data(data)</a:t>
              </a:r>
            </a:p>
            <a:p>
              <a:pPr defTabSz="685800" eaLnBrk="0" fontAlgn="base" hangingPunct="0">
                <a:spcBef>
                  <a:spcPct val="0"/>
                </a:spcBef>
                <a:spcAft>
                  <a:spcPct val="0"/>
                </a:spcAft>
                <a:defRPr/>
              </a:pPr>
              <a:r>
                <a:rPr lang="en-US" altLang="en-US" sz="1200" b="1" kern="0" dirty="0">
                  <a:solidFill>
                    <a:srgbClr val="FF0000"/>
                  </a:solidFill>
                  <a:latin typeface="Arial" panose="020B0604020202020204" pitchFamily="34" charset="0"/>
                </a:rPr>
                <a:t>sndpkt = make_pkt(ACK1, chksum)</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udt_send(sndpkt)</a:t>
              </a:r>
              <a:endParaRPr lang="en-US" altLang="en-US" sz="1200" kern="0" dirty="0">
                <a:solidFill>
                  <a:srgbClr val="000000"/>
                </a:solidFill>
                <a:latin typeface="Times New Roman" panose="02020603050405020304" pitchFamily="18" charset="0"/>
              </a:endParaRPr>
            </a:p>
          </p:txBody>
        </p:sp>
        <p:grpSp>
          <p:nvGrpSpPr>
            <p:cNvPr id="69" name="Group 27">
              <a:extLst>
                <a:ext uri="{FF2B5EF4-FFF2-40B4-BE49-F238E27FC236}">
                  <a16:creationId xmlns:a16="http://schemas.microsoft.com/office/drawing/2014/main" id="{D8482BD5-532F-3042-8803-E3C8BD739DC0}"/>
                </a:ext>
              </a:extLst>
            </p:cNvPr>
            <p:cNvGrpSpPr>
              <a:grpSpLocks/>
            </p:cNvGrpSpPr>
            <p:nvPr/>
          </p:nvGrpSpPr>
          <p:grpSpPr bwMode="auto">
            <a:xfrm>
              <a:off x="0" y="2409"/>
              <a:ext cx="3510" cy="1168"/>
              <a:chOff x="0" y="2409"/>
              <a:chExt cx="3510" cy="1168"/>
            </a:xfrm>
          </p:grpSpPr>
          <p:grpSp>
            <p:nvGrpSpPr>
              <p:cNvPr id="71" name="Group 28">
                <a:extLst>
                  <a:ext uri="{FF2B5EF4-FFF2-40B4-BE49-F238E27FC236}">
                    <a16:creationId xmlns:a16="http://schemas.microsoft.com/office/drawing/2014/main" id="{67FF8A8B-97EA-7D4F-A57C-A7614B5802ED}"/>
                  </a:ext>
                </a:extLst>
              </p:cNvPr>
              <p:cNvGrpSpPr>
                <a:grpSpLocks/>
              </p:cNvGrpSpPr>
              <p:nvPr/>
            </p:nvGrpSpPr>
            <p:grpSpPr bwMode="auto">
              <a:xfrm>
                <a:off x="1529" y="2687"/>
                <a:ext cx="534" cy="501"/>
                <a:chOff x="3570" y="3063"/>
                <a:chExt cx="534" cy="501"/>
              </a:xfrm>
            </p:grpSpPr>
            <p:sp>
              <p:nvSpPr>
                <p:cNvPr id="80" name="Oval 29">
                  <a:extLst>
                    <a:ext uri="{FF2B5EF4-FFF2-40B4-BE49-F238E27FC236}">
                      <a16:creationId xmlns:a16="http://schemas.microsoft.com/office/drawing/2014/main" id="{8D4E849D-9AF8-FC4F-B5E6-691ACC1951D1}"/>
                    </a:ext>
                  </a:extLst>
                </p:cNvPr>
                <p:cNvSpPr>
                  <a:spLocks noChangeArrowheads="1"/>
                </p:cNvSpPr>
                <p:nvPr/>
              </p:nvSpPr>
              <p:spPr bwMode="auto">
                <a:xfrm>
                  <a:off x="3570" y="3063"/>
                  <a:ext cx="534" cy="501"/>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81" name="Text Box 30">
                  <a:extLst>
                    <a:ext uri="{FF2B5EF4-FFF2-40B4-BE49-F238E27FC236}">
                      <a16:creationId xmlns:a16="http://schemas.microsoft.com/office/drawing/2014/main" id="{E4385747-A861-0E4B-AF7E-71CAF80ED148}"/>
                    </a:ext>
                  </a:extLst>
                </p:cNvPr>
                <p:cNvSpPr txBox="1">
                  <a:spLocks noChangeArrowheads="1"/>
                </p:cNvSpPr>
                <p:nvPr/>
              </p:nvSpPr>
              <p:spPr bwMode="auto">
                <a:xfrm>
                  <a:off x="3597" y="3085"/>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0 from below</a:t>
                  </a:r>
                  <a:endParaRPr lang="en-US" altLang="en-US" sz="1050" kern="0" dirty="0">
                    <a:solidFill>
                      <a:srgbClr val="000000"/>
                    </a:solidFill>
                    <a:latin typeface="Times New Roman" panose="02020603050405020304" pitchFamily="18" charset="0"/>
                  </a:endParaRPr>
                </a:p>
              </p:txBody>
            </p:sp>
          </p:grpSp>
          <p:sp>
            <p:nvSpPr>
              <p:cNvPr id="72" name="Freeform 31">
                <a:extLst>
                  <a:ext uri="{FF2B5EF4-FFF2-40B4-BE49-F238E27FC236}">
                    <a16:creationId xmlns:a16="http://schemas.microsoft.com/office/drawing/2014/main" id="{9115FE32-46F2-A847-8603-43A0C0E7C982}"/>
                  </a:ext>
                </a:extLst>
              </p:cNvPr>
              <p:cNvSpPr>
                <a:spLocks/>
              </p:cNvSpPr>
              <p:nvPr/>
            </p:nvSpPr>
            <p:spPr bwMode="auto">
              <a:xfrm>
                <a:off x="1925" y="2618"/>
                <a:ext cx="520" cy="117"/>
              </a:xfrm>
              <a:custGeom>
                <a:avLst/>
                <a:gdLst>
                  <a:gd name="T0" fmla="*/ 0 w 520"/>
                  <a:gd name="T1" fmla="*/ 117 h 117"/>
                  <a:gd name="T2" fmla="*/ 520 w 520"/>
                  <a:gd name="T3" fmla="*/ 17 h 117"/>
                  <a:gd name="T4" fmla="*/ 0 60000 65536"/>
                  <a:gd name="T5" fmla="*/ 0 60000 65536"/>
                </a:gdLst>
                <a:ahLst/>
                <a:cxnLst>
                  <a:cxn ang="T4">
                    <a:pos x="T0" y="T1"/>
                  </a:cxn>
                  <a:cxn ang="T5">
                    <a:pos x="T2" y="T3"/>
                  </a:cxn>
                </a:cxnLst>
                <a:rect l="0" t="0" r="r" b="b"/>
                <a:pathLst>
                  <a:path w="520" h="117">
                    <a:moveTo>
                      <a:pt x="0" y="117"/>
                    </a:moveTo>
                    <a:cubicBezTo>
                      <a:pt x="136" y="17"/>
                      <a:pt x="276" y="0"/>
                      <a:pt x="520" y="17"/>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73" name="Freeform 32">
                <a:extLst>
                  <a:ext uri="{FF2B5EF4-FFF2-40B4-BE49-F238E27FC236}">
                    <a16:creationId xmlns:a16="http://schemas.microsoft.com/office/drawing/2014/main" id="{A33629C7-E28A-5043-8973-73B06C05D8D9}"/>
                  </a:ext>
                </a:extLst>
              </p:cNvPr>
              <p:cNvSpPr>
                <a:spLocks/>
              </p:cNvSpPr>
              <p:nvPr/>
            </p:nvSpPr>
            <p:spPr bwMode="auto">
              <a:xfrm>
                <a:off x="1996" y="3125"/>
                <a:ext cx="1514" cy="130"/>
              </a:xfrm>
              <a:custGeom>
                <a:avLst/>
                <a:gdLst>
                  <a:gd name="T0" fmla="*/ 0 w 1514"/>
                  <a:gd name="T1" fmla="*/ 0 h 130"/>
                  <a:gd name="T2" fmla="*/ 1514 w 1514"/>
                  <a:gd name="T3" fmla="*/ 17 h 130"/>
                  <a:gd name="T4" fmla="*/ 0 60000 65536"/>
                  <a:gd name="T5" fmla="*/ 0 60000 65536"/>
                </a:gdLst>
                <a:ahLst/>
                <a:cxnLst>
                  <a:cxn ang="T4">
                    <a:pos x="T0" y="T1"/>
                  </a:cxn>
                  <a:cxn ang="T5">
                    <a:pos x="T2" y="T3"/>
                  </a:cxn>
                </a:cxnLst>
                <a:rect l="0" t="0" r="r" b="b"/>
                <a:pathLst>
                  <a:path w="1514" h="130">
                    <a:moveTo>
                      <a:pt x="0" y="0"/>
                    </a:moveTo>
                    <a:cubicBezTo>
                      <a:pt x="266" y="130"/>
                      <a:pt x="1322" y="113"/>
                      <a:pt x="1514" y="17"/>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74" name="Line 33">
                <a:extLst>
                  <a:ext uri="{FF2B5EF4-FFF2-40B4-BE49-F238E27FC236}">
                    <a16:creationId xmlns:a16="http://schemas.microsoft.com/office/drawing/2014/main" id="{7DAE0056-F522-6A47-87C1-BE5D09A7B6D3}"/>
                  </a:ext>
                </a:extLst>
              </p:cNvPr>
              <p:cNvSpPr>
                <a:spLocks noChangeShapeType="1"/>
              </p:cNvSpPr>
              <p:nvPr/>
            </p:nvSpPr>
            <p:spPr bwMode="auto">
              <a:xfrm>
                <a:off x="1919" y="3577"/>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75" name="Freeform 34">
                <a:extLst>
                  <a:ext uri="{FF2B5EF4-FFF2-40B4-BE49-F238E27FC236}">
                    <a16:creationId xmlns:a16="http://schemas.microsoft.com/office/drawing/2014/main" id="{D3183506-C985-AE4B-8786-2BF1733F19C1}"/>
                  </a:ext>
                </a:extLst>
              </p:cNvPr>
              <p:cNvSpPr>
                <a:spLocks/>
              </p:cNvSpPr>
              <p:nvPr/>
            </p:nvSpPr>
            <p:spPr bwMode="auto">
              <a:xfrm flipH="1">
                <a:off x="1237" y="2468"/>
                <a:ext cx="309" cy="856"/>
              </a:xfrm>
              <a:custGeom>
                <a:avLst/>
                <a:gdLst>
                  <a:gd name="T0" fmla="*/ 0 w 619"/>
                  <a:gd name="T1" fmla="*/ 0 h 1815"/>
                  <a:gd name="T2" fmla="*/ 0 w 619"/>
                  <a:gd name="T3" fmla="*/ 0 h 1815"/>
                  <a:gd name="T4" fmla="*/ 0 60000 65536"/>
                  <a:gd name="T5" fmla="*/ 0 60000 65536"/>
                </a:gdLst>
                <a:ahLst/>
                <a:cxnLst>
                  <a:cxn ang="T4">
                    <a:pos x="T0" y="T1"/>
                  </a:cxn>
                  <a:cxn ang="T5">
                    <a:pos x="T2" y="T3"/>
                  </a:cxn>
                </a:cxnLst>
                <a:rect l="0" t="0" r="r" b="b"/>
                <a:pathLst>
                  <a:path w="619" h="1815">
                    <a:moveTo>
                      <a:pt x="39" y="1136"/>
                    </a:moveTo>
                    <a:cubicBezTo>
                      <a:pt x="619" y="1815"/>
                      <a:pt x="484" y="0"/>
                      <a:pt x="0" y="77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76" name="Line 35">
                <a:extLst>
                  <a:ext uri="{FF2B5EF4-FFF2-40B4-BE49-F238E27FC236}">
                    <a16:creationId xmlns:a16="http://schemas.microsoft.com/office/drawing/2014/main" id="{3B7207C5-2DDB-A74F-9227-55920F12AA9A}"/>
                  </a:ext>
                </a:extLst>
              </p:cNvPr>
              <p:cNvSpPr>
                <a:spLocks noChangeShapeType="1"/>
              </p:cNvSpPr>
              <p:nvPr/>
            </p:nvSpPr>
            <p:spPr bwMode="auto">
              <a:xfrm>
                <a:off x="57" y="2936"/>
                <a:ext cx="1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kern="0" dirty="0">
                  <a:solidFill>
                    <a:srgbClr val="000000"/>
                  </a:solidFill>
                  <a:latin typeface="Tahoma" panose="020B0604030504040204" pitchFamily="34" charset="0"/>
                  <a:ea typeface="ＭＳ Ｐゴシック" panose="020B0600070205080204" pitchFamily="34" charset="-128"/>
                </a:endParaRPr>
              </a:p>
            </p:txBody>
          </p:sp>
          <p:sp>
            <p:nvSpPr>
              <p:cNvPr id="77" name="Text Box 36">
                <a:extLst>
                  <a:ext uri="{FF2B5EF4-FFF2-40B4-BE49-F238E27FC236}">
                    <a16:creationId xmlns:a16="http://schemas.microsoft.com/office/drawing/2014/main" id="{10D86368-959C-734B-8A29-22BE54E9BF11}"/>
                  </a:ext>
                </a:extLst>
              </p:cNvPr>
              <p:cNvSpPr txBox="1">
                <a:spLocks noChangeArrowheads="1"/>
              </p:cNvSpPr>
              <p:nvPr/>
            </p:nvSpPr>
            <p:spPr bwMode="auto">
              <a:xfrm>
                <a:off x="6" y="2409"/>
                <a:ext cx="1487"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rdt_rcv(rcvpkt) &amp;&amp; </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   (corrupt(rcvpkt) ||</a:t>
                </a:r>
              </a:p>
              <a:p>
                <a:pPr defTabSz="685800" eaLnBrk="0" fontAlgn="base" hangingPunct="0">
                  <a:spcBef>
                    <a:spcPct val="0"/>
                  </a:spcBef>
                  <a:spcAft>
                    <a:spcPct val="0"/>
                  </a:spcAft>
                  <a:defRPr/>
                </a:pPr>
                <a:r>
                  <a:rPr lang="en-US" altLang="en-US" sz="1200" kern="0" dirty="0">
                    <a:solidFill>
                      <a:srgbClr val="000000"/>
                    </a:solidFill>
                    <a:latin typeface="Arial" panose="020B0604020202020204" pitchFamily="34" charset="0"/>
                  </a:rPr>
                  <a:t>     </a:t>
                </a:r>
                <a:r>
                  <a:rPr lang="en-US" altLang="en-US" sz="1200" b="1" kern="0" dirty="0">
                    <a:solidFill>
                      <a:srgbClr val="FF0000"/>
                    </a:solidFill>
                    <a:latin typeface="Arial" panose="020B0604020202020204" pitchFamily="34" charset="0"/>
                  </a:rPr>
                  <a:t>has_seq1(rcvpkt))</a:t>
                </a:r>
                <a:endParaRPr lang="en-US" altLang="en-US" sz="1200" b="1" kern="0" dirty="0">
                  <a:solidFill>
                    <a:srgbClr val="FF0000"/>
                  </a:solidFill>
                  <a:latin typeface="Times New Roman" panose="02020603050405020304" pitchFamily="18" charset="0"/>
                </a:endParaRPr>
              </a:p>
            </p:txBody>
          </p:sp>
          <p:sp>
            <p:nvSpPr>
              <p:cNvPr id="78" name="Text Box 37">
                <a:extLst>
                  <a:ext uri="{FF2B5EF4-FFF2-40B4-BE49-F238E27FC236}">
                    <a16:creationId xmlns:a16="http://schemas.microsoft.com/office/drawing/2014/main" id="{18F09FB4-D9AF-AD4C-B898-09D2838B6D97}"/>
                  </a:ext>
                </a:extLst>
              </p:cNvPr>
              <p:cNvSpPr txBox="1">
                <a:spLocks noChangeArrowheads="1"/>
              </p:cNvSpPr>
              <p:nvPr/>
            </p:nvSpPr>
            <p:spPr bwMode="auto">
              <a:xfrm>
                <a:off x="0" y="2954"/>
                <a:ext cx="1284"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b="1" kern="0" dirty="0">
                    <a:solidFill>
                      <a:srgbClr val="FF0000"/>
                    </a:solidFill>
                    <a:latin typeface="Arial" panose="020B0604020202020204" pitchFamily="34" charset="0"/>
                  </a:rPr>
                  <a:t>udt_send(sndpkt)</a:t>
                </a:r>
                <a:endParaRPr lang="en-US" altLang="en-US" sz="1200" b="1" kern="0" dirty="0">
                  <a:solidFill>
                    <a:srgbClr val="FF0000"/>
                  </a:solidFill>
                  <a:latin typeface="Times New Roman" panose="02020603050405020304" pitchFamily="18" charset="0"/>
                </a:endParaRPr>
              </a:p>
            </p:txBody>
          </p:sp>
          <p:sp>
            <p:nvSpPr>
              <p:cNvPr id="79" name="Text Box 38">
                <a:extLst>
                  <a:ext uri="{FF2B5EF4-FFF2-40B4-BE49-F238E27FC236}">
                    <a16:creationId xmlns:a16="http://schemas.microsoft.com/office/drawing/2014/main" id="{E0B6922C-3192-A443-B72C-6BA385FDE71D}"/>
                  </a:ext>
                </a:extLst>
              </p:cNvPr>
              <p:cNvSpPr txBox="1">
                <a:spLocks noChangeArrowheads="1"/>
              </p:cNvSpPr>
              <p:nvPr/>
            </p:nvSpPr>
            <p:spPr bwMode="auto">
              <a:xfrm>
                <a:off x="2143" y="2709"/>
                <a:ext cx="1067" cy="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FF0000"/>
                    </a:solidFill>
                    <a:prstDash val="dash"/>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kern="0" dirty="0">
                    <a:solidFill>
                      <a:srgbClr val="000099"/>
                    </a:solidFill>
                  </a:rPr>
                  <a:t>receiver FSM</a:t>
                </a:r>
              </a:p>
              <a:p>
                <a:pPr algn="ctr" defTabSz="685800" eaLnBrk="0" fontAlgn="base" hangingPunct="0">
                  <a:spcBef>
                    <a:spcPct val="0"/>
                  </a:spcBef>
                  <a:spcAft>
                    <a:spcPct val="0"/>
                  </a:spcAft>
                  <a:defRPr/>
                </a:pPr>
                <a:r>
                  <a:rPr lang="en-US" sz="1500" kern="0" dirty="0">
                    <a:solidFill>
                      <a:srgbClr val="000099"/>
                    </a:solidFill>
                  </a:rPr>
                  <a:t>fragment</a:t>
                </a:r>
              </a:p>
            </p:txBody>
          </p:sp>
        </p:grpSp>
        <p:sp>
          <p:nvSpPr>
            <p:cNvPr id="70" name="Text Box 39">
              <a:extLst>
                <a:ext uri="{FF2B5EF4-FFF2-40B4-BE49-F238E27FC236}">
                  <a16:creationId xmlns:a16="http://schemas.microsoft.com/office/drawing/2014/main" id="{60BFA42A-F9D1-AB4D-86F4-23CB7F278388}"/>
                </a:ext>
              </a:extLst>
            </p:cNvPr>
            <p:cNvSpPr txBox="1">
              <a:spLocks noChangeArrowheads="1"/>
            </p:cNvSpPr>
            <p:nvPr/>
          </p:nvSpPr>
          <p:spPr bwMode="auto">
            <a:xfrm>
              <a:off x="4318" y="2585"/>
              <a:ext cx="23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00"/>
                  </a:solidFill>
                  <a:latin typeface="Symbol" charset="0"/>
                </a:rPr>
                <a:t>L</a:t>
              </a:r>
            </a:p>
          </p:txBody>
        </p:sp>
      </p:grpSp>
    </p:spTree>
    <p:extLst>
      <p:ext uri="{BB962C8B-B14F-4D97-AF65-F5344CB8AC3E}">
        <p14:creationId xmlns:p14="http://schemas.microsoft.com/office/powerpoint/2010/main" val="2033837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RDT3.0</a:t>
            </a:r>
            <a:endParaRPr lang="en-US" sz="3000" dirty="0"/>
          </a:p>
        </p:txBody>
      </p:sp>
      <p:sp>
        <p:nvSpPr>
          <p:cNvPr id="3" name="Content Placeholder 2">
            <a:extLst>
              <a:ext uri="{FF2B5EF4-FFF2-40B4-BE49-F238E27FC236}">
                <a16:creationId xmlns:a16="http://schemas.microsoft.com/office/drawing/2014/main" id="{C9A931B5-3F75-A411-BC4D-215E0932E942}"/>
              </a:ext>
            </a:extLst>
          </p:cNvPr>
          <p:cNvSpPr>
            <a:spLocks noGrp="1"/>
          </p:cNvSpPr>
          <p:nvPr>
            <p:ph idx="1"/>
          </p:nvPr>
        </p:nvSpPr>
        <p:spPr>
          <a:xfrm>
            <a:off x="628650" y="1256480"/>
            <a:ext cx="7886700" cy="579580"/>
          </a:xfrm>
        </p:spPr>
        <p:txBody>
          <a:bodyPr/>
          <a:lstStyle/>
          <a:p>
            <a:r>
              <a:rPr lang="en-US" dirty="0"/>
              <a:t>channels with errors </a:t>
            </a:r>
            <a:r>
              <a:rPr lang="en-US" i="1" dirty="0"/>
              <a:t>and</a:t>
            </a:r>
            <a:r>
              <a:rPr lang="en-US" dirty="0"/>
              <a:t> loss</a:t>
            </a:r>
          </a:p>
        </p:txBody>
      </p:sp>
      <p:sp>
        <p:nvSpPr>
          <p:cNvPr id="5" name="Slide Number Placeholder 2">
            <a:extLst>
              <a:ext uri="{FF2B5EF4-FFF2-40B4-BE49-F238E27FC236}">
                <a16:creationId xmlns:a16="http://schemas.microsoft.com/office/drawing/2014/main" id="{B81C8263-652B-B54F-A380-A9D05ECA037A}"/>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23</a:t>
            </a:fld>
            <a:endParaRPr lang="en-US" dirty="0">
              <a:solidFill>
                <a:prstClr val="white">
                  <a:lumMod val="50000"/>
                </a:prstClr>
              </a:solidFill>
              <a:latin typeface="Calibri" panose="020F0502020204030204"/>
            </a:endParaRPr>
          </a:p>
        </p:txBody>
      </p:sp>
      <p:sp>
        <p:nvSpPr>
          <p:cNvPr id="41" name="Rectangle 3">
            <a:extLst>
              <a:ext uri="{FF2B5EF4-FFF2-40B4-BE49-F238E27FC236}">
                <a16:creationId xmlns:a16="http://schemas.microsoft.com/office/drawing/2014/main" id="{55B826DE-FC00-8F40-8016-039FCFE597E4}"/>
              </a:ext>
            </a:extLst>
          </p:cNvPr>
          <p:cNvSpPr txBox="1">
            <a:spLocks noChangeArrowheads="1"/>
          </p:cNvSpPr>
          <p:nvPr/>
        </p:nvSpPr>
        <p:spPr>
          <a:xfrm>
            <a:off x="525619" y="1825580"/>
            <a:ext cx="7899924"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 indent="-9525" defTabSz="685800">
              <a:spcBef>
                <a:spcPts val="750"/>
              </a:spcBef>
              <a:buNone/>
              <a:defRPr/>
            </a:pPr>
            <a:r>
              <a:rPr lang="en-US" altLang="en-US" sz="2400" i="1" dirty="0">
                <a:solidFill>
                  <a:srgbClr val="CC0000"/>
                </a:solidFill>
                <a:latin typeface="Calibri" panose="020F0502020204030204"/>
                <a:ea typeface="ＭＳ Ｐゴシック" panose="020B0600070205080204" pitchFamily="34" charset="-128"/>
              </a:rPr>
              <a:t>New channel assumption:</a:t>
            </a:r>
            <a:r>
              <a:rPr lang="en-US" altLang="en-US" sz="2400" i="1" dirty="0">
                <a:solidFill>
                  <a:prstClr val="black"/>
                </a:solidFill>
                <a:latin typeface="Calibri" panose="020F0502020204030204"/>
                <a:ea typeface="ＭＳ Ｐゴシック" panose="020B0600070205080204" pitchFamily="34" charset="-128"/>
              </a:rPr>
              <a:t> </a:t>
            </a:r>
            <a:r>
              <a:rPr lang="en-US" altLang="en-US" sz="2400" dirty="0">
                <a:solidFill>
                  <a:prstClr val="black"/>
                </a:solidFill>
                <a:latin typeface="Calibri" panose="020F0502020204030204"/>
                <a:ea typeface="ＭＳ Ｐゴシック" panose="020B0600070205080204" pitchFamily="34" charset="-128"/>
              </a:rPr>
              <a:t>underlying channel can also </a:t>
            </a:r>
            <a:r>
              <a:rPr lang="en-US" altLang="en-US" sz="2400" i="1" dirty="0">
                <a:solidFill>
                  <a:prstClr val="black"/>
                </a:solidFill>
                <a:latin typeface="Calibri" panose="020F0502020204030204"/>
                <a:ea typeface="ＭＳ Ｐゴシック" panose="020B0600070205080204" pitchFamily="34" charset="-128"/>
              </a:rPr>
              <a:t>lose</a:t>
            </a:r>
            <a:r>
              <a:rPr lang="en-US" altLang="en-US" sz="2400" dirty="0">
                <a:solidFill>
                  <a:prstClr val="black"/>
                </a:solidFill>
                <a:latin typeface="Calibri" panose="020F0502020204030204"/>
                <a:ea typeface="ＭＳ Ｐゴシック" panose="020B0600070205080204" pitchFamily="34" charset="-128"/>
              </a:rPr>
              <a:t> packets (data, ACKs)</a:t>
            </a:r>
          </a:p>
          <a:p>
            <a:pPr marL="521494" lvl="1" indent="-173831"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rPr>
              <a:t>checksum, sequence #s, ACKs, retransmissions will be of help … but not quite enough</a:t>
            </a:r>
          </a:p>
        </p:txBody>
      </p:sp>
      <p:sp>
        <p:nvSpPr>
          <p:cNvPr id="4" name="TextBox 3">
            <a:extLst>
              <a:ext uri="{FF2B5EF4-FFF2-40B4-BE49-F238E27FC236}">
                <a16:creationId xmlns:a16="http://schemas.microsoft.com/office/drawing/2014/main" id="{96D30AFD-5483-8F4A-8353-70CF76EDD8F5}"/>
              </a:ext>
            </a:extLst>
          </p:cNvPr>
          <p:cNvSpPr txBox="1"/>
          <p:nvPr/>
        </p:nvSpPr>
        <p:spPr>
          <a:xfrm>
            <a:off x="1013793" y="3874679"/>
            <a:ext cx="7076660" cy="1015663"/>
          </a:xfrm>
          <a:prstGeom prst="rect">
            <a:avLst/>
          </a:prstGeom>
          <a:noFill/>
        </p:spPr>
        <p:txBody>
          <a:bodyPr wrap="square" rtlCol="0">
            <a:spAutoFit/>
          </a:bodyPr>
          <a:lstStyle/>
          <a:p>
            <a:pPr marL="435769" indent="-426244" algn="ctr" defTabSz="685800">
              <a:defRPr/>
            </a:pPr>
            <a:r>
              <a:rPr lang="en-US" sz="3000" i="1" dirty="0">
                <a:solidFill>
                  <a:srgbClr val="C00000"/>
                </a:solidFill>
                <a:latin typeface="Calibri" panose="020F0502020204030204"/>
              </a:rPr>
              <a:t>Q: </a:t>
            </a:r>
            <a:r>
              <a:rPr lang="en-US" sz="3000" dirty="0">
                <a:solidFill>
                  <a:prstClr val="black"/>
                </a:solidFill>
                <a:latin typeface="Calibri" panose="020F0502020204030204"/>
              </a:rPr>
              <a:t>How do </a:t>
            </a:r>
            <a:r>
              <a:rPr lang="en-US" sz="3000" i="1" dirty="0">
                <a:solidFill>
                  <a:prstClr val="black"/>
                </a:solidFill>
                <a:latin typeface="Calibri" panose="020F0502020204030204"/>
              </a:rPr>
              <a:t>humans</a:t>
            </a:r>
            <a:r>
              <a:rPr lang="en-US" sz="3000" dirty="0">
                <a:solidFill>
                  <a:prstClr val="black"/>
                </a:solidFill>
                <a:latin typeface="Calibri" panose="020F0502020204030204"/>
              </a:rPr>
              <a:t> handle lost sender-to-receiver words in conversation?</a:t>
            </a:r>
          </a:p>
        </p:txBody>
      </p:sp>
    </p:spTree>
    <p:extLst>
      <p:ext uri="{BB962C8B-B14F-4D97-AF65-F5344CB8AC3E}">
        <p14:creationId xmlns:p14="http://schemas.microsoft.com/office/powerpoint/2010/main" val="1411020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RDT3.0</a:t>
            </a:r>
            <a:endParaRPr lang="en-US" sz="3000" dirty="0"/>
          </a:p>
        </p:txBody>
      </p:sp>
      <p:sp>
        <p:nvSpPr>
          <p:cNvPr id="9" name="Slide Number Placeholder 2">
            <a:extLst>
              <a:ext uri="{FF2B5EF4-FFF2-40B4-BE49-F238E27FC236}">
                <a16:creationId xmlns:a16="http://schemas.microsoft.com/office/drawing/2014/main" id="{BA1AE1C8-34DA-8649-8588-05545644E513}"/>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24</a:t>
            </a:fld>
            <a:endParaRPr lang="en-US" dirty="0">
              <a:solidFill>
                <a:prstClr val="white">
                  <a:lumMod val="50000"/>
                </a:prstClr>
              </a:solidFill>
              <a:latin typeface="Calibri" panose="020F0502020204030204"/>
            </a:endParaRPr>
          </a:p>
        </p:txBody>
      </p:sp>
      <p:sp>
        <p:nvSpPr>
          <p:cNvPr id="42" name="Rectangle 4">
            <a:extLst>
              <a:ext uri="{FF2B5EF4-FFF2-40B4-BE49-F238E27FC236}">
                <a16:creationId xmlns:a16="http://schemas.microsoft.com/office/drawing/2014/main" id="{709A56B0-0263-BE46-AEA5-8771DC7625B6}"/>
              </a:ext>
            </a:extLst>
          </p:cNvPr>
          <p:cNvSpPr txBox="1">
            <a:spLocks noChangeArrowheads="1"/>
          </p:cNvSpPr>
          <p:nvPr/>
        </p:nvSpPr>
        <p:spPr>
          <a:xfrm>
            <a:off x="563336" y="1873877"/>
            <a:ext cx="8193494" cy="380603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525" indent="0" defTabSz="685800">
              <a:spcBef>
                <a:spcPts val="750"/>
              </a:spcBef>
              <a:buNone/>
              <a:defRPr/>
            </a:pPr>
            <a:r>
              <a:rPr lang="en-US" altLang="en-US" sz="2400" i="1" dirty="0">
                <a:solidFill>
                  <a:srgbClr val="CC0000"/>
                </a:solidFill>
                <a:latin typeface="Calibri" panose="020F0502020204030204"/>
                <a:ea typeface="ＭＳ Ｐゴシック" panose="020B0600070205080204" pitchFamily="34" charset="-128"/>
              </a:rPr>
              <a:t>Approach:</a:t>
            </a:r>
            <a:r>
              <a:rPr lang="en-US" altLang="en-US" sz="2400" i="1" dirty="0">
                <a:solidFill>
                  <a:prstClr val="black"/>
                </a:solidFill>
                <a:latin typeface="Calibri" panose="020F0502020204030204"/>
                <a:ea typeface="ＭＳ Ｐゴシック" panose="020B0600070205080204" pitchFamily="34" charset="-128"/>
              </a:rPr>
              <a:t> </a:t>
            </a:r>
            <a:r>
              <a:rPr lang="en-US" altLang="en-US" sz="2400" dirty="0">
                <a:solidFill>
                  <a:prstClr val="black"/>
                </a:solidFill>
                <a:latin typeface="Calibri" panose="020F0502020204030204"/>
                <a:ea typeface="ＭＳ Ｐゴシック" panose="020B0600070205080204" pitchFamily="34" charset="-128"/>
              </a:rPr>
              <a:t>sender waits </a:t>
            </a:r>
            <a:r>
              <a:rPr lang="en-US" altLang="ja-JP" sz="2400" dirty="0">
                <a:solidFill>
                  <a:prstClr val="black"/>
                </a:solidFill>
                <a:latin typeface="Calibri" panose="020F0502020204030204"/>
                <a:ea typeface="ＭＳ Ｐゴシック" panose="020B0600070205080204" pitchFamily="34" charset="-128"/>
              </a:rPr>
              <a:t>“reasonable” amount of time for ACK </a:t>
            </a:r>
          </a:p>
          <a:p>
            <a:pPr marL="304800" indent="-255985" defTabSz="685800">
              <a:lnSpc>
                <a:spcPct val="80000"/>
              </a:lnSpc>
              <a:spcBef>
                <a:spcPts val="900"/>
              </a:spcBef>
              <a:defRPr/>
            </a:pPr>
            <a:r>
              <a:rPr lang="en-US" altLang="en-US" sz="2400" dirty="0">
                <a:solidFill>
                  <a:prstClr val="black"/>
                </a:solidFill>
                <a:latin typeface="Calibri" panose="020F0502020204030204"/>
                <a:ea typeface="ＭＳ Ｐゴシック" panose="020B0600070205080204" pitchFamily="34" charset="-128"/>
              </a:rPr>
              <a:t>retransmits if no ACK received in this time</a:t>
            </a:r>
          </a:p>
          <a:p>
            <a:pPr marL="304800" indent="-255985" defTabSz="685800">
              <a:lnSpc>
                <a:spcPct val="70000"/>
              </a:lnSpc>
              <a:spcBef>
                <a:spcPts val="900"/>
              </a:spcBef>
              <a:defRPr/>
            </a:pPr>
            <a:r>
              <a:rPr lang="en-US" altLang="en-US" sz="2400" dirty="0">
                <a:solidFill>
                  <a:prstClr val="black"/>
                </a:solidFill>
                <a:latin typeface="Calibri" panose="020F0502020204030204"/>
                <a:ea typeface="ＭＳ Ｐゴシック" panose="020B0600070205080204" pitchFamily="34" charset="-128"/>
              </a:rPr>
              <a:t>if pkt (or ACK) just delayed (not lost):</a:t>
            </a:r>
          </a:p>
          <a:p>
            <a:pPr marL="560785" lvl="2" indent="-280988" defTabSz="685800">
              <a:spcBef>
                <a:spcPts val="900"/>
              </a:spcBef>
              <a:buClr>
                <a:srgbClr val="0000A8"/>
              </a:buClr>
              <a:defRPr/>
            </a:pPr>
            <a:r>
              <a:rPr lang="en-US" altLang="en-US" sz="2100" dirty="0">
                <a:solidFill>
                  <a:prstClr val="black"/>
                </a:solidFill>
                <a:latin typeface="Calibri" panose="020F0502020204030204"/>
                <a:ea typeface="ＭＳ Ｐゴシック" panose="020B0600070205080204" pitchFamily="34" charset="-128"/>
              </a:rPr>
              <a:t>retransmission will be  duplicate, but seq #</a:t>
            </a:r>
            <a:r>
              <a:rPr lang="en-US" altLang="ja-JP" sz="2100" dirty="0">
                <a:solidFill>
                  <a:prstClr val="black"/>
                </a:solidFill>
                <a:latin typeface="Calibri" panose="020F0502020204030204"/>
                <a:ea typeface="ＭＳ Ｐゴシック" panose="020B0600070205080204" pitchFamily="34" charset="-128"/>
              </a:rPr>
              <a:t>s already handles this!</a:t>
            </a:r>
          </a:p>
          <a:p>
            <a:pPr marL="560785" lvl="2" indent="-280988" defTabSz="685800">
              <a:spcBef>
                <a:spcPts val="900"/>
              </a:spcBef>
              <a:buClr>
                <a:srgbClr val="0000A8"/>
              </a:buClr>
              <a:defRPr/>
            </a:pPr>
            <a:r>
              <a:rPr lang="en-US" altLang="en-US" sz="2100" dirty="0">
                <a:solidFill>
                  <a:prstClr val="black"/>
                </a:solidFill>
                <a:latin typeface="Calibri" panose="020F0502020204030204"/>
                <a:ea typeface="ＭＳ Ｐゴシック" panose="020B0600070205080204" pitchFamily="34" charset="-128"/>
              </a:rPr>
              <a:t>receiver must specify seq # of packet being ACKed</a:t>
            </a:r>
          </a:p>
        </p:txBody>
      </p:sp>
      <p:grpSp>
        <p:nvGrpSpPr>
          <p:cNvPr id="3" name="Group 2">
            <a:extLst>
              <a:ext uri="{FF2B5EF4-FFF2-40B4-BE49-F238E27FC236}">
                <a16:creationId xmlns:a16="http://schemas.microsoft.com/office/drawing/2014/main" id="{67B4DB3B-FB87-7B42-8ADE-E098B4B1CDD9}"/>
              </a:ext>
            </a:extLst>
          </p:cNvPr>
          <p:cNvGrpSpPr/>
          <p:nvPr/>
        </p:nvGrpSpPr>
        <p:grpSpPr>
          <a:xfrm>
            <a:off x="2889491" y="4514850"/>
            <a:ext cx="2659403" cy="1428750"/>
            <a:chOff x="3667124" y="4359729"/>
            <a:chExt cx="3545871" cy="1905000"/>
          </a:xfrm>
        </p:grpSpPr>
        <p:pic>
          <p:nvPicPr>
            <p:cNvPr id="7170" name="Picture 2" descr="Image result for red alarm clock">
              <a:extLst>
                <a:ext uri="{FF2B5EF4-FFF2-40B4-BE49-F238E27FC236}">
                  <a16:creationId xmlns:a16="http://schemas.microsoft.com/office/drawing/2014/main" id="{78FD9079-5EFC-D744-A2EF-B55FD834CA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7124" y="4359729"/>
              <a:ext cx="3381375"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91">
              <a:extLst>
                <a:ext uri="{FF2B5EF4-FFF2-40B4-BE49-F238E27FC236}">
                  <a16:creationId xmlns:a16="http://schemas.microsoft.com/office/drawing/2014/main" id="{62219A32-C5B7-4A41-B560-B3B62A39F92F}"/>
                </a:ext>
              </a:extLst>
            </p:cNvPr>
            <p:cNvSpPr txBox="1">
              <a:spLocks noChangeArrowheads="1"/>
            </p:cNvSpPr>
            <p:nvPr/>
          </p:nvSpPr>
          <p:spPr bwMode="auto">
            <a:xfrm>
              <a:off x="5932303" y="4757576"/>
              <a:ext cx="1280692"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75000"/>
                </a:lnSpc>
                <a:spcBef>
                  <a:spcPct val="0"/>
                </a:spcBef>
                <a:spcAft>
                  <a:spcPct val="0"/>
                </a:spcAft>
                <a:defRPr/>
              </a:pPr>
              <a:r>
                <a:rPr lang="en-US" sz="1800" i="1" kern="0" dirty="0">
                  <a:solidFill>
                    <a:srgbClr val="C00000"/>
                  </a:solidFill>
                </a:rPr>
                <a:t>timeout</a:t>
              </a:r>
            </a:p>
          </p:txBody>
        </p:sp>
      </p:grpSp>
      <p:sp>
        <p:nvSpPr>
          <p:cNvPr id="10" name="Rectangle 4">
            <a:extLst>
              <a:ext uri="{FF2B5EF4-FFF2-40B4-BE49-F238E27FC236}">
                <a16:creationId xmlns:a16="http://schemas.microsoft.com/office/drawing/2014/main" id="{C21F0D09-350B-0D4B-B0F1-02B4E8F5DB35}"/>
              </a:ext>
            </a:extLst>
          </p:cNvPr>
          <p:cNvSpPr txBox="1">
            <a:spLocks noChangeArrowheads="1"/>
          </p:cNvSpPr>
          <p:nvPr/>
        </p:nvSpPr>
        <p:spPr>
          <a:xfrm>
            <a:off x="606465" y="3901636"/>
            <a:ext cx="8193494" cy="762302"/>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4800" indent="-255985" defTabSz="685800">
              <a:lnSpc>
                <a:spcPct val="100000"/>
              </a:lnSpc>
              <a:spcBef>
                <a:spcPts val="900"/>
              </a:spcBef>
              <a:defRPr/>
            </a:pPr>
            <a:r>
              <a:rPr lang="en-US" altLang="en-US" sz="2400" dirty="0">
                <a:solidFill>
                  <a:prstClr val="black"/>
                </a:solidFill>
                <a:latin typeface="Calibri" panose="020F0502020204030204"/>
                <a:ea typeface="ＭＳ Ｐゴシック" panose="020B0600070205080204" pitchFamily="34" charset="-128"/>
              </a:rPr>
              <a:t>use countdown timer to interrupt after “reasonable” amount of time</a:t>
            </a:r>
          </a:p>
        </p:txBody>
      </p:sp>
    </p:spTree>
    <p:extLst>
      <p:ext uri="{BB962C8B-B14F-4D97-AF65-F5344CB8AC3E}">
        <p14:creationId xmlns:p14="http://schemas.microsoft.com/office/powerpoint/2010/main" val="1126760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1999622" y="3659139"/>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3831683" y="5206357"/>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6079450" y="3819165"/>
            <a:ext cx="708422"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3579025" y="2323608"/>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RDT3.0</a:t>
            </a:r>
            <a:r>
              <a:rPr lang="en-US" dirty="0">
                <a:solidFill>
                  <a:prstClr val="black"/>
                </a:solidFill>
                <a:latin typeface="Calibri Light" panose="020F0302020204030204"/>
              </a:rPr>
              <a:t>: sender</a:t>
            </a:r>
          </a:p>
        </p:txBody>
      </p:sp>
      <p:sp>
        <p:nvSpPr>
          <p:cNvPr id="47" name="Slide Number Placeholder 2">
            <a:extLst>
              <a:ext uri="{FF2B5EF4-FFF2-40B4-BE49-F238E27FC236}">
                <a16:creationId xmlns:a16="http://schemas.microsoft.com/office/drawing/2014/main" id="{E51BA6D5-B9A8-EF43-ACE9-5217445FDC7F}"/>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25</a:t>
            </a:fld>
            <a:endParaRPr lang="en-US" dirty="0">
              <a:solidFill>
                <a:prstClr val="white">
                  <a:lumMod val="50000"/>
                </a:prstClr>
              </a:solidFill>
              <a:latin typeface="Calibri" panose="020F0502020204030204"/>
            </a:endParaRPr>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3366149" y="2085729"/>
            <a:ext cx="117872" cy="432197"/>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5324727" y="2495305"/>
            <a:ext cx="666750" cy="648890"/>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ACK0</a:t>
              </a:r>
              <a:endParaRPr lang="en-US" altLang="en-US" sz="1050" kern="0" dirty="0">
                <a:solidFill>
                  <a:srgbClr val="000000"/>
                </a:solidFill>
                <a:latin typeface="Times New Roman" panose="02020603050405020304" pitchFamily="18" charset="0"/>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3568555" y="1745211"/>
            <a:ext cx="2895600" cy="858440"/>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make_pkt(0, data, checksum)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5393784" y="3931198"/>
            <a:ext cx="891778" cy="638175"/>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call 1 from above</a:t>
              </a:r>
              <a:endParaRPr lang="en-US" altLang="en-US" sz="1050" kern="0" dirty="0">
                <a:solidFill>
                  <a:srgbClr val="000000"/>
                </a:solidFill>
                <a:latin typeface="Times New Roman" panose="02020603050405020304" pitchFamily="18" charset="0"/>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3791203" y="4481267"/>
            <a:ext cx="2583656" cy="778669"/>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make_pkt(1, data, checksum)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5893846" y="3041801"/>
            <a:ext cx="1732359" cy="888206"/>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notcorrupt(rcvpkt)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isACK(rcvpkt,0)</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1979071" y="3076329"/>
            <a:ext cx="1599954" cy="929877"/>
            <a:chOff x="2638761" y="2958772"/>
            <a:chExt cx="2133272"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9" y="3559178"/>
              <a:ext cx="1137909" cy="1409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2125335" cy="55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notcorrupt(rcvpkt)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isACK(rcvpkt,1)</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3118498" y="2528642"/>
            <a:ext cx="891779" cy="638175"/>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call 0 from above</a:t>
              </a:r>
              <a:endParaRPr lang="en-US" altLang="en-US" sz="1050" kern="0" dirty="0">
                <a:solidFill>
                  <a:srgbClr val="000000"/>
                </a:solidFill>
                <a:latin typeface="Times New Roman" panose="02020603050405020304" pitchFamily="18" charset="0"/>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3276852" y="3919292"/>
            <a:ext cx="666750" cy="648890"/>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ACK1</a:t>
              </a:r>
              <a:endParaRPr lang="en-US" altLang="en-US" sz="1050" kern="0" dirty="0">
                <a:solidFill>
                  <a:srgbClr val="000000"/>
                </a:solidFill>
                <a:latin typeface="Times New Roman" panose="02020603050405020304" pitchFamily="18" charset="0"/>
              </a:endParaRPr>
            </a:p>
          </p:txBody>
        </p:sp>
      </p:grpSp>
      <p:sp>
        <p:nvSpPr>
          <p:cNvPr id="3" name="Oval 2">
            <a:extLst>
              <a:ext uri="{FF2B5EF4-FFF2-40B4-BE49-F238E27FC236}">
                <a16:creationId xmlns:a16="http://schemas.microsoft.com/office/drawing/2014/main" id="{D28BBA62-6263-C843-B29E-56B49980762A}"/>
              </a:ext>
            </a:extLst>
          </p:cNvPr>
          <p:cNvSpPr/>
          <p:nvPr/>
        </p:nvSpPr>
        <p:spPr>
          <a:xfrm>
            <a:off x="2828925" y="2253344"/>
            <a:ext cx="3600450" cy="1151165"/>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2" name="Oval 121">
            <a:extLst>
              <a:ext uri="{FF2B5EF4-FFF2-40B4-BE49-F238E27FC236}">
                <a16:creationId xmlns:a16="http://schemas.microsoft.com/office/drawing/2014/main" id="{9E2FDDC8-8D96-114D-9DC7-646B2E492AD9}"/>
              </a:ext>
            </a:extLst>
          </p:cNvPr>
          <p:cNvSpPr/>
          <p:nvPr/>
        </p:nvSpPr>
        <p:spPr>
          <a:xfrm>
            <a:off x="2894240" y="3690259"/>
            <a:ext cx="3600450" cy="1151165"/>
          </a:xfrm>
          <a:prstGeom prst="ellipse">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6" name="Oval 5">
            <a:extLst>
              <a:ext uri="{FF2B5EF4-FFF2-40B4-BE49-F238E27FC236}">
                <a16:creationId xmlns:a16="http://schemas.microsoft.com/office/drawing/2014/main" id="{9D7B88F9-3891-3046-A064-B332A3527756}"/>
              </a:ext>
            </a:extLst>
          </p:cNvPr>
          <p:cNvSpPr/>
          <p:nvPr/>
        </p:nvSpPr>
        <p:spPr>
          <a:xfrm>
            <a:off x="3190875" y="2519379"/>
            <a:ext cx="714375" cy="65334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0" name="Oval 129">
            <a:extLst>
              <a:ext uri="{FF2B5EF4-FFF2-40B4-BE49-F238E27FC236}">
                <a16:creationId xmlns:a16="http://schemas.microsoft.com/office/drawing/2014/main" id="{622A35A9-A643-7C42-B044-B85FAF6A97F9}"/>
              </a:ext>
            </a:extLst>
          </p:cNvPr>
          <p:cNvSpPr/>
          <p:nvPr/>
        </p:nvSpPr>
        <p:spPr>
          <a:xfrm>
            <a:off x="5314950" y="2495550"/>
            <a:ext cx="685800" cy="65088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1" name="Oval 130">
            <a:extLst>
              <a:ext uri="{FF2B5EF4-FFF2-40B4-BE49-F238E27FC236}">
                <a16:creationId xmlns:a16="http://schemas.microsoft.com/office/drawing/2014/main" id="{29138640-D128-B549-B272-9634FBE0E919}"/>
              </a:ext>
            </a:extLst>
          </p:cNvPr>
          <p:cNvSpPr/>
          <p:nvPr/>
        </p:nvSpPr>
        <p:spPr>
          <a:xfrm>
            <a:off x="5476875" y="3933825"/>
            <a:ext cx="702494" cy="63817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2" name="Oval 131">
            <a:extLst>
              <a:ext uri="{FF2B5EF4-FFF2-40B4-BE49-F238E27FC236}">
                <a16:creationId xmlns:a16="http://schemas.microsoft.com/office/drawing/2014/main" id="{F8621F76-605F-FD4F-BBDF-20014AAFC358}"/>
              </a:ext>
            </a:extLst>
          </p:cNvPr>
          <p:cNvSpPr/>
          <p:nvPr/>
        </p:nvSpPr>
        <p:spPr>
          <a:xfrm>
            <a:off x="3267075" y="3910029"/>
            <a:ext cx="685800" cy="65722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3" name="Oval 132">
            <a:extLst>
              <a:ext uri="{FF2B5EF4-FFF2-40B4-BE49-F238E27FC236}">
                <a16:creationId xmlns:a16="http://schemas.microsoft.com/office/drawing/2014/main" id="{EC2E0DE7-1242-394F-B32C-D2097A456FDC}"/>
              </a:ext>
            </a:extLst>
          </p:cNvPr>
          <p:cNvSpPr/>
          <p:nvPr/>
        </p:nvSpPr>
        <p:spPr>
          <a:xfrm>
            <a:off x="3188494" y="2516998"/>
            <a:ext cx="714375" cy="65334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Tree>
    <p:extLst>
      <p:ext uri="{BB962C8B-B14F-4D97-AF65-F5344CB8AC3E}">
        <p14:creationId xmlns:p14="http://schemas.microsoft.com/office/powerpoint/2010/main" val="1832024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a:extLst>
              <a:ext uri="{FF2B5EF4-FFF2-40B4-BE49-F238E27FC236}">
                <a16:creationId xmlns:a16="http://schemas.microsoft.com/office/drawing/2014/main" id="{5C125732-5AF8-DA4B-817C-FBB3A5B32FC1}"/>
              </a:ext>
            </a:extLst>
          </p:cNvPr>
          <p:cNvSpPr/>
          <p:nvPr/>
        </p:nvSpPr>
        <p:spPr>
          <a:xfrm>
            <a:off x="1999622" y="3659139"/>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4" name="Rectangle 123">
            <a:extLst>
              <a:ext uri="{FF2B5EF4-FFF2-40B4-BE49-F238E27FC236}">
                <a16:creationId xmlns:a16="http://schemas.microsoft.com/office/drawing/2014/main" id="{0D8C866A-2C1E-EA49-9FEE-17BE0B5EB65D}"/>
              </a:ext>
            </a:extLst>
          </p:cNvPr>
          <p:cNvSpPr/>
          <p:nvPr/>
        </p:nvSpPr>
        <p:spPr>
          <a:xfrm>
            <a:off x="3831683" y="5206357"/>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3" name="Rectangle 122">
            <a:extLst>
              <a:ext uri="{FF2B5EF4-FFF2-40B4-BE49-F238E27FC236}">
                <a16:creationId xmlns:a16="http://schemas.microsoft.com/office/drawing/2014/main" id="{B8F8E4F3-FCCE-BB46-816F-BE18AA10AA87}"/>
              </a:ext>
            </a:extLst>
          </p:cNvPr>
          <p:cNvSpPr/>
          <p:nvPr/>
        </p:nvSpPr>
        <p:spPr>
          <a:xfrm>
            <a:off x="6079450" y="3819165"/>
            <a:ext cx="708422"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1" name="Rectangle 120">
            <a:extLst>
              <a:ext uri="{FF2B5EF4-FFF2-40B4-BE49-F238E27FC236}">
                <a16:creationId xmlns:a16="http://schemas.microsoft.com/office/drawing/2014/main" id="{DEEC5A2E-CAFB-BA43-A154-13F98FBF8642}"/>
              </a:ext>
            </a:extLst>
          </p:cNvPr>
          <p:cNvSpPr/>
          <p:nvPr/>
        </p:nvSpPr>
        <p:spPr>
          <a:xfrm>
            <a:off x="3579025" y="2323608"/>
            <a:ext cx="778065"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RDT3.0: sender</a:t>
            </a:r>
            <a:endParaRPr lang="en-US" dirty="0"/>
          </a:p>
        </p:txBody>
      </p:sp>
      <p:sp>
        <p:nvSpPr>
          <p:cNvPr id="119" name="Slide Number Placeholder 2">
            <a:extLst>
              <a:ext uri="{FF2B5EF4-FFF2-40B4-BE49-F238E27FC236}">
                <a16:creationId xmlns:a16="http://schemas.microsoft.com/office/drawing/2014/main" id="{7A5F6544-E291-2540-84CA-0893797A7FD8}"/>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26</a:t>
            </a:fld>
            <a:endParaRPr lang="en-US" dirty="0">
              <a:solidFill>
                <a:prstClr val="white">
                  <a:lumMod val="50000"/>
                </a:prstClr>
              </a:solidFill>
              <a:latin typeface="Calibri" panose="020F0502020204030204"/>
            </a:endParaRPr>
          </a:p>
        </p:txBody>
      </p:sp>
      <p:sp>
        <p:nvSpPr>
          <p:cNvPr id="64" name="Line 6">
            <a:extLst>
              <a:ext uri="{FF2B5EF4-FFF2-40B4-BE49-F238E27FC236}">
                <a16:creationId xmlns:a16="http://schemas.microsoft.com/office/drawing/2014/main" id="{78C37AB9-8D5F-A34A-A2BE-A05DFB4E8756}"/>
              </a:ext>
            </a:extLst>
          </p:cNvPr>
          <p:cNvSpPr>
            <a:spLocks noChangeShapeType="1"/>
          </p:cNvSpPr>
          <p:nvPr/>
        </p:nvSpPr>
        <p:spPr bwMode="auto">
          <a:xfrm>
            <a:off x="3366149" y="2085729"/>
            <a:ext cx="117872" cy="432197"/>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65" name="Group 7">
            <a:extLst>
              <a:ext uri="{FF2B5EF4-FFF2-40B4-BE49-F238E27FC236}">
                <a16:creationId xmlns:a16="http://schemas.microsoft.com/office/drawing/2014/main" id="{096872AC-5A50-874A-AB4F-3FB6FDD33CA8}"/>
              </a:ext>
            </a:extLst>
          </p:cNvPr>
          <p:cNvGrpSpPr>
            <a:grpSpLocks/>
          </p:cNvGrpSpPr>
          <p:nvPr/>
        </p:nvGrpSpPr>
        <p:grpSpPr bwMode="auto">
          <a:xfrm>
            <a:off x="5324727" y="2495305"/>
            <a:ext cx="666750" cy="648890"/>
            <a:chOff x="445" y="1273"/>
            <a:chExt cx="560" cy="545"/>
          </a:xfrm>
        </p:grpSpPr>
        <p:sp>
          <p:nvSpPr>
            <p:cNvPr id="66" name="Oval 8">
              <a:extLst>
                <a:ext uri="{FF2B5EF4-FFF2-40B4-BE49-F238E27FC236}">
                  <a16:creationId xmlns:a16="http://schemas.microsoft.com/office/drawing/2014/main" id="{E65B4A15-4BAC-CA4D-A49C-43B951682900}"/>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67" name="Text Box 9">
              <a:extLst>
                <a:ext uri="{FF2B5EF4-FFF2-40B4-BE49-F238E27FC236}">
                  <a16:creationId xmlns:a16="http://schemas.microsoft.com/office/drawing/2014/main" id="{26B25746-91F9-5D4A-8F0C-823F1140A003}"/>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ACK0</a:t>
              </a:r>
              <a:endParaRPr lang="en-US" altLang="en-US" sz="1050" kern="0" dirty="0">
                <a:solidFill>
                  <a:srgbClr val="000000"/>
                </a:solidFill>
                <a:latin typeface="Times New Roman" panose="02020603050405020304" pitchFamily="18" charset="0"/>
              </a:endParaRPr>
            </a:p>
          </p:txBody>
        </p:sp>
      </p:grpSp>
      <p:grpSp>
        <p:nvGrpSpPr>
          <p:cNvPr id="4" name="Group 3">
            <a:extLst>
              <a:ext uri="{FF2B5EF4-FFF2-40B4-BE49-F238E27FC236}">
                <a16:creationId xmlns:a16="http://schemas.microsoft.com/office/drawing/2014/main" id="{7F4D04D9-9A61-C546-9AF6-16658062604A}"/>
              </a:ext>
            </a:extLst>
          </p:cNvPr>
          <p:cNvGrpSpPr/>
          <p:nvPr/>
        </p:nvGrpSpPr>
        <p:grpSpPr>
          <a:xfrm>
            <a:off x="3568555" y="1745211"/>
            <a:ext cx="2895600" cy="858440"/>
            <a:chOff x="4758073" y="1183947"/>
            <a:chExt cx="3860800" cy="1144587"/>
          </a:xfrm>
        </p:grpSpPr>
        <p:sp>
          <p:nvSpPr>
            <p:cNvPr id="61" name="Text Box 3">
              <a:extLst>
                <a:ext uri="{FF2B5EF4-FFF2-40B4-BE49-F238E27FC236}">
                  <a16:creationId xmlns:a16="http://schemas.microsoft.com/office/drawing/2014/main" id="{277946DC-87AE-0E47-8DDD-C388A956445A}"/>
                </a:ext>
              </a:extLst>
            </p:cNvPr>
            <p:cNvSpPr txBox="1">
              <a:spLocks noChangeArrowheads="1"/>
            </p:cNvSpPr>
            <p:nvPr/>
          </p:nvSpPr>
          <p:spPr bwMode="auto">
            <a:xfrm>
              <a:off x="4758073" y="1477634"/>
              <a:ext cx="38608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make_pkt(0, data, checksum)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62" name="Text Box 4">
              <a:extLst>
                <a:ext uri="{FF2B5EF4-FFF2-40B4-BE49-F238E27FC236}">
                  <a16:creationId xmlns:a16="http://schemas.microsoft.com/office/drawing/2014/main" id="{11F4EC56-A6F5-A64D-95C8-7503733BD178}"/>
                </a:ext>
              </a:extLst>
            </p:cNvPr>
            <p:cNvSpPr txBox="1">
              <a:spLocks noChangeArrowheads="1"/>
            </p:cNvSpPr>
            <p:nvPr/>
          </p:nvSpPr>
          <p:spPr bwMode="auto">
            <a:xfrm>
              <a:off x="4799348" y="1183947"/>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63" name="Line 5">
              <a:extLst>
                <a:ext uri="{FF2B5EF4-FFF2-40B4-BE49-F238E27FC236}">
                  <a16:creationId xmlns:a16="http://schemas.microsoft.com/office/drawing/2014/main" id="{C1AF7291-871C-F046-AFBB-1556BBAC481A}"/>
                </a:ext>
              </a:extLst>
            </p:cNvPr>
            <p:cNvSpPr>
              <a:spLocks noChangeShapeType="1"/>
            </p:cNvSpPr>
            <p:nvPr/>
          </p:nvSpPr>
          <p:spPr bwMode="auto">
            <a:xfrm>
              <a:off x="4900948" y="15220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68" name="Freeform 10">
              <a:extLst>
                <a:ext uri="{FF2B5EF4-FFF2-40B4-BE49-F238E27FC236}">
                  <a16:creationId xmlns:a16="http://schemas.microsoft.com/office/drawing/2014/main" id="{8CEC024B-C97C-A74A-9916-3EDFFAAB7369}"/>
                </a:ext>
              </a:extLst>
            </p:cNvPr>
            <p:cNvSpPr>
              <a:spLocks/>
            </p:cNvSpPr>
            <p:nvPr/>
          </p:nvSpPr>
          <p:spPr bwMode="auto">
            <a:xfrm flipV="1">
              <a:off x="5123198" y="2165022"/>
              <a:ext cx="2090738" cy="16351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72" name="Group 14">
            <a:extLst>
              <a:ext uri="{FF2B5EF4-FFF2-40B4-BE49-F238E27FC236}">
                <a16:creationId xmlns:a16="http://schemas.microsoft.com/office/drawing/2014/main" id="{56EFCAB8-B7AF-164A-9F92-8EACFBDEB179}"/>
              </a:ext>
            </a:extLst>
          </p:cNvPr>
          <p:cNvGrpSpPr>
            <a:grpSpLocks/>
          </p:cNvGrpSpPr>
          <p:nvPr/>
        </p:nvGrpSpPr>
        <p:grpSpPr bwMode="auto">
          <a:xfrm>
            <a:off x="5393784" y="3931198"/>
            <a:ext cx="891778" cy="638175"/>
            <a:chOff x="4090" y="3230"/>
            <a:chExt cx="749" cy="536"/>
          </a:xfrm>
        </p:grpSpPr>
        <p:sp>
          <p:nvSpPr>
            <p:cNvPr id="73" name="Oval 15">
              <a:extLst>
                <a:ext uri="{FF2B5EF4-FFF2-40B4-BE49-F238E27FC236}">
                  <a16:creationId xmlns:a16="http://schemas.microsoft.com/office/drawing/2014/main" id="{FA80C9CA-4B40-8840-B931-9FF9ACFD24EF}"/>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74" name="Text Box 16">
              <a:extLst>
                <a:ext uri="{FF2B5EF4-FFF2-40B4-BE49-F238E27FC236}">
                  <a16:creationId xmlns:a16="http://schemas.microsoft.com/office/drawing/2014/main" id="{521CFB86-2E9D-B149-847B-A167F4F8FCE1}"/>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call 1 from above</a:t>
              </a:r>
              <a:endParaRPr lang="en-US" altLang="en-US" sz="1050" kern="0" dirty="0">
                <a:solidFill>
                  <a:srgbClr val="000000"/>
                </a:solidFill>
                <a:latin typeface="Times New Roman" panose="02020603050405020304" pitchFamily="18" charset="0"/>
              </a:endParaRPr>
            </a:p>
          </p:txBody>
        </p:sp>
      </p:grpSp>
      <p:grpSp>
        <p:nvGrpSpPr>
          <p:cNvPr id="114" name="Group 113">
            <a:extLst>
              <a:ext uri="{FF2B5EF4-FFF2-40B4-BE49-F238E27FC236}">
                <a16:creationId xmlns:a16="http://schemas.microsoft.com/office/drawing/2014/main" id="{40684A0E-9037-EB45-9EB8-86695DBF36A9}"/>
              </a:ext>
            </a:extLst>
          </p:cNvPr>
          <p:cNvGrpSpPr/>
          <p:nvPr/>
        </p:nvGrpSpPr>
        <p:grpSpPr>
          <a:xfrm>
            <a:off x="3791203" y="4481267"/>
            <a:ext cx="2583656" cy="778669"/>
            <a:chOff x="5054936" y="4832022"/>
            <a:chExt cx="3444875" cy="1038225"/>
          </a:xfrm>
        </p:grpSpPr>
        <p:sp>
          <p:nvSpPr>
            <p:cNvPr id="76" name="Freeform 18">
              <a:extLst>
                <a:ext uri="{FF2B5EF4-FFF2-40B4-BE49-F238E27FC236}">
                  <a16:creationId xmlns:a16="http://schemas.microsoft.com/office/drawing/2014/main" id="{6F223C64-6D09-DE48-83F1-228C34DA64FA}"/>
                </a:ext>
              </a:extLst>
            </p:cNvPr>
            <p:cNvSpPr>
              <a:spLocks/>
            </p:cNvSpPr>
            <p:nvPr/>
          </p:nvSpPr>
          <p:spPr bwMode="auto">
            <a:xfrm>
              <a:off x="5108911" y="4832022"/>
              <a:ext cx="2312987" cy="27463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78" name="Text Box 20">
              <a:extLst>
                <a:ext uri="{FF2B5EF4-FFF2-40B4-BE49-F238E27FC236}">
                  <a16:creationId xmlns:a16="http://schemas.microsoft.com/office/drawing/2014/main" id="{5C35E95A-ADB2-FF4D-BCD2-C9D9EABE9C6B}"/>
                </a:ext>
              </a:extLst>
            </p:cNvPr>
            <p:cNvSpPr txBox="1">
              <a:spLocks noChangeArrowheads="1"/>
            </p:cNvSpPr>
            <p:nvPr/>
          </p:nvSpPr>
          <p:spPr bwMode="auto">
            <a:xfrm>
              <a:off x="5054936" y="5317797"/>
              <a:ext cx="344487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sndpkt = make_pkt(1, data, checksum)</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79" name="Text Box 21">
              <a:extLst>
                <a:ext uri="{FF2B5EF4-FFF2-40B4-BE49-F238E27FC236}">
                  <a16:creationId xmlns:a16="http://schemas.microsoft.com/office/drawing/2014/main" id="{E55E1DDD-DB30-5446-8650-ECC81FF923ED}"/>
                </a:ext>
              </a:extLst>
            </p:cNvPr>
            <p:cNvSpPr txBox="1">
              <a:spLocks noChangeArrowheads="1"/>
            </p:cNvSpPr>
            <p:nvPr/>
          </p:nvSpPr>
          <p:spPr bwMode="auto">
            <a:xfrm>
              <a:off x="5054936" y="5035222"/>
              <a:ext cx="1724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rdt_send(data)</a:t>
              </a:r>
              <a:endParaRPr lang="en-US" altLang="en-US" sz="1050" dirty="0">
                <a:solidFill>
                  <a:srgbClr val="000000"/>
                </a:solidFill>
                <a:latin typeface="Times New Roman" panose="02020603050405020304" pitchFamily="18" charset="0"/>
              </a:endParaRPr>
            </a:p>
          </p:txBody>
        </p:sp>
        <p:sp>
          <p:nvSpPr>
            <p:cNvPr id="80" name="Line 22">
              <a:extLst>
                <a:ext uri="{FF2B5EF4-FFF2-40B4-BE49-F238E27FC236}">
                  <a16:creationId xmlns:a16="http://schemas.microsoft.com/office/drawing/2014/main" id="{38F0E084-BD34-6345-8EFC-9B28222C5D7D}"/>
                </a:ext>
              </a:extLst>
            </p:cNvPr>
            <p:cNvSpPr>
              <a:spLocks noChangeShapeType="1"/>
            </p:cNvSpPr>
            <p:nvPr/>
          </p:nvSpPr>
          <p:spPr bwMode="auto">
            <a:xfrm>
              <a:off x="5173998" y="5346372"/>
              <a:ext cx="25987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5" name="Group 4">
            <a:extLst>
              <a:ext uri="{FF2B5EF4-FFF2-40B4-BE49-F238E27FC236}">
                <a16:creationId xmlns:a16="http://schemas.microsoft.com/office/drawing/2014/main" id="{D0E17AB3-A37A-384E-B76C-D9D33C764FEC}"/>
              </a:ext>
            </a:extLst>
          </p:cNvPr>
          <p:cNvGrpSpPr/>
          <p:nvPr/>
        </p:nvGrpSpPr>
        <p:grpSpPr>
          <a:xfrm>
            <a:off x="5893846" y="3041801"/>
            <a:ext cx="1732359" cy="888206"/>
            <a:chOff x="7858461" y="2912734"/>
            <a:chExt cx="2309812" cy="1184275"/>
          </a:xfrm>
        </p:grpSpPr>
        <p:sp>
          <p:nvSpPr>
            <p:cNvPr id="77" name="Freeform 19">
              <a:extLst>
                <a:ext uri="{FF2B5EF4-FFF2-40B4-BE49-F238E27FC236}">
                  <a16:creationId xmlns:a16="http://schemas.microsoft.com/office/drawing/2014/main" id="{3DDB81C2-3ABA-CF4A-B97F-7179552BC636}"/>
                </a:ext>
              </a:extLst>
            </p:cNvPr>
            <p:cNvSpPr>
              <a:spLocks/>
            </p:cNvSpPr>
            <p:nvPr/>
          </p:nvSpPr>
          <p:spPr bwMode="auto">
            <a:xfrm rot="5400000" flipH="1" flipV="1">
              <a:off x="7349667" y="3421528"/>
              <a:ext cx="1184275" cy="16668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1" name="Text Box 23">
              <a:extLst>
                <a:ext uri="{FF2B5EF4-FFF2-40B4-BE49-F238E27FC236}">
                  <a16:creationId xmlns:a16="http://schemas.microsoft.com/office/drawing/2014/main" id="{B3A5B058-CEE3-154A-8B9F-81FE6436B20E}"/>
                </a:ext>
              </a:extLst>
            </p:cNvPr>
            <p:cNvSpPr txBox="1">
              <a:spLocks noChangeArrowheads="1"/>
            </p:cNvSpPr>
            <p:nvPr/>
          </p:nvSpPr>
          <p:spPr bwMode="auto">
            <a:xfrm>
              <a:off x="8018798" y="3200072"/>
              <a:ext cx="21494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notcorrupt(rcvpkt)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isACK(rcvpkt,0)</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2" name="Line 24">
              <a:extLst>
                <a:ext uri="{FF2B5EF4-FFF2-40B4-BE49-F238E27FC236}">
                  <a16:creationId xmlns:a16="http://schemas.microsoft.com/office/drawing/2014/main" id="{6F172C79-50B4-9346-A88A-5975F73431A8}"/>
                </a:ext>
              </a:extLst>
            </p:cNvPr>
            <p:cNvSpPr>
              <a:spLocks noChangeShapeType="1"/>
            </p:cNvSpPr>
            <p:nvPr/>
          </p:nvSpPr>
          <p:spPr bwMode="auto">
            <a:xfrm>
              <a:off x="8134686" y="3911272"/>
              <a:ext cx="14192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7" name="Text Box 29">
              <a:extLst>
                <a:ext uri="{FF2B5EF4-FFF2-40B4-BE49-F238E27FC236}">
                  <a16:creationId xmlns:a16="http://schemas.microsoft.com/office/drawing/2014/main" id="{31338CB6-A233-944E-8AAB-06740429CED4}"/>
                </a:ext>
              </a:extLst>
            </p:cNvPr>
            <p:cNvSpPr txBox="1">
              <a:spLocks noChangeArrowheads="1"/>
            </p:cNvSpPr>
            <p:nvPr/>
          </p:nvSpPr>
          <p:spPr bwMode="auto">
            <a:xfrm>
              <a:off x="8039436" y="3892222"/>
              <a:ext cx="15144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115" name="Group 114">
            <a:extLst>
              <a:ext uri="{FF2B5EF4-FFF2-40B4-BE49-F238E27FC236}">
                <a16:creationId xmlns:a16="http://schemas.microsoft.com/office/drawing/2014/main" id="{264EE58C-9293-D64B-8FD5-BF4EEDF9C767}"/>
              </a:ext>
            </a:extLst>
          </p:cNvPr>
          <p:cNvGrpSpPr/>
          <p:nvPr/>
        </p:nvGrpSpPr>
        <p:grpSpPr>
          <a:xfrm>
            <a:off x="1979071" y="3076329"/>
            <a:ext cx="1696640" cy="929877"/>
            <a:chOff x="2638761" y="2958772"/>
            <a:chExt cx="1945938" cy="1239836"/>
          </a:xfrm>
        </p:grpSpPr>
        <p:sp>
          <p:nvSpPr>
            <p:cNvPr id="75" name="Freeform 17">
              <a:extLst>
                <a:ext uri="{FF2B5EF4-FFF2-40B4-BE49-F238E27FC236}">
                  <a16:creationId xmlns:a16="http://schemas.microsoft.com/office/drawing/2014/main" id="{2F184C7E-A563-7E48-B933-43517ECFB8AD}"/>
                </a:ext>
              </a:extLst>
            </p:cNvPr>
            <p:cNvSpPr>
              <a:spLocks/>
            </p:cNvSpPr>
            <p:nvPr/>
          </p:nvSpPr>
          <p:spPr bwMode="auto">
            <a:xfrm rot="16200000" flipV="1">
              <a:off x="3932568" y="3546478"/>
              <a:ext cx="1150609" cy="153652"/>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5" name="Text Box 27">
              <a:extLst>
                <a:ext uri="{FF2B5EF4-FFF2-40B4-BE49-F238E27FC236}">
                  <a16:creationId xmlns:a16="http://schemas.microsoft.com/office/drawing/2014/main" id="{85546939-74F9-DE48-94D4-5CDE532CF8B4}"/>
                </a:ext>
              </a:extLst>
            </p:cNvPr>
            <p:cNvSpPr txBox="1">
              <a:spLocks noChangeArrowheads="1"/>
            </p:cNvSpPr>
            <p:nvPr/>
          </p:nvSpPr>
          <p:spPr bwMode="auto">
            <a:xfrm>
              <a:off x="2646698" y="2958772"/>
              <a:ext cx="1912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notcorrupt(rcvpkt)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&amp;&amp; isACK(rcvpkt,1)</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86" name="Line 28">
              <a:extLst>
                <a:ext uri="{FF2B5EF4-FFF2-40B4-BE49-F238E27FC236}">
                  <a16:creationId xmlns:a16="http://schemas.microsoft.com/office/drawing/2014/main" id="{8CA33983-E9A1-BF42-B982-07F0B1E94A02}"/>
                </a:ext>
              </a:extLst>
            </p:cNvPr>
            <p:cNvSpPr>
              <a:spLocks noChangeShapeType="1"/>
            </p:cNvSpPr>
            <p:nvPr/>
          </p:nvSpPr>
          <p:spPr bwMode="auto">
            <a:xfrm>
              <a:off x="2773698" y="3698547"/>
              <a:ext cx="15176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88" name="Text Box 30">
              <a:extLst>
                <a:ext uri="{FF2B5EF4-FFF2-40B4-BE49-F238E27FC236}">
                  <a16:creationId xmlns:a16="http://schemas.microsoft.com/office/drawing/2014/main" id="{C524B67B-7041-9242-9C97-B8A784A8F6F2}"/>
                </a:ext>
              </a:extLst>
            </p:cNvPr>
            <p:cNvSpPr txBox="1">
              <a:spLocks noChangeArrowheads="1"/>
            </p:cNvSpPr>
            <p:nvPr/>
          </p:nvSpPr>
          <p:spPr bwMode="auto">
            <a:xfrm>
              <a:off x="2638761" y="3671559"/>
              <a:ext cx="1514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stop_timer</a:t>
              </a:r>
              <a:endParaRPr lang="en-US" altLang="en-US" sz="1050" dirty="0">
                <a:solidFill>
                  <a:srgbClr val="000000"/>
                </a:solidFill>
                <a:latin typeface="Times New Roman" panose="02020603050405020304" pitchFamily="18" charset="0"/>
              </a:endParaRPr>
            </a:p>
          </p:txBody>
        </p:sp>
      </p:grpSp>
      <p:grpSp>
        <p:nvGrpSpPr>
          <p:cNvPr id="6" name="Group 5">
            <a:extLst>
              <a:ext uri="{FF2B5EF4-FFF2-40B4-BE49-F238E27FC236}">
                <a16:creationId xmlns:a16="http://schemas.microsoft.com/office/drawing/2014/main" id="{9E1668F5-8EFC-FD4A-B0AD-080420B8D736}"/>
              </a:ext>
            </a:extLst>
          </p:cNvPr>
          <p:cNvGrpSpPr/>
          <p:nvPr/>
        </p:nvGrpSpPr>
        <p:grpSpPr>
          <a:xfrm>
            <a:off x="5983143" y="2636989"/>
            <a:ext cx="1835944" cy="556022"/>
            <a:chOff x="7977523" y="2372984"/>
            <a:chExt cx="2447925" cy="741363"/>
          </a:xfrm>
        </p:grpSpPr>
        <p:sp>
          <p:nvSpPr>
            <p:cNvPr id="128" name="Rectangle 127">
              <a:extLst>
                <a:ext uri="{FF2B5EF4-FFF2-40B4-BE49-F238E27FC236}">
                  <a16:creationId xmlns:a16="http://schemas.microsoft.com/office/drawing/2014/main" id="{EB74E396-3DA3-0D47-9600-2A508F79F4AE}"/>
                </a:ext>
              </a:extLst>
            </p:cNvPr>
            <p:cNvSpPr/>
            <p:nvPr/>
          </p:nvSpPr>
          <p:spPr>
            <a:xfrm>
              <a:off x="8369605" y="2404148"/>
              <a:ext cx="73251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7" name="Rectangle 126">
              <a:extLst>
                <a:ext uri="{FF2B5EF4-FFF2-40B4-BE49-F238E27FC236}">
                  <a16:creationId xmlns:a16="http://schemas.microsoft.com/office/drawing/2014/main" id="{99D5058F-6374-D346-BFD4-860774A23D0C}"/>
                </a:ext>
              </a:extLst>
            </p:cNvPr>
            <p:cNvSpPr/>
            <p:nvPr/>
          </p:nvSpPr>
          <p:spPr>
            <a:xfrm>
              <a:off x="8358054" y="2870582"/>
              <a:ext cx="1037420"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grpSp>
          <p:nvGrpSpPr>
            <p:cNvPr id="117" name="Group 116">
              <a:extLst>
                <a:ext uri="{FF2B5EF4-FFF2-40B4-BE49-F238E27FC236}">
                  <a16:creationId xmlns:a16="http://schemas.microsoft.com/office/drawing/2014/main" id="{6733C237-E2DA-D542-90DF-04CF6DA2943C}"/>
                </a:ext>
              </a:extLst>
            </p:cNvPr>
            <p:cNvGrpSpPr/>
            <p:nvPr/>
          </p:nvGrpSpPr>
          <p:grpSpPr>
            <a:xfrm>
              <a:off x="7977523" y="2372984"/>
              <a:ext cx="2447925" cy="741363"/>
              <a:chOff x="7977523" y="2372984"/>
              <a:chExt cx="2447925" cy="741363"/>
            </a:xfrm>
          </p:grpSpPr>
          <p:sp>
            <p:nvSpPr>
              <p:cNvPr id="89" name="Freeform 31">
                <a:extLst>
                  <a:ext uri="{FF2B5EF4-FFF2-40B4-BE49-F238E27FC236}">
                    <a16:creationId xmlns:a16="http://schemas.microsoft.com/office/drawing/2014/main" id="{A8AA3B66-8A2A-3B49-946B-88E9E731F96B}"/>
                  </a:ext>
                </a:extLst>
              </p:cNvPr>
              <p:cNvSpPr>
                <a:spLocks/>
              </p:cNvSpPr>
              <p:nvPr/>
            </p:nvSpPr>
            <p:spPr bwMode="auto">
              <a:xfrm>
                <a:off x="7977523" y="2431722"/>
                <a:ext cx="461963" cy="682625"/>
              </a:xfrm>
              <a:custGeom>
                <a:avLst/>
                <a:gdLst>
                  <a:gd name="T0" fmla="*/ 0 w 291"/>
                  <a:gd name="T1" fmla="*/ 2147483647 h 430"/>
                  <a:gd name="T2" fmla="*/ 2147483647 w 291"/>
                  <a:gd name="T3" fmla="*/ 2147483647 h 430"/>
                  <a:gd name="T4" fmla="*/ 0 60000 65536"/>
                  <a:gd name="T5" fmla="*/ 0 60000 65536"/>
                </a:gdLst>
                <a:ahLst/>
                <a:cxnLst>
                  <a:cxn ang="T4">
                    <a:pos x="T0" y="T1"/>
                  </a:cxn>
                  <a:cxn ang="T5">
                    <a:pos x="T2" y="T3"/>
                  </a:cxn>
                </a:cxnLst>
                <a:rect l="0" t="0" r="r" b="b"/>
                <a:pathLst>
                  <a:path w="291" h="430">
                    <a:moveTo>
                      <a:pt x="0" y="120"/>
                    </a:moveTo>
                    <a:cubicBezTo>
                      <a:pt x="291" y="0"/>
                      <a:pt x="259" y="430"/>
                      <a:pt x="15" y="2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90" name="Text Box 32">
                <a:extLst>
                  <a:ext uri="{FF2B5EF4-FFF2-40B4-BE49-F238E27FC236}">
                    <a16:creationId xmlns:a16="http://schemas.microsoft.com/office/drawing/2014/main" id="{E3D7CC76-E8AA-AA49-ABBA-30FB422DFCE9}"/>
                  </a:ext>
                </a:extLst>
              </p:cNvPr>
              <p:cNvSpPr txBox="1">
                <a:spLocks noChangeArrowheads="1"/>
              </p:cNvSpPr>
              <p:nvPr/>
            </p:nvSpPr>
            <p:spPr bwMode="auto">
              <a:xfrm>
                <a:off x="8309311" y="2609522"/>
                <a:ext cx="21161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91" name="Text Box 33">
                <a:extLst>
                  <a:ext uri="{FF2B5EF4-FFF2-40B4-BE49-F238E27FC236}">
                    <a16:creationId xmlns:a16="http://schemas.microsoft.com/office/drawing/2014/main" id="{F5C6AB1D-23FF-4443-9810-5311395B10FA}"/>
                  </a:ext>
                </a:extLst>
              </p:cNvPr>
              <p:cNvSpPr txBox="1">
                <a:spLocks noChangeArrowheads="1"/>
              </p:cNvSpPr>
              <p:nvPr/>
            </p:nvSpPr>
            <p:spPr bwMode="auto">
              <a:xfrm>
                <a:off x="8331536" y="2372984"/>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timeout</a:t>
                </a:r>
                <a:endParaRPr lang="en-US" altLang="en-US" sz="1050" dirty="0">
                  <a:solidFill>
                    <a:srgbClr val="000000"/>
                  </a:solidFill>
                  <a:latin typeface="Times New Roman" panose="02020603050405020304" pitchFamily="18" charset="0"/>
                </a:endParaRPr>
              </a:p>
            </p:txBody>
          </p:sp>
          <p:sp>
            <p:nvSpPr>
              <p:cNvPr id="92" name="Line 34">
                <a:extLst>
                  <a:ext uri="{FF2B5EF4-FFF2-40B4-BE49-F238E27FC236}">
                    <a16:creationId xmlns:a16="http://schemas.microsoft.com/office/drawing/2014/main" id="{3BCAAD42-472A-8148-88E4-7D3F77DC87EA}"/>
                  </a:ext>
                </a:extLst>
              </p:cNvPr>
              <p:cNvSpPr>
                <a:spLocks noChangeShapeType="1"/>
              </p:cNvSpPr>
              <p:nvPr/>
            </p:nvSpPr>
            <p:spPr bwMode="auto">
              <a:xfrm>
                <a:off x="8420436" y="26269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grpSp>
        <p:nvGrpSpPr>
          <p:cNvPr id="100" name="Group 42">
            <a:extLst>
              <a:ext uri="{FF2B5EF4-FFF2-40B4-BE49-F238E27FC236}">
                <a16:creationId xmlns:a16="http://schemas.microsoft.com/office/drawing/2014/main" id="{7781A61F-1C88-6E46-96AB-268CBADE4526}"/>
              </a:ext>
            </a:extLst>
          </p:cNvPr>
          <p:cNvGrpSpPr>
            <a:grpSpLocks/>
          </p:cNvGrpSpPr>
          <p:nvPr/>
        </p:nvGrpSpPr>
        <p:grpSpPr bwMode="auto">
          <a:xfrm>
            <a:off x="3118498" y="2528642"/>
            <a:ext cx="891779" cy="638175"/>
            <a:chOff x="4090" y="3230"/>
            <a:chExt cx="749" cy="536"/>
          </a:xfrm>
        </p:grpSpPr>
        <p:sp>
          <p:nvSpPr>
            <p:cNvPr id="101" name="Oval 43">
              <a:extLst>
                <a:ext uri="{FF2B5EF4-FFF2-40B4-BE49-F238E27FC236}">
                  <a16:creationId xmlns:a16="http://schemas.microsoft.com/office/drawing/2014/main" id="{EA3FA186-38E3-E24B-80CE-CDFC5DF36C2A}"/>
                </a:ext>
              </a:extLst>
            </p:cNvPr>
            <p:cNvSpPr>
              <a:spLocks noChangeArrowheads="1"/>
            </p:cNvSpPr>
            <p:nvPr/>
          </p:nvSpPr>
          <p:spPr bwMode="auto">
            <a:xfrm>
              <a:off x="4159" y="3230"/>
              <a:ext cx="595" cy="536"/>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02" name="Text Box 44">
              <a:extLst>
                <a:ext uri="{FF2B5EF4-FFF2-40B4-BE49-F238E27FC236}">
                  <a16:creationId xmlns:a16="http://schemas.microsoft.com/office/drawing/2014/main" id="{237CD0D2-3CD0-9E45-8D08-0B39FC58CB38}"/>
                </a:ext>
              </a:extLst>
            </p:cNvPr>
            <p:cNvSpPr txBox="1">
              <a:spLocks noChangeArrowheads="1"/>
            </p:cNvSpPr>
            <p:nvPr/>
          </p:nvSpPr>
          <p:spPr bwMode="auto">
            <a:xfrm>
              <a:off x="409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call 0 from above</a:t>
              </a:r>
              <a:endParaRPr lang="en-US" altLang="en-US" sz="1050" kern="0" dirty="0">
                <a:solidFill>
                  <a:srgbClr val="000000"/>
                </a:solidFill>
                <a:latin typeface="Times New Roman" panose="02020603050405020304" pitchFamily="18" charset="0"/>
              </a:endParaRPr>
            </a:p>
          </p:txBody>
        </p:sp>
      </p:grpSp>
      <p:grpSp>
        <p:nvGrpSpPr>
          <p:cNvPr id="104" name="Group 46">
            <a:extLst>
              <a:ext uri="{FF2B5EF4-FFF2-40B4-BE49-F238E27FC236}">
                <a16:creationId xmlns:a16="http://schemas.microsoft.com/office/drawing/2014/main" id="{3A7B09B7-7C1D-8D4E-8FEA-40BBC5ECB76A}"/>
              </a:ext>
            </a:extLst>
          </p:cNvPr>
          <p:cNvGrpSpPr>
            <a:grpSpLocks/>
          </p:cNvGrpSpPr>
          <p:nvPr/>
        </p:nvGrpSpPr>
        <p:grpSpPr bwMode="auto">
          <a:xfrm>
            <a:off x="3276852" y="3919292"/>
            <a:ext cx="666750" cy="648890"/>
            <a:chOff x="445" y="1273"/>
            <a:chExt cx="560" cy="545"/>
          </a:xfrm>
        </p:grpSpPr>
        <p:sp>
          <p:nvSpPr>
            <p:cNvPr id="105" name="Oval 47">
              <a:extLst>
                <a:ext uri="{FF2B5EF4-FFF2-40B4-BE49-F238E27FC236}">
                  <a16:creationId xmlns:a16="http://schemas.microsoft.com/office/drawing/2014/main" id="{1F85EC28-DE93-5C4D-AA1B-F8423FADF09B}"/>
                </a:ext>
              </a:extLst>
            </p:cNvPr>
            <p:cNvSpPr>
              <a:spLocks noChangeArrowheads="1"/>
            </p:cNvSpPr>
            <p:nvPr/>
          </p:nvSpPr>
          <p:spPr bwMode="auto">
            <a:xfrm>
              <a:off x="445" y="1273"/>
              <a:ext cx="560" cy="545"/>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06" name="Text Box 48">
              <a:extLst>
                <a:ext uri="{FF2B5EF4-FFF2-40B4-BE49-F238E27FC236}">
                  <a16:creationId xmlns:a16="http://schemas.microsoft.com/office/drawing/2014/main" id="{8ED6243F-D34F-6848-8B35-66C2A258A3B6}"/>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ACK1</a:t>
              </a:r>
              <a:endParaRPr lang="en-US" altLang="en-US" sz="1050" kern="0" dirty="0">
                <a:solidFill>
                  <a:srgbClr val="000000"/>
                </a:solidFill>
                <a:latin typeface="Times New Roman" panose="02020603050405020304" pitchFamily="18" charset="0"/>
              </a:endParaRPr>
            </a:p>
          </p:txBody>
        </p:sp>
      </p:grpSp>
      <p:grpSp>
        <p:nvGrpSpPr>
          <p:cNvPr id="118" name="Group 117">
            <a:extLst>
              <a:ext uri="{FF2B5EF4-FFF2-40B4-BE49-F238E27FC236}">
                <a16:creationId xmlns:a16="http://schemas.microsoft.com/office/drawing/2014/main" id="{048514FA-BA8E-D943-AFC9-DD226418CDFF}"/>
              </a:ext>
            </a:extLst>
          </p:cNvPr>
          <p:cNvGrpSpPr/>
          <p:nvPr/>
        </p:nvGrpSpPr>
        <p:grpSpPr>
          <a:xfrm>
            <a:off x="6123636" y="4207423"/>
            <a:ext cx="1320404" cy="667940"/>
            <a:chOff x="8164848" y="4466897"/>
            <a:chExt cx="1760538" cy="890587"/>
          </a:xfrm>
        </p:grpSpPr>
        <p:sp>
          <p:nvSpPr>
            <p:cNvPr id="98" name="Freeform 40">
              <a:extLst>
                <a:ext uri="{FF2B5EF4-FFF2-40B4-BE49-F238E27FC236}">
                  <a16:creationId xmlns:a16="http://schemas.microsoft.com/office/drawing/2014/main" id="{21CF03A5-6247-4A4D-98BD-C95EEB4DB33D}"/>
                </a:ext>
              </a:extLst>
            </p:cNvPr>
            <p:cNvSpPr>
              <a:spLocks/>
            </p:cNvSpPr>
            <p:nvPr/>
          </p:nvSpPr>
          <p:spPr bwMode="auto">
            <a:xfrm>
              <a:off x="8164848" y="44668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08" name="Text Box 50">
              <a:extLst>
                <a:ext uri="{FF2B5EF4-FFF2-40B4-BE49-F238E27FC236}">
                  <a16:creationId xmlns:a16="http://schemas.microsoft.com/office/drawing/2014/main" id="{484B8E27-7DE4-CB47-A590-09E8450BCA88}"/>
                </a:ext>
              </a:extLst>
            </p:cNvPr>
            <p:cNvSpPr txBox="1">
              <a:spLocks noChangeArrowheads="1"/>
            </p:cNvSpPr>
            <p:nvPr/>
          </p:nvSpPr>
          <p:spPr bwMode="auto">
            <a:xfrm>
              <a:off x="8931644" y="4946323"/>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sp>
          <p:nvSpPr>
            <p:cNvPr id="109" name="Text Box 51">
              <a:extLst>
                <a:ext uri="{FF2B5EF4-FFF2-40B4-BE49-F238E27FC236}">
                  <a16:creationId xmlns:a16="http://schemas.microsoft.com/office/drawing/2014/main" id="{76FB8285-1E6A-C149-ACDD-D65AED4A8E55}"/>
                </a:ext>
              </a:extLst>
            </p:cNvPr>
            <p:cNvSpPr txBox="1">
              <a:spLocks noChangeArrowheads="1"/>
            </p:cNvSpPr>
            <p:nvPr/>
          </p:nvSpPr>
          <p:spPr bwMode="auto">
            <a:xfrm>
              <a:off x="8496636" y="4697084"/>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a:t>
              </a:r>
              <a:endParaRPr lang="en-US" altLang="en-US" sz="1050" dirty="0">
                <a:solidFill>
                  <a:srgbClr val="000000"/>
                </a:solidFill>
                <a:latin typeface="Times New Roman" panose="02020603050405020304" pitchFamily="18" charset="0"/>
              </a:endParaRPr>
            </a:p>
          </p:txBody>
        </p:sp>
        <p:sp>
          <p:nvSpPr>
            <p:cNvPr id="110" name="Line 52">
              <a:extLst>
                <a:ext uri="{FF2B5EF4-FFF2-40B4-BE49-F238E27FC236}">
                  <a16:creationId xmlns:a16="http://schemas.microsoft.com/office/drawing/2014/main" id="{FDB9192F-D2B4-314B-A907-3B13FA861E78}"/>
                </a:ext>
              </a:extLst>
            </p:cNvPr>
            <p:cNvSpPr>
              <a:spLocks noChangeShapeType="1"/>
            </p:cNvSpPr>
            <p:nvPr/>
          </p:nvSpPr>
          <p:spPr bwMode="auto">
            <a:xfrm>
              <a:off x="8583948" y="4982834"/>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116" name="Group 115">
            <a:extLst>
              <a:ext uri="{FF2B5EF4-FFF2-40B4-BE49-F238E27FC236}">
                <a16:creationId xmlns:a16="http://schemas.microsoft.com/office/drawing/2014/main" id="{77C829E3-6E50-184B-81B3-EC50B4767377}"/>
              </a:ext>
            </a:extLst>
          </p:cNvPr>
          <p:cNvGrpSpPr/>
          <p:nvPr/>
        </p:nvGrpSpPr>
        <p:grpSpPr>
          <a:xfrm>
            <a:off x="5855746" y="1824982"/>
            <a:ext cx="1588294" cy="858441"/>
            <a:chOff x="7807661" y="1290309"/>
            <a:chExt cx="2117725" cy="1144588"/>
          </a:xfrm>
        </p:grpSpPr>
        <p:sp>
          <p:nvSpPr>
            <p:cNvPr id="69" name="Freeform 11">
              <a:extLst>
                <a:ext uri="{FF2B5EF4-FFF2-40B4-BE49-F238E27FC236}">
                  <a16:creationId xmlns:a16="http://schemas.microsoft.com/office/drawing/2014/main" id="{98783A91-2889-6D49-9155-F35869E85287}"/>
                </a:ext>
              </a:extLst>
            </p:cNvPr>
            <p:cNvSpPr>
              <a:spLocks/>
            </p:cNvSpPr>
            <p:nvPr/>
          </p:nvSpPr>
          <p:spPr bwMode="auto">
            <a:xfrm>
              <a:off x="7807661" y="1768147"/>
              <a:ext cx="871537" cy="666750"/>
            </a:xfrm>
            <a:custGeom>
              <a:avLst/>
              <a:gdLst>
                <a:gd name="T0" fmla="*/ 0 w 549"/>
                <a:gd name="T1" fmla="*/ 2147483647 h 420"/>
                <a:gd name="T2" fmla="*/ 2147483647 w 549"/>
                <a:gd name="T3" fmla="*/ 2147483647 h 420"/>
                <a:gd name="T4" fmla="*/ 0 60000 65536"/>
                <a:gd name="T5" fmla="*/ 0 60000 65536"/>
              </a:gdLst>
              <a:ahLst/>
              <a:cxnLst>
                <a:cxn ang="T4">
                  <a:pos x="T0" y="T1"/>
                </a:cxn>
                <a:cxn ang="T5">
                  <a:pos x="T2" y="T3"/>
                </a:cxn>
              </a:cxnLst>
              <a:rect l="0" t="0" r="r" b="b"/>
              <a:pathLst>
                <a:path w="549" h="420">
                  <a:moveTo>
                    <a:pt x="0" y="306"/>
                  </a:moveTo>
                  <a:cubicBezTo>
                    <a:pt x="78" y="0"/>
                    <a:pt x="549" y="315"/>
                    <a:pt x="87" y="42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70" name="Text Box 12">
              <a:extLst>
                <a:ext uri="{FF2B5EF4-FFF2-40B4-BE49-F238E27FC236}">
                  <a16:creationId xmlns:a16="http://schemas.microsoft.com/office/drawing/2014/main" id="{B01D87F9-D3B9-694E-886A-C09A4372DCBF}"/>
                </a:ext>
              </a:extLst>
            </p:cNvPr>
            <p:cNvSpPr txBox="1">
              <a:spLocks noChangeArrowheads="1"/>
            </p:cNvSpPr>
            <p:nvPr/>
          </p:nvSpPr>
          <p:spPr bwMode="auto">
            <a:xfrm>
              <a:off x="8220411" y="1290309"/>
              <a:ext cx="17049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isACK(rcvpkt,1) )</a:t>
              </a:r>
              <a:endParaRPr lang="en-US" altLang="en-US" sz="1050" dirty="0">
                <a:solidFill>
                  <a:srgbClr val="000000"/>
                </a:solidFill>
                <a:latin typeface="Times New Roman" panose="02020603050405020304" pitchFamily="18" charset="0"/>
              </a:endParaRPr>
            </a:p>
          </p:txBody>
        </p:sp>
        <p:sp>
          <p:nvSpPr>
            <p:cNvPr id="71" name="Line 13">
              <a:extLst>
                <a:ext uri="{FF2B5EF4-FFF2-40B4-BE49-F238E27FC236}">
                  <a16:creationId xmlns:a16="http://schemas.microsoft.com/office/drawing/2014/main" id="{C888F6AB-BF4C-964C-B636-FA26DBB5842A}"/>
                </a:ext>
              </a:extLst>
            </p:cNvPr>
            <p:cNvSpPr>
              <a:spLocks noChangeShapeType="1"/>
            </p:cNvSpPr>
            <p:nvPr/>
          </p:nvSpPr>
          <p:spPr bwMode="auto">
            <a:xfrm>
              <a:off x="8429961" y="1991984"/>
              <a:ext cx="135096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11" name="Text Box 53">
              <a:extLst>
                <a:ext uri="{FF2B5EF4-FFF2-40B4-BE49-F238E27FC236}">
                  <a16:creationId xmlns:a16="http://schemas.microsoft.com/office/drawing/2014/main" id="{8CBF020D-F9F7-8547-9CDC-153180321D72}"/>
                </a:ext>
              </a:extLst>
            </p:cNvPr>
            <p:cNvSpPr txBox="1">
              <a:spLocks noChangeArrowheads="1"/>
            </p:cNvSpPr>
            <p:nvPr/>
          </p:nvSpPr>
          <p:spPr bwMode="auto">
            <a:xfrm>
              <a:off x="8834805" y="1941184"/>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grpSp>
      <p:grpSp>
        <p:nvGrpSpPr>
          <p:cNvPr id="120" name="Group 119">
            <a:extLst>
              <a:ext uri="{FF2B5EF4-FFF2-40B4-BE49-F238E27FC236}">
                <a16:creationId xmlns:a16="http://schemas.microsoft.com/office/drawing/2014/main" id="{EF73E473-D8D9-5A4C-A7EE-F4558FFF6B0D}"/>
              </a:ext>
            </a:extLst>
          </p:cNvPr>
          <p:cNvGrpSpPr/>
          <p:nvPr/>
        </p:nvGrpSpPr>
        <p:grpSpPr>
          <a:xfrm>
            <a:off x="2081465" y="2264323"/>
            <a:ext cx="1162050" cy="667940"/>
            <a:chOff x="2775286" y="1876097"/>
            <a:chExt cx="1549400" cy="890587"/>
          </a:xfrm>
        </p:grpSpPr>
        <p:sp>
          <p:nvSpPr>
            <p:cNvPr id="99" name="Text Box 41">
              <a:extLst>
                <a:ext uri="{FF2B5EF4-FFF2-40B4-BE49-F238E27FC236}">
                  <a16:creationId xmlns:a16="http://schemas.microsoft.com/office/drawing/2014/main" id="{7500D6B3-E554-BE43-BA3B-2B5D8EDAE62F}"/>
                </a:ext>
              </a:extLst>
            </p:cNvPr>
            <p:cNvSpPr txBox="1">
              <a:spLocks noChangeArrowheads="1"/>
            </p:cNvSpPr>
            <p:nvPr/>
          </p:nvSpPr>
          <p:spPr bwMode="auto">
            <a:xfrm>
              <a:off x="2775286" y="1968172"/>
              <a:ext cx="1428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a:t>
              </a:r>
              <a:endParaRPr lang="en-US" altLang="en-US" sz="1050" dirty="0">
                <a:solidFill>
                  <a:srgbClr val="000000"/>
                </a:solidFill>
                <a:latin typeface="Times New Roman" panose="02020603050405020304" pitchFamily="18" charset="0"/>
              </a:endParaRPr>
            </a:p>
          </p:txBody>
        </p:sp>
        <p:sp>
          <p:nvSpPr>
            <p:cNvPr id="103" name="Line 45">
              <a:extLst>
                <a:ext uri="{FF2B5EF4-FFF2-40B4-BE49-F238E27FC236}">
                  <a16:creationId xmlns:a16="http://schemas.microsoft.com/office/drawing/2014/main" id="{2B03FA9C-455E-7848-98B1-6FE6D8F59E21}"/>
                </a:ext>
              </a:extLst>
            </p:cNvPr>
            <p:cNvSpPr>
              <a:spLocks noChangeShapeType="1"/>
            </p:cNvSpPr>
            <p:nvPr/>
          </p:nvSpPr>
          <p:spPr bwMode="auto">
            <a:xfrm>
              <a:off x="2862598" y="2253922"/>
              <a:ext cx="11017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07" name="Freeform 49">
              <a:extLst>
                <a:ext uri="{FF2B5EF4-FFF2-40B4-BE49-F238E27FC236}">
                  <a16:creationId xmlns:a16="http://schemas.microsoft.com/office/drawing/2014/main" id="{7A343767-85F1-3648-8F20-92F8EB9C9CB2}"/>
                </a:ext>
              </a:extLst>
            </p:cNvPr>
            <p:cNvSpPr>
              <a:spLocks/>
            </p:cNvSpPr>
            <p:nvPr/>
          </p:nvSpPr>
          <p:spPr bwMode="auto">
            <a:xfrm flipH="1" flipV="1">
              <a:off x="3745248" y="1876097"/>
              <a:ext cx="579438" cy="890587"/>
            </a:xfrm>
            <a:custGeom>
              <a:avLst/>
              <a:gdLst>
                <a:gd name="T0" fmla="*/ 2147483647 w 322"/>
                <a:gd name="T1" fmla="*/ 2147483647 h 483"/>
                <a:gd name="T2" fmla="*/ 0 w 322"/>
                <a:gd name="T3" fmla="*/ 2147483647 h 483"/>
                <a:gd name="T4" fmla="*/ 0 60000 65536"/>
                <a:gd name="T5" fmla="*/ 0 60000 65536"/>
              </a:gdLst>
              <a:ahLst/>
              <a:cxnLst>
                <a:cxn ang="T4">
                  <a:pos x="T0" y="T1"/>
                </a:cxn>
                <a:cxn ang="T5">
                  <a:pos x="T2" y="T3"/>
                </a:cxn>
              </a:cxnLst>
              <a:rect l="0" t="0" r="r" b="b"/>
              <a:pathLst>
                <a:path w="322" h="483">
                  <a:moveTo>
                    <a:pt x="31" y="120"/>
                  </a:moveTo>
                  <a:cubicBezTo>
                    <a:pt x="322" y="0"/>
                    <a:pt x="64" y="483"/>
                    <a:pt x="0" y="183"/>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12" name="Text Box 54">
              <a:extLst>
                <a:ext uri="{FF2B5EF4-FFF2-40B4-BE49-F238E27FC236}">
                  <a16:creationId xmlns:a16="http://schemas.microsoft.com/office/drawing/2014/main" id="{1534562D-4479-5A4D-84B6-08652054FE1A}"/>
                </a:ext>
              </a:extLst>
            </p:cNvPr>
            <p:cNvSpPr txBox="1">
              <a:spLocks noChangeArrowheads="1"/>
            </p:cNvSpPr>
            <p:nvPr/>
          </p:nvSpPr>
          <p:spPr bwMode="auto">
            <a:xfrm>
              <a:off x="3183306" y="221740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grpSp>
      <p:grpSp>
        <p:nvGrpSpPr>
          <p:cNvPr id="7" name="Group 6">
            <a:extLst>
              <a:ext uri="{FF2B5EF4-FFF2-40B4-BE49-F238E27FC236}">
                <a16:creationId xmlns:a16="http://schemas.microsoft.com/office/drawing/2014/main" id="{5B0F4E74-4AD1-1841-A169-2F112B1736DB}"/>
              </a:ext>
            </a:extLst>
          </p:cNvPr>
          <p:cNvGrpSpPr/>
          <p:nvPr/>
        </p:nvGrpSpPr>
        <p:grpSpPr>
          <a:xfrm>
            <a:off x="1775474" y="4087642"/>
            <a:ext cx="1479947" cy="544497"/>
            <a:chOff x="2367298" y="4307189"/>
            <a:chExt cx="1973263" cy="725996"/>
          </a:xfrm>
        </p:grpSpPr>
        <p:sp>
          <p:nvSpPr>
            <p:cNvPr id="129" name="Rectangle 128">
              <a:extLst>
                <a:ext uri="{FF2B5EF4-FFF2-40B4-BE49-F238E27FC236}">
                  <a16:creationId xmlns:a16="http://schemas.microsoft.com/office/drawing/2014/main" id="{7362BA78-E18A-7D4D-AF99-520876B19387}"/>
                </a:ext>
              </a:extLst>
            </p:cNvPr>
            <p:cNvSpPr/>
            <p:nvPr/>
          </p:nvSpPr>
          <p:spPr>
            <a:xfrm>
              <a:off x="2418382" y="4342649"/>
              <a:ext cx="769654" cy="223838"/>
            </a:xfrm>
            <a:prstGeom prst="rect">
              <a:avLst/>
            </a:prstGeom>
            <a:solidFill>
              <a:srgbClr val="FFB3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6" name="Rectangle 125">
              <a:extLst>
                <a:ext uri="{FF2B5EF4-FFF2-40B4-BE49-F238E27FC236}">
                  <a16:creationId xmlns:a16="http://schemas.microsoft.com/office/drawing/2014/main" id="{9FED6727-6FB3-674C-AEA1-A6238E143030}"/>
                </a:ext>
              </a:extLst>
            </p:cNvPr>
            <p:cNvSpPr/>
            <p:nvPr/>
          </p:nvSpPr>
          <p:spPr>
            <a:xfrm>
              <a:off x="2418337" y="4809347"/>
              <a:ext cx="909161" cy="22383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94" name="Freeform 36">
              <a:extLst>
                <a:ext uri="{FF2B5EF4-FFF2-40B4-BE49-F238E27FC236}">
                  <a16:creationId xmlns:a16="http://schemas.microsoft.com/office/drawing/2014/main" id="{10A63C01-2F70-9440-BFFE-695DC6555117}"/>
                </a:ext>
              </a:extLst>
            </p:cNvPr>
            <p:cNvSpPr>
              <a:spLocks/>
            </p:cNvSpPr>
            <p:nvPr/>
          </p:nvSpPr>
          <p:spPr bwMode="auto">
            <a:xfrm>
              <a:off x="3769061" y="4506584"/>
              <a:ext cx="571500" cy="420688"/>
            </a:xfrm>
            <a:custGeom>
              <a:avLst/>
              <a:gdLst>
                <a:gd name="T0" fmla="*/ 2147483647 w 900"/>
                <a:gd name="T1" fmla="*/ 2147483647 h 662"/>
                <a:gd name="T2" fmla="*/ 2147483647 w 900"/>
                <a:gd name="T3" fmla="*/ 2147483647 h 662"/>
                <a:gd name="T4" fmla="*/ 0 60000 65536"/>
                <a:gd name="T5" fmla="*/ 0 60000 65536"/>
              </a:gdLst>
              <a:ahLst/>
              <a:cxnLst>
                <a:cxn ang="T4">
                  <a:pos x="T0" y="T1"/>
                </a:cxn>
                <a:cxn ang="T5">
                  <a:pos x="T2" y="T3"/>
                </a:cxn>
              </a:cxnLst>
              <a:rect l="0" t="0" r="r" b="b"/>
              <a:pathLst>
                <a:path w="900" h="662">
                  <a:moveTo>
                    <a:pt x="900" y="360"/>
                  </a:moveTo>
                  <a:cubicBezTo>
                    <a:pt x="171" y="662"/>
                    <a:pt x="0" y="0"/>
                    <a:pt x="825" y="1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95" name="Text Box 37">
              <a:extLst>
                <a:ext uri="{FF2B5EF4-FFF2-40B4-BE49-F238E27FC236}">
                  <a16:creationId xmlns:a16="http://schemas.microsoft.com/office/drawing/2014/main" id="{E4751D98-46BF-E946-A08A-A6011C8F6C5E}"/>
                </a:ext>
              </a:extLst>
            </p:cNvPr>
            <p:cNvSpPr txBox="1">
              <a:spLocks noChangeArrowheads="1"/>
            </p:cNvSpPr>
            <p:nvPr/>
          </p:nvSpPr>
          <p:spPr bwMode="auto">
            <a:xfrm>
              <a:off x="2367298" y="4554209"/>
              <a:ext cx="18240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udt_send(sndpkt)</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start_timer</a:t>
              </a:r>
              <a:endParaRPr lang="en-US" altLang="en-US" sz="1050" dirty="0">
                <a:solidFill>
                  <a:srgbClr val="000000"/>
                </a:solidFill>
                <a:latin typeface="Times New Roman" panose="02020603050405020304" pitchFamily="18" charset="0"/>
              </a:endParaRPr>
            </a:p>
          </p:txBody>
        </p:sp>
        <p:sp>
          <p:nvSpPr>
            <p:cNvPr id="96" name="Text Box 38">
              <a:extLst>
                <a:ext uri="{FF2B5EF4-FFF2-40B4-BE49-F238E27FC236}">
                  <a16:creationId xmlns:a16="http://schemas.microsoft.com/office/drawing/2014/main" id="{2672D5C9-CBC9-104B-A755-475CF44C9314}"/>
                </a:ext>
              </a:extLst>
            </p:cNvPr>
            <p:cNvSpPr txBox="1">
              <a:spLocks noChangeArrowheads="1"/>
            </p:cNvSpPr>
            <p:nvPr/>
          </p:nvSpPr>
          <p:spPr bwMode="auto">
            <a:xfrm>
              <a:off x="2381586" y="4307189"/>
              <a:ext cx="11144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timeout</a:t>
              </a:r>
              <a:endParaRPr lang="en-US" altLang="en-US" sz="1050" dirty="0">
                <a:solidFill>
                  <a:srgbClr val="000000"/>
                </a:solidFill>
                <a:latin typeface="Times New Roman" panose="02020603050405020304" pitchFamily="18" charset="0"/>
              </a:endParaRPr>
            </a:p>
          </p:txBody>
        </p:sp>
        <p:sp>
          <p:nvSpPr>
            <p:cNvPr id="97" name="Line 39">
              <a:extLst>
                <a:ext uri="{FF2B5EF4-FFF2-40B4-BE49-F238E27FC236}">
                  <a16:creationId xmlns:a16="http://schemas.microsoft.com/office/drawing/2014/main" id="{3544B3A0-4F92-734D-9797-12F4E1F2C5E9}"/>
                </a:ext>
              </a:extLst>
            </p:cNvPr>
            <p:cNvSpPr>
              <a:spLocks noChangeShapeType="1"/>
            </p:cNvSpPr>
            <p:nvPr/>
          </p:nvSpPr>
          <p:spPr bwMode="auto">
            <a:xfrm>
              <a:off x="2484773" y="4582784"/>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grpSp>
        <p:nvGrpSpPr>
          <p:cNvPr id="8" name="Group 7">
            <a:extLst>
              <a:ext uri="{FF2B5EF4-FFF2-40B4-BE49-F238E27FC236}">
                <a16:creationId xmlns:a16="http://schemas.microsoft.com/office/drawing/2014/main" id="{F3A5F505-AA20-9E41-BC6C-D76DEB8319CC}"/>
              </a:ext>
            </a:extLst>
          </p:cNvPr>
          <p:cNvGrpSpPr/>
          <p:nvPr/>
        </p:nvGrpSpPr>
        <p:grpSpPr>
          <a:xfrm>
            <a:off x="2271964" y="4453883"/>
            <a:ext cx="1314451" cy="1096149"/>
            <a:chOff x="3029286" y="4795509"/>
            <a:chExt cx="1752601" cy="1461532"/>
          </a:xfrm>
        </p:grpSpPr>
        <p:sp>
          <p:nvSpPr>
            <p:cNvPr id="83" name="Text Box 25">
              <a:extLst>
                <a:ext uri="{FF2B5EF4-FFF2-40B4-BE49-F238E27FC236}">
                  <a16:creationId xmlns:a16="http://schemas.microsoft.com/office/drawing/2014/main" id="{811DFA52-8CA5-7E4E-AC44-4428D977D5FE}"/>
                </a:ext>
              </a:extLst>
            </p:cNvPr>
            <p:cNvSpPr txBox="1">
              <a:spLocks noChangeArrowheads="1"/>
            </p:cNvSpPr>
            <p:nvPr/>
          </p:nvSpPr>
          <p:spPr bwMode="auto">
            <a:xfrm>
              <a:off x="3029286" y="5155872"/>
              <a:ext cx="1752601"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rdt_rcv(rcvpkt) &amp;&amp;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 corrupt(rcvpkt) ||</a:t>
              </a:r>
            </a:p>
            <a:p>
              <a:pP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isACK(rcvpkt,0) )</a:t>
              </a:r>
              <a:endParaRPr lang="en-US" altLang="en-US" sz="1050" dirty="0">
                <a:solidFill>
                  <a:srgbClr val="000000"/>
                </a:solidFill>
                <a:latin typeface="Times New Roman" panose="02020603050405020304" pitchFamily="18" charset="0"/>
              </a:endParaRPr>
            </a:p>
          </p:txBody>
        </p:sp>
        <p:sp>
          <p:nvSpPr>
            <p:cNvPr id="84" name="Line 26">
              <a:extLst>
                <a:ext uri="{FF2B5EF4-FFF2-40B4-BE49-F238E27FC236}">
                  <a16:creationId xmlns:a16="http://schemas.microsoft.com/office/drawing/2014/main" id="{1EF37371-5507-6442-83AF-60C8BD73EB5C}"/>
                </a:ext>
              </a:extLst>
            </p:cNvPr>
            <p:cNvSpPr>
              <a:spLocks noChangeShapeType="1"/>
            </p:cNvSpPr>
            <p:nvPr/>
          </p:nvSpPr>
          <p:spPr bwMode="auto">
            <a:xfrm>
              <a:off x="3132473" y="5881359"/>
              <a:ext cx="125412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93" name="Freeform 35">
              <a:extLst>
                <a:ext uri="{FF2B5EF4-FFF2-40B4-BE49-F238E27FC236}">
                  <a16:creationId xmlns:a16="http://schemas.microsoft.com/office/drawing/2014/main" id="{575C5970-3813-5745-B4AE-91D5DAA0F353}"/>
                </a:ext>
              </a:extLst>
            </p:cNvPr>
            <p:cNvSpPr>
              <a:spLocks/>
            </p:cNvSpPr>
            <p:nvPr/>
          </p:nvSpPr>
          <p:spPr bwMode="auto">
            <a:xfrm>
              <a:off x="3969086" y="4795509"/>
              <a:ext cx="692150" cy="631825"/>
            </a:xfrm>
            <a:custGeom>
              <a:avLst/>
              <a:gdLst>
                <a:gd name="T0" fmla="*/ 2147483647 w 436"/>
                <a:gd name="T1" fmla="*/ 2147483647 h 398"/>
                <a:gd name="T2" fmla="*/ 2147483647 w 436"/>
                <a:gd name="T3" fmla="*/ 0 h 398"/>
                <a:gd name="T4" fmla="*/ 0 60000 65536"/>
                <a:gd name="T5" fmla="*/ 0 60000 65536"/>
              </a:gdLst>
              <a:ahLst/>
              <a:cxnLst>
                <a:cxn ang="T4">
                  <a:pos x="T0" y="T1"/>
                </a:cxn>
                <a:cxn ang="T5">
                  <a:pos x="T2" y="T3"/>
                </a:cxn>
              </a:cxnLst>
              <a:rect l="0" t="0" r="r" b="b"/>
              <a:pathLst>
                <a:path w="436" h="398">
                  <a:moveTo>
                    <a:pt x="436" y="101"/>
                  </a:moveTo>
                  <a:cubicBezTo>
                    <a:pt x="367" y="398"/>
                    <a:pt x="0" y="31"/>
                    <a:pt x="300"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13" name="Text Box 55">
              <a:extLst>
                <a:ext uri="{FF2B5EF4-FFF2-40B4-BE49-F238E27FC236}">
                  <a16:creationId xmlns:a16="http://schemas.microsoft.com/office/drawing/2014/main" id="{25E61481-833B-6040-B00D-1012EEB0CE87}"/>
                </a:ext>
              </a:extLst>
            </p:cNvPr>
            <p:cNvSpPr txBox="1">
              <a:spLocks noChangeArrowheads="1"/>
            </p:cNvSpPr>
            <p:nvPr/>
          </p:nvSpPr>
          <p:spPr bwMode="auto">
            <a:xfrm>
              <a:off x="3586530" y="588770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grpSp>
      <p:sp>
        <p:nvSpPr>
          <p:cNvPr id="130" name="Oval 129">
            <a:extLst>
              <a:ext uri="{FF2B5EF4-FFF2-40B4-BE49-F238E27FC236}">
                <a16:creationId xmlns:a16="http://schemas.microsoft.com/office/drawing/2014/main" id="{9AA3E79A-2611-F844-92F5-7AB7F51F61A6}"/>
              </a:ext>
            </a:extLst>
          </p:cNvPr>
          <p:cNvSpPr/>
          <p:nvPr/>
        </p:nvSpPr>
        <p:spPr>
          <a:xfrm>
            <a:off x="5314950" y="2495550"/>
            <a:ext cx="685800" cy="650886"/>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1" name="Oval 130">
            <a:extLst>
              <a:ext uri="{FF2B5EF4-FFF2-40B4-BE49-F238E27FC236}">
                <a16:creationId xmlns:a16="http://schemas.microsoft.com/office/drawing/2014/main" id="{36E5B91E-BBFD-F34D-BA3F-9A04F2B92A2B}"/>
              </a:ext>
            </a:extLst>
          </p:cNvPr>
          <p:cNvSpPr/>
          <p:nvPr/>
        </p:nvSpPr>
        <p:spPr>
          <a:xfrm>
            <a:off x="5476875" y="3933825"/>
            <a:ext cx="702494" cy="63817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2" name="Oval 131">
            <a:extLst>
              <a:ext uri="{FF2B5EF4-FFF2-40B4-BE49-F238E27FC236}">
                <a16:creationId xmlns:a16="http://schemas.microsoft.com/office/drawing/2014/main" id="{CD4FE554-65E6-F444-AA3B-AD082AB372FD}"/>
              </a:ext>
            </a:extLst>
          </p:cNvPr>
          <p:cNvSpPr/>
          <p:nvPr/>
        </p:nvSpPr>
        <p:spPr>
          <a:xfrm>
            <a:off x="3267075" y="3910029"/>
            <a:ext cx="685800" cy="65722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3" name="Oval 132">
            <a:extLst>
              <a:ext uri="{FF2B5EF4-FFF2-40B4-BE49-F238E27FC236}">
                <a16:creationId xmlns:a16="http://schemas.microsoft.com/office/drawing/2014/main" id="{3A129D4A-C779-424D-B5D4-282E5C7184B2}"/>
              </a:ext>
            </a:extLst>
          </p:cNvPr>
          <p:cNvSpPr/>
          <p:nvPr/>
        </p:nvSpPr>
        <p:spPr>
          <a:xfrm>
            <a:off x="3190875" y="2519379"/>
            <a:ext cx="714375" cy="65334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Tree>
    <p:extLst>
      <p:ext uri="{BB962C8B-B14F-4D97-AF65-F5344CB8AC3E}">
        <p14:creationId xmlns:p14="http://schemas.microsoft.com/office/powerpoint/2010/main" val="3641842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RDT3.0</a:t>
            </a:r>
            <a:endParaRPr lang="en-US" dirty="0"/>
          </a:p>
        </p:txBody>
      </p:sp>
      <p:sp>
        <p:nvSpPr>
          <p:cNvPr id="79" name="Slide Number Placeholder 2">
            <a:extLst>
              <a:ext uri="{FF2B5EF4-FFF2-40B4-BE49-F238E27FC236}">
                <a16:creationId xmlns:a16="http://schemas.microsoft.com/office/drawing/2014/main" id="{F263271F-70B3-0945-8ECC-7ADB54458383}"/>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27</a:t>
            </a:fld>
            <a:endParaRPr lang="en-US" dirty="0">
              <a:solidFill>
                <a:prstClr val="white">
                  <a:lumMod val="50000"/>
                </a:prstClr>
              </a:solidFill>
              <a:latin typeface="Calibri" panose="020F0502020204030204"/>
            </a:endParaRPr>
          </a:p>
        </p:txBody>
      </p:sp>
      <p:sp>
        <p:nvSpPr>
          <p:cNvPr id="197" name="Text Box 5">
            <a:extLst>
              <a:ext uri="{FF2B5EF4-FFF2-40B4-BE49-F238E27FC236}">
                <a16:creationId xmlns:a16="http://schemas.microsoft.com/office/drawing/2014/main" id="{4235D7CC-76F0-404E-861B-E1B3C4CC5A59}"/>
              </a:ext>
            </a:extLst>
          </p:cNvPr>
          <p:cNvSpPr txBox="1">
            <a:spLocks noChangeArrowheads="1"/>
          </p:cNvSpPr>
          <p:nvPr/>
        </p:nvSpPr>
        <p:spPr bwMode="auto">
          <a:xfrm>
            <a:off x="995928" y="1991616"/>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0099"/>
                </a:solidFill>
              </a:rPr>
              <a:t>sender</a:t>
            </a:r>
          </a:p>
        </p:txBody>
      </p:sp>
      <p:sp>
        <p:nvSpPr>
          <p:cNvPr id="198" name="Text Box 6">
            <a:extLst>
              <a:ext uri="{FF2B5EF4-FFF2-40B4-BE49-F238E27FC236}">
                <a16:creationId xmlns:a16="http://schemas.microsoft.com/office/drawing/2014/main" id="{953F5FAC-08AE-194D-B2CE-9B6B600D3EDB}"/>
              </a:ext>
            </a:extLst>
          </p:cNvPr>
          <p:cNvSpPr txBox="1">
            <a:spLocks noChangeArrowheads="1"/>
          </p:cNvSpPr>
          <p:nvPr/>
        </p:nvSpPr>
        <p:spPr bwMode="auto">
          <a:xfrm>
            <a:off x="2827628" y="198804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8000"/>
                </a:solidFill>
              </a:rPr>
              <a:t>receiver</a:t>
            </a:r>
          </a:p>
        </p:txBody>
      </p:sp>
      <p:sp>
        <p:nvSpPr>
          <p:cNvPr id="199" name="Text Box 8">
            <a:extLst>
              <a:ext uri="{FF2B5EF4-FFF2-40B4-BE49-F238E27FC236}">
                <a16:creationId xmlns:a16="http://schemas.microsoft.com/office/drawing/2014/main" id="{2DF62C54-7EE2-504E-9ED2-FD3BAEEBEE7D}"/>
              </a:ext>
            </a:extLst>
          </p:cNvPr>
          <p:cNvSpPr txBox="1">
            <a:spLocks noChangeArrowheads="1"/>
          </p:cNvSpPr>
          <p:nvPr/>
        </p:nvSpPr>
        <p:spPr bwMode="auto">
          <a:xfrm>
            <a:off x="2828068" y="320605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pkt1</a:t>
            </a:r>
          </a:p>
        </p:txBody>
      </p:sp>
      <p:sp>
        <p:nvSpPr>
          <p:cNvPr id="200" name="Text Box 10">
            <a:extLst>
              <a:ext uri="{FF2B5EF4-FFF2-40B4-BE49-F238E27FC236}">
                <a16:creationId xmlns:a16="http://schemas.microsoft.com/office/drawing/2014/main" id="{F5B1E309-F4E4-3E42-B8AD-EA1C2D480B04}"/>
              </a:ext>
            </a:extLst>
          </p:cNvPr>
          <p:cNvSpPr txBox="1">
            <a:spLocks noChangeArrowheads="1"/>
          </p:cNvSpPr>
          <p:nvPr/>
        </p:nvSpPr>
        <p:spPr bwMode="auto">
          <a:xfrm>
            <a:off x="2832831" y="3847800"/>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sp>
        <p:nvSpPr>
          <p:cNvPr id="201" name="Text Box 11">
            <a:extLst>
              <a:ext uri="{FF2B5EF4-FFF2-40B4-BE49-F238E27FC236}">
                <a16:creationId xmlns:a16="http://schemas.microsoft.com/office/drawing/2014/main" id="{74D64A46-9479-E449-9C31-02C5EA831827}"/>
              </a:ext>
            </a:extLst>
          </p:cNvPr>
          <p:cNvSpPr txBox="1">
            <a:spLocks noChangeArrowheads="1"/>
          </p:cNvSpPr>
          <p:nvPr/>
        </p:nvSpPr>
        <p:spPr bwMode="auto">
          <a:xfrm>
            <a:off x="2829728" y="2691703"/>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sp>
        <p:nvSpPr>
          <p:cNvPr id="202" name="Text Box 12">
            <a:extLst>
              <a:ext uri="{FF2B5EF4-FFF2-40B4-BE49-F238E27FC236}">
                <a16:creationId xmlns:a16="http://schemas.microsoft.com/office/drawing/2014/main" id="{FBDCC4E2-EF23-6A40-BE13-E84BE9B5BE20}"/>
              </a:ext>
            </a:extLst>
          </p:cNvPr>
          <p:cNvSpPr txBox="1">
            <a:spLocks noChangeArrowheads="1"/>
          </p:cNvSpPr>
          <p:nvPr/>
        </p:nvSpPr>
        <p:spPr bwMode="auto">
          <a:xfrm>
            <a:off x="2827347" y="3375121"/>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ack1</a:t>
            </a:r>
          </a:p>
        </p:txBody>
      </p:sp>
      <p:sp>
        <p:nvSpPr>
          <p:cNvPr id="203" name="Text Box 13">
            <a:extLst>
              <a:ext uri="{FF2B5EF4-FFF2-40B4-BE49-F238E27FC236}">
                <a16:creationId xmlns:a16="http://schemas.microsoft.com/office/drawing/2014/main" id="{CF703E46-2D8D-D04C-903D-4C60258391B2}"/>
              </a:ext>
            </a:extLst>
          </p:cNvPr>
          <p:cNvSpPr txBox="1">
            <a:spLocks noChangeArrowheads="1"/>
          </p:cNvSpPr>
          <p:nvPr/>
        </p:nvSpPr>
        <p:spPr bwMode="auto">
          <a:xfrm>
            <a:off x="2827347" y="3994246"/>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sp>
        <p:nvSpPr>
          <p:cNvPr id="204" name="Text Box 14">
            <a:extLst>
              <a:ext uri="{FF2B5EF4-FFF2-40B4-BE49-F238E27FC236}">
                <a16:creationId xmlns:a16="http://schemas.microsoft.com/office/drawing/2014/main" id="{07E7A3F6-47D9-9847-BA58-BF9687C85206}"/>
              </a:ext>
            </a:extLst>
          </p:cNvPr>
          <p:cNvSpPr txBox="1">
            <a:spLocks noChangeArrowheads="1"/>
          </p:cNvSpPr>
          <p:nvPr/>
        </p:nvSpPr>
        <p:spPr bwMode="auto">
          <a:xfrm>
            <a:off x="941636" y="2878631"/>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ack0</a:t>
            </a:r>
          </a:p>
        </p:txBody>
      </p:sp>
      <p:sp>
        <p:nvSpPr>
          <p:cNvPr id="205" name="Text Box 15">
            <a:extLst>
              <a:ext uri="{FF2B5EF4-FFF2-40B4-BE49-F238E27FC236}">
                <a16:creationId xmlns:a16="http://schemas.microsoft.com/office/drawing/2014/main" id="{7C6243EA-A0F0-0449-95A0-3D47329274F1}"/>
              </a:ext>
            </a:extLst>
          </p:cNvPr>
          <p:cNvSpPr txBox="1">
            <a:spLocks noChangeArrowheads="1"/>
          </p:cNvSpPr>
          <p:nvPr/>
        </p:nvSpPr>
        <p:spPr bwMode="auto">
          <a:xfrm>
            <a:off x="825198" y="3698971"/>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206" name="Text Box 17">
            <a:extLst>
              <a:ext uri="{FF2B5EF4-FFF2-40B4-BE49-F238E27FC236}">
                <a16:creationId xmlns:a16="http://schemas.microsoft.com/office/drawing/2014/main" id="{C58AD36B-83D7-F945-860A-84F900A595DB}"/>
              </a:ext>
            </a:extLst>
          </p:cNvPr>
          <p:cNvSpPr txBox="1">
            <a:spLocks noChangeArrowheads="1"/>
          </p:cNvSpPr>
          <p:nvPr/>
        </p:nvSpPr>
        <p:spPr bwMode="auto">
          <a:xfrm>
            <a:off x="825198" y="3042937"/>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pkt1</a:t>
            </a:r>
          </a:p>
        </p:txBody>
      </p:sp>
      <p:sp>
        <p:nvSpPr>
          <p:cNvPr id="207" name="Text Box 18">
            <a:extLst>
              <a:ext uri="{FF2B5EF4-FFF2-40B4-BE49-F238E27FC236}">
                <a16:creationId xmlns:a16="http://schemas.microsoft.com/office/drawing/2014/main" id="{095222A4-B6FD-9943-8053-5736B6B34CF7}"/>
              </a:ext>
            </a:extLst>
          </p:cNvPr>
          <p:cNvSpPr txBox="1">
            <a:spLocks noChangeArrowheads="1"/>
          </p:cNvSpPr>
          <p:nvPr/>
        </p:nvSpPr>
        <p:spPr bwMode="auto">
          <a:xfrm>
            <a:off x="933301" y="3519187"/>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ack1</a:t>
            </a:r>
          </a:p>
        </p:txBody>
      </p:sp>
      <p:sp>
        <p:nvSpPr>
          <p:cNvPr id="208" name="Text Box 7">
            <a:extLst>
              <a:ext uri="{FF2B5EF4-FFF2-40B4-BE49-F238E27FC236}">
                <a16:creationId xmlns:a16="http://schemas.microsoft.com/office/drawing/2014/main" id="{6AF201BE-3F74-FC4D-95DC-C10707E5BA59}"/>
              </a:ext>
            </a:extLst>
          </p:cNvPr>
          <p:cNvSpPr txBox="1">
            <a:spLocks noChangeArrowheads="1"/>
          </p:cNvSpPr>
          <p:nvPr/>
        </p:nvSpPr>
        <p:spPr bwMode="auto">
          <a:xfrm>
            <a:off x="816863" y="2321419"/>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209" name="Text Box 9">
            <a:extLst>
              <a:ext uri="{FF2B5EF4-FFF2-40B4-BE49-F238E27FC236}">
                <a16:creationId xmlns:a16="http://schemas.microsoft.com/office/drawing/2014/main" id="{853C3A29-6F14-6A4A-ADF9-EDBEBC72749B}"/>
              </a:ext>
            </a:extLst>
          </p:cNvPr>
          <p:cNvSpPr txBox="1">
            <a:spLocks noChangeArrowheads="1"/>
          </p:cNvSpPr>
          <p:nvPr/>
        </p:nvSpPr>
        <p:spPr bwMode="auto">
          <a:xfrm>
            <a:off x="2824496" y="2533350"/>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grpSp>
        <p:nvGrpSpPr>
          <p:cNvPr id="210" name="Group 37">
            <a:extLst>
              <a:ext uri="{FF2B5EF4-FFF2-40B4-BE49-F238E27FC236}">
                <a16:creationId xmlns:a16="http://schemas.microsoft.com/office/drawing/2014/main" id="{09358D04-CB4E-924F-B392-361B873A9C36}"/>
              </a:ext>
            </a:extLst>
          </p:cNvPr>
          <p:cNvGrpSpPr>
            <a:grpSpLocks/>
          </p:cNvGrpSpPr>
          <p:nvPr/>
        </p:nvGrpSpPr>
        <p:grpSpPr bwMode="auto">
          <a:xfrm>
            <a:off x="1755786" y="2373806"/>
            <a:ext cx="1103710" cy="384572"/>
            <a:chOff x="850" y="1159"/>
            <a:chExt cx="927" cy="323"/>
          </a:xfrm>
        </p:grpSpPr>
        <p:sp>
          <p:nvSpPr>
            <p:cNvPr id="211" name="Line 19">
              <a:extLst>
                <a:ext uri="{FF2B5EF4-FFF2-40B4-BE49-F238E27FC236}">
                  <a16:creationId xmlns:a16="http://schemas.microsoft.com/office/drawing/2014/main" id="{E1536B10-88F6-7D46-8019-7977772178F2}"/>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12" name="Text Box 28">
              <a:extLst>
                <a:ext uri="{FF2B5EF4-FFF2-40B4-BE49-F238E27FC236}">
                  <a16:creationId xmlns:a16="http://schemas.microsoft.com/office/drawing/2014/main" id="{A675AD5E-AFEE-4949-B39C-59B23A44989E}"/>
                </a:ext>
              </a:extLst>
            </p:cNvPr>
            <p:cNvSpPr txBox="1">
              <a:spLocks noChangeArrowheads="1"/>
            </p:cNvSpPr>
            <p:nvPr/>
          </p:nvSpPr>
          <p:spPr bwMode="auto">
            <a:xfrm>
              <a:off x="1079" y="1159"/>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pkt0</a:t>
              </a:r>
            </a:p>
          </p:txBody>
        </p:sp>
      </p:grpSp>
      <p:grpSp>
        <p:nvGrpSpPr>
          <p:cNvPr id="213" name="Group 43">
            <a:extLst>
              <a:ext uri="{FF2B5EF4-FFF2-40B4-BE49-F238E27FC236}">
                <a16:creationId xmlns:a16="http://schemas.microsoft.com/office/drawing/2014/main" id="{166F1C07-BDF7-5D4C-9BC8-70CDD30FC5D1}"/>
              </a:ext>
            </a:extLst>
          </p:cNvPr>
          <p:cNvGrpSpPr>
            <a:grpSpLocks/>
          </p:cNvGrpSpPr>
          <p:nvPr/>
        </p:nvGrpSpPr>
        <p:grpSpPr bwMode="auto">
          <a:xfrm>
            <a:off x="1751024" y="3676350"/>
            <a:ext cx="1103710" cy="365522"/>
            <a:chOff x="846" y="2253"/>
            <a:chExt cx="927" cy="307"/>
          </a:xfrm>
        </p:grpSpPr>
        <p:sp>
          <p:nvSpPr>
            <p:cNvPr id="214" name="Line 24">
              <a:extLst>
                <a:ext uri="{FF2B5EF4-FFF2-40B4-BE49-F238E27FC236}">
                  <a16:creationId xmlns:a16="http://schemas.microsoft.com/office/drawing/2014/main" id="{65D4B99D-08A4-684C-BFAA-D46F7BDFF3D7}"/>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15" name="Text Box 29">
              <a:extLst>
                <a:ext uri="{FF2B5EF4-FFF2-40B4-BE49-F238E27FC236}">
                  <a16:creationId xmlns:a16="http://schemas.microsoft.com/office/drawing/2014/main" id="{E39C763F-76C0-A342-980A-D2DA1340B692}"/>
                </a:ext>
              </a:extLst>
            </p:cNvPr>
            <p:cNvSpPr txBox="1">
              <a:spLocks noChangeArrowheads="1"/>
            </p:cNvSpPr>
            <p:nvPr/>
          </p:nvSpPr>
          <p:spPr bwMode="auto">
            <a:xfrm>
              <a:off x="1076" y="2253"/>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pkt0</a:t>
              </a:r>
            </a:p>
          </p:txBody>
        </p:sp>
      </p:grpSp>
      <p:grpSp>
        <p:nvGrpSpPr>
          <p:cNvPr id="216" name="Group 39">
            <a:extLst>
              <a:ext uri="{FF2B5EF4-FFF2-40B4-BE49-F238E27FC236}">
                <a16:creationId xmlns:a16="http://schemas.microsoft.com/office/drawing/2014/main" id="{E7B3DCA6-7A30-6E4A-B749-D291EA9179F9}"/>
              </a:ext>
            </a:extLst>
          </p:cNvPr>
          <p:cNvGrpSpPr>
            <a:grpSpLocks/>
          </p:cNvGrpSpPr>
          <p:nvPr/>
        </p:nvGrpSpPr>
        <p:grpSpPr bwMode="auto">
          <a:xfrm>
            <a:off x="1761740" y="3029841"/>
            <a:ext cx="1103709" cy="378619"/>
            <a:chOff x="855" y="1710"/>
            <a:chExt cx="927" cy="318"/>
          </a:xfrm>
        </p:grpSpPr>
        <p:sp>
          <p:nvSpPr>
            <p:cNvPr id="217" name="Line 23">
              <a:extLst>
                <a:ext uri="{FF2B5EF4-FFF2-40B4-BE49-F238E27FC236}">
                  <a16:creationId xmlns:a16="http://schemas.microsoft.com/office/drawing/2014/main" id="{F48A2643-A8C6-1A4D-95B1-E19CDFD69368}"/>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18" name="Text Box 30">
              <a:extLst>
                <a:ext uri="{FF2B5EF4-FFF2-40B4-BE49-F238E27FC236}">
                  <a16:creationId xmlns:a16="http://schemas.microsoft.com/office/drawing/2014/main" id="{7B926EE6-52D5-3840-851B-CF35806F06C4}"/>
                </a:ext>
              </a:extLst>
            </p:cNvPr>
            <p:cNvSpPr txBox="1">
              <a:spLocks noChangeArrowheads="1"/>
            </p:cNvSpPr>
            <p:nvPr/>
          </p:nvSpPr>
          <p:spPr bwMode="auto">
            <a:xfrm>
              <a:off x="1073" y="1710"/>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pkt1</a:t>
              </a:r>
            </a:p>
          </p:txBody>
        </p:sp>
      </p:grpSp>
      <p:grpSp>
        <p:nvGrpSpPr>
          <p:cNvPr id="219" name="Group 40">
            <a:extLst>
              <a:ext uri="{FF2B5EF4-FFF2-40B4-BE49-F238E27FC236}">
                <a16:creationId xmlns:a16="http://schemas.microsoft.com/office/drawing/2014/main" id="{A3009243-363B-554D-BAFE-7119F17A8E3E}"/>
              </a:ext>
            </a:extLst>
          </p:cNvPr>
          <p:cNvGrpSpPr>
            <a:grpSpLocks/>
          </p:cNvGrpSpPr>
          <p:nvPr/>
        </p:nvGrpSpPr>
        <p:grpSpPr bwMode="auto">
          <a:xfrm>
            <a:off x="1751024" y="3378694"/>
            <a:ext cx="1103710" cy="353615"/>
            <a:chOff x="846" y="2003"/>
            <a:chExt cx="927" cy="297"/>
          </a:xfrm>
        </p:grpSpPr>
        <p:sp>
          <p:nvSpPr>
            <p:cNvPr id="220" name="Line 26">
              <a:extLst>
                <a:ext uri="{FF2B5EF4-FFF2-40B4-BE49-F238E27FC236}">
                  <a16:creationId xmlns:a16="http://schemas.microsoft.com/office/drawing/2014/main" id="{D3AA85D2-AF11-984A-9EAB-8E45BC868FA2}"/>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21" name="Text Box 31">
              <a:extLst>
                <a:ext uri="{FF2B5EF4-FFF2-40B4-BE49-F238E27FC236}">
                  <a16:creationId xmlns:a16="http://schemas.microsoft.com/office/drawing/2014/main" id="{7037D874-E673-BB42-9499-C5B48BC3341A}"/>
                </a:ext>
              </a:extLst>
            </p:cNvPr>
            <p:cNvSpPr txBox="1">
              <a:spLocks noChangeArrowheads="1"/>
            </p:cNvSpPr>
            <p:nvPr/>
          </p:nvSpPr>
          <p:spPr bwMode="auto">
            <a:xfrm>
              <a:off x="1071" y="2003"/>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ack1</a:t>
              </a:r>
            </a:p>
          </p:txBody>
        </p:sp>
      </p:grpSp>
      <p:grpSp>
        <p:nvGrpSpPr>
          <p:cNvPr id="222" name="Group 38">
            <a:extLst>
              <a:ext uri="{FF2B5EF4-FFF2-40B4-BE49-F238E27FC236}">
                <a16:creationId xmlns:a16="http://schemas.microsoft.com/office/drawing/2014/main" id="{132C8471-3B30-C44D-B74D-246FC786F37F}"/>
              </a:ext>
            </a:extLst>
          </p:cNvPr>
          <p:cNvGrpSpPr>
            <a:grpSpLocks/>
          </p:cNvGrpSpPr>
          <p:nvPr/>
        </p:nvGrpSpPr>
        <p:grpSpPr bwMode="auto">
          <a:xfrm>
            <a:off x="1745071" y="2748853"/>
            <a:ext cx="1103709" cy="341710"/>
            <a:chOff x="841" y="1474"/>
            <a:chExt cx="927" cy="287"/>
          </a:xfrm>
        </p:grpSpPr>
        <p:sp>
          <p:nvSpPr>
            <p:cNvPr id="223" name="Line 25">
              <a:extLst>
                <a:ext uri="{FF2B5EF4-FFF2-40B4-BE49-F238E27FC236}">
                  <a16:creationId xmlns:a16="http://schemas.microsoft.com/office/drawing/2014/main" id="{6959994A-0B95-094C-9702-6ACA4337EA2D}"/>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24" name="Text Box 32">
              <a:extLst>
                <a:ext uri="{FF2B5EF4-FFF2-40B4-BE49-F238E27FC236}">
                  <a16:creationId xmlns:a16="http://schemas.microsoft.com/office/drawing/2014/main" id="{DCF9302E-EEF0-B04C-A3CA-B6C1A0083288}"/>
                </a:ext>
              </a:extLst>
            </p:cNvPr>
            <p:cNvSpPr txBox="1">
              <a:spLocks noChangeArrowheads="1"/>
            </p:cNvSpPr>
            <p:nvPr/>
          </p:nvSpPr>
          <p:spPr bwMode="auto">
            <a:xfrm>
              <a:off x="1089" y="1474"/>
              <a:ext cx="48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ack0</a:t>
              </a:r>
            </a:p>
          </p:txBody>
        </p:sp>
      </p:grpSp>
      <p:grpSp>
        <p:nvGrpSpPr>
          <p:cNvPr id="225" name="Group 44">
            <a:extLst>
              <a:ext uri="{FF2B5EF4-FFF2-40B4-BE49-F238E27FC236}">
                <a16:creationId xmlns:a16="http://schemas.microsoft.com/office/drawing/2014/main" id="{6DBBBBE3-388C-C24B-A7D7-89C703BC089D}"/>
              </a:ext>
            </a:extLst>
          </p:cNvPr>
          <p:cNvGrpSpPr>
            <a:grpSpLocks/>
          </p:cNvGrpSpPr>
          <p:nvPr/>
        </p:nvGrpSpPr>
        <p:grpSpPr bwMode="auto">
          <a:xfrm>
            <a:off x="1740308" y="4018060"/>
            <a:ext cx="1103709" cy="346472"/>
            <a:chOff x="837" y="2540"/>
            <a:chExt cx="927" cy="291"/>
          </a:xfrm>
        </p:grpSpPr>
        <p:sp>
          <p:nvSpPr>
            <p:cNvPr id="226" name="Line 27">
              <a:extLst>
                <a:ext uri="{FF2B5EF4-FFF2-40B4-BE49-F238E27FC236}">
                  <a16:creationId xmlns:a16="http://schemas.microsoft.com/office/drawing/2014/main" id="{7E664FD8-996B-124A-B106-386F80EF50EE}"/>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27" name="Text Box 33">
              <a:extLst>
                <a:ext uri="{FF2B5EF4-FFF2-40B4-BE49-F238E27FC236}">
                  <a16:creationId xmlns:a16="http://schemas.microsoft.com/office/drawing/2014/main" id="{E9D2F746-6389-2444-A5E1-6FB42FF57ED6}"/>
                </a:ext>
              </a:extLst>
            </p:cNvPr>
            <p:cNvSpPr txBox="1">
              <a:spLocks noChangeArrowheads="1"/>
            </p:cNvSpPr>
            <p:nvPr/>
          </p:nvSpPr>
          <p:spPr bwMode="auto">
            <a:xfrm>
              <a:off x="1065" y="2540"/>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ack0</a:t>
              </a:r>
            </a:p>
          </p:txBody>
        </p:sp>
      </p:grpSp>
      <p:sp>
        <p:nvSpPr>
          <p:cNvPr id="228" name="Text Box 45">
            <a:extLst>
              <a:ext uri="{FF2B5EF4-FFF2-40B4-BE49-F238E27FC236}">
                <a16:creationId xmlns:a16="http://schemas.microsoft.com/office/drawing/2014/main" id="{0A93A727-0C76-DB44-9B3D-D9D92A7DB9C6}"/>
              </a:ext>
            </a:extLst>
          </p:cNvPr>
          <p:cNvSpPr txBox="1">
            <a:spLocks noChangeArrowheads="1"/>
          </p:cNvSpPr>
          <p:nvPr/>
        </p:nvSpPr>
        <p:spPr bwMode="auto">
          <a:xfrm>
            <a:off x="1943099" y="4827684"/>
            <a:ext cx="99578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(a) no loss</a:t>
            </a:r>
          </a:p>
        </p:txBody>
      </p:sp>
      <p:sp>
        <p:nvSpPr>
          <p:cNvPr id="229" name="Text Box 46">
            <a:extLst>
              <a:ext uri="{FF2B5EF4-FFF2-40B4-BE49-F238E27FC236}">
                <a16:creationId xmlns:a16="http://schemas.microsoft.com/office/drawing/2014/main" id="{B77F9079-0CCA-744D-9DFE-229523FF9EEF}"/>
              </a:ext>
            </a:extLst>
          </p:cNvPr>
          <p:cNvSpPr txBox="1">
            <a:spLocks noChangeArrowheads="1"/>
          </p:cNvSpPr>
          <p:nvPr/>
        </p:nvSpPr>
        <p:spPr bwMode="auto">
          <a:xfrm>
            <a:off x="5283537" y="1953516"/>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0099"/>
                </a:solidFill>
              </a:rPr>
              <a:t>sender</a:t>
            </a:r>
          </a:p>
        </p:txBody>
      </p:sp>
      <p:sp>
        <p:nvSpPr>
          <p:cNvPr id="230" name="Text Box 47">
            <a:extLst>
              <a:ext uri="{FF2B5EF4-FFF2-40B4-BE49-F238E27FC236}">
                <a16:creationId xmlns:a16="http://schemas.microsoft.com/office/drawing/2014/main" id="{B39810E0-29DE-BE4C-BF65-C4554F0C2A10}"/>
              </a:ext>
            </a:extLst>
          </p:cNvPr>
          <p:cNvSpPr txBox="1">
            <a:spLocks noChangeArrowheads="1"/>
          </p:cNvSpPr>
          <p:nvPr/>
        </p:nvSpPr>
        <p:spPr bwMode="auto">
          <a:xfrm>
            <a:off x="7115236" y="194994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8000"/>
                </a:solidFill>
              </a:rPr>
              <a:t>receiver</a:t>
            </a:r>
          </a:p>
        </p:txBody>
      </p:sp>
      <p:sp>
        <p:nvSpPr>
          <p:cNvPr id="231" name="Text Box 48">
            <a:extLst>
              <a:ext uri="{FF2B5EF4-FFF2-40B4-BE49-F238E27FC236}">
                <a16:creationId xmlns:a16="http://schemas.microsoft.com/office/drawing/2014/main" id="{C93070BC-AD37-CE48-8113-A425136649B5}"/>
              </a:ext>
            </a:extLst>
          </p:cNvPr>
          <p:cNvSpPr txBox="1">
            <a:spLocks noChangeArrowheads="1"/>
          </p:cNvSpPr>
          <p:nvPr/>
        </p:nvSpPr>
        <p:spPr bwMode="auto">
          <a:xfrm>
            <a:off x="7114485" y="4137121"/>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pkt1</a:t>
            </a:r>
          </a:p>
        </p:txBody>
      </p:sp>
      <p:sp>
        <p:nvSpPr>
          <p:cNvPr id="232" name="Text Box 49">
            <a:extLst>
              <a:ext uri="{FF2B5EF4-FFF2-40B4-BE49-F238E27FC236}">
                <a16:creationId xmlns:a16="http://schemas.microsoft.com/office/drawing/2014/main" id="{BAC5BE6B-684D-294E-91C5-DD7058B132AB}"/>
              </a:ext>
            </a:extLst>
          </p:cNvPr>
          <p:cNvSpPr txBox="1">
            <a:spLocks noChangeArrowheads="1"/>
          </p:cNvSpPr>
          <p:nvPr/>
        </p:nvSpPr>
        <p:spPr bwMode="auto">
          <a:xfrm>
            <a:off x="7120438" y="476815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sp>
        <p:nvSpPr>
          <p:cNvPr id="233" name="Text Box 50">
            <a:extLst>
              <a:ext uri="{FF2B5EF4-FFF2-40B4-BE49-F238E27FC236}">
                <a16:creationId xmlns:a16="http://schemas.microsoft.com/office/drawing/2014/main" id="{38A95A95-ECA6-1F4F-BB93-8A237B92F265}"/>
              </a:ext>
            </a:extLst>
          </p:cNvPr>
          <p:cNvSpPr txBox="1">
            <a:spLocks noChangeArrowheads="1"/>
          </p:cNvSpPr>
          <p:nvPr/>
        </p:nvSpPr>
        <p:spPr bwMode="auto">
          <a:xfrm>
            <a:off x="7117335" y="2653603"/>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sp>
        <p:nvSpPr>
          <p:cNvPr id="234" name="Text Box 51">
            <a:extLst>
              <a:ext uri="{FF2B5EF4-FFF2-40B4-BE49-F238E27FC236}">
                <a16:creationId xmlns:a16="http://schemas.microsoft.com/office/drawing/2014/main" id="{E34E5A4F-7761-E54D-9493-85E43D4F88E3}"/>
              </a:ext>
            </a:extLst>
          </p:cNvPr>
          <p:cNvSpPr txBox="1">
            <a:spLocks noChangeArrowheads="1"/>
          </p:cNvSpPr>
          <p:nvPr/>
        </p:nvSpPr>
        <p:spPr bwMode="auto">
          <a:xfrm>
            <a:off x="7114954" y="4295475"/>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ack1</a:t>
            </a:r>
          </a:p>
        </p:txBody>
      </p:sp>
      <p:sp>
        <p:nvSpPr>
          <p:cNvPr id="235" name="Text Box 52">
            <a:extLst>
              <a:ext uri="{FF2B5EF4-FFF2-40B4-BE49-F238E27FC236}">
                <a16:creationId xmlns:a16="http://schemas.microsoft.com/office/drawing/2014/main" id="{D16E11FB-EE35-2140-B6B1-8BA74CDF3465}"/>
              </a:ext>
            </a:extLst>
          </p:cNvPr>
          <p:cNvSpPr txBox="1">
            <a:spLocks noChangeArrowheads="1"/>
          </p:cNvSpPr>
          <p:nvPr/>
        </p:nvSpPr>
        <p:spPr bwMode="auto">
          <a:xfrm>
            <a:off x="7114954" y="4914600"/>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sp>
        <p:nvSpPr>
          <p:cNvPr id="236" name="Text Box 53">
            <a:extLst>
              <a:ext uri="{FF2B5EF4-FFF2-40B4-BE49-F238E27FC236}">
                <a16:creationId xmlns:a16="http://schemas.microsoft.com/office/drawing/2014/main" id="{7C3E4221-F85D-7A47-8A21-C9CAD5DD38EB}"/>
              </a:ext>
            </a:extLst>
          </p:cNvPr>
          <p:cNvSpPr txBox="1">
            <a:spLocks noChangeArrowheads="1"/>
          </p:cNvSpPr>
          <p:nvPr/>
        </p:nvSpPr>
        <p:spPr bwMode="auto">
          <a:xfrm>
            <a:off x="5229243" y="2840531"/>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ack0</a:t>
            </a:r>
          </a:p>
        </p:txBody>
      </p:sp>
      <p:sp>
        <p:nvSpPr>
          <p:cNvPr id="237" name="Text Box 54">
            <a:extLst>
              <a:ext uri="{FF2B5EF4-FFF2-40B4-BE49-F238E27FC236}">
                <a16:creationId xmlns:a16="http://schemas.microsoft.com/office/drawing/2014/main" id="{5EBBB81F-0421-D749-BA75-69B429681049}"/>
              </a:ext>
            </a:extLst>
          </p:cNvPr>
          <p:cNvSpPr txBox="1">
            <a:spLocks noChangeArrowheads="1"/>
          </p:cNvSpPr>
          <p:nvPr/>
        </p:nvSpPr>
        <p:spPr bwMode="auto">
          <a:xfrm>
            <a:off x="5112805" y="4619325"/>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238" name="Text Box 55">
            <a:extLst>
              <a:ext uri="{FF2B5EF4-FFF2-40B4-BE49-F238E27FC236}">
                <a16:creationId xmlns:a16="http://schemas.microsoft.com/office/drawing/2014/main" id="{D284D67E-01F5-D942-9024-5147EB6ECBF7}"/>
              </a:ext>
            </a:extLst>
          </p:cNvPr>
          <p:cNvSpPr txBox="1">
            <a:spLocks noChangeArrowheads="1"/>
          </p:cNvSpPr>
          <p:nvPr/>
        </p:nvSpPr>
        <p:spPr bwMode="auto">
          <a:xfrm>
            <a:off x="5112805" y="3004837"/>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pkt1</a:t>
            </a:r>
          </a:p>
        </p:txBody>
      </p:sp>
      <p:sp>
        <p:nvSpPr>
          <p:cNvPr id="239" name="Text Box 56">
            <a:extLst>
              <a:ext uri="{FF2B5EF4-FFF2-40B4-BE49-F238E27FC236}">
                <a16:creationId xmlns:a16="http://schemas.microsoft.com/office/drawing/2014/main" id="{A96E3C21-E923-6641-9449-C311D50094E5}"/>
              </a:ext>
            </a:extLst>
          </p:cNvPr>
          <p:cNvSpPr txBox="1">
            <a:spLocks noChangeArrowheads="1"/>
          </p:cNvSpPr>
          <p:nvPr/>
        </p:nvSpPr>
        <p:spPr bwMode="auto">
          <a:xfrm>
            <a:off x="5220909" y="4439540"/>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ack1</a:t>
            </a:r>
          </a:p>
        </p:txBody>
      </p:sp>
      <p:sp>
        <p:nvSpPr>
          <p:cNvPr id="240" name="Text Box 57">
            <a:extLst>
              <a:ext uri="{FF2B5EF4-FFF2-40B4-BE49-F238E27FC236}">
                <a16:creationId xmlns:a16="http://schemas.microsoft.com/office/drawing/2014/main" id="{B3857487-8C16-8749-B6F0-A61DA7842D1C}"/>
              </a:ext>
            </a:extLst>
          </p:cNvPr>
          <p:cNvSpPr txBox="1">
            <a:spLocks noChangeArrowheads="1"/>
          </p:cNvSpPr>
          <p:nvPr/>
        </p:nvSpPr>
        <p:spPr bwMode="auto">
          <a:xfrm>
            <a:off x="5104471" y="2283319"/>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241" name="Text Box 58">
            <a:extLst>
              <a:ext uri="{FF2B5EF4-FFF2-40B4-BE49-F238E27FC236}">
                <a16:creationId xmlns:a16="http://schemas.microsoft.com/office/drawing/2014/main" id="{09BE22F1-E2C7-F840-9EDB-010AB9975B0E}"/>
              </a:ext>
            </a:extLst>
          </p:cNvPr>
          <p:cNvSpPr txBox="1">
            <a:spLocks noChangeArrowheads="1"/>
          </p:cNvSpPr>
          <p:nvPr/>
        </p:nvSpPr>
        <p:spPr bwMode="auto">
          <a:xfrm>
            <a:off x="7112104" y="2495250"/>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grpSp>
        <p:nvGrpSpPr>
          <p:cNvPr id="242" name="Group 59">
            <a:extLst>
              <a:ext uri="{FF2B5EF4-FFF2-40B4-BE49-F238E27FC236}">
                <a16:creationId xmlns:a16="http://schemas.microsoft.com/office/drawing/2014/main" id="{E96023CD-98EA-4D46-A675-AEE190E94DA3}"/>
              </a:ext>
            </a:extLst>
          </p:cNvPr>
          <p:cNvGrpSpPr>
            <a:grpSpLocks/>
          </p:cNvGrpSpPr>
          <p:nvPr/>
        </p:nvGrpSpPr>
        <p:grpSpPr bwMode="auto">
          <a:xfrm>
            <a:off x="6043394" y="2335706"/>
            <a:ext cx="1103709" cy="384572"/>
            <a:chOff x="850" y="1159"/>
            <a:chExt cx="927" cy="323"/>
          </a:xfrm>
        </p:grpSpPr>
        <p:sp>
          <p:nvSpPr>
            <p:cNvPr id="243" name="Line 60">
              <a:extLst>
                <a:ext uri="{FF2B5EF4-FFF2-40B4-BE49-F238E27FC236}">
                  <a16:creationId xmlns:a16="http://schemas.microsoft.com/office/drawing/2014/main" id="{3DC88CCC-5C5E-6A40-BBC7-416C5ED63E7A}"/>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44" name="Text Box 61">
              <a:extLst>
                <a:ext uri="{FF2B5EF4-FFF2-40B4-BE49-F238E27FC236}">
                  <a16:creationId xmlns:a16="http://schemas.microsoft.com/office/drawing/2014/main" id="{15663F65-17E3-8A4B-A7CB-12678A320623}"/>
                </a:ext>
              </a:extLst>
            </p:cNvPr>
            <p:cNvSpPr txBox="1">
              <a:spLocks noChangeArrowheads="1"/>
            </p:cNvSpPr>
            <p:nvPr/>
          </p:nvSpPr>
          <p:spPr bwMode="auto">
            <a:xfrm>
              <a:off x="1079" y="1159"/>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pkt0</a:t>
              </a:r>
            </a:p>
          </p:txBody>
        </p:sp>
      </p:grpSp>
      <p:grpSp>
        <p:nvGrpSpPr>
          <p:cNvPr id="245" name="Group 62">
            <a:extLst>
              <a:ext uri="{FF2B5EF4-FFF2-40B4-BE49-F238E27FC236}">
                <a16:creationId xmlns:a16="http://schemas.microsoft.com/office/drawing/2014/main" id="{A3E86C2E-1598-F746-90BA-375EC32E7F63}"/>
              </a:ext>
            </a:extLst>
          </p:cNvPr>
          <p:cNvGrpSpPr>
            <a:grpSpLocks/>
          </p:cNvGrpSpPr>
          <p:nvPr/>
        </p:nvGrpSpPr>
        <p:grpSpPr bwMode="auto">
          <a:xfrm>
            <a:off x="6038632" y="4596703"/>
            <a:ext cx="1103709" cy="365522"/>
            <a:chOff x="846" y="2253"/>
            <a:chExt cx="927" cy="307"/>
          </a:xfrm>
        </p:grpSpPr>
        <p:sp>
          <p:nvSpPr>
            <p:cNvPr id="246" name="Line 63">
              <a:extLst>
                <a:ext uri="{FF2B5EF4-FFF2-40B4-BE49-F238E27FC236}">
                  <a16:creationId xmlns:a16="http://schemas.microsoft.com/office/drawing/2014/main" id="{0290E24F-CA8A-7D41-AD89-945F9061C269}"/>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47" name="Text Box 64">
              <a:extLst>
                <a:ext uri="{FF2B5EF4-FFF2-40B4-BE49-F238E27FC236}">
                  <a16:creationId xmlns:a16="http://schemas.microsoft.com/office/drawing/2014/main" id="{95787234-AC16-C64F-BAAF-6116E3A1CE69}"/>
                </a:ext>
              </a:extLst>
            </p:cNvPr>
            <p:cNvSpPr txBox="1">
              <a:spLocks noChangeArrowheads="1"/>
            </p:cNvSpPr>
            <p:nvPr/>
          </p:nvSpPr>
          <p:spPr bwMode="auto">
            <a:xfrm>
              <a:off x="1076" y="2253"/>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pkt0</a:t>
              </a:r>
            </a:p>
          </p:txBody>
        </p:sp>
      </p:grpSp>
      <p:grpSp>
        <p:nvGrpSpPr>
          <p:cNvPr id="248" name="Group 68">
            <a:extLst>
              <a:ext uri="{FF2B5EF4-FFF2-40B4-BE49-F238E27FC236}">
                <a16:creationId xmlns:a16="http://schemas.microsoft.com/office/drawing/2014/main" id="{8F7C7CC8-14B9-8842-9B0D-6DB644B899AA}"/>
              </a:ext>
            </a:extLst>
          </p:cNvPr>
          <p:cNvGrpSpPr>
            <a:grpSpLocks/>
          </p:cNvGrpSpPr>
          <p:nvPr/>
        </p:nvGrpSpPr>
        <p:grpSpPr bwMode="auto">
          <a:xfrm>
            <a:off x="6038632" y="4299047"/>
            <a:ext cx="1103709" cy="353616"/>
            <a:chOff x="846" y="2003"/>
            <a:chExt cx="927" cy="297"/>
          </a:xfrm>
        </p:grpSpPr>
        <p:sp>
          <p:nvSpPr>
            <p:cNvPr id="249" name="Line 69">
              <a:extLst>
                <a:ext uri="{FF2B5EF4-FFF2-40B4-BE49-F238E27FC236}">
                  <a16:creationId xmlns:a16="http://schemas.microsoft.com/office/drawing/2014/main" id="{DC51DCB8-7F03-FF43-8481-0BB950FB4328}"/>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0" name="Text Box 70">
              <a:extLst>
                <a:ext uri="{FF2B5EF4-FFF2-40B4-BE49-F238E27FC236}">
                  <a16:creationId xmlns:a16="http://schemas.microsoft.com/office/drawing/2014/main" id="{2CACB117-AF7D-BF48-9824-6A98B36986C8}"/>
                </a:ext>
              </a:extLst>
            </p:cNvPr>
            <p:cNvSpPr txBox="1">
              <a:spLocks noChangeArrowheads="1"/>
            </p:cNvSpPr>
            <p:nvPr/>
          </p:nvSpPr>
          <p:spPr bwMode="auto">
            <a:xfrm>
              <a:off x="1071" y="2003"/>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ack1</a:t>
              </a:r>
            </a:p>
          </p:txBody>
        </p:sp>
      </p:grpSp>
      <p:grpSp>
        <p:nvGrpSpPr>
          <p:cNvPr id="251" name="Group 71">
            <a:extLst>
              <a:ext uri="{FF2B5EF4-FFF2-40B4-BE49-F238E27FC236}">
                <a16:creationId xmlns:a16="http://schemas.microsoft.com/office/drawing/2014/main" id="{F9559054-8E07-D140-B2BF-83D78FFEDE1F}"/>
              </a:ext>
            </a:extLst>
          </p:cNvPr>
          <p:cNvGrpSpPr>
            <a:grpSpLocks/>
          </p:cNvGrpSpPr>
          <p:nvPr/>
        </p:nvGrpSpPr>
        <p:grpSpPr bwMode="auto">
          <a:xfrm>
            <a:off x="6032679" y="2710753"/>
            <a:ext cx="1103710" cy="341710"/>
            <a:chOff x="841" y="1474"/>
            <a:chExt cx="927" cy="287"/>
          </a:xfrm>
        </p:grpSpPr>
        <p:sp>
          <p:nvSpPr>
            <p:cNvPr id="252" name="Line 72">
              <a:extLst>
                <a:ext uri="{FF2B5EF4-FFF2-40B4-BE49-F238E27FC236}">
                  <a16:creationId xmlns:a16="http://schemas.microsoft.com/office/drawing/2014/main" id="{EC1868E2-1895-8348-966C-93D06CFC83C8}"/>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53" name="Text Box 73">
              <a:extLst>
                <a:ext uri="{FF2B5EF4-FFF2-40B4-BE49-F238E27FC236}">
                  <a16:creationId xmlns:a16="http://schemas.microsoft.com/office/drawing/2014/main" id="{DF711AA0-D78D-444E-9703-4A59DF126C5B}"/>
                </a:ext>
              </a:extLst>
            </p:cNvPr>
            <p:cNvSpPr txBox="1">
              <a:spLocks noChangeArrowheads="1"/>
            </p:cNvSpPr>
            <p:nvPr/>
          </p:nvSpPr>
          <p:spPr bwMode="auto">
            <a:xfrm>
              <a:off x="1068" y="1474"/>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ack0</a:t>
              </a:r>
            </a:p>
          </p:txBody>
        </p:sp>
      </p:grpSp>
      <p:grpSp>
        <p:nvGrpSpPr>
          <p:cNvPr id="254" name="Group 74">
            <a:extLst>
              <a:ext uri="{FF2B5EF4-FFF2-40B4-BE49-F238E27FC236}">
                <a16:creationId xmlns:a16="http://schemas.microsoft.com/office/drawing/2014/main" id="{07374028-39C8-2B49-A708-435D85A50ED2}"/>
              </a:ext>
            </a:extLst>
          </p:cNvPr>
          <p:cNvGrpSpPr>
            <a:grpSpLocks/>
          </p:cNvGrpSpPr>
          <p:nvPr/>
        </p:nvGrpSpPr>
        <p:grpSpPr bwMode="auto">
          <a:xfrm>
            <a:off x="6027916" y="4934841"/>
            <a:ext cx="1103710" cy="350044"/>
            <a:chOff x="837" y="2537"/>
            <a:chExt cx="927" cy="294"/>
          </a:xfrm>
        </p:grpSpPr>
        <p:sp>
          <p:nvSpPr>
            <p:cNvPr id="255" name="Line 75">
              <a:extLst>
                <a:ext uri="{FF2B5EF4-FFF2-40B4-BE49-F238E27FC236}">
                  <a16:creationId xmlns:a16="http://schemas.microsoft.com/office/drawing/2014/main" id="{1B77C38B-89D8-4841-83E6-E0FE3FC2BA37}"/>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56" name="Text Box 76">
              <a:extLst>
                <a:ext uri="{FF2B5EF4-FFF2-40B4-BE49-F238E27FC236}">
                  <a16:creationId xmlns:a16="http://schemas.microsoft.com/office/drawing/2014/main" id="{5D036972-8C50-0C4C-9765-18BFA21A4E63}"/>
                </a:ext>
              </a:extLst>
            </p:cNvPr>
            <p:cNvSpPr txBox="1">
              <a:spLocks noChangeArrowheads="1"/>
            </p:cNvSpPr>
            <p:nvPr/>
          </p:nvSpPr>
          <p:spPr bwMode="auto">
            <a:xfrm>
              <a:off x="1071" y="2537"/>
              <a:ext cx="41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8000"/>
                  </a:solidFill>
                </a:rPr>
                <a:t>ack0</a:t>
              </a:r>
            </a:p>
          </p:txBody>
        </p:sp>
      </p:grpSp>
      <p:sp>
        <p:nvSpPr>
          <p:cNvPr id="257" name="Text Box 78">
            <a:extLst>
              <a:ext uri="{FF2B5EF4-FFF2-40B4-BE49-F238E27FC236}">
                <a16:creationId xmlns:a16="http://schemas.microsoft.com/office/drawing/2014/main" id="{369CE47E-1D71-7744-95BB-CAB6F57A655D}"/>
              </a:ext>
            </a:extLst>
          </p:cNvPr>
          <p:cNvSpPr txBox="1">
            <a:spLocks noChangeArrowheads="1"/>
          </p:cNvSpPr>
          <p:nvPr/>
        </p:nvSpPr>
        <p:spPr bwMode="auto">
          <a:xfrm>
            <a:off x="6068436" y="5512759"/>
            <a:ext cx="1313181"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(b) packet loss</a:t>
            </a:r>
          </a:p>
        </p:txBody>
      </p:sp>
      <p:grpSp>
        <p:nvGrpSpPr>
          <p:cNvPr id="258" name="Group 81">
            <a:extLst>
              <a:ext uri="{FF2B5EF4-FFF2-40B4-BE49-F238E27FC236}">
                <a16:creationId xmlns:a16="http://schemas.microsoft.com/office/drawing/2014/main" id="{58D1FC7F-D1DB-9742-BCDA-95EAEA7F7541}"/>
              </a:ext>
            </a:extLst>
          </p:cNvPr>
          <p:cNvGrpSpPr>
            <a:grpSpLocks/>
          </p:cNvGrpSpPr>
          <p:nvPr/>
        </p:nvGrpSpPr>
        <p:grpSpPr bwMode="auto">
          <a:xfrm>
            <a:off x="6049343" y="2991741"/>
            <a:ext cx="894159" cy="578644"/>
            <a:chOff x="3726" y="1687"/>
            <a:chExt cx="751" cy="486"/>
          </a:xfrm>
        </p:grpSpPr>
        <p:sp>
          <p:nvSpPr>
            <p:cNvPr id="259" name="Line 66">
              <a:extLst>
                <a:ext uri="{FF2B5EF4-FFF2-40B4-BE49-F238E27FC236}">
                  <a16:creationId xmlns:a16="http://schemas.microsoft.com/office/drawing/2014/main" id="{8586B367-BD51-F743-AED9-6217A75B9EB8}"/>
                </a:ext>
              </a:extLst>
            </p:cNvPr>
            <p:cNvSpPr>
              <a:spLocks noChangeShapeType="1"/>
            </p:cNvSpPr>
            <p:nvPr/>
          </p:nvSpPr>
          <p:spPr bwMode="auto">
            <a:xfrm>
              <a:off x="3726" y="1780"/>
              <a:ext cx="548" cy="148"/>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60" name="Text Box 67">
              <a:extLst>
                <a:ext uri="{FF2B5EF4-FFF2-40B4-BE49-F238E27FC236}">
                  <a16:creationId xmlns:a16="http://schemas.microsoft.com/office/drawing/2014/main" id="{45395DCC-EA5A-E34D-854F-760FBAD59874}"/>
                </a:ext>
              </a:extLst>
            </p:cNvPr>
            <p:cNvSpPr txBox="1">
              <a:spLocks noChangeArrowheads="1"/>
            </p:cNvSpPr>
            <p:nvPr/>
          </p:nvSpPr>
          <p:spPr bwMode="auto">
            <a:xfrm>
              <a:off x="3944" y="1687"/>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99"/>
                  </a:solidFill>
                  <a:latin typeface="Arial" charset="0"/>
                </a:rPr>
                <a:t>pkt1</a:t>
              </a:r>
            </a:p>
          </p:txBody>
        </p:sp>
        <p:sp>
          <p:nvSpPr>
            <p:cNvPr id="261" name="Text Box 79">
              <a:extLst>
                <a:ext uri="{FF2B5EF4-FFF2-40B4-BE49-F238E27FC236}">
                  <a16:creationId xmlns:a16="http://schemas.microsoft.com/office/drawing/2014/main" id="{28259E79-639E-E24B-A02E-4313B3CAB50B}"/>
                </a:ext>
              </a:extLst>
            </p:cNvPr>
            <p:cNvSpPr txBox="1">
              <a:spLocks noChangeArrowheads="1"/>
            </p:cNvSpPr>
            <p:nvPr/>
          </p:nvSpPr>
          <p:spPr bwMode="auto">
            <a:xfrm>
              <a:off x="4165" y="1808"/>
              <a:ext cx="25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b="1" kern="0" dirty="0">
                  <a:solidFill>
                    <a:srgbClr val="FF0000"/>
                  </a:solidFill>
                </a:rPr>
                <a:t>X</a:t>
              </a:r>
            </a:p>
          </p:txBody>
        </p:sp>
        <p:sp>
          <p:nvSpPr>
            <p:cNvPr id="262" name="Text Box 80">
              <a:extLst>
                <a:ext uri="{FF2B5EF4-FFF2-40B4-BE49-F238E27FC236}">
                  <a16:creationId xmlns:a16="http://schemas.microsoft.com/office/drawing/2014/main" id="{8928A415-686E-1940-B399-6DD126A266C2}"/>
                </a:ext>
              </a:extLst>
            </p:cNvPr>
            <p:cNvSpPr txBox="1">
              <a:spLocks noChangeArrowheads="1"/>
            </p:cNvSpPr>
            <p:nvPr/>
          </p:nvSpPr>
          <p:spPr bwMode="auto">
            <a:xfrm>
              <a:off x="4106" y="1940"/>
              <a:ext cx="37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dirty="0">
                  <a:solidFill>
                    <a:srgbClr val="FF0000"/>
                  </a:solidFill>
                </a:rPr>
                <a:t>loss</a:t>
              </a:r>
            </a:p>
          </p:txBody>
        </p:sp>
      </p:grpSp>
      <p:grpSp>
        <p:nvGrpSpPr>
          <p:cNvPr id="263" name="Group 86">
            <a:extLst>
              <a:ext uri="{FF2B5EF4-FFF2-40B4-BE49-F238E27FC236}">
                <a16:creationId xmlns:a16="http://schemas.microsoft.com/office/drawing/2014/main" id="{0751228C-C56A-4145-9744-AA4B5D7B422B}"/>
              </a:ext>
            </a:extLst>
          </p:cNvPr>
          <p:cNvGrpSpPr>
            <a:grpSpLocks/>
          </p:cNvGrpSpPr>
          <p:nvPr/>
        </p:nvGrpSpPr>
        <p:grpSpPr bwMode="auto">
          <a:xfrm>
            <a:off x="5960051" y="3219150"/>
            <a:ext cx="91678" cy="775097"/>
            <a:chOff x="3651" y="1878"/>
            <a:chExt cx="78" cy="963"/>
          </a:xfrm>
        </p:grpSpPr>
        <p:sp>
          <p:nvSpPr>
            <p:cNvPr id="264" name="Line 82">
              <a:extLst>
                <a:ext uri="{FF2B5EF4-FFF2-40B4-BE49-F238E27FC236}">
                  <a16:creationId xmlns:a16="http://schemas.microsoft.com/office/drawing/2014/main" id="{3C08A3AA-5F97-BA41-9BF4-A9FAFC6B700B}"/>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65" name="Line 84">
              <a:extLst>
                <a:ext uri="{FF2B5EF4-FFF2-40B4-BE49-F238E27FC236}">
                  <a16:creationId xmlns:a16="http://schemas.microsoft.com/office/drawing/2014/main" id="{4B808BC0-C4AA-8A47-AD7A-9C138A93A79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266" name="Line 85">
              <a:extLst>
                <a:ext uri="{FF2B5EF4-FFF2-40B4-BE49-F238E27FC236}">
                  <a16:creationId xmlns:a16="http://schemas.microsoft.com/office/drawing/2014/main" id="{2D5E6195-4AC0-E644-96BD-40B80CE7C01E}"/>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267" name="Group 88">
            <a:extLst>
              <a:ext uri="{FF2B5EF4-FFF2-40B4-BE49-F238E27FC236}">
                <a16:creationId xmlns:a16="http://schemas.microsoft.com/office/drawing/2014/main" id="{932E32A0-5C3E-3046-BAAA-21A55DF9DD28}"/>
              </a:ext>
            </a:extLst>
          </p:cNvPr>
          <p:cNvGrpSpPr>
            <a:grpSpLocks/>
          </p:cNvGrpSpPr>
          <p:nvPr/>
        </p:nvGrpSpPr>
        <p:grpSpPr bwMode="auto">
          <a:xfrm>
            <a:off x="6056491" y="3960909"/>
            <a:ext cx="1103710" cy="378619"/>
            <a:chOff x="855" y="1710"/>
            <a:chExt cx="927" cy="318"/>
          </a:xfrm>
        </p:grpSpPr>
        <p:sp>
          <p:nvSpPr>
            <p:cNvPr id="268" name="Line 89">
              <a:extLst>
                <a:ext uri="{FF2B5EF4-FFF2-40B4-BE49-F238E27FC236}">
                  <a16:creationId xmlns:a16="http://schemas.microsoft.com/office/drawing/2014/main" id="{B54BB22F-1388-EC44-AB1D-26D4513198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69" name="Text Box 90">
              <a:extLst>
                <a:ext uri="{FF2B5EF4-FFF2-40B4-BE49-F238E27FC236}">
                  <a16:creationId xmlns:a16="http://schemas.microsoft.com/office/drawing/2014/main" id="{0D178261-4D19-EB46-A4F7-AB511FAB3D3B}"/>
                </a:ext>
              </a:extLst>
            </p:cNvPr>
            <p:cNvSpPr txBox="1">
              <a:spLocks noChangeArrowheads="1"/>
            </p:cNvSpPr>
            <p:nvPr/>
          </p:nvSpPr>
          <p:spPr bwMode="auto">
            <a:xfrm>
              <a:off x="1073" y="1710"/>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pkt1</a:t>
              </a:r>
            </a:p>
          </p:txBody>
        </p:sp>
      </p:grpSp>
      <p:grpSp>
        <p:nvGrpSpPr>
          <p:cNvPr id="270" name="Group 92">
            <a:extLst>
              <a:ext uri="{FF2B5EF4-FFF2-40B4-BE49-F238E27FC236}">
                <a16:creationId xmlns:a16="http://schemas.microsoft.com/office/drawing/2014/main" id="{2F31B7A3-D271-8245-A7D0-64CC20F4CE34}"/>
              </a:ext>
            </a:extLst>
          </p:cNvPr>
          <p:cNvGrpSpPr>
            <a:grpSpLocks/>
          </p:cNvGrpSpPr>
          <p:nvPr/>
        </p:nvGrpSpPr>
        <p:grpSpPr bwMode="auto">
          <a:xfrm>
            <a:off x="4927778" y="3678732"/>
            <a:ext cx="1088231" cy="573881"/>
            <a:chOff x="2756" y="2348"/>
            <a:chExt cx="914" cy="482"/>
          </a:xfrm>
        </p:grpSpPr>
        <p:pic>
          <p:nvPicPr>
            <p:cNvPr id="271" name="Picture 87" descr="alarm_clock_ringing">
              <a:extLst>
                <a:ext uri="{FF2B5EF4-FFF2-40B4-BE49-F238E27FC236}">
                  <a16:creationId xmlns:a16="http://schemas.microsoft.com/office/drawing/2014/main" id="{DE9E1E05-3488-EE4B-92F6-451228ABA5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2" name="Text Box 91">
              <a:extLst>
                <a:ext uri="{FF2B5EF4-FFF2-40B4-BE49-F238E27FC236}">
                  <a16:creationId xmlns:a16="http://schemas.microsoft.com/office/drawing/2014/main" id="{1CAC9FAC-E321-AF48-8EE2-DEA4784FF7C2}"/>
                </a:ext>
              </a:extLst>
            </p:cNvPr>
            <p:cNvSpPr txBox="1">
              <a:spLocks noChangeArrowheads="1"/>
            </p:cNvSpPr>
            <p:nvPr/>
          </p:nvSpPr>
          <p:spPr bwMode="auto">
            <a:xfrm>
              <a:off x="2756" y="2491"/>
              <a:ext cx="914" cy="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75000"/>
                </a:lnSpc>
                <a:spcBef>
                  <a:spcPct val="0"/>
                </a:spcBef>
                <a:spcAft>
                  <a:spcPct val="0"/>
                </a:spcAft>
                <a:defRPr/>
              </a:pPr>
              <a:r>
                <a:rPr lang="en-US" sz="1350" i="1" kern="0" dirty="0">
                  <a:solidFill>
                    <a:srgbClr val="FF0000"/>
                  </a:solidFill>
                </a:rPr>
                <a:t>timeout</a:t>
              </a:r>
            </a:p>
            <a:p>
              <a:pPr algn="r" defTabSz="685800" eaLnBrk="0" fontAlgn="base" hangingPunct="0">
                <a:lnSpc>
                  <a:spcPct val="75000"/>
                </a:lnSpc>
                <a:spcBef>
                  <a:spcPct val="0"/>
                </a:spcBef>
                <a:spcAft>
                  <a:spcPct val="0"/>
                </a:spcAft>
                <a:defRPr/>
              </a:pPr>
              <a:r>
                <a:rPr lang="en-US" sz="1350" kern="0" dirty="0">
                  <a:solidFill>
                    <a:srgbClr val="000000"/>
                  </a:solidFill>
                </a:rPr>
                <a:t>resend pkt1</a:t>
              </a:r>
            </a:p>
          </p:txBody>
        </p:sp>
      </p:grpSp>
    </p:spTree>
    <p:extLst>
      <p:ext uri="{BB962C8B-B14F-4D97-AF65-F5344CB8AC3E}">
        <p14:creationId xmlns:p14="http://schemas.microsoft.com/office/powerpoint/2010/main" val="260942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Effect transition="in" filter="wipe(left)">
                                      <p:cBhvr>
                                        <p:cTn id="7" dur="500"/>
                                        <p:tgtEl>
                                          <p:spTgt spid="21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9">
                                            <p:txEl>
                                              <p:pRg st="0" end="0"/>
                                            </p:txEl>
                                          </p:spTgt>
                                        </p:tgtEl>
                                        <p:attrNameLst>
                                          <p:attrName>style.visibility</p:attrName>
                                        </p:attrNameLst>
                                      </p:cBhvr>
                                      <p:to>
                                        <p:strVal val="visible"/>
                                      </p:to>
                                    </p:set>
                                    <p:animEffect transition="in" filter="dissolve">
                                      <p:cBhvr>
                                        <p:cTn id="11" dur="500"/>
                                        <p:tgtEl>
                                          <p:spTgt spid="20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201"/>
                                        </p:tgtEl>
                                        <p:attrNameLst>
                                          <p:attrName>style.visibility</p:attrName>
                                        </p:attrNameLst>
                                      </p:cBhvr>
                                      <p:to>
                                        <p:strVal val="visible"/>
                                      </p:to>
                                    </p:set>
                                    <p:animEffect transition="in" filter="dissolve">
                                      <p:cBhvr>
                                        <p:cTn id="16" dur="500"/>
                                        <p:tgtEl>
                                          <p:spTgt spid="201"/>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222"/>
                                        </p:tgtEl>
                                        <p:attrNameLst>
                                          <p:attrName>style.visibility</p:attrName>
                                        </p:attrNameLst>
                                      </p:cBhvr>
                                      <p:to>
                                        <p:strVal val="visible"/>
                                      </p:to>
                                    </p:set>
                                    <p:animEffect transition="in" filter="wipe(right)">
                                      <p:cBhvr>
                                        <p:cTn id="20" dur="500"/>
                                        <p:tgtEl>
                                          <p:spTgt spid="222"/>
                                        </p:tgtEl>
                                      </p:cBhvr>
                                    </p:animEffect>
                                  </p:childTnLst>
                                </p:cTn>
                              </p:par>
                            </p:childTnLst>
                          </p:cTn>
                        </p:par>
                        <p:par>
                          <p:cTn id="21" fill="hold">
                            <p:stCondLst>
                              <p:cond delay="1000"/>
                            </p:stCondLst>
                            <p:childTnLst>
                              <p:par>
                                <p:cTn id="22" presetID="9" presetClass="entr" presetSubtype="0" fill="hold" grpId="0" nodeType="afterEffect">
                                  <p:stCondLst>
                                    <p:cond delay="0"/>
                                  </p:stCondLst>
                                  <p:childTnLst>
                                    <p:set>
                                      <p:cBhvr>
                                        <p:cTn id="23" dur="1" fill="hold">
                                          <p:stCondLst>
                                            <p:cond delay="0"/>
                                          </p:stCondLst>
                                        </p:cTn>
                                        <p:tgtEl>
                                          <p:spTgt spid="204"/>
                                        </p:tgtEl>
                                        <p:attrNameLst>
                                          <p:attrName>style.visibility</p:attrName>
                                        </p:attrNameLst>
                                      </p:cBhvr>
                                      <p:to>
                                        <p:strVal val="visible"/>
                                      </p:to>
                                    </p:set>
                                    <p:animEffect transition="in" filter="dissolve">
                                      <p:cBhvr>
                                        <p:cTn id="24" dur="500"/>
                                        <p:tgtEl>
                                          <p:spTgt spid="204"/>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06"/>
                                        </p:tgtEl>
                                        <p:attrNameLst>
                                          <p:attrName>style.visibility</p:attrName>
                                        </p:attrNameLst>
                                      </p:cBhvr>
                                      <p:to>
                                        <p:strVal val="visible"/>
                                      </p:to>
                                    </p:set>
                                    <p:animEffect transition="in" filter="dissolve">
                                      <p:cBhvr>
                                        <p:cTn id="29" dur="500"/>
                                        <p:tgtEl>
                                          <p:spTgt spid="206"/>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16"/>
                                        </p:tgtEl>
                                        <p:attrNameLst>
                                          <p:attrName>style.visibility</p:attrName>
                                        </p:attrNameLst>
                                      </p:cBhvr>
                                      <p:to>
                                        <p:strVal val="visible"/>
                                      </p:to>
                                    </p:set>
                                    <p:animEffect transition="in" filter="wipe(left)">
                                      <p:cBhvr>
                                        <p:cTn id="33" dur="500"/>
                                        <p:tgtEl>
                                          <p:spTgt spid="216"/>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99">
                                            <p:txEl>
                                              <p:pRg st="0" end="0"/>
                                            </p:txEl>
                                          </p:spTgt>
                                        </p:tgtEl>
                                        <p:attrNameLst>
                                          <p:attrName>style.visibility</p:attrName>
                                        </p:attrNameLst>
                                      </p:cBhvr>
                                      <p:to>
                                        <p:strVal val="visible"/>
                                      </p:to>
                                    </p:set>
                                    <p:animEffect transition="in" filter="dissolve">
                                      <p:cBhvr>
                                        <p:cTn id="37" dur="500"/>
                                        <p:tgtEl>
                                          <p:spTgt spid="199">
                                            <p:txEl>
                                              <p:pRg st="0" end="0"/>
                                            </p:txEl>
                                          </p:spTgt>
                                        </p:tgtEl>
                                      </p:cBhvr>
                                    </p:animEffect>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202"/>
                                        </p:tgtEl>
                                        <p:attrNameLst>
                                          <p:attrName>style.visibility</p:attrName>
                                        </p:attrNameLst>
                                      </p:cBhvr>
                                      <p:to>
                                        <p:strVal val="visible"/>
                                      </p:to>
                                    </p:set>
                                    <p:animEffect transition="in" filter="dissolve">
                                      <p:cBhvr>
                                        <p:cTn id="41" dur="500"/>
                                        <p:tgtEl>
                                          <p:spTgt spid="202"/>
                                        </p:tgtEl>
                                      </p:cBhvr>
                                    </p:animEffect>
                                  </p:childTnLst>
                                </p:cTn>
                              </p:par>
                            </p:childTnLst>
                          </p:cTn>
                        </p:par>
                        <p:par>
                          <p:cTn id="42" fill="hold">
                            <p:stCondLst>
                              <p:cond delay="2000"/>
                            </p:stCondLst>
                            <p:childTnLst>
                              <p:par>
                                <p:cTn id="43" presetID="22" presetClass="entr" presetSubtype="2" fill="hold" nodeType="afterEffect">
                                  <p:stCondLst>
                                    <p:cond delay="0"/>
                                  </p:stCondLst>
                                  <p:childTnLst>
                                    <p:set>
                                      <p:cBhvr>
                                        <p:cTn id="44" dur="1" fill="hold">
                                          <p:stCondLst>
                                            <p:cond delay="0"/>
                                          </p:stCondLst>
                                        </p:cTn>
                                        <p:tgtEl>
                                          <p:spTgt spid="219"/>
                                        </p:tgtEl>
                                        <p:attrNameLst>
                                          <p:attrName>style.visibility</p:attrName>
                                        </p:attrNameLst>
                                      </p:cBhvr>
                                      <p:to>
                                        <p:strVal val="visible"/>
                                      </p:to>
                                    </p:set>
                                    <p:animEffect transition="in" filter="wipe(right)">
                                      <p:cBhvr>
                                        <p:cTn id="45" dur="500"/>
                                        <p:tgtEl>
                                          <p:spTgt spid="219"/>
                                        </p:tgtEl>
                                      </p:cBhvr>
                                    </p:animEffect>
                                  </p:childTnLst>
                                </p:cTn>
                              </p:par>
                            </p:childTnLst>
                          </p:cTn>
                        </p:par>
                        <p:par>
                          <p:cTn id="46" fill="hold">
                            <p:stCondLst>
                              <p:cond delay="2500"/>
                            </p:stCondLst>
                            <p:childTnLst>
                              <p:par>
                                <p:cTn id="47" presetID="9" presetClass="entr" presetSubtype="0" fill="hold" grpId="0" nodeType="afterEffect">
                                  <p:stCondLst>
                                    <p:cond delay="0"/>
                                  </p:stCondLst>
                                  <p:childTnLst>
                                    <p:set>
                                      <p:cBhvr>
                                        <p:cTn id="48" dur="1" fill="hold">
                                          <p:stCondLst>
                                            <p:cond delay="0"/>
                                          </p:stCondLst>
                                        </p:cTn>
                                        <p:tgtEl>
                                          <p:spTgt spid="207"/>
                                        </p:tgtEl>
                                        <p:attrNameLst>
                                          <p:attrName>style.visibility</p:attrName>
                                        </p:attrNameLst>
                                      </p:cBhvr>
                                      <p:to>
                                        <p:strVal val="visible"/>
                                      </p:to>
                                    </p:set>
                                    <p:animEffect transition="in" filter="dissolve">
                                      <p:cBhvr>
                                        <p:cTn id="49" dur="500"/>
                                        <p:tgtEl>
                                          <p:spTgt spid="207"/>
                                        </p:tgtEl>
                                      </p:cBhvr>
                                    </p:animEffect>
                                  </p:childTnLst>
                                </p:cTn>
                              </p:par>
                            </p:childTnLst>
                          </p:cTn>
                        </p:par>
                        <p:par>
                          <p:cTn id="50" fill="hold">
                            <p:stCondLst>
                              <p:cond delay="3000"/>
                            </p:stCondLst>
                            <p:childTnLst>
                              <p:par>
                                <p:cTn id="51" presetID="9" presetClass="entr" presetSubtype="0" fill="hold" grpId="0" nodeType="afterEffect">
                                  <p:stCondLst>
                                    <p:cond delay="0"/>
                                  </p:stCondLst>
                                  <p:childTnLst>
                                    <p:set>
                                      <p:cBhvr>
                                        <p:cTn id="52" dur="1" fill="hold">
                                          <p:stCondLst>
                                            <p:cond delay="0"/>
                                          </p:stCondLst>
                                        </p:cTn>
                                        <p:tgtEl>
                                          <p:spTgt spid="205"/>
                                        </p:tgtEl>
                                        <p:attrNameLst>
                                          <p:attrName>style.visibility</p:attrName>
                                        </p:attrNameLst>
                                      </p:cBhvr>
                                      <p:to>
                                        <p:strVal val="visible"/>
                                      </p:to>
                                    </p:set>
                                    <p:animEffect transition="in" filter="dissolve">
                                      <p:cBhvr>
                                        <p:cTn id="53" dur="500"/>
                                        <p:tgtEl>
                                          <p:spTgt spid="205"/>
                                        </p:tgtEl>
                                      </p:cBhvr>
                                    </p:animEffect>
                                  </p:childTnLst>
                                </p:cTn>
                              </p:par>
                            </p:childTnLst>
                          </p:cTn>
                        </p:par>
                        <p:par>
                          <p:cTn id="54" fill="hold">
                            <p:stCondLst>
                              <p:cond delay="3500"/>
                            </p:stCondLst>
                            <p:childTnLst>
                              <p:par>
                                <p:cTn id="55" presetID="22" presetClass="entr" presetSubtype="8" fill="hold" nodeType="afterEffect">
                                  <p:stCondLst>
                                    <p:cond delay="0"/>
                                  </p:stCondLst>
                                  <p:childTnLst>
                                    <p:set>
                                      <p:cBhvr>
                                        <p:cTn id="56" dur="1" fill="hold">
                                          <p:stCondLst>
                                            <p:cond delay="0"/>
                                          </p:stCondLst>
                                        </p:cTn>
                                        <p:tgtEl>
                                          <p:spTgt spid="213"/>
                                        </p:tgtEl>
                                        <p:attrNameLst>
                                          <p:attrName>style.visibility</p:attrName>
                                        </p:attrNameLst>
                                      </p:cBhvr>
                                      <p:to>
                                        <p:strVal val="visible"/>
                                      </p:to>
                                    </p:set>
                                    <p:animEffect transition="in" filter="wipe(left)">
                                      <p:cBhvr>
                                        <p:cTn id="57" dur="500"/>
                                        <p:tgtEl>
                                          <p:spTgt spid="213"/>
                                        </p:tgtEl>
                                      </p:cBhvr>
                                    </p:animEffect>
                                  </p:childTnLst>
                                </p:cTn>
                              </p:par>
                            </p:childTnLst>
                          </p:cTn>
                        </p:par>
                        <p:par>
                          <p:cTn id="58" fill="hold">
                            <p:stCondLst>
                              <p:cond delay="4000"/>
                            </p:stCondLst>
                            <p:childTnLst>
                              <p:par>
                                <p:cTn id="59" presetID="9" presetClass="entr" presetSubtype="0" fill="hold" grpId="0" nodeType="afterEffect">
                                  <p:stCondLst>
                                    <p:cond delay="0"/>
                                  </p:stCondLst>
                                  <p:childTnLst>
                                    <p:set>
                                      <p:cBhvr>
                                        <p:cTn id="60" dur="1" fill="hold">
                                          <p:stCondLst>
                                            <p:cond delay="0"/>
                                          </p:stCondLst>
                                        </p:cTn>
                                        <p:tgtEl>
                                          <p:spTgt spid="200"/>
                                        </p:tgtEl>
                                        <p:attrNameLst>
                                          <p:attrName>style.visibility</p:attrName>
                                        </p:attrNameLst>
                                      </p:cBhvr>
                                      <p:to>
                                        <p:strVal val="visible"/>
                                      </p:to>
                                    </p:set>
                                    <p:animEffect transition="in" filter="dissolve">
                                      <p:cBhvr>
                                        <p:cTn id="61" dur="500"/>
                                        <p:tgtEl>
                                          <p:spTgt spid="200"/>
                                        </p:tgtEl>
                                      </p:cBhvr>
                                    </p:animEffect>
                                  </p:childTnLst>
                                </p:cTn>
                              </p:par>
                            </p:childTnLst>
                          </p:cTn>
                        </p:par>
                        <p:par>
                          <p:cTn id="62" fill="hold">
                            <p:stCondLst>
                              <p:cond delay="4500"/>
                            </p:stCondLst>
                            <p:childTnLst>
                              <p:par>
                                <p:cTn id="63" presetID="9" presetClass="entr" presetSubtype="0" fill="hold" nodeType="afterEffect">
                                  <p:stCondLst>
                                    <p:cond delay="0"/>
                                  </p:stCondLst>
                                  <p:childTnLst>
                                    <p:set>
                                      <p:cBhvr>
                                        <p:cTn id="64" dur="1" fill="hold">
                                          <p:stCondLst>
                                            <p:cond delay="0"/>
                                          </p:stCondLst>
                                        </p:cTn>
                                        <p:tgtEl>
                                          <p:spTgt spid="203">
                                            <p:txEl>
                                              <p:pRg st="0" end="0"/>
                                            </p:txEl>
                                          </p:spTgt>
                                        </p:tgtEl>
                                        <p:attrNameLst>
                                          <p:attrName>style.visibility</p:attrName>
                                        </p:attrNameLst>
                                      </p:cBhvr>
                                      <p:to>
                                        <p:strVal val="visible"/>
                                      </p:to>
                                    </p:set>
                                    <p:animEffect transition="in" filter="dissolve">
                                      <p:cBhvr>
                                        <p:cTn id="65" dur="500"/>
                                        <p:tgtEl>
                                          <p:spTgt spid="203">
                                            <p:txEl>
                                              <p:pRg st="0" end="0"/>
                                            </p:txEl>
                                          </p:spTgt>
                                        </p:tgtEl>
                                      </p:cBhvr>
                                    </p:animEffect>
                                  </p:childTnLst>
                                </p:cTn>
                              </p:par>
                            </p:childTnLst>
                          </p:cTn>
                        </p:par>
                        <p:par>
                          <p:cTn id="66" fill="hold">
                            <p:stCondLst>
                              <p:cond delay="5000"/>
                            </p:stCondLst>
                            <p:childTnLst>
                              <p:par>
                                <p:cTn id="67" presetID="22" presetClass="entr" presetSubtype="2" fill="hold" nodeType="afterEffect">
                                  <p:stCondLst>
                                    <p:cond delay="0"/>
                                  </p:stCondLst>
                                  <p:childTnLst>
                                    <p:set>
                                      <p:cBhvr>
                                        <p:cTn id="68" dur="1" fill="hold">
                                          <p:stCondLst>
                                            <p:cond delay="0"/>
                                          </p:stCondLst>
                                        </p:cTn>
                                        <p:tgtEl>
                                          <p:spTgt spid="225"/>
                                        </p:tgtEl>
                                        <p:attrNameLst>
                                          <p:attrName>style.visibility</p:attrName>
                                        </p:attrNameLst>
                                      </p:cBhvr>
                                      <p:to>
                                        <p:strVal val="visible"/>
                                      </p:to>
                                    </p:set>
                                    <p:animEffect transition="in" filter="wipe(right)">
                                      <p:cBhvr>
                                        <p:cTn id="69" dur="500"/>
                                        <p:tgtEl>
                                          <p:spTgt spid="2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42"/>
                                        </p:tgtEl>
                                        <p:attrNameLst>
                                          <p:attrName>style.visibility</p:attrName>
                                        </p:attrNameLst>
                                      </p:cBhvr>
                                      <p:to>
                                        <p:strVal val="visible"/>
                                      </p:to>
                                    </p:set>
                                    <p:animEffect transition="in" filter="wipe(left)">
                                      <p:cBhvr>
                                        <p:cTn id="74" dur="500"/>
                                        <p:tgtEl>
                                          <p:spTgt spid="242"/>
                                        </p:tgtEl>
                                      </p:cBhvr>
                                    </p:animEffect>
                                  </p:childTnLst>
                                </p:cTn>
                              </p:par>
                            </p:childTnLst>
                          </p:cTn>
                        </p:par>
                        <p:par>
                          <p:cTn id="75" fill="hold">
                            <p:stCondLst>
                              <p:cond delay="500"/>
                            </p:stCondLst>
                            <p:childTnLst>
                              <p:par>
                                <p:cTn id="76" presetID="9" presetClass="entr" presetSubtype="0" fill="hold" nodeType="afterEffect">
                                  <p:stCondLst>
                                    <p:cond delay="0"/>
                                  </p:stCondLst>
                                  <p:childTnLst>
                                    <p:set>
                                      <p:cBhvr>
                                        <p:cTn id="77" dur="1" fill="hold">
                                          <p:stCondLst>
                                            <p:cond delay="0"/>
                                          </p:stCondLst>
                                        </p:cTn>
                                        <p:tgtEl>
                                          <p:spTgt spid="241">
                                            <p:txEl>
                                              <p:pRg st="0" end="0"/>
                                            </p:txEl>
                                          </p:spTgt>
                                        </p:tgtEl>
                                        <p:attrNameLst>
                                          <p:attrName>style.visibility</p:attrName>
                                        </p:attrNameLst>
                                      </p:cBhvr>
                                      <p:to>
                                        <p:strVal val="visible"/>
                                      </p:to>
                                    </p:set>
                                    <p:animEffect transition="in" filter="dissolve">
                                      <p:cBhvr>
                                        <p:cTn id="78" dur="500"/>
                                        <p:tgtEl>
                                          <p:spTgt spid="241">
                                            <p:txEl>
                                              <p:pRg st="0" end="0"/>
                                            </p:txEl>
                                          </p:spTgt>
                                        </p:tgtEl>
                                      </p:cBhvr>
                                    </p:animEffect>
                                  </p:childTnLst>
                                </p:cTn>
                              </p:par>
                            </p:childTnLst>
                          </p:cTn>
                        </p:par>
                        <p:par>
                          <p:cTn id="79" fill="hold">
                            <p:stCondLst>
                              <p:cond delay="1000"/>
                            </p:stCondLst>
                            <p:childTnLst>
                              <p:par>
                                <p:cTn id="80" presetID="9" presetClass="entr" presetSubtype="0" fill="hold" grpId="0" nodeType="afterEffect">
                                  <p:stCondLst>
                                    <p:cond delay="0"/>
                                  </p:stCondLst>
                                  <p:childTnLst>
                                    <p:set>
                                      <p:cBhvr>
                                        <p:cTn id="81" dur="1" fill="hold">
                                          <p:stCondLst>
                                            <p:cond delay="0"/>
                                          </p:stCondLst>
                                        </p:cTn>
                                        <p:tgtEl>
                                          <p:spTgt spid="233"/>
                                        </p:tgtEl>
                                        <p:attrNameLst>
                                          <p:attrName>style.visibility</p:attrName>
                                        </p:attrNameLst>
                                      </p:cBhvr>
                                      <p:to>
                                        <p:strVal val="visible"/>
                                      </p:to>
                                    </p:set>
                                    <p:animEffect transition="in" filter="dissolve">
                                      <p:cBhvr>
                                        <p:cTn id="82" dur="500"/>
                                        <p:tgtEl>
                                          <p:spTgt spid="233"/>
                                        </p:tgtEl>
                                      </p:cBhvr>
                                    </p:animEffect>
                                  </p:childTnLst>
                                </p:cTn>
                              </p:par>
                            </p:childTnLst>
                          </p:cTn>
                        </p:par>
                        <p:par>
                          <p:cTn id="83" fill="hold">
                            <p:stCondLst>
                              <p:cond delay="1500"/>
                            </p:stCondLst>
                            <p:childTnLst>
                              <p:par>
                                <p:cTn id="84" presetID="22" presetClass="entr" presetSubtype="2" fill="hold" nodeType="afterEffect">
                                  <p:stCondLst>
                                    <p:cond delay="0"/>
                                  </p:stCondLst>
                                  <p:childTnLst>
                                    <p:set>
                                      <p:cBhvr>
                                        <p:cTn id="85" dur="1" fill="hold">
                                          <p:stCondLst>
                                            <p:cond delay="0"/>
                                          </p:stCondLst>
                                        </p:cTn>
                                        <p:tgtEl>
                                          <p:spTgt spid="251"/>
                                        </p:tgtEl>
                                        <p:attrNameLst>
                                          <p:attrName>style.visibility</p:attrName>
                                        </p:attrNameLst>
                                      </p:cBhvr>
                                      <p:to>
                                        <p:strVal val="visible"/>
                                      </p:to>
                                    </p:set>
                                    <p:animEffect transition="in" filter="wipe(right)">
                                      <p:cBhvr>
                                        <p:cTn id="86" dur="500"/>
                                        <p:tgtEl>
                                          <p:spTgt spid="251"/>
                                        </p:tgtEl>
                                      </p:cBhvr>
                                    </p:animEffect>
                                  </p:childTnLst>
                                </p:cTn>
                              </p:par>
                            </p:childTnLst>
                          </p:cTn>
                        </p:par>
                        <p:par>
                          <p:cTn id="87" fill="hold">
                            <p:stCondLst>
                              <p:cond delay="2000"/>
                            </p:stCondLst>
                            <p:childTnLst>
                              <p:par>
                                <p:cTn id="88" presetID="9" presetClass="entr" presetSubtype="0" fill="hold" grpId="0" nodeType="afterEffect">
                                  <p:stCondLst>
                                    <p:cond delay="0"/>
                                  </p:stCondLst>
                                  <p:childTnLst>
                                    <p:set>
                                      <p:cBhvr>
                                        <p:cTn id="89" dur="1" fill="hold">
                                          <p:stCondLst>
                                            <p:cond delay="0"/>
                                          </p:stCondLst>
                                        </p:cTn>
                                        <p:tgtEl>
                                          <p:spTgt spid="236"/>
                                        </p:tgtEl>
                                        <p:attrNameLst>
                                          <p:attrName>style.visibility</p:attrName>
                                        </p:attrNameLst>
                                      </p:cBhvr>
                                      <p:to>
                                        <p:strVal val="visible"/>
                                      </p:to>
                                    </p:set>
                                    <p:animEffect transition="in" filter="dissolve">
                                      <p:cBhvr>
                                        <p:cTn id="90" dur="500"/>
                                        <p:tgtEl>
                                          <p:spTgt spid="236"/>
                                        </p:tgtEl>
                                      </p:cBhvr>
                                    </p:animEffect>
                                  </p:childTnLst>
                                </p:cTn>
                              </p:par>
                            </p:childTnLst>
                          </p:cTn>
                        </p:par>
                        <p:par>
                          <p:cTn id="91" fill="hold">
                            <p:stCondLst>
                              <p:cond delay="2500"/>
                            </p:stCondLst>
                            <p:childTnLst>
                              <p:par>
                                <p:cTn id="92" presetID="9" presetClass="entr" presetSubtype="0" fill="hold" grpId="0" nodeType="afterEffect">
                                  <p:stCondLst>
                                    <p:cond delay="0"/>
                                  </p:stCondLst>
                                  <p:childTnLst>
                                    <p:set>
                                      <p:cBhvr>
                                        <p:cTn id="93" dur="1" fill="hold">
                                          <p:stCondLst>
                                            <p:cond delay="0"/>
                                          </p:stCondLst>
                                        </p:cTn>
                                        <p:tgtEl>
                                          <p:spTgt spid="238"/>
                                        </p:tgtEl>
                                        <p:attrNameLst>
                                          <p:attrName>style.visibility</p:attrName>
                                        </p:attrNameLst>
                                      </p:cBhvr>
                                      <p:to>
                                        <p:strVal val="visible"/>
                                      </p:to>
                                    </p:set>
                                    <p:animEffect transition="in" filter="dissolve">
                                      <p:cBhvr>
                                        <p:cTn id="94" dur="500"/>
                                        <p:tgtEl>
                                          <p:spTgt spid="238"/>
                                        </p:tgtEl>
                                      </p:cBhvr>
                                    </p:animEffect>
                                  </p:childTnLst>
                                </p:cTn>
                              </p:par>
                            </p:childTnLst>
                          </p:cTn>
                        </p:par>
                        <p:par>
                          <p:cTn id="95" fill="hold">
                            <p:stCondLst>
                              <p:cond delay="3000"/>
                            </p:stCondLst>
                            <p:childTnLst>
                              <p:par>
                                <p:cTn id="96" presetID="22" presetClass="entr" presetSubtype="8" fill="hold" nodeType="afterEffect">
                                  <p:stCondLst>
                                    <p:cond delay="0"/>
                                  </p:stCondLst>
                                  <p:childTnLst>
                                    <p:set>
                                      <p:cBhvr>
                                        <p:cTn id="97" dur="1" fill="hold">
                                          <p:stCondLst>
                                            <p:cond delay="0"/>
                                          </p:stCondLst>
                                        </p:cTn>
                                        <p:tgtEl>
                                          <p:spTgt spid="258"/>
                                        </p:tgtEl>
                                        <p:attrNameLst>
                                          <p:attrName>style.visibility</p:attrName>
                                        </p:attrNameLst>
                                      </p:cBhvr>
                                      <p:to>
                                        <p:strVal val="visible"/>
                                      </p:to>
                                    </p:set>
                                    <p:animEffect transition="in" filter="wipe(left)">
                                      <p:cBhvr>
                                        <p:cTn id="98" dur="500"/>
                                        <p:tgtEl>
                                          <p:spTgt spid="25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263"/>
                                        </p:tgtEl>
                                        <p:attrNameLst>
                                          <p:attrName>style.visibility</p:attrName>
                                        </p:attrNameLst>
                                      </p:cBhvr>
                                      <p:to>
                                        <p:strVal val="visible"/>
                                      </p:to>
                                    </p:set>
                                    <p:animEffect transition="in" filter="wipe(up)">
                                      <p:cBhvr>
                                        <p:cTn id="103" dur="1000"/>
                                        <p:tgtEl>
                                          <p:spTgt spid="263"/>
                                        </p:tgtEl>
                                      </p:cBhvr>
                                    </p:animEffect>
                                  </p:childTnLst>
                                </p:cTn>
                              </p:par>
                            </p:childTnLst>
                          </p:cTn>
                        </p:par>
                        <p:par>
                          <p:cTn id="104" fill="hold">
                            <p:stCondLst>
                              <p:cond delay="1000"/>
                            </p:stCondLst>
                            <p:childTnLst>
                              <p:par>
                                <p:cTn id="105" presetID="9" presetClass="entr" presetSubtype="0" fill="hold" nodeType="afterEffect">
                                  <p:stCondLst>
                                    <p:cond delay="0"/>
                                  </p:stCondLst>
                                  <p:childTnLst>
                                    <p:set>
                                      <p:cBhvr>
                                        <p:cTn id="106" dur="1" fill="hold">
                                          <p:stCondLst>
                                            <p:cond delay="0"/>
                                          </p:stCondLst>
                                        </p:cTn>
                                        <p:tgtEl>
                                          <p:spTgt spid="270"/>
                                        </p:tgtEl>
                                        <p:attrNameLst>
                                          <p:attrName>style.visibility</p:attrName>
                                        </p:attrNameLst>
                                      </p:cBhvr>
                                      <p:to>
                                        <p:strVal val="visible"/>
                                      </p:to>
                                    </p:set>
                                    <p:animEffect transition="in" filter="dissolve">
                                      <p:cBhvr>
                                        <p:cTn id="107" dur="500"/>
                                        <p:tgtEl>
                                          <p:spTgt spid="2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267"/>
                                        </p:tgtEl>
                                        <p:attrNameLst>
                                          <p:attrName>style.visibility</p:attrName>
                                        </p:attrNameLst>
                                      </p:cBhvr>
                                      <p:to>
                                        <p:strVal val="visible"/>
                                      </p:to>
                                    </p:set>
                                    <p:animEffect transition="in" filter="wipe(left)">
                                      <p:cBhvr>
                                        <p:cTn id="112" dur="500"/>
                                        <p:tgtEl>
                                          <p:spTgt spid="267"/>
                                        </p:tgtEl>
                                      </p:cBhvr>
                                    </p:animEffect>
                                  </p:childTnLst>
                                </p:cTn>
                              </p:par>
                            </p:childTnLst>
                          </p:cTn>
                        </p:par>
                        <p:par>
                          <p:cTn id="113" fill="hold">
                            <p:stCondLst>
                              <p:cond delay="500"/>
                            </p:stCondLst>
                            <p:childTnLst>
                              <p:par>
                                <p:cTn id="114" presetID="9" presetClass="entr" presetSubtype="0" fill="hold" nodeType="afterEffect">
                                  <p:stCondLst>
                                    <p:cond delay="0"/>
                                  </p:stCondLst>
                                  <p:childTnLst>
                                    <p:set>
                                      <p:cBhvr>
                                        <p:cTn id="115" dur="1" fill="hold">
                                          <p:stCondLst>
                                            <p:cond delay="0"/>
                                          </p:stCondLst>
                                        </p:cTn>
                                        <p:tgtEl>
                                          <p:spTgt spid="231">
                                            <p:txEl>
                                              <p:pRg st="0" end="0"/>
                                            </p:txEl>
                                          </p:spTgt>
                                        </p:tgtEl>
                                        <p:attrNameLst>
                                          <p:attrName>style.visibility</p:attrName>
                                        </p:attrNameLst>
                                      </p:cBhvr>
                                      <p:to>
                                        <p:strVal val="visible"/>
                                      </p:to>
                                    </p:set>
                                    <p:animEffect transition="in" filter="dissolve">
                                      <p:cBhvr>
                                        <p:cTn id="116" dur="500"/>
                                        <p:tgtEl>
                                          <p:spTgt spid="231">
                                            <p:txEl>
                                              <p:pRg st="0" end="0"/>
                                            </p:txEl>
                                          </p:spTgt>
                                        </p:tgtEl>
                                      </p:cBhvr>
                                    </p:animEffect>
                                  </p:childTnLst>
                                </p:cTn>
                              </p:par>
                            </p:childTnLst>
                          </p:cTn>
                        </p:par>
                        <p:par>
                          <p:cTn id="117" fill="hold">
                            <p:stCondLst>
                              <p:cond delay="1000"/>
                            </p:stCondLst>
                            <p:childTnLst>
                              <p:par>
                                <p:cTn id="118" presetID="9" presetClass="entr" presetSubtype="0" fill="hold" grpId="0" nodeType="afterEffect">
                                  <p:stCondLst>
                                    <p:cond delay="0"/>
                                  </p:stCondLst>
                                  <p:childTnLst>
                                    <p:set>
                                      <p:cBhvr>
                                        <p:cTn id="119" dur="1" fill="hold">
                                          <p:stCondLst>
                                            <p:cond delay="0"/>
                                          </p:stCondLst>
                                        </p:cTn>
                                        <p:tgtEl>
                                          <p:spTgt spid="234"/>
                                        </p:tgtEl>
                                        <p:attrNameLst>
                                          <p:attrName>style.visibility</p:attrName>
                                        </p:attrNameLst>
                                      </p:cBhvr>
                                      <p:to>
                                        <p:strVal val="visible"/>
                                      </p:to>
                                    </p:set>
                                    <p:animEffect transition="in" filter="dissolve">
                                      <p:cBhvr>
                                        <p:cTn id="120" dur="500"/>
                                        <p:tgtEl>
                                          <p:spTgt spid="234"/>
                                        </p:tgtEl>
                                      </p:cBhvr>
                                    </p:animEffect>
                                  </p:childTnLst>
                                </p:cTn>
                              </p:par>
                            </p:childTnLst>
                          </p:cTn>
                        </p:par>
                        <p:par>
                          <p:cTn id="121" fill="hold">
                            <p:stCondLst>
                              <p:cond delay="1500"/>
                            </p:stCondLst>
                            <p:childTnLst>
                              <p:par>
                                <p:cTn id="122" presetID="22" presetClass="entr" presetSubtype="2" fill="hold" nodeType="afterEffect">
                                  <p:stCondLst>
                                    <p:cond delay="0"/>
                                  </p:stCondLst>
                                  <p:childTnLst>
                                    <p:set>
                                      <p:cBhvr>
                                        <p:cTn id="123" dur="1" fill="hold">
                                          <p:stCondLst>
                                            <p:cond delay="0"/>
                                          </p:stCondLst>
                                        </p:cTn>
                                        <p:tgtEl>
                                          <p:spTgt spid="248"/>
                                        </p:tgtEl>
                                        <p:attrNameLst>
                                          <p:attrName>style.visibility</p:attrName>
                                        </p:attrNameLst>
                                      </p:cBhvr>
                                      <p:to>
                                        <p:strVal val="visible"/>
                                      </p:to>
                                    </p:set>
                                    <p:animEffect transition="in" filter="wipe(right)">
                                      <p:cBhvr>
                                        <p:cTn id="124" dur="500"/>
                                        <p:tgtEl>
                                          <p:spTgt spid="248"/>
                                        </p:tgtEl>
                                      </p:cBhvr>
                                    </p:animEffect>
                                  </p:childTnLst>
                                </p:cTn>
                              </p:par>
                            </p:childTnLst>
                          </p:cTn>
                        </p:par>
                        <p:par>
                          <p:cTn id="125" fill="hold">
                            <p:stCondLst>
                              <p:cond delay="2000"/>
                            </p:stCondLst>
                            <p:childTnLst>
                              <p:par>
                                <p:cTn id="126" presetID="9" presetClass="entr" presetSubtype="0" fill="hold" grpId="0" nodeType="afterEffect">
                                  <p:stCondLst>
                                    <p:cond delay="0"/>
                                  </p:stCondLst>
                                  <p:childTnLst>
                                    <p:set>
                                      <p:cBhvr>
                                        <p:cTn id="127" dur="1" fill="hold">
                                          <p:stCondLst>
                                            <p:cond delay="0"/>
                                          </p:stCondLst>
                                        </p:cTn>
                                        <p:tgtEl>
                                          <p:spTgt spid="239"/>
                                        </p:tgtEl>
                                        <p:attrNameLst>
                                          <p:attrName>style.visibility</p:attrName>
                                        </p:attrNameLst>
                                      </p:cBhvr>
                                      <p:to>
                                        <p:strVal val="visible"/>
                                      </p:to>
                                    </p:set>
                                    <p:animEffect transition="in" filter="dissolve">
                                      <p:cBhvr>
                                        <p:cTn id="128" dur="500"/>
                                        <p:tgtEl>
                                          <p:spTgt spid="239"/>
                                        </p:tgtEl>
                                      </p:cBhvr>
                                    </p:animEffect>
                                  </p:childTnLst>
                                </p:cTn>
                              </p:par>
                            </p:childTnLst>
                          </p:cTn>
                        </p:par>
                        <p:par>
                          <p:cTn id="129" fill="hold">
                            <p:stCondLst>
                              <p:cond delay="2500"/>
                            </p:stCondLst>
                            <p:childTnLst>
                              <p:par>
                                <p:cTn id="130" presetID="9" presetClass="entr" presetSubtype="0" fill="hold" grpId="0" nodeType="afterEffect">
                                  <p:stCondLst>
                                    <p:cond delay="0"/>
                                  </p:stCondLst>
                                  <p:childTnLst>
                                    <p:set>
                                      <p:cBhvr>
                                        <p:cTn id="131" dur="1" fill="hold">
                                          <p:stCondLst>
                                            <p:cond delay="0"/>
                                          </p:stCondLst>
                                        </p:cTn>
                                        <p:tgtEl>
                                          <p:spTgt spid="237"/>
                                        </p:tgtEl>
                                        <p:attrNameLst>
                                          <p:attrName>style.visibility</p:attrName>
                                        </p:attrNameLst>
                                      </p:cBhvr>
                                      <p:to>
                                        <p:strVal val="visible"/>
                                      </p:to>
                                    </p:set>
                                    <p:animEffect transition="in" filter="dissolve">
                                      <p:cBhvr>
                                        <p:cTn id="132" dur="500"/>
                                        <p:tgtEl>
                                          <p:spTgt spid="237"/>
                                        </p:tgtEl>
                                      </p:cBhvr>
                                    </p:animEffect>
                                  </p:childTnLst>
                                </p:cTn>
                              </p:par>
                            </p:childTnLst>
                          </p:cTn>
                        </p:par>
                        <p:par>
                          <p:cTn id="133" fill="hold">
                            <p:stCondLst>
                              <p:cond delay="3000"/>
                            </p:stCondLst>
                            <p:childTnLst>
                              <p:par>
                                <p:cTn id="134" presetID="22" presetClass="entr" presetSubtype="8" fill="hold" nodeType="afterEffect">
                                  <p:stCondLst>
                                    <p:cond delay="0"/>
                                  </p:stCondLst>
                                  <p:childTnLst>
                                    <p:set>
                                      <p:cBhvr>
                                        <p:cTn id="135" dur="1" fill="hold">
                                          <p:stCondLst>
                                            <p:cond delay="0"/>
                                          </p:stCondLst>
                                        </p:cTn>
                                        <p:tgtEl>
                                          <p:spTgt spid="245"/>
                                        </p:tgtEl>
                                        <p:attrNameLst>
                                          <p:attrName>style.visibility</p:attrName>
                                        </p:attrNameLst>
                                      </p:cBhvr>
                                      <p:to>
                                        <p:strVal val="visible"/>
                                      </p:to>
                                    </p:set>
                                    <p:animEffect transition="in" filter="wipe(left)">
                                      <p:cBhvr>
                                        <p:cTn id="136" dur="500"/>
                                        <p:tgtEl>
                                          <p:spTgt spid="245"/>
                                        </p:tgtEl>
                                      </p:cBhvr>
                                    </p:animEffect>
                                  </p:childTnLst>
                                </p:cTn>
                              </p:par>
                            </p:childTnLst>
                          </p:cTn>
                        </p:par>
                        <p:par>
                          <p:cTn id="137" fill="hold">
                            <p:stCondLst>
                              <p:cond delay="3500"/>
                            </p:stCondLst>
                            <p:childTnLst>
                              <p:par>
                                <p:cTn id="138" presetID="9" presetClass="entr" presetSubtype="0" fill="hold" grpId="0" nodeType="afterEffect">
                                  <p:stCondLst>
                                    <p:cond delay="0"/>
                                  </p:stCondLst>
                                  <p:childTnLst>
                                    <p:set>
                                      <p:cBhvr>
                                        <p:cTn id="139" dur="1" fill="hold">
                                          <p:stCondLst>
                                            <p:cond delay="0"/>
                                          </p:stCondLst>
                                        </p:cTn>
                                        <p:tgtEl>
                                          <p:spTgt spid="232"/>
                                        </p:tgtEl>
                                        <p:attrNameLst>
                                          <p:attrName>style.visibility</p:attrName>
                                        </p:attrNameLst>
                                      </p:cBhvr>
                                      <p:to>
                                        <p:strVal val="visible"/>
                                      </p:to>
                                    </p:set>
                                    <p:animEffect transition="in" filter="dissolve">
                                      <p:cBhvr>
                                        <p:cTn id="140" dur="500"/>
                                        <p:tgtEl>
                                          <p:spTgt spid="232"/>
                                        </p:tgtEl>
                                      </p:cBhvr>
                                    </p:animEffect>
                                  </p:childTnLst>
                                </p:cTn>
                              </p:par>
                            </p:childTnLst>
                          </p:cTn>
                        </p:par>
                        <p:par>
                          <p:cTn id="141" fill="hold">
                            <p:stCondLst>
                              <p:cond delay="4000"/>
                            </p:stCondLst>
                            <p:childTnLst>
                              <p:par>
                                <p:cTn id="142" presetID="9" presetClass="entr" presetSubtype="0" fill="hold" nodeType="afterEffect">
                                  <p:stCondLst>
                                    <p:cond delay="0"/>
                                  </p:stCondLst>
                                  <p:childTnLst>
                                    <p:set>
                                      <p:cBhvr>
                                        <p:cTn id="143" dur="1" fill="hold">
                                          <p:stCondLst>
                                            <p:cond delay="0"/>
                                          </p:stCondLst>
                                        </p:cTn>
                                        <p:tgtEl>
                                          <p:spTgt spid="235">
                                            <p:txEl>
                                              <p:pRg st="0" end="0"/>
                                            </p:txEl>
                                          </p:spTgt>
                                        </p:tgtEl>
                                        <p:attrNameLst>
                                          <p:attrName>style.visibility</p:attrName>
                                        </p:attrNameLst>
                                      </p:cBhvr>
                                      <p:to>
                                        <p:strVal val="visible"/>
                                      </p:to>
                                    </p:set>
                                    <p:animEffect transition="in" filter="dissolve">
                                      <p:cBhvr>
                                        <p:cTn id="144" dur="500"/>
                                        <p:tgtEl>
                                          <p:spTgt spid="235">
                                            <p:txEl>
                                              <p:pRg st="0" end="0"/>
                                            </p:txEl>
                                          </p:spTgt>
                                        </p:tgtEl>
                                      </p:cBhvr>
                                    </p:animEffect>
                                  </p:childTnLst>
                                </p:cTn>
                              </p:par>
                            </p:childTnLst>
                          </p:cTn>
                        </p:par>
                        <p:par>
                          <p:cTn id="145" fill="hold">
                            <p:stCondLst>
                              <p:cond delay="4500"/>
                            </p:stCondLst>
                            <p:childTnLst>
                              <p:par>
                                <p:cTn id="146" presetID="22" presetClass="entr" presetSubtype="2" fill="hold" nodeType="afterEffect">
                                  <p:stCondLst>
                                    <p:cond delay="0"/>
                                  </p:stCondLst>
                                  <p:childTnLst>
                                    <p:set>
                                      <p:cBhvr>
                                        <p:cTn id="147" dur="1" fill="hold">
                                          <p:stCondLst>
                                            <p:cond delay="0"/>
                                          </p:stCondLst>
                                        </p:cTn>
                                        <p:tgtEl>
                                          <p:spTgt spid="254"/>
                                        </p:tgtEl>
                                        <p:attrNameLst>
                                          <p:attrName>style.visibility</p:attrName>
                                        </p:attrNameLst>
                                      </p:cBhvr>
                                      <p:to>
                                        <p:strVal val="visible"/>
                                      </p:to>
                                    </p:set>
                                    <p:animEffect transition="in" filter="wipe(right)">
                                      <p:cBhvr>
                                        <p:cTn id="148"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01" grpId="0"/>
      <p:bldP spid="202" grpId="0"/>
      <p:bldP spid="204" grpId="0"/>
      <p:bldP spid="205" grpId="0"/>
      <p:bldP spid="206" grpId="0"/>
      <p:bldP spid="207" grpId="0"/>
      <p:bldP spid="232" grpId="0"/>
      <p:bldP spid="233" grpId="0"/>
      <p:bldP spid="234" grpId="0"/>
      <p:bldP spid="236" grpId="0"/>
      <p:bldP spid="237" grpId="0"/>
      <p:bldP spid="238" grpId="0"/>
      <p:bldP spid="2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RDT3.0</a:t>
            </a:r>
            <a:endParaRPr lang="en-US" dirty="0"/>
          </a:p>
        </p:txBody>
      </p:sp>
      <p:sp>
        <p:nvSpPr>
          <p:cNvPr id="113" name="Slide Number Placeholder 2">
            <a:extLst>
              <a:ext uri="{FF2B5EF4-FFF2-40B4-BE49-F238E27FC236}">
                <a16:creationId xmlns:a16="http://schemas.microsoft.com/office/drawing/2014/main" id="{7706DBAD-0F0D-AC43-90D8-C4A8FC7233B5}"/>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28</a:t>
            </a:fld>
            <a:endParaRPr lang="en-US" dirty="0">
              <a:solidFill>
                <a:prstClr val="white">
                  <a:lumMod val="50000"/>
                </a:prstClr>
              </a:solidFill>
              <a:latin typeface="Calibri" panose="020F0502020204030204"/>
            </a:endParaRPr>
          </a:p>
        </p:txBody>
      </p:sp>
      <p:sp>
        <p:nvSpPr>
          <p:cNvPr id="195" name="Text Box 6">
            <a:extLst>
              <a:ext uri="{FF2B5EF4-FFF2-40B4-BE49-F238E27FC236}">
                <a16:creationId xmlns:a16="http://schemas.microsoft.com/office/drawing/2014/main" id="{5A635095-B168-6547-905F-EEE95C499F52}"/>
              </a:ext>
            </a:extLst>
          </p:cNvPr>
          <p:cNvSpPr txBox="1">
            <a:spLocks noChangeArrowheads="1"/>
          </p:cNvSpPr>
          <p:nvPr/>
        </p:nvSpPr>
        <p:spPr bwMode="auto">
          <a:xfrm>
            <a:off x="2829687" y="3194419"/>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pkt1</a:t>
            </a:r>
          </a:p>
        </p:txBody>
      </p:sp>
      <p:sp>
        <p:nvSpPr>
          <p:cNvPr id="196" name="Text Box 9">
            <a:extLst>
              <a:ext uri="{FF2B5EF4-FFF2-40B4-BE49-F238E27FC236}">
                <a16:creationId xmlns:a16="http://schemas.microsoft.com/office/drawing/2014/main" id="{1E7311AC-A147-DB41-AA1F-73BD95A39E2B}"/>
              </a:ext>
            </a:extLst>
          </p:cNvPr>
          <p:cNvSpPr txBox="1">
            <a:spLocks noChangeArrowheads="1"/>
          </p:cNvSpPr>
          <p:nvPr/>
        </p:nvSpPr>
        <p:spPr bwMode="auto">
          <a:xfrm>
            <a:off x="2828966" y="3363488"/>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ack1</a:t>
            </a:r>
          </a:p>
        </p:txBody>
      </p:sp>
      <p:sp>
        <p:nvSpPr>
          <p:cNvPr id="273" name="Text Box 14">
            <a:extLst>
              <a:ext uri="{FF2B5EF4-FFF2-40B4-BE49-F238E27FC236}">
                <a16:creationId xmlns:a16="http://schemas.microsoft.com/office/drawing/2014/main" id="{409D0892-9C8F-2149-B834-184894F39DBD}"/>
              </a:ext>
            </a:extLst>
          </p:cNvPr>
          <p:cNvSpPr txBox="1">
            <a:spLocks noChangeArrowheads="1"/>
          </p:cNvSpPr>
          <p:nvPr/>
        </p:nvSpPr>
        <p:spPr bwMode="auto">
          <a:xfrm>
            <a:off x="2816124" y="4256457"/>
            <a:ext cx="1228221"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(detect duplicate)</a:t>
            </a:r>
          </a:p>
        </p:txBody>
      </p:sp>
      <p:grpSp>
        <p:nvGrpSpPr>
          <p:cNvPr id="274" name="Group 23">
            <a:extLst>
              <a:ext uri="{FF2B5EF4-FFF2-40B4-BE49-F238E27FC236}">
                <a16:creationId xmlns:a16="http://schemas.microsoft.com/office/drawing/2014/main" id="{8D20C6C0-28A0-C246-9D35-B42FDBBFDD8A}"/>
              </a:ext>
            </a:extLst>
          </p:cNvPr>
          <p:cNvGrpSpPr>
            <a:grpSpLocks/>
          </p:cNvGrpSpPr>
          <p:nvPr/>
        </p:nvGrpSpPr>
        <p:grpSpPr bwMode="auto">
          <a:xfrm>
            <a:off x="1755025" y="3024161"/>
            <a:ext cx="1103709" cy="461963"/>
            <a:chOff x="855" y="1710"/>
            <a:chExt cx="927" cy="388"/>
          </a:xfrm>
        </p:grpSpPr>
        <p:sp>
          <p:nvSpPr>
            <p:cNvPr id="275" name="Line 24">
              <a:extLst>
                <a:ext uri="{FF2B5EF4-FFF2-40B4-BE49-F238E27FC236}">
                  <a16:creationId xmlns:a16="http://schemas.microsoft.com/office/drawing/2014/main" id="{AB2C7FF5-194E-424E-A678-F27614F6E314}"/>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76" name="Text Box 25">
              <a:extLst>
                <a:ext uri="{FF2B5EF4-FFF2-40B4-BE49-F238E27FC236}">
                  <a16:creationId xmlns:a16="http://schemas.microsoft.com/office/drawing/2014/main" id="{91B56F05-73A0-CA48-A68C-D3D878B4CB0A}"/>
                </a:ext>
              </a:extLst>
            </p:cNvPr>
            <p:cNvSpPr txBox="1">
              <a:spLocks noChangeArrowheads="1"/>
            </p:cNvSpPr>
            <p:nvPr/>
          </p:nvSpPr>
          <p:spPr bwMode="auto">
            <a:xfrm>
              <a:off x="1094" y="1710"/>
              <a:ext cx="358" cy="3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pkt1</a:t>
              </a:r>
            </a:p>
          </p:txBody>
        </p:sp>
      </p:grpSp>
      <p:sp>
        <p:nvSpPr>
          <p:cNvPr id="277" name="Text Box 36">
            <a:extLst>
              <a:ext uri="{FF2B5EF4-FFF2-40B4-BE49-F238E27FC236}">
                <a16:creationId xmlns:a16="http://schemas.microsoft.com/office/drawing/2014/main" id="{A10D19C6-F703-1A41-91CC-A3820207AF15}"/>
              </a:ext>
            </a:extLst>
          </p:cNvPr>
          <p:cNvSpPr txBox="1">
            <a:spLocks noChangeArrowheads="1"/>
          </p:cNvSpPr>
          <p:nvPr/>
        </p:nvSpPr>
        <p:spPr bwMode="auto">
          <a:xfrm>
            <a:off x="988023" y="1988316"/>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0099"/>
                </a:solidFill>
              </a:rPr>
              <a:t>sender</a:t>
            </a:r>
          </a:p>
        </p:txBody>
      </p:sp>
      <p:sp>
        <p:nvSpPr>
          <p:cNvPr id="278" name="Text Box 37">
            <a:extLst>
              <a:ext uri="{FF2B5EF4-FFF2-40B4-BE49-F238E27FC236}">
                <a16:creationId xmlns:a16="http://schemas.microsoft.com/office/drawing/2014/main" id="{4D23E56F-4BAF-244A-8268-3064BA9B2FD9}"/>
              </a:ext>
            </a:extLst>
          </p:cNvPr>
          <p:cNvSpPr txBox="1">
            <a:spLocks noChangeArrowheads="1"/>
          </p:cNvSpPr>
          <p:nvPr/>
        </p:nvSpPr>
        <p:spPr bwMode="auto">
          <a:xfrm>
            <a:off x="2819723" y="1984745"/>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8000"/>
                </a:solidFill>
              </a:rPr>
              <a:t>receiver</a:t>
            </a:r>
          </a:p>
        </p:txBody>
      </p:sp>
      <p:sp>
        <p:nvSpPr>
          <p:cNvPr id="279" name="Text Box 38">
            <a:extLst>
              <a:ext uri="{FF2B5EF4-FFF2-40B4-BE49-F238E27FC236}">
                <a16:creationId xmlns:a16="http://schemas.microsoft.com/office/drawing/2014/main" id="{BCD18C35-AE28-B84F-8B95-BD8971D6ACDF}"/>
              </a:ext>
            </a:extLst>
          </p:cNvPr>
          <p:cNvSpPr txBox="1">
            <a:spLocks noChangeArrowheads="1"/>
          </p:cNvSpPr>
          <p:nvPr/>
        </p:nvSpPr>
        <p:spPr bwMode="auto">
          <a:xfrm>
            <a:off x="2827306" y="4055241"/>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pkt1</a:t>
            </a:r>
          </a:p>
        </p:txBody>
      </p:sp>
      <p:sp>
        <p:nvSpPr>
          <p:cNvPr id="280" name="Text Box 39">
            <a:extLst>
              <a:ext uri="{FF2B5EF4-FFF2-40B4-BE49-F238E27FC236}">
                <a16:creationId xmlns:a16="http://schemas.microsoft.com/office/drawing/2014/main" id="{E1A9B504-FFF2-AA46-A3DC-EBAD335B427B}"/>
              </a:ext>
            </a:extLst>
          </p:cNvPr>
          <p:cNvSpPr txBox="1">
            <a:spLocks noChangeArrowheads="1"/>
          </p:cNvSpPr>
          <p:nvPr/>
        </p:nvSpPr>
        <p:spPr bwMode="auto">
          <a:xfrm>
            <a:off x="2824925" y="480295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sp>
        <p:nvSpPr>
          <p:cNvPr id="281" name="Text Box 40">
            <a:extLst>
              <a:ext uri="{FF2B5EF4-FFF2-40B4-BE49-F238E27FC236}">
                <a16:creationId xmlns:a16="http://schemas.microsoft.com/office/drawing/2014/main" id="{A05E70F9-FA7E-6B48-AC70-41697A63C5FE}"/>
              </a:ext>
            </a:extLst>
          </p:cNvPr>
          <p:cNvSpPr txBox="1">
            <a:spLocks noChangeArrowheads="1"/>
          </p:cNvSpPr>
          <p:nvPr/>
        </p:nvSpPr>
        <p:spPr bwMode="auto">
          <a:xfrm>
            <a:off x="2821822" y="2688403"/>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sp>
        <p:nvSpPr>
          <p:cNvPr id="282" name="Text Box 41">
            <a:extLst>
              <a:ext uri="{FF2B5EF4-FFF2-40B4-BE49-F238E27FC236}">
                <a16:creationId xmlns:a16="http://schemas.microsoft.com/office/drawing/2014/main" id="{E564A8A2-3558-EE42-9AC7-2523324BDAF0}"/>
              </a:ext>
            </a:extLst>
          </p:cNvPr>
          <p:cNvSpPr txBox="1">
            <a:spLocks noChangeArrowheads="1"/>
          </p:cNvSpPr>
          <p:nvPr/>
        </p:nvSpPr>
        <p:spPr bwMode="auto">
          <a:xfrm>
            <a:off x="2836110" y="4371947"/>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ack1</a:t>
            </a:r>
          </a:p>
        </p:txBody>
      </p:sp>
      <p:sp>
        <p:nvSpPr>
          <p:cNvPr id="283" name="Text Box 42">
            <a:extLst>
              <a:ext uri="{FF2B5EF4-FFF2-40B4-BE49-F238E27FC236}">
                <a16:creationId xmlns:a16="http://schemas.microsoft.com/office/drawing/2014/main" id="{DEF916D1-809A-BA40-A5B1-34E2FDDEEA8D}"/>
              </a:ext>
            </a:extLst>
          </p:cNvPr>
          <p:cNvSpPr txBox="1">
            <a:spLocks noChangeArrowheads="1"/>
          </p:cNvSpPr>
          <p:nvPr/>
        </p:nvSpPr>
        <p:spPr bwMode="auto">
          <a:xfrm>
            <a:off x="2819441" y="4949401"/>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sp>
        <p:nvSpPr>
          <p:cNvPr id="284" name="Text Box 43">
            <a:extLst>
              <a:ext uri="{FF2B5EF4-FFF2-40B4-BE49-F238E27FC236}">
                <a16:creationId xmlns:a16="http://schemas.microsoft.com/office/drawing/2014/main" id="{5231F227-2FF2-3443-8341-ED4D7B878332}"/>
              </a:ext>
            </a:extLst>
          </p:cNvPr>
          <p:cNvSpPr txBox="1">
            <a:spLocks noChangeArrowheads="1"/>
          </p:cNvSpPr>
          <p:nvPr/>
        </p:nvSpPr>
        <p:spPr bwMode="auto">
          <a:xfrm>
            <a:off x="933730" y="2875332"/>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ack0</a:t>
            </a:r>
          </a:p>
        </p:txBody>
      </p:sp>
      <p:sp>
        <p:nvSpPr>
          <p:cNvPr id="285" name="Text Box 44">
            <a:extLst>
              <a:ext uri="{FF2B5EF4-FFF2-40B4-BE49-F238E27FC236}">
                <a16:creationId xmlns:a16="http://schemas.microsoft.com/office/drawing/2014/main" id="{57F09442-8520-6346-9555-BA6B8892F737}"/>
              </a:ext>
            </a:extLst>
          </p:cNvPr>
          <p:cNvSpPr txBox="1">
            <a:spLocks noChangeArrowheads="1"/>
          </p:cNvSpPr>
          <p:nvPr/>
        </p:nvSpPr>
        <p:spPr bwMode="auto">
          <a:xfrm>
            <a:off x="817292" y="4654126"/>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286" name="Text Box 45">
            <a:extLst>
              <a:ext uri="{FF2B5EF4-FFF2-40B4-BE49-F238E27FC236}">
                <a16:creationId xmlns:a16="http://schemas.microsoft.com/office/drawing/2014/main" id="{6246AD45-20D9-A842-8A93-203B089C2816}"/>
              </a:ext>
            </a:extLst>
          </p:cNvPr>
          <p:cNvSpPr txBox="1">
            <a:spLocks noChangeArrowheads="1"/>
          </p:cNvSpPr>
          <p:nvPr/>
        </p:nvSpPr>
        <p:spPr bwMode="auto">
          <a:xfrm>
            <a:off x="817292" y="3039638"/>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pkt1</a:t>
            </a:r>
          </a:p>
        </p:txBody>
      </p:sp>
      <p:sp>
        <p:nvSpPr>
          <p:cNvPr id="287" name="Text Box 46">
            <a:extLst>
              <a:ext uri="{FF2B5EF4-FFF2-40B4-BE49-F238E27FC236}">
                <a16:creationId xmlns:a16="http://schemas.microsoft.com/office/drawing/2014/main" id="{B3446ADC-6E33-9A4A-8580-704E895E6A43}"/>
              </a:ext>
            </a:extLst>
          </p:cNvPr>
          <p:cNvSpPr txBox="1">
            <a:spLocks noChangeArrowheads="1"/>
          </p:cNvSpPr>
          <p:nvPr/>
        </p:nvSpPr>
        <p:spPr bwMode="auto">
          <a:xfrm>
            <a:off x="925396" y="4474341"/>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ack1</a:t>
            </a:r>
          </a:p>
        </p:txBody>
      </p:sp>
      <p:sp>
        <p:nvSpPr>
          <p:cNvPr id="288" name="Text Box 47">
            <a:extLst>
              <a:ext uri="{FF2B5EF4-FFF2-40B4-BE49-F238E27FC236}">
                <a16:creationId xmlns:a16="http://schemas.microsoft.com/office/drawing/2014/main" id="{1584F6F9-F103-DA4E-8931-3BF82548B1A2}"/>
              </a:ext>
            </a:extLst>
          </p:cNvPr>
          <p:cNvSpPr txBox="1">
            <a:spLocks noChangeArrowheads="1"/>
          </p:cNvSpPr>
          <p:nvPr/>
        </p:nvSpPr>
        <p:spPr bwMode="auto">
          <a:xfrm>
            <a:off x="808958" y="2318119"/>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289" name="Text Box 48">
            <a:extLst>
              <a:ext uri="{FF2B5EF4-FFF2-40B4-BE49-F238E27FC236}">
                <a16:creationId xmlns:a16="http://schemas.microsoft.com/office/drawing/2014/main" id="{383B815A-927A-6E4B-999F-39A6ADC85C5A}"/>
              </a:ext>
            </a:extLst>
          </p:cNvPr>
          <p:cNvSpPr txBox="1">
            <a:spLocks noChangeArrowheads="1"/>
          </p:cNvSpPr>
          <p:nvPr/>
        </p:nvSpPr>
        <p:spPr bwMode="auto">
          <a:xfrm>
            <a:off x="2816591" y="2530051"/>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grpSp>
        <p:nvGrpSpPr>
          <p:cNvPr id="290" name="Group 49">
            <a:extLst>
              <a:ext uri="{FF2B5EF4-FFF2-40B4-BE49-F238E27FC236}">
                <a16:creationId xmlns:a16="http://schemas.microsoft.com/office/drawing/2014/main" id="{8562259A-164F-BC42-B6F5-14769677AAE8}"/>
              </a:ext>
            </a:extLst>
          </p:cNvPr>
          <p:cNvGrpSpPr>
            <a:grpSpLocks/>
          </p:cNvGrpSpPr>
          <p:nvPr/>
        </p:nvGrpSpPr>
        <p:grpSpPr bwMode="auto">
          <a:xfrm>
            <a:off x="1747881" y="2370507"/>
            <a:ext cx="1103709" cy="384572"/>
            <a:chOff x="850" y="1159"/>
            <a:chExt cx="927" cy="323"/>
          </a:xfrm>
        </p:grpSpPr>
        <p:sp>
          <p:nvSpPr>
            <p:cNvPr id="291" name="Line 50">
              <a:extLst>
                <a:ext uri="{FF2B5EF4-FFF2-40B4-BE49-F238E27FC236}">
                  <a16:creationId xmlns:a16="http://schemas.microsoft.com/office/drawing/2014/main" id="{DED07D6B-2A85-524C-803C-3B4D7CAF3684}"/>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92" name="Text Box 51">
              <a:extLst>
                <a:ext uri="{FF2B5EF4-FFF2-40B4-BE49-F238E27FC236}">
                  <a16:creationId xmlns:a16="http://schemas.microsoft.com/office/drawing/2014/main" id="{CD69A5B9-BD2D-004E-9C70-23F8747697BB}"/>
                </a:ext>
              </a:extLst>
            </p:cNvPr>
            <p:cNvSpPr txBox="1">
              <a:spLocks noChangeArrowheads="1"/>
            </p:cNvSpPr>
            <p:nvPr/>
          </p:nvSpPr>
          <p:spPr bwMode="auto">
            <a:xfrm>
              <a:off x="1079" y="1159"/>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pkt0</a:t>
              </a:r>
            </a:p>
          </p:txBody>
        </p:sp>
      </p:grpSp>
      <p:grpSp>
        <p:nvGrpSpPr>
          <p:cNvPr id="293" name="Group 52">
            <a:extLst>
              <a:ext uri="{FF2B5EF4-FFF2-40B4-BE49-F238E27FC236}">
                <a16:creationId xmlns:a16="http://schemas.microsoft.com/office/drawing/2014/main" id="{4B96DCED-77AA-4D43-95F9-63AB2DDBE966}"/>
              </a:ext>
            </a:extLst>
          </p:cNvPr>
          <p:cNvGrpSpPr>
            <a:grpSpLocks/>
          </p:cNvGrpSpPr>
          <p:nvPr/>
        </p:nvGrpSpPr>
        <p:grpSpPr bwMode="auto">
          <a:xfrm>
            <a:off x="1743119" y="4631504"/>
            <a:ext cx="1103709" cy="365522"/>
            <a:chOff x="846" y="2253"/>
            <a:chExt cx="927" cy="307"/>
          </a:xfrm>
        </p:grpSpPr>
        <p:sp>
          <p:nvSpPr>
            <p:cNvPr id="294" name="Line 53">
              <a:extLst>
                <a:ext uri="{FF2B5EF4-FFF2-40B4-BE49-F238E27FC236}">
                  <a16:creationId xmlns:a16="http://schemas.microsoft.com/office/drawing/2014/main" id="{AAD90053-D3F5-F24C-92AC-BBDD518066AC}"/>
                </a:ext>
              </a:extLst>
            </p:cNvPr>
            <p:cNvSpPr>
              <a:spLocks noChangeShapeType="1"/>
            </p:cNvSpPr>
            <p:nvPr/>
          </p:nvSpPr>
          <p:spPr bwMode="auto">
            <a:xfrm>
              <a:off x="846" y="2335"/>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95" name="Text Box 54">
              <a:extLst>
                <a:ext uri="{FF2B5EF4-FFF2-40B4-BE49-F238E27FC236}">
                  <a16:creationId xmlns:a16="http://schemas.microsoft.com/office/drawing/2014/main" id="{D8FC3F0C-42E9-D444-ACA6-A378F3C24F00}"/>
                </a:ext>
              </a:extLst>
            </p:cNvPr>
            <p:cNvSpPr txBox="1">
              <a:spLocks noChangeArrowheads="1"/>
            </p:cNvSpPr>
            <p:nvPr/>
          </p:nvSpPr>
          <p:spPr bwMode="auto">
            <a:xfrm>
              <a:off x="1076" y="2253"/>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pkt0</a:t>
              </a:r>
            </a:p>
          </p:txBody>
        </p:sp>
      </p:grpSp>
      <p:grpSp>
        <p:nvGrpSpPr>
          <p:cNvPr id="296" name="Group 55">
            <a:extLst>
              <a:ext uri="{FF2B5EF4-FFF2-40B4-BE49-F238E27FC236}">
                <a16:creationId xmlns:a16="http://schemas.microsoft.com/office/drawing/2014/main" id="{24203F03-FCBF-6540-BB8B-EC539536546D}"/>
              </a:ext>
            </a:extLst>
          </p:cNvPr>
          <p:cNvGrpSpPr>
            <a:grpSpLocks/>
          </p:cNvGrpSpPr>
          <p:nvPr/>
        </p:nvGrpSpPr>
        <p:grpSpPr bwMode="auto">
          <a:xfrm>
            <a:off x="1743119" y="4333847"/>
            <a:ext cx="1103709" cy="353616"/>
            <a:chOff x="846" y="2003"/>
            <a:chExt cx="927" cy="297"/>
          </a:xfrm>
        </p:grpSpPr>
        <p:sp>
          <p:nvSpPr>
            <p:cNvPr id="297" name="Line 56">
              <a:extLst>
                <a:ext uri="{FF2B5EF4-FFF2-40B4-BE49-F238E27FC236}">
                  <a16:creationId xmlns:a16="http://schemas.microsoft.com/office/drawing/2014/main" id="{503FC297-DE1B-4C41-A8CE-1137B0A2DB26}"/>
                </a:ext>
              </a:extLst>
            </p:cNvPr>
            <p:cNvSpPr>
              <a:spLocks noChangeShapeType="1"/>
            </p:cNvSpPr>
            <p:nvPr/>
          </p:nvSpPr>
          <p:spPr bwMode="auto">
            <a:xfrm flipH="1">
              <a:off x="846" y="2075"/>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298" name="Text Box 57">
              <a:extLst>
                <a:ext uri="{FF2B5EF4-FFF2-40B4-BE49-F238E27FC236}">
                  <a16:creationId xmlns:a16="http://schemas.microsoft.com/office/drawing/2014/main" id="{8F988178-9347-4A46-8B60-8D8AF00EC5D3}"/>
                </a:ext>
              </a:extLst>
            </p:cNvPr>
            <p:cNvSpPr txBox="1">
              <a:spLocks noChangeArrowheads="1"/>
            </p:cNvSpPr>
            <p:nvPr/>
          </p:nvSpPr>
          <p:spPr bwMode="auto">
            <a:xfrm>
              <a:off x="1071" y="2003"/>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ack1</a:t>
              </a:r>
            </a:p>
          </p:txBody>
        </p:sp>
      </p:grpSp>
      <p:grpSp>
        <p:nvGrpSpPr>
          <p:cNvPr id="299" name="Group 58">
            <a:extLst>
              <a:ext uri="{FF2B5EF4-FFF2-40B4-BE49-F238E27FC236}">
                <a16:creationId xmlns:a16="http://schemas.microsoft.com/office/drawing/2014/main" id="{1CE09882-0DDF-F14F-827F-637288F4016A}"/>
              </a:ext>
            </a:extLst>
          </p:cNvPr>
          <p:cNvGrpSpPr>
            <a:grpSpLocks/>
          </p:cNvGrpSpPr>
          <p:nvPr/>
        </p:nvGrpSpPr>
        <p:grpSpPr bwMode="auto">
          <a:xfrm>
            <a:off x="1737165" y="2745554"/>
            <a:ext cx="1103710" cy="341710"/>
            <a:chOff x="841" y="1474"/>
            <a:chExt cx="927" cy="287"/>
          </a:xfrm>
        </p:grpSpPr>
        <p:sp>
          <p:nvSpPr>
            <p:cNvPr id="300" name="Line 59">
              <a:extLst>
                <a:ext uri="{FF2B5EF4-FFF2-40B4-BE49-F238E27FC236}">
                  <a16:creationId xmlns:a16="http://schemas.microsoft.com/office/drawing/2014/main" id="{B7E84F08-D45F-3E4B-BF03-DAEF18A24CD4}"/>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01" name="Text Box 60">
              <a:extLst>
                <a:ext uri="{FF2B5EF4-FFF2-40B4-BE49-F238E27FC236}">
                  <a16:creationId xmlns:a16="http://schemas.microsoft.com/office/drawing/2014/main" id="{CE717B46-7D6B-DF45-A6E9-79E5D50205AC}"/>
                </a:ext>
              </a:extLst>
            </p:cNvPr>
            <p:cNvSpPr txBox="1">
              <a:spLocks noChangeArrowheads="1"/>
            </p:cNvSpPr>
            <p:nvPr/>
          </p:nvSpPr>
          <p:spPr bwMode="auto">
            <a:xfrm>
              <a:off x="1089" y="1474"/>
              <a:ext cx="466"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ack0</a:t>
              </a:r>
            </a:p>
          </p:txBody>
        </p:sp>
      </p:grpSp>
      <p:grpSp>
        <p:nvGrpSpPr>
          <p:cNvPr id="302" name="Group 61">
            <a:extLst>
              <a:ext uri="{FF2B5EF4-FFF2-40B4-BE49-F238E27FC236}">
                <a16:creationId xmlns:a16="http://schemas.microsoft.com/office/drawing/2014/main" id="{3E6AD5AC-94ED-974B-873C-94815E36AD2F}"/>
              </a:ext>
            </a:extLst>
          </p:cNvPr>
          <p:cNvGrpSpPr>
            <a:grpSpLocks/>
          </p:cNvGrpSpPr>
          <p:nvPr/>
        </p:nvGrpSpPr>
        <p:grpSpPr bwMode="auto">
          <a:xfrm>
            <a:off x="1732403" y="4973213"/>
            <a:ext cx="1103710" cy="346472"/>
            <a:chOff x="837" y="2540"/>
            <a:chExt cx="927" cy="291"/>
          </a:xfrm>
        </p:grpSpPr>
        <p:sp>
          <p:nvSpPr>
            <p:cNvPr id="303" name="Line 62">
              <a:extLst>
                <a:ext uri="{FF2B5EF4-FFF2-40B4-BE49-F238E27FC236}">
                  <a16:creationId xmlns:a16="http://schemas.microsoft.com/office/drawing/2014/main" id="{38E324B9-A111-5A40-AC68-D6C9C91F60FB}"/>
                </a:ext>
              </a:extLst>
            </p:cNvPr>
            <p:cNvSpPr>
              <a:spLocks noChangeShapeType="1"/>
            </p:cNvSpPr>
            <p:nvPr/>
          </p:nvSpPr>
          <p:spPr bwMode="auto">
            <a:xfrm flipH="1">
              <a:off x="837" y="260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04" name="Text Box 63">
              <a:extLst>
                <a:ext uri="{FF2B5EF4-FFF2-40B4-BE49-F238E27FC236}">
                  <a16:creationId xmlns:a16="http://schemas.microsoft.com/office/drawing/2014/main" id="{7A059B4B-B11C-B640-906E-CE9430C87E54}"/>
                </a:ext>
              </a:extLst>
            </p:cNvPr>
            <p:cNvSpPr txBox="1">
              <a:spLocks noChangeArrowheads="1"/>
            </p:cNvSpPr>
            <p:nvPr/>
          </p:nvSpPr>
          <p:spPr bwMode="auto">
            <a:xfrm>
              <a:off x="1065" y="2540"/>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ack0</a:t>
              </a:r>
            </a:p>
          </p:txBody>
        </p:sp>
      </p:grpSp>
      <p:sp>
        <p:nvSpPr>
          <p:cNvPr id="305" name="Text Box 64">
            <a:extLst>
              <a:ext uri="{FF2B5EF4-FFF2-40B4-BE49-F238E27FC236}">
                <a16:creationId xmlns:a16="http://schemas.microsoft.com/office/drawing/2014/main" id="{B354EC4B-A0CC-554E-9AF4-6B26CE89E83C}"/>
              </a:ext>
            </a:extLst>
          </p:cNvPr>
          <p:cNvSpPr txBox="1">
            <a:spLocks noChangeArrowheads="1"/>
          </p:cNvSpPr>
          <p:nvPr/>
        </p:nvSpPr>
        <p:spPr bwMode="auto">
          <a:xfrm>
            <a:off x="1552285" y="5507803"/>
            <a:ext cx="1103187"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(c) ACK loss</a:t>
            </a:r>
          </a:p>
        </p:txBody>
      </p:sp>
      <p:grpSp>
        <p:nvGrpSpPr>
          <p:cNvPr id="306" name="Group 81">
            <a:extLst>
              <a:ext uri="{FF2B5EF4-FFF2-40B4-BE49-F238E27FC236}">
                <a16:creationId xmlns:a16="http://schemas.microsoft.com/office/drawing/2014/main" id="{F0BA1E0C-D158-AD48-808B-0CA4BE37C566}"/>
              </a:ext>
            </a:extLst>
          </p:cNvPr>
          <p:cNvGrpSpPr>
            <a:grpSpLocks/>
          </p:cNvGrpSpPr>
          <p:nvPr/>
        </p:nvGrpSpPr>
        <p:grpSpPr bwMode="auto">
          <a:xfrm>
            <a:off x="1922904" y="3324198"/>
            <a:ext cx="933450" cy="564357"/>
            <a:chOff x="1304" y="1931"/>
            <a:chExt cx="784" cy="474"/>
          </a:xfrm>
        </p:grpSpPr>
        <p:sp>
          <p:nvSpPr>
            <p:cNvPr id="307" name="Line 27">
              <a:extLst>
                <a:ext uri="{FF2B5EF4-FFF2-40B4-BE49-F238E27FC236}">
                  <a16:creationId xmlns:a16="http://schemas.microsoft.com/office/drawing/2014/main" id="{22D759EC-1570-E14E-A705-1C29B01A88C0}"/>
                </a:ext>
              </a:extLst>
            </p:cNvPr>
            <p:cNvSpPr>
              <a:spLocks noChangeShapeType="1"/>
            </p:cNvSpPr>
            <p:nvPr/>
          </p:nvSpPr>
          <p:spPr bwMode="auto">
            <a:xfrm flipH="1">
              <a:off x="1514" y="2031"/>
              <a:ext cx="574" cy="13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08" name="Text Box 28">
              <a:extLst>
                <a:ext uri="{FF2B5EF4-FFF2-40B4-BE49-F238E27FC236}">
                  <a16:creationId xmlns:a16="http://schemas.microsoft.com/office/drawing/2014/main" id="{EC8706FB-0F57-5F44-9CC9-6AD3D0C5C5AE}"/>
                </a:ext>
              </a:extLst>
            </p:cNvPr>
            <p:cNvSpPr txBox="1">
              <a:spLocks noChangeArrowheads="1"/>
            </p:cNvSpPr>
            <p:nvPr/>
          </p:nvSpPr>
          <p:spPr bwMode="auto">
            <a:xfrm>
              <a:off x="1435" y="1931"/>
              <a:ext cx="427"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8000"/>
                  </a:solidFill>
                  <a:latin typeface="Arial" charset="0"/>
                </a:rPr>
                <a:t>ack1</a:t>
              </a:r>
            </a:p>
          </p:txBody>
        </p:sp>
        <p:sp>
          <p:nvSpPr>
            <p:cNvPr id="309" name="Text Box 68">
              <a:extLst>
                <a:ext uri="{FF2B5EF4-FFF2-40B4-BE49-F238E27FC236}">
                  <a16:creationId xmlns:a16="http://schemas.microsoft.com/office/drawing/2014/main" id="{FA39AC61-1540-1D40-8578-6A512366144A}"/>
                </a:ext>
              </a:extLst>
            </p:cNvPr>
            <p:cNvSpPr txBox="1">
              <a:spLocks noChangeArrowheads="1"/>
            </p:cNvSpPr>
            <p:nvPr/>
          </p:nvSpPr>
          <p:spPr bwMode="auto">
            <a:xfrm>
              <a:off x="1363" y="2040"/>
              <a:ext cx="25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b="1" kern="0" dirty="0">
                  <a:solidFill>
                    <a:srgbClr val="FF0000"/>
                  </a:solidFill>
                </a:rPr>
                <a:t>X</a:t>
              </a:r>
            </a:p>
          </p:txBody>
        </p:sp>
        <p:sp>
          <p:nvSpPr>
            <p:cNvPr id="310" name="Text Box 69">
              <a:extLst>
                <a:ext uri="{FF2B5EF4-FFF2-40B4-BE49-F238E27FC236}">
                  <a16:creationId xmlns:a16="http://schemas.microsoft.com/office/drawing/2014/main" id="{DD1F8E52-8BD2-B048-B07C-1EE5ECD6A0B6}"/>
                </a:ext>
              </a:extLst>
            </p:cNvPr>
            <p:cNvSpPr txBox="1">
              <a:spLocks noChangeArrowheads="1"/>
            </p:cNvSpPr>
            <p:nvPr/>
          </p:nvSpPr>
          <p:spPr bwMode="auto">
            <a:xfrm>
              <a:off x="1304" y="2172"/>
              <a:ext cx="371"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dirty="0">
                  <a:solidFill>
                    <a:srgbClr val="FF0000"/>
                  </a:solidFill>
                </a:rPr>
                <a:t>loss</a:t>
              </a:r>
            </a:p>
          </p:txBody>
        </p:sp>
      </p:grpSp>
      <p:grpSp>
        <p:nvGrpSpPr>
          <p:cNvPr id="311" name="Group 70">
            <a:extLst>
              <a:ext uri="{FF2B5EF4-FFF2-40B4-BE49-F238E27FC236}">
                <a16:creationId xmlns:a16="http://schemas.microsoft.com/office/drawing/2014/main" id="{0F4BECD0-A491-8F40-BFEC-E8C9A042D61A}"/>
              </a:ext>
            </a:extLst>
          </p:cNvPr>
          <p:cNvGrpSpPr>
            <a:grpSpLocks/>
          </p:cNvGrpSpPr>
          <p:nvPr/>
        </p:nvGrpSpPr>
        <p:grpSpPr bwMode="auto">
          <a:xfrm>
            <a:off x="1664538" y="3253951"/>
            <a:ext cx="91678" cy="775097"/>
            <a:chOff x="3651" y="1878"/>
            <a:chExt cx="78" cy="963"/>
          </a:xfrm>
        </p:grpSpPr>
        <p:sp>
          <p:nvSpPr>
            <p:cNvPr id="312" name="Line 71">
              <a:extLst>
                <a:ext uri="{FF2B5EF4-FFF2-40B4-BE49-F238E27FC236}">
                  <a16:creationId xmlns:a16="http://schemas.microsoft.com/office/drawing/2014/main" id="{3800A286-BA79-AD44-9BC2-67E3AA25AB56}"/>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3" name="Line 72">
              <a:extLst>
                <a:ext uri="{FF2B5EF4-FFF2-40B4-BE49-F238E27FC236}">
                  <a16:creationId xmlns:a16="http://schemas.microsoft.com/office/drawing/2014/main" id="{EECA67B2-EE21-9647-A7E2-99B65DF6B8E7}"/>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14" name="Line 73">
              <a:extLst>
                <a:ext uri="{FF2B5EF4-FFF2-40B4-BE49-F238E27FC236}">
                  <a16:creationId xmlns:a16="http://schemas.microsoft.com/office/drawing/2014/main" id="{C7DAF5BE-8E96-1645-A520-09432F543BA1}"/>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315" name="Group 74">
            <a:extLst>
              <a:ext uri="{FF2B5EF4-FFF2-40B4-BE49-F238E27FC236}">
                <a16:creationId xmlns:a16="http://schemas.microsoft.com/office/drawing/2014/main" id="{1BEFF8A5-9012-6D4A-9013-3C02315FB8E9}"/>
              </a:ext>
            </a:extLst>
          </p:cNvPr>
          <p:cNvGrpSpPr>
            <a:grpSpLocks/>
          </p:cNvGrpSpPr>
          <p:nvPr/>
        </p:nvGrpSpPr>
        <p:grpSpPr bwMode="auto">
          <a:xfrm>
            <a:off x="1760978" y="3995710"/>
            <a:ext cx="1103710" cy="378619"/>
            <a:chOff x="855" y="1710"/>
            <a:chExt cx="927" cy="318"/>
          </a:xfrm>
        </p:grpSpPr>
        <p:sp>
          <p:nvSpPr>
            <p:cNvPr id="316" name="Line 75">
              <a:extLst>
                <a:ext uri="{FF2B5EF4-FFF2-40B4-BE49-F238E27FC236}">
                  <a16:creationId xmlns:a16="http://schemas.microsoft.com/office/drawing/2014/main" id="{31B804E1-5043-E048-A6C7-2C9ABAF18BE5}"/>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17" name="Text Box 76">
              <a:extLst>
                <a:ext uri="{FF2B5EF4-FFF2-40B4-BE49-F238E27FC236}">
                  <a16:creationId xmlns:a16="http://schemas.microsoft.com/office/drawing/2014/main" id="{F8255321-E596-D34A-BD87-A23F4355FA6A}"/>
                </a:ext>
              </a:extLst>
            </p:cNvPr>
            <p:cNvSpPr txBox="1">
              <a:spLocks noChangeArrowheads="1"/>
            </p:cNvSpPr>
            <p:nvPr/>
          </p:nvSpPr>
          <p:spPr bwMode="auto">
            <a:xfrm>
              <a:off x="1073" y="1710"/>
              <a:ext cx="399"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pkt1</a:t>
              </a:r>
            </a:p>
          </p:txBody>
        </p:sp>
      </p:grpSp>
      <p:grpSp>
        <p:nvGrpSpPr>
          <p:cNvPr id="318" name="Group 77">
            <a:extLst>
              <a:ext uri="{FF2B5EF4-FFF2-40B4-BE49-F238E27FC236}">
                <a16:creationId xmlns:a16="http://schemas.microsoft.com/office/drawing/2014/main" id="{D0861418-8DD8-9E45-9C41-C33C40AF1238}"/>
              </a:ext>
            </a:extLst>
          </p:cNvPr>
          <p:cNvGrpSpPr>
            <a:grpSpLocks/>
          </p:cNvGrpSpPr>
          <p:nvPr/>
        </p:nvGrpSpPr>
        <p:grpSpPr bwMode="auto">
          <a:xfrm>
            <a:off x="632264" y="3713532"/>
            <a:ext cx="1088231" cy="573881"/>
            <a:chOff x="2756" y="2348"/>
            <a:chExt cx="914" cy="482"/>
          </a:xfrm>
        </p:grpSpPr>
        <p:pic>
          <p:nvPicPr>
            <p:cNvPr id="319" name="Picture 78" descr="alarm_clock_ringing">
              <a:extLst>
                <a:ext uri="{FF2B5EF4-FFF2-40B4-BE49-F238E27FC236}">
                  <a16:creationId xmlns:a16="http://schemas.microsoft.com/office/drawing/2014/main" id="{CA0CA6DF-4FBE-6743-93FF-E0C9F335D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0" name="Text Box 79">
              <a:extLst>
                <a:ext uri="{FF2B5EF4-FFF2-40B4-BE49-F238E27FC236}">
                  <a16:creationId xmlns:a16="http://schemas.microsoft.com/office/drawing/2014/main" id="{82C9EDC8-20F1-B14C-A40E-35B14CA33EE3}"/>
                </a:ext>
              </a:extLst>
            </p:cNvPr>
            <p:cNvSpPr txBox="1">
              <a:spLocks noChangeArrowheads="1"/>
            </p:cNvSpPr>
            <p:nvPr/>
          </p:nvSpPr>
          <p:spPr bwMode="auto">
            <a:xfrm>
              <a:off x="2756" y="2491"/>
              <a:ext cx="914" cy="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75000"/>
                </a:lnSpc>
                <a:spcBef>
                  <a:spcPct val="0"/>
                </a:spcBef>
                <a:spcAft>
                  <a:spcPct val="0"/>
                </a:spcAft>
                <a:defRPr/>
              </a:pPr>
              <a:r>
                <a:rPr lang="en-US" sz="1350" i="1" kern="0" dirty="0">
                  <a:solidFill>
                    <a:srgbClr val="FF0000"/>
                  </a:solidFill>
                </a:rPr>
                <a:t>timeout</a:t>
              </a:r>
            </a:p>
            <a:p>
              <a:pPr algn="r" defTabSz="685800" eaLnBrk="0" fontAlgn="base" hangingPunct="0">
                <a:lnSpc>
                  <a:spcPct val="75000"/>
                </a:lnSpc>
                <a:spcBef>
                  <a:spcPct val="0"/>
                </a:spcBef>
                <a:spcAft>
                  <a:spcPct val="0"/>
                </a:spcAft>
                <a:defRPr/>
              </a:pPr>
              <a:r>
                <a:rPr lang="en-US" sz="1350" kern="0" dirty="0">
                  <a:solidFill>
                    <a:srgbClr val="000000"/>
                  </a:solidFill>
                </a:rPr>
                <a:t>resend pkt1</a:t>
              </a:r>
            </a:p>
          </p:txBody>
        </p:sp>
      </p:grpSp>
      <p:sp>
        <p:nvSpPr>
          <p:cNvPr id="321" name="Text Box 82">
            <a:extLst>
              <a:ext uri="{FF2B5EF4-FFF2-40B4-BE49-F238E27FC236}">
                <a16:creationId xmlns:a16="http://schemas.microsoft.com/office/drawing/2014/main" id="{C3BC6622-0188-3B48-9C96-F9E517E26A75}"/>
              </a:ext>
            </a:extLst>
          </p:cNvPr>
          <p:cNvSpPr txBox="1">
            <a:spLocks noChangeArrowheads="1"/>
          </p:cNvSpPr>
          <p:nvPr/>
        </p:nvSpPr>
        <p:spPr bwMode="auto">
          <a:xfrm>
            <a:off x="7092635" y="2840803"/>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pkt1</a:t>
            </a:r>
          </a:p>
        </p:txBody>
      </p:sp>
      <p:sp>
        <p:nvSpPr>
          <p:cNvPr id="322" name="Text Box 83">
            <a:extLst>
              <a:ext uri="{FF2B5EF4-FFF2-40B4-BE49-F238E27FC236}">
                <a16:creationId xmlns:a16="http://schemas.microsoft.com/office/drawing/2014/main" id="{E5238B09-CD9D-F446-B43E-64ED2305BCA1}"/>
              </a:ext>
            </a:extLst>
          </p:cNvPr>
          <p:cNvSpPr txBox="1">
            <a:spLocks noChangeArrowheads="1"/>
          </p:cNvSpPr>
          <p:nvPr/>
        </p:nvSpPr>
        <p:spPr bwMode="auto">
          <a:xfrm>
            <a:off x="7091913" y="3009872"/>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ack1</a:t>
            </a:r>
          </a:p>
        </p:txBody>
      </p:sp>
      <p:sp>
        <p:nvSpPr>
          <p:cNvPr id="323" name="Text Box 84">
            <a:extLst>
              <a:ext uri="{FF2B5EF4-FFF2-40B4-BE49-F238E27FC236}">
                <a16:creationId xmlns:a16="http://schemas.microsoft.com/office/drawing/2014/main" id="{E3231EF7-5B96-594B-87F0-6BCB45F9A675}"/>
              </a:ext>
            </a:extLst>
          </p:cNvPr>
          <p:cNvSpPr txBox="1">
            <a:spLocks noChangeArrowheads="1"/>
          </p:cNvSpPr>
          <p:nvPr/>
        </p:nvSpPr>
        <p:spPr bwMode="auto">
          <a:xfrm>
            <a:off x="7048781" y="3982046"/>
            <a:ext cx="1228221"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(detect duplicate)</a:t>
            </a:r>
          </a:p>
        </p:txBody>
      </p:sp>
      <p:grpSp>
        <p:nvGrpSpPr>
          <p:cNvPr id="324" name="Group 85">
            <a:extLst>
              <a:ext uri="{FF2B5EF4-FFF2-40B4-BE49-F238E27FC236}">
                <a16:creationId xmlns:a16="http://schemas.microsoft.com/office/drawing/2014/main" id="{66501723-D8A6-084B-9A24-1F0DB083080C}"/>
              </a:ext>
            </a:extLst>
          </p:cNvPr>
          <p:cNvGrpSpPr>
            <a:grpSpLocks/>
          </p:cNvGrpSpPr>
          <p:nvPr/>
        </p:nvGrpSpPr>
        <p:grpSpPr bwMode="auto">
          <a:xfrm>
            <a:off x="6017972" y="2745557"/>
            <a:ext cx="1103709" cy="303610"/>
            <a:chOff x="855" y="1773"/>
            <a:chExt cx="927" cy="255"/>
          </a:xfrm>
        </p:grpSpPr>
        <p:sp>
          <p:nvSpPr>
            <p:cNvPr id="325" name="Line 86">
              <a:extLst>
                <a:ext uri="{FF2B5EF4-FFF2-40B4-BE49-F238E27FC236}">
                  <a16:creationId xmlns:a16="http://schemas.microsoft.com/office/drawing/2014/main" id="{359487AF-0120-2342-A4AE-46F977FFF250}"/>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26" name="Text Box 87">
              <a:extLst>
                <a:ext uri="{FF2B5EF4-FFF2-40B4-BE49-F238E27FC236}">
                  <a16:creationId xmlns:a16="http://schemas.microsoft.com/office/drawing/2014/main" id="{FFBC575A-0945-E543-9B9D-B6458E74F86E}"/>
                </a:ext>
              </a:extLst>
            </p:cNvPr>
            <p:cNvSpPr txBox="1">
              <a:spLocks noChangeArrowheads="1"/>
            </p:cNvSpPr>
            <p:nvPr/>
          </p:nvSpPr>
          <p:spPr bwMode="auto">
            <a:xfrm>
              <a:off x="1094" y="1773"/>
              <a:ext cx="401"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pkt1</a:t>
              </a:r>
            </a:p>
          </p:txBody>
        </p:sp>
      </p:grpSp>
      <p:sp>
        <p:nvSpPr>
          <p:cNvPr id="327" name="Text Box 88">
            <a:extLst>
              <a:ext uri="{FF2B5EF4-FFF2-40B4-BE49-F238E27FC236}">
                <a16:creationId xmlns:a16="http://schemas.microsoft.com/office/drawing/2014/main" id="{14273DE0-71B8-4647-B8BB-454BDE001869}"/>
              </a:ext>
            </a:extLst>
          </p:cNvPr>
          <p:cNvSpPr txBox="1">
            <a:spLocks noChangeArrowheads="1"/>
          </p:cNvSpPr>
          <p:nvPr/>
        </p:nvSpPr>
        <p:spPr bwMode="auto">
          <a:xfrm>
            <a:off x="5250971" y="1634701"/>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0099"/>
                </a:solidFill>
              </a:rPr>
              <a:t>sender</a:t>
            </a:r>
          </a:p>
        </p:txBody>
      </p:sp>
      <p:sp>
        <p:nvSpPr>
          <p:cNvPr id="328" name="Text Box 89">
            <a:extLst>
              <a:ext uri="{FF2B5EF4-FFF2-40B4-BE49-F238E27FC236}">
                <a16:creationId xmlns:a16="http://schemas.microsoft.com/office/drawing/2014/main" id="{AE034630-EC82-F846-80B5-78E6A28DE77D}"/>
              </a:ext>
            </a:extLst>
          </p:cNvPr>
          <p:cNvSpPr txBox="1">
            <a:spLocks noChangeArrowheads="1"/>
          </p:cNvSpPr>
          <p:nvPr/>
        </p:nvSpPr>
        <p:spPr bwMode="auto">
          <a:xfrm>
            <a:off x="7082670" y="1631129"/>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8000"/>
                </a:solidFill>
              </a:rPr>
              <a:t>receiver</a:t>
            </a:r>
          </a:p>
        </p:txBody>
      </p:sp>
      <p:sp>
        <p:nvSpPr>
          <p:cNvPr id="329" name="Text Box 90">
            <a:extLst>
              <a:ext uri="{FF2B5EF4-FFF2-40B4-BE49-F238E27FC236}">
                <a16:creationId xmlns:a16="http://schemas.microsoft.com/office/drawing/2014/main" id="{EC7192DE-620F-2C47-A0BA-1234EA121795}"/>
              </a:ext>
            </a:extLst>
          </p:cNvPr>
          <p:cNvSpPr txBox="1">
            <a:spLocks noChangeArrowheads="1"/>
          </p:cNvSpPr>
          <p:nvPr/>
        </p:nvSpPr>
        <p:spPr bwMode="auto">
          <a:xfrm>
            <a:off x="7098451" y="3772126"/>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pkt1</a:t>
            </a:r>
          </a:p>
        </p:txBody>
      </p:sp>
      <p:sp>
        <p:nvSpPr>
          <p:cNvPr id="330" name="Text Box 92">
            <a:extLst>
              <a:ext uri="{FF2B5EF4-FFF2-40B4-BE49-F238E27FC236}">
                <a16:creationId xmlns:a16="http://schemas.microsoft.com/office/drawing/2014/main" id="{98A83875-EF54-F448-ABB1-BD64BDA4FBFD}"/>
              </a:ext>
            </a:extLst>
          </p:cNvPr>
          <p:cNvSpPr txBox="1">
            <a:spLocks noChangeArrowheads="1"/>
          </p:cNvSpPr>
          <p:nvPr/>
        </p:nvSpPr>
        <p:spPr bwMode="auto">
          <a:xfrm>
            <a:off x="7084770" y="2334788"/>
            <a:ext cx="952505"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sp>
        <p:nvSpPr>
          <p:cNvPr id="331" name="Text Box 95">
            <a:extLst>
              <a:ext uri="{FF2B5EF4-FFF2-40B4-BE49-F238E27FC236}">
                <a16:creationId xmlns:a16="http://schemas.microsoft.com/office/drawing/2014/main" id="{37B1F438-FDEF-B347-8509-9B348C6264D6}"/>
              </a:ext>
            </a:extLst>
          </p:cNvPr>
          <p:cNvSpPr txBox="1">
            <a:spLocks noChangeArrowheads="1"/>
          </p:cNvSpPr>
          <p:nvPr/>
        </p:nvSpPr>
        <p:spPr bwMode="auto">
          <a:xfrm>
            <a:off x="5196677" y="2521716"/>
            <a:ext cx="821059"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ack0</a:t>
            </a:r>
          </a:p>
        </p:txBody>
      </p:sp>
      <p:sp>
        <p:nvSpPr>
          <p:cNvPr id="332" name="Text Box 97">
            <a:extLst>
              <a:ext uri="{FF2B5EF4-FFF2-40B4-BE49-F238E27FC236}">
                <a16:creationId xmlns:a16="http://schemas.microsoft.com/office/drawing/2014/main" id="{81910B15-5127-7D44-BEAC-A0E4CE19C41A}"/>
              </a:ext>
            </a:extLst>
          </p:cNvPr>
          <p:cNvSpPr txBox="1">
            <a:spLocks noChangeArrowheads="1"/>
          </p:cNvSpPr>
          <p:nvPr/>
        </p:nvSpPr>
        <p:spPr bwMode="auto">
          <a:xfrm>
            <a:off x="5080240" y="2686022"/>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pkt1</a:t>
            </a:r>
          </a:p>
        </p:txBody>
      </p:sp>
      <p:sp>
        <p:nvSpPr>
          <p:cNvPr id="333" name="Text Box 99">
            <a:extLst>
              <a:ext uri="{FF2B5EF4-FFF2-40B4-BE49-F238E27FC236}">
                <a16:creationId xmlns:a16="http://schemas.microsoft.com/office/drawing/2014/main" id="{D1B7D9CA-3570-4040-A714-50B92DB38D55}"/>
              </a:ext>
            </a:extLst>
          </p:cNvPr>
          <p:cNvSpPr txBox="1">
            <a:spLocks noChangeArrowheads="1"/>
          </p:cNvSpPr>
          <p:nvPr/>
        </p:nvSpPr>
        <p:spPr bwMode="auto">
          <a:xfrm>
            <a:off x="5071906" y="1964503"/>
            <a:ext cx="934872"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334" name="Text Box 100">
            <a:extLst>
              <a:ext uri="{FF2B5EF4-FFF2-40B4-BE49-F238E27FC236}">
                <a16:creationId xmlns:a16="http://schemas.microsoft.com/office/drawing/2014/main" id="{3B58509A-B160-2248-9833-A4B82A2ED789}"/>
              </a:ext>
            </a:extLst>
          </p:cNvPr>
          <p:cNvSpPr txBox="1">
            <a:spLocks noChangeArrowheads="1"/>
          </p:cNvSpPr>
          <p:nvPr/>
        </p:nvSpPr>
        <p:spPr bwMode="auto">
          <a:xfrm>
            <a:off x="7079538" y="2176435"/>
            <a:ext cx="803426"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grpSp>
        <p:nvGrpSpPr>
          <p:cNvPr id="335" name="Group 101">
            <a:extLst>
              <a:ext uri="{FF2B5EF4-FFF2-40B4-BE49-F238E27FC236}">
                <a16:creationId xmlns:a16="http://schemas.microsoft.com/office/drawing/2014/main" id="{C65F9F6B-9C52-A645-BBA1-4B4911D27DAB}"/>
              </a:ext>
            </a:extLst>
          </p:cNvPr>
          <p:cNvGrpSpPr>
            <a:grpSpLocks/>
          </p:cNvGrpSpPr>
          <p:nvPr/>
        </p:nvGrpSpPr>
        <p:grpSpPr bwMode="auto">
          <a:xfrm>
            <a:off x="6010829" y="2101424"/>
            <a:ext cx="1103709" cy="300038"/>
            <a:chOff x="850" y="1230"/>
            <a:chExt cx="927" cy="252"/>
          </a:xfrm>
        </p:grpSpPr>
        <p:sp>
          <p:nvSpPr>
            <p:cNvPr id="336" name="Line 102">
              <a:extLst>
                <a:ext uri="{FF2B5EF4-FFF2-40B4-BE49-F238E27FC236}">
                  <a16:creationId xmlns:a16="http://schemas.microsoft.com/office/drawing/2014/main" id="{5A223C03-CC68-654E-9A77-795B0F835221}"/>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37" name="Text Box 103">
              <a:extLst>
                <a:ext uri="{FF2B5EF4-FFF2-40B4-BE49-F238E27FC236}">
                  <a16:creationId xmlns:a16="http://schemas.microsoft.com/office/drawing/2014/main" id="{591D93B9-CEB9-B448-93B7-CBCC3D56D0EA}"/>
                </a:ext>
              </a:extLst>
            </p:cNvPr>
            <p:cNvSpPr txBox="1">
              <a:spLocks noChangeArrowheads="1"/>
            </p:cNvSpPr>
            <p:nvPr/>
          </p:nvSpPr>
          <p:spPr bwMode="auto">
            <a:xfrm>
              <a:off x="1061" y="1230"/>
              <a:ext cx="399"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pkt0</a:t>
              </a:r>
            </a:p>
          </p:txBody>
        </p:sp>
      </p:grpSp>
      <p:grpSp>
        <p:nvGrpSpPr>
          <p:cNvPr id="338" name="Group 110">
            <a:extLst>
              <a:ext uri="{FF2B5EF4-FFF2-40B4-BE49-F238E27FC236}">
                <a16:creationId xmlns:a16="http://schemas.microsoft.com/office/drawing/2014/main" id="{5327191E-BAE7-194F-AD6B-E343DF47D015}"/>
              </a:ext>
            </a:extLst>
          </p:cNvPr>
          <p:cNvGrpSpPr>
            <a:grpSpLocks/>
          </p:cNvGrpSpPr>
          <p:nvPr/>
        </p:nvGrpSpPr>
        <p:grpSpPr bwMode="auto">
          <a:xfrm>
            <a:off x="6000113" y="2456237"/>
            <a:ext cx="1103710" cy="277416"/>
            <a:chOff x="841" y="1528"/>
            <a:chExt cx="927" cy="233"/>
          </a:xfrm>
        </p:grpSpPr>
        <p:sp>
          <p:nvSpPr>
            <p:cNvPr id="339" name="Line 111">
              <a:extLst>
                <a:ext uri="{FF2B5EF4-FFF2-40B4-BE49-F238E27FC236}">
                  <a16:creationId xmlns:a16="http://schemas.microsoft.com/office/drawing/2014/main" id="{AC100DD9-0DC5-4040-8A3A-1923DC14B2CB}"/>
                </a:ext>
              </a:extLst>
            </p:cNvPr>
            <p:cNvSpPr>
              <a:spLocks noChangeShapeType="1"/>
            </p:cNvSpPr>
            <p:nvPr/>
          </p:nvSpPr>
          <p:spPr bwMode="auto">
            <a:xfrm flipH="1">
              <a:off x="841" y="1536"/>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40" name="Text Box 112">
              <a:extLst>
                <a:ext uri="{FF2B5EF4-FFF2-40B4-BE49-F238E27FC236}">
                  <a16:creationId xmlns:a16="http://schemas.microsoft.com/office/drawing/2014/main" id="{BD326CF1-CC46-8A42-BB2F-F6ECEEBE434A}"/>
                </a:ext>
              </a:extLst>
            </p:cNvPr>
            <p:cNvSpPr txBox="1">
              <a:spLocks noChangeArrowheads="1"/>
            </p:cNvSpPr>
            <p:nvPr/>
          </p:nvSpPr>
          <p:spPr bwMode="auto">
            <a:xfrm>
              <a:off x="1089" y="1528"/>
              <a:ext cx="445"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ack0</a:t>
              </a:r>
            </a:p>
          </p:txBody>
        </p:sp>
      </p:grpSp>
      <p:sp>
        <p:nvSpPr>
          <p:cNvPr id="341" name="Text Box 116">
            <a:extLst>
              <a:ext uri="{FF2B5EF4-FFF2-40B4-BE49-F238E27FC236}">
                <a16:creationId xmlns:a16="http://schemas.microsoft.com/office/drawing/2014/main" id="{C179E490-5BA4-5340-B780-1B5B090700B1}"/>
              </a:ext>
            </a:extLst>
          </p:cNvPr>
          <p:cNvSpPr txBox="1">
            <a:spLocks noChangeArrowheads="1"/>
          </p:cNvSpPr>
          <p:nvPr/>
        </p:nvSpPr>
        <p:spPr bwMode="auto">
          <a:xfrm>
            <a:off x="5185458" y="5507733"/>
            <a:ext cx="2977098" cy="3000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(d) premature timeout/ delayed ACK</a:t>
            </a:r>
          </a:p>
        </p:txBody>
      </p:sp>
      <p:grpSp>
        <p:nvGrpSpPr>
          <p:cNvPr id="342" name="Group 122">
            <a:extLst>
              <a:ext uri="{FF2B5EF4-FFF2-40B4-BE49-F238E27FC236}">
                <a16:creationId xmlns:a16="http://schemas.microsoft.com/office/drawing/2014/main" id="{688804A7-0649-2A4D-B422-8C5736350BF8}"/>
              </a:ext>
            </a:extLst>
          </p:cNvPr>
          <p:cNvGrpSpPr>
            <a:grpSpLocks/>
          </p:cNvGrpSpPr>
          <p:nvPr/>
        </p:nvGrpSpPr>
        <p:grpSpPr bwMode="auto">
          <a:xfrm>
            <a:off x="5927485" y="2900335"/>
            <a:ext cx="91678" cy="775097"/>
            <a:chOff x="3651" y="1878"/>
            <a:chExt cx="78" cy="963"/>
          </a:xfrm>
        </p:grpSpPr>
        <p:sp>
          <p:nvSpPr>
            <p:cNvPr id="343" name="Line 123">
              <a:extLst>
                <a:ext uri="{FF2B5EF4-FFF2-40B4-BE49-F238E27FC236}">
                  <a16:creationId xmlns:a16="http://schemas.microsoft.com/office/drawing/2014/main" id="{BF323BE9-D061-6D4A-B1D7-D5E84F9BF270}"/>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4" name="Line 124">
              <a:extLst>
                <a:ext uri="{FF2B5EF4-FFF2-40B4-BE49-F238E27FC236}">
                  <a16:creationId xmlns:a16="http://schemas.microsoft.com/office/drawing/2014/main" id="{10D5C035-1EBE-4A4B-B8F1-CF66C5C4103F}"/>
                </a:ext>
              </a:extLst>
            </p:cNvPr>
            <p:cNvSpPr>
              <a:spLocks noChangeShapeType="1"/>
            </p:cNvSpPr>
            <p:nvPr/>
          </p:nvSpPr>
          <p:spPr bwMode="auto">
            <a:xfrm flipH="1">
              <a:off x="3651" y="1878"/>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45" name="Line 125">
              <a:extLst>
                <a:ext uri="{FF2B5EF4-FFF2-40B4-BE49-F238E27FC236}">
                  <a16:creationId xmlns:a16="http://schemas.microsoft.com/office/drawing/2014/main" id="{0EBA7DAD-11A2-F14D-A517-3B3F7222A539}"/>
                </a:ext>
              </a:extLst>
            </p:cNvPr>
            <p:cNvSpPr>
              <a:spLocks noChangeShapeType="1"/>
            </p:cNvSpPr>
            <p:nvPr/>
          </p:nvSpPr>
          <p:spPr bwMode="auto">
            <a:xfrm flipH="1">
              <a:off x="3651" y="2841"/>
              <a:ext cx="75"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nvGrpSpPr>
          <p:cNvPr id="346" name="Group 126">
            <a:extLst>
              <a:ext uri="{FF2B5EF4-FFF2-40B4-BE49-F238E27FC236}">
                <a16:creationId xmlns:a16="http://schemas.microsoft.com/office/drawing/2014/main" id="{B70BA022-65A5-4B43-BE01-DB5029C7BB0A}"/>
              </a:ext>
            </a:extLst>
          </p:cNvPr>
          <p:cNvGrpSpPr>
            <a:grpSpLocks/>
          </p:cNvGrpSpPr>
          <p:nvPr/>
        </p:nvGrpSpPr>
        <p:grpSpPr bwMode="auto">
          <a:xfrm>
            <a:off x="6023925" y="3748067"/>
            <a:ext cx="1103710" cy="277417"/>
            <a:chOff x="855" y="1799"/>
            <a:chExt cx="927" cy="233"/>
          </a:xfrm>
        </p:grpSpPr>
        <p:sp>
          <p:nvSpPr>
            <p:cNvPr id="347" name="Line 127">
              <a:extLst>
                <a:ext uri="{FF2B5EF4-FFF2-40B4-BE49-F238E27FC236}">
                  <a16:creationId xmlns:a16="http://schemas.microsoft.com/office/drawing/2014/main" id="{AD191456-37D1-A040-995D-0B74A7DCA3C9}"/>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48" name="Text Box 128">
              <a:extLst>
                <a:ext uri="{FF2B5EF4-FFF2-40B4-BE49-F238E27FC236}">
                  <a16:creationId xmlns:a16="http://schemas.microsoft.com/office/drawing/2014/main" id="{84500C9D-A61F-374E-AC7B-DB3E026212A6}"/>
                </a:ext>
              </a:extLst>
            </p:cNvPr>
            <p:cNvSpPr txBox="1">
              <a:spLocks noChangeArrowheads="1"/>
            </p:cNvSpPr>
            <p:nvPr/>
          </p:nvSpPr>
          <p:spPr bwMode="auto">
            <a:xfrm>
              <a:off x="1100" y="1799"/>
              <a:ext cx="399"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pkt1</a:t>
              </a:r>
            </a:p>
          </p:txBody>
        </p:sp>
      </p:grpSp>
      <p:grpSp>
        <p:nvGrpSpPr>
          <p:cNvPr id="349" name="Group 129">
            <a:extLst>
              <a:ext uri="{FF2B5EF4-FFF2-40B4-BE49-F238E27FC236}">
                <a16:creationId xmlns:a16="http://schemas.microsoft.com/office/drawing/2014/main" id="{06ADBC4E-4170-0642-9773-7507C6CC3A52}"/>
              </a:ext>
            </a:extLst>
          </p:cNvPr>
          <p:cNvGrpSpPr>
            <a:grpSpLocks/>
          </p:cNvGrpSpPr>
          <p:nvPr/>
        </p:nvGrpSpPr>
        <p:grpSpPr bwMode="auto">
          <a:xfrm>
            <a:off x="4895212" y="3359914"/>
            <a:ext cx="1088231" cy="573882"/>
            <a:chOff x="2756" y="2348"/>
            <a:chExt cx="914" cy="482"/>
          </a:xfrm>
        </p:grpSpPr>
        <p:pic>
          <p:nvPicPr>
            <p:cNvPr id="350" name="Picture 130" descr="alarm_clock_ringing">
              <a:extLst>
                <a:ext uri="{FF2B5EF4-FFF2-40B4-BE49-F238E27FC236}">
                  <a16:creationId xmlns:a16="http://schemas.microsoft.com/office/drawing/2014/main" id="{52E16AA2-A1DE-B149-8FC7-03FD3D9B17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 y="2348"/>
              <a:ext cx="275"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1" name="Text Box 131">
              <a:extLst>
                <a:ext uri="{FF2B5EF4-FFF2-40B4-BE49-F238E27FC236}">
                  <a16:creationId xmlns:a16="http://schemas.microsoft.com/office/drawing/2014/main" id="{0A05FBC0-8C50-6F4D-9F72-5369556DE4EB}"/>
                </a:ext>
              </a:extLst>
            </p:cNvPr>
            <p:cNvSpPr txBox="1">
              <a:spLocks noChangeArrowheads="1"/>
            </p:cNvSpPr>
            <p:nvPr/>
          </p:nvSpPr>
          <p:spPr bwMode="auto">
            <a:xfrm>
              <a:off x="2756" y="2491"/>
              <a:ext cx="914" cy="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75000"/>
                </a:lnSpc>
                <a:spcBef>
                  <a:spcPct val="0"/>
                </a:spcBef>
                <a:spcAft>
                  <a:spcPct val="0"/>
                </a:spcAft>
                <a:defRPr/>
              </a:pPr>
              <a:r>
                <a:rPr lang="en-US" sz="1350" i="1" kern="0" dirty="0">
                  <a:solidFill>
                    <a:srgbClr val="FF0000"/>
                  </a:solidFill>
                </a:rPr>
                <a:t>timeout</a:t>
              </a:r>
            </a:p>
            <a:p>
              <a:pPr algn="r" defTabSz="685800" eaLnBrk="0" fontAlgn="base" hangingPunct="0">
                <a:lnSpc>
                  <a:spcPct val="75000"/>
                </a:lnSpc>
                <a:spcBef>
                  <a:spcPct val="0"/>
                </a:spcBef>
                <a:spcAft>
                  <a:spcPct val="0"/>
                </a:spcAft>
                <a:defRPr/>
              </a:pPr>
              <a:r>
                <a:rPr lang="en-US" sz="1350" kern="0" dirty="0">
                  <a:solidFill>
                    <a:srgbClr val="000000"/>
                  </a:solidFill>
                </a:rPr>
                <a:t>resend pkt1</a:t>
              </a:r>
            </a:p>
          </p:txBody>
        </p:sp>
      </p:grpSp>
      <p:grpSp>
        <p:nvGrpSpPr>
          <p:cNvPr id="352" name="Group 133">
            <a:extLst>
              <a:ext uri="{FF2B5EF4-FFF2-40B4-BE49-F238E27FC236}">
                <a16:creationId xmlns:a16="http://schemas.microsoft.com/office/drawing/2014/main" id="{4FAA3600-FCAA-8B42-84D1-FB85323188F4}"/>
              </a:ext>
            </a:extLst>
          </p:cNvPr>
          <p:cNvGrpSpPr>
            <a:grpSpLocks/>
          </p:cNvGrpSpPr>
          <p:nvPr/>
        </p:nvGrpSpPr>
        <p:grpSpPr bwMode="auto">
          <a:xfrm>
            <a:off x="6435667" y="3089645"/>
            <a:ext cx="683636" cy="564356"/>
            <a:chOff x="4186" y="1705"/>
            <a:chExt cx="598" cy="453"/>
          </a:xfrm>
        </p:grpSpPr>
        <p:sp>
          <p:nvSpPr>
            <p:cNvPr id="353" name="Line 118">
              <a:extLst>
                <a:ext uri="{FF2B5EF4-FFF2-40B4-BE49-F238E27FC236}">
                  <a16:creationId xmlns:a16="http://schemas.microsoft.com/office/drawing/2014/main" id="{AE11BC12-265B-1C4B-8FAB-0FA75A29EEB2}"/>
                </a:ext>
              </a:extLst>
            </p:cNvPr>
            <p:cNvSpPr>
              <a:spLocks noChangeShapeType="1"/>
            </p:cNvSpPr>
            <p:nvPr/>
          </p:nvSpPr>
          <p:spPr bwMode="auto">
            <a:xfrm flipH="1">
              <a:off x="4343" y="1705"/>
              <a:ext cx="441" cy="329"/>
            </a:xfrm>
            <a:prstGeom prst="line">
              <a:avLst/>
            </a:prstGeom>
            <a:noFill/>
            <a:ln w="28575">
              <a:solidFill>
                <a:srgbClr val="008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55" name="Line 132">
              <a:extLst>
                <a:ext uri="{FF2B5EF4-FFF2-40B4-BE49-F238E27FC236}">
                  <a16:creationId xmlns:a16="http://schemas.microsoft.com/office/drawing/2014/main" id="{BFF7F0A8-A357-7748-BD1E-51A7A3E5988B}"/>
                </a:ext>
              </a:extLst>
            </p:cNvPr>
            <p:cNvSpPr>
              <a:spLocks noChangeShapeType="1"/>
            </p:cNvSpPr>
            <p:nvPr/>
          </p:nvSpPr>
          <p:spPr bwMode="auto">
            <a:xfrm flipH="1">
              <a:off x="4186" y="2047"/>
              <a:ext cx="146" cy="111"/>
            </a:xfrm>
            <a:prstGeom prst="line">
              <a:avLst/>
            </a:prstGeom>
            <a:noFill/>
            <a:ln w="28575">
              <a:solidFill>
                <a:srgbClr val="008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354" name="Text Box 119">
              <a:extLst>
                <a:ext uri="{FF2B5EF4-FFF2-40B4-BE49-F238E27FC236}">
                  <a16:creationId xmlns:a16="http://schemas.microsoft.com/office/drawing/2014/main" id="{D0B7F72D-FD32-8D47-B9FD-0C7A1B80B4A1}"/>
                </a:ext>
              </a:extLst>
            </p:cNvPr>
            <p:cNvSpPr txBox="1">
              <a:spLocks noChangeArrowheads="1"/>
            </p:cNvSpPr>
            <p:nvPr/>
          </p:nvSpPr>
          <p:spPr bwMode="auto">
            <a:xfrm>
              <a:off x="4223" y="1846"/>
              <a:ext cx="460" cy="222"/>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8000"/>
                  </a:solidFill>
                  <a:latin typeface="Arial" charset="0"/>
                </a:rPr>
                <a:t>ack1</a:t>
              </a:r>
            </a:p>
          </p:txBody>
        </p:sp>
      </p:grpSp>
      <p:sp>
        <p:nvSpPr>
          <p:cNvPr id="356" name="Line 136">
            <a:extLst>
              <a:ext uri="{FF2B5EF4-FFF2-40B4-BE49-F238E27FC236}">
                <a16:creationId xmlns:a16="http://schemas.microsoft.com/office/drawing/2014/main" id="{61D6DAB1-4B37-C740-BD43-4568C5241A0C}"/>
              </a:ext>
            </a:extLst>
          </p:cNvPr>
          <p:cNvSpPr>
            <a:spLocks noChangeShapeType="1"/>
          </p:cNvSpPr>
          <p:nvPr/>
        </p:nvSpPr>
        <p:spPr bwMode="auto">
          <a:xfrm flipH="1">
            <a:off x="5941773" y="3498029"/>
            <a:ext cx="682228" cy="554831"/>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C4E4C24E-2B71-FB43-956D-60F8AEF3370B}"/>
              </a:ext>
            </a:extLst>
          </p:cNvPr>
          <p:cNvGrpSpPr/>
          <p:nvPr/>
        </p:nvGrpSpPr>
        <p:grpSpPr>
          <a:xfrm>
            <a:off x="6009502" y="4089343"/>
            <a:ext cx="2028164" cy="560520"/>
            <a:chOff x="8162097" y="4679496"/>
            <a:chExt cx="2704218" cy="747361"/>
          </a:xfrm>
        </p:grpSpPr>
        <p:grpSp>
          <p:nvGrpSpPr>
            <p:cNvPr id="362" name="Group 150">
              <a:extLst>
                <a:ext uri="{FF2B5EF4-FFF2-40B4-BE49-F238E27FC236}">
                  <a16:creationId xmlns:a16="http://schemas.microsoft.com/office/drawing/2014/main" id="{8A649C16-501A-A644-A5FA-AE7129DDC14A}"/>
                </a:ext>
              </a:extLst>
            </p:cNvPr>
            <p:cNvGrpSpPr>
              <a:grpSpLocks/>
            </p:cNvGrpSpPr>
            <p:nvPr/>
          </p:nvGrpSpPr>
          <p:grpSpPr bwMode="auto">
            <a:xfrm>
              <a:off x="8162097" y="4974418"/>
              <a:ext cx="1471613" cy="452439"/>
              <a:chOff x="2229" y="3467"/>
              <a:chExt cx="927" cy="285"/>
            </a:xfrm>
          </p:grpSpPr>
          <p:sp>
            <p:nvSpPr>
              <p:cNvPr id="382" name="Line 108">
                <a:extLst>
                  <a:ext uri="{FF2B5EF4-FFF2-40B4-BE49-F238E27FC236}">
                    <a16:creationId xmlns:a16="http://schemas.microsoft.com/office/drawing/2014/main" id="{DB733CF3-EAC6-CC4F-B21E-9FB8C5502566}"/>
                  </a:ext>
                </a:extLst>
              </p:cNvPr>
              <p:cNvSpPr>
                <a:spLocks noChangeShapeType="1"/>
              </p:cNvSpPr>
              <p:nvPr/>
            </p:nvSpPr>
            <p:spPr bwMode="auto">
              <a:xfrm flipH="1">
                <a:off x="2229" y="3467"/>
                <a:ext cx="927" cy="225"/>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83" name="Text Box 109">
                <a:extLst>
                  <a:ext uri="{FF2B5EF4-FFF2-40B4-BE49-F238E27FC236}">
                    <a16:creationId xmlns:a16="http://schemas.microsoft.com/office/drawing/2014/main" id="{BB517B3D-28EB-8444-8C05-95403AFF543F}"/>
                  </a:ext>
                </a:extLst>
              </p:cNvPr>
              <p:cNvSpPr txBox="1">
                <a:spLocks noChangeArrowheads="1"/>
              </p:cNvSpPr>
              <p:nvPr/>
            </p:nvSpPr>
            <p:spPr bwMode="auto">
              <a:xfrm>
                <a:off x="2315" y="3519"/>
                <a:ext cx="427"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8000"/>
                    </a:solidFill>
                    <a:latin typeface="Arial" charset="0"/>
                  </a:rPr>
                  <a:t>ack1</a:t>
                </a:r>
              </a:p>
            </p:txBody>
          </p:sp>
        </p:grpSp>
        <p:sp>
          <p:nvSpPr>
            <p:cNvPr id="358" name="Text Box 93">
              <a:extLst>
                <a:ext uri="{FF2B5EF4-FFF2-40B4-BE49-F238E27FC236}">
                  <a16:creationId xmlns:a16="http://schemas.microsoft.com/office/drawing/2014/main" id="{0A5BAC0E-26A7-304A-9845-BD850E809ABB}"/>
                </a:ext>
              </a:extLst>
            </p:cNvPr>
            <p:cNvSpPr txBox="1">
              <a:spLocks noChangeArrowheads="1"/>
            </p:cNvSpPr>
            <p:nvPr/>
          </p:nvSpPr>
          <p:spPr bwMode="auto">
            <a:xfrm>
              <a:off x="9596309" y="4679496"/>
              <a:ext cx="127000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ack1</a:t>
              </a:r>
            </a:p>
          </p:txBody>
        </p:sp>
      </p:grpSp>
      <p:grpSp>
        <p:nvGrpSpPr>
          <p:cNvPr id="6" name="Group 5">
            <a:extLst>
              <a:ext uri="{FF2B5EF4-FFF2-40B4-BE49-F238E27FC236}">
                <a16:creationId xmlns:a16="http://schemas.microsoft.com/office/drawing/2014/main" id="{31C21A72-3E29-1946-B909-D85D4A552D56}"/>
              </a:ext>
            </a:extLst>
          </p:cNvPr>
          <p:cNvGrpSpPr/>
          <p:nvPr/>
        </p:nvGrpSpPr>
        <p:grpSpPr>
          <a:xfrm>
            <a:off x="5077247" y="3972396"/>
            <a:ext cx="2928937" cy="853682"/>
            <a:chOff x="6919087" y="4523564"/>
            <a:chExt cx="3905248" cy="1138243"/>
          </a:xfrm>
        </p:grpSpPr>
        <p:grpSp>
          <p:nvGrpSpPr>
            <p:cNvPr id="364" name="Group 137">
              <a:extLst>
                <a:ext uri="{FF2B5EF4-FFF2-40B4-BE49-F238E27FC236}">
                  <a16:creationId xmlns:a16="http://schemas.microsoft.com/office/drawing/2014/main" id="{3BF75B33-1A77-E24B-AABE-7E5C56D0D788}"/>
                </a:ext>
              </a:extLst>
            </p:cNvPr>
            <p:cNvGrpSpPr>
              <a:grpSpLocks/>
            </p:cNvGrpSpPr>
            <p:nvPr/>
          </p:nvGrpSpPr>
          <p:grpSpPr bwMode="auto">
            <a:xfrm>
              <a:off x="6919087" y="4523564"/>
              <a:ext cx="1246188" cy="642939"/>
              <a:chOff x="2808" y="3285"/>
              <a:chExt cx="785" cy="405"/>
            </a:xfrm>
          </p:grpSpPr>
          <p:sp>
            <p:nvSpPr>
              <p:cNvPr id="378" name="Text Box 134">
                <a:extLst>
                  <a:ext uri="{FF2B5EF4-FFF2-40B4-BE49-F238E27FC236}">
                    <a16:creationId xmlns:a16="http://schemas.microsoft.com/office/drawing/2014/main" id="{057A15E3-B733-174D-BE7C-2996FC261991}"/>
                  </a:ext>
                </a:extLst>
              </p:cNvPr>
              <p:cNvSpPr txBox="1">
                <a:spLocks noChangeArrowheads="1"/>
              </p:cNvSpPr>
              <p:nvPr/>
            </p:nvSpPr>
            <p:spPr bwMode="auto">
              <a:xfrm>
                <a:off x="2808" y="3438"/>
                <a:ext cx="78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pkt0</a:t>
                </a:r>
              </a:p>
            </p:txBody>
          </p:sp>
          <p:sp>
            <p:nvSpPr>
              <p:cNvPr id="379" name="Text Box 135">
                <a:extLst>
                  <a:ext uri="{FF2B5EF4-FFF2-40B4-BE49-F238E27FC236}">
                    <a16:creationId xmlns:a16="http://schemas.microsoft.com/office/drawing/2014/main" id="{D294B6DF-F9F6-C245-9C1E-7E3DCD5BFC7B}"/>
                  </a:ext>
                </a:extLst>
              </p:cNvPr>
              <p:cNvSpPr txBox="1">
                <a:spLocks noChangeArrowheads="1"/>
              </p:cNvSpPr>
              <p:nvPr/>
            </p:nvSpPr>
            <p:spPr bwMode="auto">
              <a:xfrm>
                <a:off x="2893" y="3285"/>
                <a:ext cx="690"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ack1</a:t>
                </a:r>
              </a:p>
            </p:txBody>
          </p:sp>
        </p:grpSp>
        <p:grpSp>
          <p:nvGrpSpPr>
            <p:cNvPr id="365" name="Group 138">
              <a:extLst>
                <a:ext uri="{FF2B5EF4-FFF2-40B4-BE49-F238E27FC236}">
                  <a16:creationId xmlns:a16="http://schemas.microsoft.com/office/drawing/2014/main" id="{CAC9BF03-EEEF-2846-B090-FAE6750AF122}"/>
                </a:ext>
              </a:extLst>
            </p:cNvPr>
            <p:cNvGrpSpPr>
              <a:grpSpLocks/>
            </p:cNvGrpSpPr>
            <p:nvPr/>
          </p:nvGrpSpPr>
          <p:grpSpPr bwMode="auto">
            <a:xfrm>
              <a:off x="8073197" y="4747083"/>
              <a:ext cx="1547813" cy="446403"/>
              <a:chOff x="850" y="1229"/>
              <a:chExt cx="927" cy="253"/>
            </a:xfrm>
          </p:grpSpPr>
          <p:sp>
            <p:nvSpPr>
              <p:cNvPr id="376" name="Line 139">
                <a:extLst>
                  <a:ext uri="{FF2B5EF4-FFF2-40B4-BE49-F238E27FC236}">
                    <a16:creationId xmlns:a16="http://schemas.microsoft.com/office/drawing/2014/main" id="{908F9E2B-E1F1-0444-8DD2-B8396679EF06}"/>
                  </a:ext>
                </a:extLst>
              </p:cNvPr>
              <p:cNvSpPr>
                <a:spLocks noChangeShapeType="1"/>
              </p:cNvSpPr>
              <p:nvPr/>
            </p:nvSpPr>
            <p:spPr bwMode="auto">
              <a:xfrm>
                <a:off x="850" y="1257"/>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77" name="Text Box 140">
                <a:extLst>
                  <a:ext uri="{FF2B5EF4-FFF2-40B4-BE49-F238E27FC236}">
                    <a16:creationId xmlns:a16="http://schemas.microsoft.com/office/drawing/2014/main" id="{74AAB4FF-F9B2-8644-9770-40F6B7F6DC97}"/>
                  </a:ext>
                </a:extLst>
              </p:cNvPr>
              <p:cNvSpPr txBox="1">
                <a:spLocks noChangeArrowheads="1"/>
              </p:cNvSpPr>
              <p:nvPr/>
            </p:nvSpPr>
            <p:spPr bwMode="auto">
              <a:xfrm>
                <a:off x="994" y="1229"/>
                <a:ext cx="379" cy="209"/>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0099"/>
                    </a:solidFill>
                    <a:latin typeface="Arial" charset="0"/>
                  </a:rPr>
                  <a:t>pkt0</a:t>
                </a:r>
              </a:p>
            </p:txBody>
          </p:sp>
        </p:grpSp>
        <p:grpSp>
          <p:nvGrpSpPr>
            <p:cNvPr id="366" name="Group 142">
              <a:extLst>
                <a:ext uri="{FF2B5EF4-FFF2-40B4-BE49-F238E27FC236}">
                  <a16:creationId xmlns:a16="http://schemas.microsoft.com/office/drawing/2014/main" id="{61F81DDD-D8CA-1E44-9759-5F540FE71068}"/>
                </a:ext>
              </a:extLst>
            </p:cNvPr>
            <p:cNvGrpSpPr>
              <a:grpSpLocks/>
            </p:cNvGrpSpPr>
            <p:nvPr/>
          </p:nvGrpSpPr>
          <p:grpSpPr bwMode="auto">
            <a:xfrm>
              <a:off x="9547985" y="5037918"/>
              <a:ext cx="1276350" cy="623889"/>
              <a:chOff x="4740" y="2985"/>
              <a:chExt cx="804" cy="393"/>
            </a:xfrm>
          </p:grpSpPr>
          <p:sp>
            <p:nvSpPr>
              <p:cNvPr id="374" name="Text Box 143">
                <a:extLst>
                  <a:ext uri="{FF2B5EF4-FFF2-40B4-BE49-F238E27FC236}">
                    <a16:creationId xmlns:a16="http://schemas.microsoft.com/office/drawing/2014/main" id="{6C499832-2FEA-2247-A1D4-C7CE568CC494}"/>
                  </a:ext>
                </a:extLst>
              </p:cNvPr>
              <p:cNvSpPr txBox="1">
                <a:spLocks noChangeArrowheads="1"/>
              </p:cNvSpPr>
              <p:nvPr/>
            </p:nvSpPr>
            <p:spPr bwMode="auto">
              <a:xfrm>
                <a:off x="4740" y="2985"/>
                <a:ext cx="675"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pkt0</a:t>
                </a:r>
              </a:p>
            </p:txBody>
          </p:sp>
          <p:sp>
            <p:nvSpPr>
              <p:cNvPr id="375" name="Text Box 144">
                <a:extLst>
                  <a:ext uri="{FF2B5EF4-FFF2-40B4-BE49-F238E27FC236}">
                    <a16:creationId xmlns:a16="http://schemas.microsoft.com/office/drawing/2014/main" id="{23A45435-E6D5-7641-819A-FA71E59CB02C}"/>
                  </a:ext>
                </a:extLst>
              </p:cNvPr>
              <p:cNvSpPr txBox="1">
                <a:spLocks noChangeArrowheads="1"/>
              </p:cNvSpPr>
              <p:nvPr/>
            </p:nvSpPr>
            <p:spPr bwMode="auto">
              <a:xfrm>
                <a:off x="4744" y="3126"/>
                <a:ext cx="800"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send ack0</a:t>
                </a:r>
              </a:p>
            </p:txBody>
          </p:sp>
        </p:grpSp>
      </p:grpSp>
      <p:grpSp>
        <p:nvGrpSpPr>
          <p:cNvPr id="367" name="Group 149">
            <a:extLst>
              <a:ext uri="{FF2B5EF4-FFF2-40B4-BE49-F238E27FC236}">
                <a16:creationId xmlns:a16="http://schemas.microsoft.com/office/drawing/2014/main" id="{69EE8DE9-3381-624C-9ABB-652457E2824C}"/>
              </a:ext>
            </a:extLst>
          </p:cNvPr>
          <p:cNvGrpSpPr>
            <a:grpSpLocks/>
          </p:cNvGrpSpPr>
          <p:nvPr/>
        </p:nvGrpSpPr>
        <p:grpSpPr bwMode="auto">
          <a:xfrm>
            <a:off x="6026169" y="4583177"/>
            <a:ext cx="1092994" cy="366713"/>
            <a:chOff x="3839" y="2850"/>
            <a:chExt cx="918" cy="308"/>
          </a:xfrm>
        </p:grpSpPr>
        <p:sp>
          <p:nvSpPr>
            <p:cNvPr id="372" name="Line 146">
              <a:extLst>
                <a:ext uri="{FF2B5EF4-FFF2-40B4-BE49-F238E27FC236}">
                  <a16:creationId xmlns:a16="http://schemas.microsoft.com/office/drawing/2014/main" id="{B42EE784-BAAA-7648-8C27-518F3E7EDD07}"/>
                </a:ext>
              </a:extLst>
            </p:cNvPr>
            <p:cNvSpPr>
              <a:spLocks noChangeShapeType="1"/>
            </p:cNvSpPr>
            <p:nvPr/>
          </p:nvSpPr>
          <p:spPr bwMode="auto">
            <a:xfrm flipH="1">
              <a:off x="3839" y="2850"/>
              <a:ext cx="918" cy="308"/>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373" name="Text Box 147">
              <a:extLst>
                <a:ext uri="{FF2B5EF4-FFF2-40B4-BE49-F238E27FC236}">
                  <a16:creationId xmlns:a16="http://schemas.microsoft.com/office/drawing/2014/main" id="{0E52013C-7BAA-344E-9018-CA884EE49126}"/>
                </a:ext>
              </a:extLst>
            </p:cNvPr>
            <p:cNvSpPr txBox="1">
              <a:spLocks noChangeArrowheads="1"/>
            </p:cNvSpPr>
            <p:nvPr/>
          </p:nvSpPr>
          <p:spPr bwMode="auto">
            <a:xfrm>
              <a:off x="4083" y="2873"/>
              <a:ext cx="427"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kern="0" dirty="0">
                  <a:solidFill>
                    <a:srgbClr val="008000"/>
                  </a:solidFill>
                  <a:latin typeface="Arial" charset="0"/>
                </a:rPr>
                <a:t>ack0</a:t>
              </a:r>
            </a:p>
          </p:txBody>
        </p:sp>
      </p:grpSp>
      <p:grpSp>
        <p:nvGrpSpPr>
          <p:cNvPr id="120" name="Group 85">
            <a:extLst>
              <a:ext uri="{FF2B5EF4-FFF2-40B4-BE49-F238E27FC236}">
                <a16:creationId xmlns:a16="http://schemas.microsoft.com/office/drawing/2014/main" id="{EF03F5C0-9E1B-6F4D-827D-841E2D21FDD8}"/>
              </a:ext>
            </a:extLst>
          </p:cNvPr>
          <p:cNvGrpSpPr>
            <a:grpSpLocks/>
          </p:cNvGrpSpPr>
          <p:nvPr/>
        </p:nvGrpSpPr>
        <p:grpSpPr bwMode="auto">
          <a:xfrm>
            <a:off x="6019846" y="4959458"/>
            <a:ext cx="1103709" cy="277417"/>
            <a:chOff x="855" y="1799"/>
            <a:chExt cx="927" cy="233"/>
          </a:xfrm>
        </p:grpSpPr>
        <p:sp>
          <p:nvSpPr>
            <p:cNvPr id="121" name="Line 86">
              <a:extLst>
                <a:ext uri="{FF2B5EF4-FFF2-40B4-BE49-F238E27FC236}">
                  <a16:creationId xmlns:a16="http://schemas.microsoft.com/office/drawing/2014/main" id="{CFBE0624-2276-5A40-AD6C-765B8E1D5A7A}"/>
                </a:ext>
              </a:extLst>
            </p:cNvPr>
            <p:cNvSpPr>
              <a:spLocks noChangeShapeType="1"/>
            </p:cNvSpPr>
            <p:nvPr/>
          </p:nvSpPr>
          <p:spPr bwMode="auto">
            <a:xfrm>
              <a:off x="855" y="1803"/>
              <a:ext cx="927" cy="2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2" name="Text Box 87">
              <a:extLst>
                <a:ext uri="{FF2B5EF4-FFF2-40B4-BE49-F238E27FC236}">
                  <a16:creationId xmlns:a16="http://schemas.microsoft.com/office/drawing/2014/main" id="{6E5D70F9-C765-DD43-99D5-1E3FD4E8B868}"/>
                </a:ext>
              </a:extLst>
            </p:cNvPr>
            <p:cNvSpPr txBox="1">
              <a:spLocks noChangeArrowheads="1"/>
            </p:cNvSpPr>
            <p:nvPr/>
          </p:nvSpPr>
          <p:spPr bwMode="auto">
            <a:xfrm>
              <a:off x="1129" y="1799"/>
              <a:ext cx="402" cy="233"/>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99"/>
                  </a:solidFill>
                  <a:latin typeface="Arial" charset="0"/>
                </a:rPr>
                <a:t>pkt1</a:t>
              </a:r>
            </a:p>
          </p:txBody>
        </p:sp>
      </p:grpSp>
      <p:grpSp>
        <p:nvGrpSpPr>
          <p:cNvPr id="3" name="Group 2">
            <a:extLst>
              <a:ext uri="{FF2B5EF4-FFF2-40B4-BE49-F238E27FC236}">
                <a16:creationId xmlns:a16="http://schemas.microsoft.com/office/drawing/2014/main" id="{32D39F4C-0ABF-C94E-A0DB-A97913E78570}"/>
              </a:ext>
            </a:extLst>
          </p:cNvPr>
          <p:cNvGrpSpPr/>
          <p:nvPr/>
        </p:nvGrpSpPr>
        <p:grpSpPr>
          <a:xfrm>
            <a:off x="5218301" y="4462232"/>
            <a:ext cx="821059" cy="438289"/>
            <a:chOff x="6253062" y="5452590"/>
            <a:chExt cx="1094745" cy="584384"/>
          </a:xfrm>
        </p:grpSpPr>
        <p:sp>
          <p:nvSpPr>
            <p:cNvPr id="359" name="Text Box 96">
              <a:extLst>
                <a:ext uri="{FF2B5EF4-FFF2-40B4-BE49-F238E27FC236}">
                  <a16:creationId xmlns:a16="http://schemas.microsoft.com/office/drawing/2014/main" id="{0B9EBE4A-F7AC-D14C-AD4E-0FA449FA991D}"/>
                </a:ext>
              </a:extLst>
            </p:cNvPr>
            <p:cNvSpPr txBox="1">
              <a:spLocks noChangeArrowheads="1"/>
            </p:cNvSpPr>
            <p:nvPr/>
          </p:nvSpPr>
          <p:spPr bwMode="auto">
            <a:xfrm>
              <a:off x="6309414" y="5698420"/>
              <a:ext cx="878873"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(ignore)</a:t>
              </a:r>
            </a:p>
          </p:txBody>
        </p:sp>
        <p:sp>
          <p:nvSpPr>
            <p:cNvPr id="123" name="Text Box 98">
              <a:extLst>
                <a:ext uri="{FF2B5EF4-FFF2-40B4-BE49-F238E27FC236}">
                  <a16:creationId xmlns:a16="http://schemas.microsoft.com/office/drawing/2014/main" id="{0DE35C6C-6D99-814C-B88E-A2943030E4F5}"/>
                </a:ext>
              </a:extLst>
            </p:cNvPr>
            <p:cNvSpPr txBox="1">
              <a:spLocks noChangeArrowheads="1"/>
            </p:cNvSpPr>
            <p:nvPr/>
          </p:nvSpPr>
          <p:spPr bwMode="auto">
            <a:xfrm>
              <a:off x="6253062" y="5452590"/>
              <a:ext cx="1094745" cy="400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kern="0" dirty="0">
                  <a:solidFill>
                    <a:srgbClr val="000000"/>
                  </a:solidFill>
                </a:rPr>
                <a:t>rcv ack1</a:t>
              </a:r>
            </a:p>
          </p:txBody>
        </p:sp>
      </p:grpSp>
    </p:spTree>
    <p:extLst>
      <p:ext uri="{BB962C8B-B14F-4D97-AF65-F5344CB8AC3E}">
        <p14:creationId xmlns:p14="http://schemas.microsoft.com/office/powerpoint/2010/main" val="317681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wipe(left)">
                                      <p:cBhvr>
                                        <p:cTn id="7" dur="500"/>
                                        <p:tgtEl>
                                          <p:spTgt spid="290"/>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89">
                                            <p:txEl>
                                              <p:pRg st="0" end="0"/>
                                            </p:txEl>
                                          </p:spTgt>
                                        </p:tgtEl>
                                        <p:attrNameLst>
                                          <p:attrName>style.visibility</p:attrName>
                                        </p:attrNameLst>
                                      </p:cBhvr>
                                      <p:to>
                                        <p:strVal val="visible"/>
                                      </p:to>
                                    </p:set>
                                    <p:animEffect transition="in" filter="dissolve">
                                      <p:cBhvr>
                                        <p:cTn id="11" dur="500"/>
                                        <p:tgtEl>
                                          <p:spTgt spid="289">
                                            <p:txEl>
                                              <p:pRg st="0" end="0"/>
                                            </p:txEl>
                                          </p:spTgt>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81"/>
                                        </p:tgtEl>
                                        <p:attrNameLst>
                                          <p:attrName>style.visibility</p:attrName>
                                        </p:attrNameLst>
                                      </p:cBhvr>
                                      <p:to>
                                        <p:strVal val="visible"/>
                                      </p:to>
                                    </p:set>
                                    <p:animEffect transition="in" filter="dissolve">
                                      <p:cBhvr>
                                        <p:cTn id="15" dur="500"/>
                                        <p:tgtEl>
                                          <p:spTgt spid="281"/>
                                        </p:tgtEl>
                                      </p:cBhvr>
                                    </p:animEffect>
                                  </p:childTnLst>
                                </p:cTn>
                              </p:par>
                            </p:childTnLst>
                          </p:cTn>
                        </p:par>
                        <p:par>
                          <p:cTn id="16" fill="hold">
                            <p:stCondLst>
                              <p:cond delay="1500"/>
                            </p:stCondLst>
                            <p:childTnLst>
                              <p:par>
                                <p:cTn id="17" presetID="22" presetClass="entr" presetSubtype="2" fill="hold" nodeType="afterEffect">
                                  <p:stCondLst>
                                    <p:cond delay="0"/>
                                  </p:stCondLst>
                                  <p:childTnLst>
                                    <p:set>
                                      <p:cBhvr>
                                        <p:cTn id="18" dur="1" fill="hold">
                                          <p:stCondLst>
                                            <p:cond delay="0"/>
                                          </p:stCondLst>
                                        </p:cTn>
                                        <p:tgtEl>
                                          <p:spTgt spid="299"/>
                                        </p:tgtEl>
                                        <p:attrNameLst>
                                          <p:attrName>style.visibility</p:attrName>
                                        </p:attrNameLst>
                                      </p:cBhvr>
                                      <p:to>
                                        <p:strVal val="visible"/>
                                      </p:to>
                                    </p:set>
                                    <p:animEffect transition="in" filter="wipe(right)">
                                      <p:cBhvr>
                                        <p:cTn id="19" dur="500"/>
                                        <p:tgtEl>
                                          <p:spTgt spid="299"/>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84"/>
                                        </p:tgtEl>
                                        <p:attrNameLst>
                                          <p:attrName>style.visibility</p:attrName>
                                        </p:attrNameLst>
                                      </p:cBhvr>
                                      <p:to>
                                        <p:strVal val="visible"/>
                                      </p:to>
                                    </p:set>
                                    <p:animEffect transition="in" filter="dissolve">
                                      <p:cBhvr>
                                        <p:cTn id="23" dur="500"/>
                                        <p:tgtEl>
                                          <p:spTgt spid="284"/>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286"/>
                                        </p:tgtEl>
                                        <p:attrNameLst>
                                          <p:attrName>style.visibility</p:attrName>
                                        </p:attrNameLst>
                                      </p:cBhvr>
                                      <p:to>
                                        <p:strVal val="visible"/>
                                      </p:to>
                                    </p:set>
                                    <p:animEffect transition="in" filter="dissolve">
                                      <p:cBhvr>
                                        <p:cTn id="27" dur="500"/>
                                        <p:tgtEl>
                                          <p:spTgt spid="286"/>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74"/>
                                        </p:tgtEl>
                                        <p:attrNameLst>
                                          <p:attrName>style.visibility</p:attrName>
                                        </p:attrNameLst>
                                      </p:cBhvr>
                                      <p:to>
                                        <p:strVal val="visible"/>
                                      </p:to>
                                    </p:set>
                                    <p:animEffect transition="in" filter="wipe(left)">
                                      <p:cBhvr>
                                        <p:cTn id="31" dur="500"/>
                                        <p:tgtEl>
                                          <p:spTgt spid="274"/>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195">
                                            <p:txEl>
                                              <p:pRg st="0" end="0"/>
                                            </p:txEl>
                                          </p:spTgt>
                                        </p:tgtEl>
                                        <p:attrNameLst>
                                          <p:attrName>style.visibility</p:attrName>
                                        </p:attrNameLst>
                                      </p:cBhvr>
                                      <p:to>
                                        <p:strVal val="visible"/>
                                      </p:to>
                                    </p:set>
                                    <p:animEffect transition="in" filter="dissolve">
                                      <p:cBhvr>
                                        <p:cTn id="35" dur="500"/>
                                        <p:tgtEl>
                                          <p:spTgt spid="195">
                                            <p:txEl>
                                              <p:pRg st="0" end="0"/>
                                            </p:txEl>
                                          </p:spTgt>
                                        </p:tgtEl>
                                      </p:cBhvr>
                                    </p:animEffect>
                                  </p:childTnLst>
                                </p:cTn>
                              </p:par>
                            </p:childTnLst>
                          </p:cTn>
                        </p:par>
                        <p:par>
                          <p:cTn id="36" fill="hold">
                            <p:stCondLst>
                              <p:cond delay="4000"/>
                            </p:stCondLst>
                            <p:childTnLst>
                              <p:par>
                                <p:cTn id="37" presetID="9" presetClass="entr" presetSubtype="0" fill="hold" grpId="0" nodeType="afterEffect">
                                  <p:stCondLst>
                                    <p:cond delay="0"/>
                                  </p:stCondLst>
                                  <p:childTnLst>
                                    <p:set>
                                      <p:cBhvr>
                                        <p:cTn id="38" dur="1" fill="hold">
                                          <p:stCondLst>
                                            <p:cond delay="0"/>
                                          </p:stCondLst>
                                        </p:cTn>
                                        <p:tgtEl>
                                          <p:spTgt spid="196"/>
                                        </p:tgtEl>
                                        <p:attrNameLst>
                                          <p:attrName>style.visibility</p:attrName>
                                        </p:attrNameLst>
                                      </p:cBhvr>
                                      <p:to>
                                        <p:strVal val="visible"/>
                                      </p:to>
                                    </p:set>
                                    <p:animEffect transition="in" filter="dissolve">
                                      <p:cBhvr>
                                        <p:cTn id="39" dur="500"/>
                                        <p:tgtEl>
                                          <p:spTgt spid="196"/>
                                        </p:tgtEl>
                                      </p:cBhvr>
                                    </p:animEffect>
                                  </p:childTnLst>
                                </p:cTn>
                              </p:par>
                            </p:childTnLst>
                          </p:cTn>
                        </p:par>
                        <p:par>
                          <p:cTn id="40" fill="hold">
                            <p:stCondLst>
                              <p:cond delay="4500"/>
                            </p:stCondLst>
                            <p:childTnLst>
                              <p:par>
                                <p:cTn id="41" presetID="22" presetClass="entr" presetSubtype="2" fill="hold" nodeType="afterEffect">
                                  <p:stCondLst>
                                    <p:cond delay="0"/>
                                  </p:stCondLst>
                                  <p:childTnLst>
                                    <p:set>
                                      <p:cBhvr>
                                        <p:cTn id="42" dur="1" fill="hold">
                                          <p:stCondLst>
                                            <p:cond delay="0"/>
                                          </p:stCondLst>
                                        </p:cTn>
                                        <p:tgtEl>
                                          <p:spTgt spid="306"/>
                                        </p:tgtEl>
                                        <p:attrNameLst>
                                          <p:attrName>style.visibility</p:attrName>
                                        </p:attrNameLst>
                                      </p:cBhvr>
                                      <p:to>
                                        <p:strVal val="visible"/>
                                      </p:to>
                                    </p:set>
                                    <p:animEffect transition="in" filter="wipe(right)">
                                      <p:cBhvr>
                                        <p:cTn id="43" dur="500"/>
                                        <p:tgtEl>
                                          <p:spTgt spid="30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311"/>
                                        </p:tgtEl>
                                        <p:attrNameLst>
                                          <p:attrName>style.visibility</p:attrName>
                                        </p:attrNameLst>
                                      </p:cBhvr>
                                      <p:to>
                                        <p:strVal val="visible"/>
                                      </p:to>
                                    </p:set>
                                    <p:animEffect transition="in" filter="wipe(up)">
                                      <p:cBhvr>
                                        <p:cTn id="48" dur="1000"/>
                                        <p:tgtEl>
                                          <p:spTgt spid="311"/>
                                        </p:tgtEl>
                                      </p:cBhvr>
                                    </p:animEffect>
                                  </p:childTnLst>
                                </p:cTn>
                              </p:par>
                            </p:childTnLst>
                          </p:cTn>
                        </p:par>
                        <p:par>
                          <p:cTn id="49" fill="hold">
                            <p:stCondLst>
                              <p:cond delay="1000"/>
                            </p:stCondLst>
                            <p:childTnLst>
                              <p:par>
                                <p:cTn id="50" presetID="9" presetClass="entr" presetSubtype="0" fill="hold" nodeType="afterEffect">
                                  <p:stCondLst>
                                    <p:cond delay="0"/>
                                  </p:stCondLst>
                                  <p:childTnLst>
                                    <p:set>
                                      <p:cBhvr>
                                        <p:cTn id="51" dur="1" fill="hold">
                                          <p:stCondLst>
                                            <p:cond delay="0"/>
                                          </p:stCondLst>
                                        </p:cTn>
                                        <p:tgtEl>
                                          <p:spTgt spid="318"/>
                                        </p:tgtEl>
                                        <p:attrNameLst>
                                          <p:attrName>style.visibility</p:attrName>
                                        </p:attrNameLst>
                                      </p:cBhvr>
                                      <p:to>
                                        <p:strVal val="visible"/>
                                      </p:to>
                                    </p:set>
                                    <p:animEffect transition="in" filter="dissolve">
                                      <p:cBhvr>
                                        <p:cTn id="52" dur="500"/>
                                        <p:tgtEl>
                                          <p:spTgt spid="3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15"/>
                                        </p:tgtEl>
                                        <p:attrNameLst>
                                          <p:attrName>style.visibility</p:attrName>
                                        </p:attrNameLst>
                                      </p:cBhvr>
                                      <p:to>
                                        <p:strVal val="visible"/>
                                      </p:to>
                                    </p:set>
                                    <p:animEffect transition="in" filter="wipe(left)">
                                      <p:cBhvr>
                                        <p:cTn id="57" dur="500"/>
                                        <p:tgtEl>
                                          <p:spTgt spid="315"/>
                                        </p:tgtEl>
                                      </p:cBhvr>
                                    </p:animEffect>
                                  </p:childTnLst>
                                </p:cTn>
                              </p:par>
                            </p:childTnLst>
                          </p:cTn>
                        </p:par>
                        <p:par>
                          <p:cTn id="58" fill="hold">
                            <p:stCondLst>
                              <p:cond delay="500"/>
                            </p:stCondLst>
                            <p:childTnLst>
                              <p:par>
                                <p:cTn id="59" presetID="9" presetClass="entr" presetSubtype="0" fill="hold" nodeType="afterEffect">
                                  <p:stCondLst>
                                    <p:cond delay="0"/>
                                  </p:stCondLst>
                                  <p:childTnLst>
                                    <p:set>
                                      <p:cBhvr>
                                        <p:cTn id="60" dur="1" fill="hold">
                                          <p:stCondLst>
                                            <p:cond delay="0"/>
                                          </p:stCondLst>
                                        </p:cTn>
                                        <p:tgtEl>
                                          <p:spTgt spid="279">
                                            <p:txEl>
                                              <p:pRg st="0" end="0"/>
                                            </p:txEl>
                                          </p:spTgt>
                                        </p:tgtEl>
                                        <p:attrNameLst>
                                          <p:attrName>style.visibility</p:attrName>
                                        </p:attrNameLst>
                                      </p:cBhvr>
                                      <p:to>
                                        <p:strVal val="visible"/>
                                      </p:to>
                                    </p:set>
                                    <p:animEffect transition="in" filter="dissolve">
                                      <p:cBhvr>
                                        <p:cTn id="61" dur="500"/>
                                        <p:tgtEl>
                                          <p:spTgt spid="279">
                                            <p:txEl>
                                              <p:pRg st="0" end="0"/>
                                            </p:txEl>
                                          </p:spTgt>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73"/>
                                        </p:tgtEl>
                                        <p:attrNameLst>
                                          <p:attrName>style.visibility</p:attrName>
                                        </p:attrNameLst>
                                      </p:cBhvr>
                                      <p:to>
                                        <p:strVal val="visible"/>
                                      </p:to>
                                    </p:set>
                                    <p:animEffect transition="in" filter="dissolve">
                                      <p:cBhvr>
                                        <p:cTn id="64" dur="500"/>
                                        <p:tgtEl>
                                          <p:spTgt spid="273"/>
                                        </p:tgtEl>
                                      </p:cBhvr>
                                    </p:animEffect>
                                  </p:childTnLst>
                                </p:cTn>
                              </p:par>
                            </p:childTnLst>
                          </p:cTn>
                        </p:par>
                        <p:par>
                          <p:cTn id="65" fill="hold">
                            <p:stCondLst>
                              <p:cond delay="1000"/>
                            </p:stCondLst>
                            <p:childTnLst>
                              <p:par>
                                <p:cTn id="66" presetID="9" presetClass="entr" presetSubtype="0" fill="hold" grpId="0" nodeType="afterEffect">
                                  <p:stCondLst>
                                    <p:cond delay="0"/>
                                  </p:stCondLst>
                                  <p:childTnLst>
                                    <p:set>
                                      <p:cBhvr>
                                        <p:cTn id="67" dur="1" fill="hold">
                                          <p:stCondLst>
                                            <p:cond delay="0"/>
                                          </p:stCondLst>
                                        </p:cTn>
                                        <p:tgtEl>
                                          <p:spTgt spid="282"/>
                                        </p:tgtEl>
                                        <p:attrNameLst>
                                          <p:attrName>style.visibility</p:attrName>
                                        </p:attrNameLst>
                                      </p:cBhvr>
                                      <p:to>
                                        <p:strVal val="visible"/>
                                      </p:to>
                                    </p:set>
                                    <p:animEffect transition="in" filter="dissolve">
                                      <p:cBhvr>
                                        <p:cTn id="68" dur="500"/>
                                        <p:tgtEl>
                                          <p:spTgt spid="282"/>
                                        </p:tgtEl>
                                      </p:cBhvr>
                                    </p:animEffect>
                                  </p:childTnLst>
                                </p:cTn>
                              </p:par>
                            </p:childTnLst>
                          </p:cTn>
                        </p:par>
                        <p:par>
                          <p:cTn id="69" fill="hold">
                            <p:stCondLst>
                              <p:cond delay="1500"/>
                            </p:stCondLst>
                            <p:childTnLst>
                              <p:par>
                                <p:cTn id="70" presetID="22" presetClass="entr" presetSubtype="2" fill="hold" nodeType="afterEffect">
                                  <p:stCondLst>
                                    <p:cond delay="0"/>
                                  </p:stCondLst>
                                  <p:childTnLst>
                                    <p:set>
                                      <p:cBhvr>
                                        <p:cTn id="71" dur="1" fill="hold">
                                          <p:stCondLst>
                                            <p:cond delay="0"/>
                                          </p:stCondLst>
                                        </p:cTn>
                                        <p:tgtEl>
                                          <p:spTgt spid="296"/>
                                        </p:tgtEl>
                                        <p:attrNameLst>
                                          <p:attrName>style.visibility</p:attrName>
                                        </p:attrNameLst>
                                      </p:cBhvr>
                                      <p:to>
                                        <p:strVal val="visible"/>
                                      </p:to>
                                    </p:set>
                                    <p:animEffect transition="in" filter="wipe(right)">
                                      <p:cBhvr>
                                        <p:cTn id="72" dur="500"/>
                                        <p:tgtEl>
                                          <p:spTgt spid="296"/>
                                        </p:tgtEl>
                                      </p:cBhvr>
                                    </p:animEffect>
                                  </p:childTnLst>
                                </p:cTn>
                              </p:par>
                            </p:childTnLst>
                          </p:cTn>
                        </p:par>
                        <p:par>
                          <p:cTn id="73" fill="hold">
                            <p:stCondLst>
                              <p:cond delay="2000"/>
                            </p:stCondLst>
                            <p:childTnLst>
                              <p:par>
                                <p:cTn id="74" presetID="9" presetClass="entr" presetSubtype="0" fill="hold" grpId="0" nodeType="afterEffect">
                                  <p:stCondLst>
                                    <p:cond delay="0"/>
                                  </p:stCondLst>
                                  <p:childTnLst>
                                    <p:set>
                                      <p:cBhvr>
                                        <p:cTn id="75" dur="1" fill="hold">
                                          <p:stCondLst>
                                            <p:cond delay="0"/>
                                          </p:stCondLst>
                                        </p:cTn>
                                        <p:tgtEl>
                                          <p:spTgt spid="287"/>
                                        </p:tgtEl>
                                        <p:attrNameLst>
                                          <p:attrName>style.visibility</p:attrName>
                                        </p:attrNameLst>
                                      </p:cBhvr>
                                      <p:to>
                                        <p:strVal val="visible"/>
                                      </p:to>
                                    </p:set>
                                    <p:animEffect transition="in" filter="dissolve">
                                      <p:cBhvr>
                                        <p:cTn id="76" dur="500"/>
                                        <p:tgtEl>
                                          <p:spTgt spid="287"/>
                                        </p:tgtEl>
                                      </p:cBhvr>
                                    </p:animEffect>
                                  </p:childTnLst>
                                </p:cTn>
                              </p:par>
                            </p:childTnLst>
                          </p:cTn>
                        </p:par>
                        <p:par>
                          <p:cTn id="77" fill="hold">
                            <p:stCondLst>
                              <p:cond delay="2500"/>
                            </p:stCondLst>
                            <p:childTnLst>
                              <p:par>
                                <p:cTn id="78" presetID="9" presetClass="entr" presetSubtype="0" fill="hold" grpId="0" nodeType="afterEffect">
                                  <p:stCondLst>
                                    <p:cond delay="0"/>
                                  </p:stCondLst>
                                  <p:childTnLst>
                                    <p:set>
                                      <p:cBhvr>
                                        <p:cTn id="79" dur="1" fill="hold">
                                          <p:stCondLst>
                                            <p:cond delay="0"/>
                                          </p:stCondLst>
                                        </p:cTn>
                                        <p:tgtEl>
                                          <p:spTgt spid="285"/>
                                        </p:tgtEl>
                                        <p:attrNameLst>
                                          <p:attrName>style.visibility</p:attrName>
                                        </p:attrNameLst>
                                      </p:cBhvr>
                                      <p:to>
                                        <p:strVal val="visible"/>
                                      </p:to>
                                    </p:set>
                                    <p:animEffect transition="in" filter="dissolve">
                                      <p:cBhvr>
                                        <p:cTn id="80" dur="500"/>
                                        <p:tgtEl>
                                          <p:spTgt spid="285"/>
                                        </p:tgtEl>
                                      </p:cBhvr>
                                    </p:animEffect>
                                  </p:childTnLst>
                                </p:cTn>
                              </p:par>
                            </p:childTnLst>
                          </p:cTn>
                        </p:par>
                        <p:par>
                          <p:cTn id="81" fill="hold">
                            <p:stCondLst>
                              <p:cond delay="3000"/>
                            </p:stCondLst>
                            <p:childTnLst>
                              <p:par>
                                <p:cTn id="82" presetID="22" presetClass="entr" presetSubtype="8" fill="hold" nodeType="afterEffect">
                                  <p:stCondLst>
                                    <p:cond delay="0"/>
                                  </p:stCondLst>
                                  <p:childTnLst>
                                    <p:set>
                                      <p:cBhvr>
                                        <p:cTn id="83" dur="1" fill="hold">
                                          <p:stCondLst>
                                            <p:cond delay="0"/>
                                          </p:stCondLst>
                                        </p:cTn>
                                        <p:tgtEl>
                                          <p:spTgt spid="293"/>
                                        </p:tgtEl>
                                        <p:attrNameLst>
                                          <p:attrName>style.visibility</p:attrName>
                                        </p:attrNameLst>
                                      </p:cBhvr>
                                      <p:to>
                                        <p:strVal val="visible"/>
                                      </p:to>
                                    </p:set>
                                    <p:animEffect transition="in" filter="wipe(left)">
                                      <p:cBhvr>
                                        <p:cTn id="84" dur="500"/>
                                        <p:tgtEl>
                                          <p:spTgt spid="293"/>
                                        </p:tgtEl>
                                      </p:cBhvr>
                                    </p:animEffect>
                                  </p:childTnLst>
                                </p:cTn>
                              </p:par>
                            </p:childTnLst>
                          </p:cTn>
                        </p:par>
                        <p:par>
                          <p:cTn id="85" fill="hold">
                            <p:stCondLst>
                              <p:cond delay="3500"/>
                            </p:stCondLst>
                            <p:childTnLst>
                              <p:par>
                                <p:cTn id="86" presetID="9" presetClass="entr" presetSubtype="0" fill="hold" grpId="0" nodeType="afterEffect">
                                  <p:stCondLst>
                                    <p:cond delay="0"/>
                                  </p:stCondLst>
                                  <p:childTnLst>
                                    <p:set>
                                      <p:cBhvr>
                                        <p:cTn id="87" dur="1" fill="hold">
                                          <p:stCondLst>
                                            <p:cond delay="0"/>
                                          </p:stCondLst>
                                        </p:cTn>
                                        <p:tgtEl>
                                          <p:spTgt spid="280"/>
                                        </p:tgtEl>
                                        <p:attrNameLst>
                                          <p:attrName>style.visibility</p:attrName>
                                        </p:attrNameLst>
                                      </p:cBhvr>
                                      <p:to>
                                        <p:strVal val="visible"/>
                                      </p:to>
                                    </p:set>
                                    <p:animEffect transition="in" filter="dissolve">
                                      <p:cBhvr>
                                        <p:cTn id="88" dur="500"/>
                                        <p:tgtEl>
                                          <p:spTgt spid="280"/>
                                        </p:tgtEl>
                                      </p:cBhvr>
                                    </p:animEffect>
                                  </p:childTnLst>
                                </p:cTn>
                              </p:par>
                            </p:childTnLst>
                          </p:cTn>
                        </p:par>
                        <p:par>
                          <p:cTn id="89" fill="hold">
                            <p:stCondLst>
                              <p:cond delay="4000"/>
                            </p:stCondLst>
                            <p:childTnLst>
                              <p:par>
                                <p:cTn id="90" presetID="9" presetClass="entr" presetSubtype="0" fill="hold" nodeType="afterEffect">
                                  <p:stCondLst>
                                    <p:cond delay="0"/>
                                  </p:stCondLst>
                                  <p:childTnLst>
                                    <p:set>
                                      <p:cBhvr>
                                        <p:cTn id="91" dur="1" fill="hold">
                                          <p:stCondLst>
                                            <p:cond delay="0"/>
                                          </p:stCondLst>
                                        </p:cTn>
                                        <p:tgtEl>
                                          <p:spTgt spid="283">
                                            <p:txEl>
                                              <p:pRg st="0" end="0"/>
                                            </p:txEl>
                                          </p:spTgt>
                                        </p:tgtEl>
                                        <p:attrNameLst>
                                          <p:attrName>style.visibility</p:attrName>
                                        </p:attrNameLst>
                                      </p:cBhvr>
                                      <p:to>
                                        <p:strVal val="visible"/>
                                      </p:to>
                                    </p:set>
                                    <p:animEffect transition="in" filter="dissolve">
                                      <p:cBhvr>
                                        <p:cTn id="92" dur="500"/>
                                        <p:tgtEl>
                                          <p:spTgt spid="283">
                                            <p:txEl>
                                              <p:pRg st="0" end="0"/>
                                            </p:txEl>
                                          </p:spTgt>
                                        </p:tgtEl>
                                      </p:cBhvr>
                                    </p:animEffect>
                                  </p:childTnLst>
                                </p:cTn>
                              </p:par>
                            </p:childTnLst>
                          </p:cTn>
                        </p:par>
                        <p:par>
                          <p:cTn id="93" fill="hold">
                            <p:stCondLst>
                              <p:cond delay="4500"/>
                            </p:stCondLst>
                            <p:childTnLst>
                              <p:par>
                                <p:cTn id="94" presetID="22" presetClass="entr" presetSubtype="2" fill="hold" nodeType="afterEffect">
                                  <p:stCondLst>
                                    <p:cond delay="0"/>
                                  </p:stCondLst>
                                  <p:childTnLst>
                                    <p:set>
                                      <p:cBhvr>
                                        <p:cTn id="95" dur="1" fill="hold">
                                          <p:stCondLst>
                                            <p:cond delay="0"/>
                                          </p:stCondLst>
                                        </p:cTn>
                                        <p:tgtEl>
                                          <p:spTgt spid="302"/>
                                        </p:tgtEl>
                                        <p:attrNameLst>
                                          <p:attrName>style.visibility</p:attrName>
                                        </p:attrNameLst>
                                      </p:cBhvr>
                                      <p:to>
                                        <p:strVal val="visible"/>
                                      </p:to>
                                    </p:set>
                                    <p:animEffect transition="in" filter="wipe(right)">
                                      <p:cBhvr>
                                        <p:cTn id="96" dur="500"/>
                                        <p:tgtEl>
                                          <p:spTgt spid="302"/>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335"/>
                                        </p:tgtEl>
                                        <p:attrNameLst>
                                          <p:attrName>style.visibility</p:attrName>
                                        </p:attrNameLst>
                                      </p:cBhvr>
                                      <p:to>
                                        <p:strVal val="visible"/>
                                      </p:to>
                                    </p:set>
                                    <p:animEffect transition="in" filter="wipe(left)">
                                      <p:cBhvr>
                                        <p:cTn id="101" dur="500"/>
                                        <p:tgtEl>
                                          <p:spTgt spid="335"/>
                                        </p:tgtEl>
                                      </p:cBhvr>
                                    </p:animEffect>
                                  </p:childTnLst>
                                </p:cTn>
                              </p:par>
                            </p:childTnLst>
                          </p:cTn>
                        </p:par>
                        <p:par>
                          <p:cTn id="102" fill="hold">
                            <p:stCondLst>
                              <p:cond delay="500"/>
                            </p:stCondLst>
                            <p:childTnLst>
                              <p:par>
                                <p:cTn id="103" presetID="9" presetClass="entr" presetSubtype="0" fill="hold" nodeType="afterEffect">
                                  <p:stCondLst>
                                    <p:cond delay="0"/>
                                  </p:stCondLst>
                                  <p:childTnLst>
                                    <p:set>
                                      <p:cBhvr>
                                        <p:cTn id="104" dur="1" fill="hold">
                                          <p:stCondLst>
                                            <p:cond delay="0"/>
                                          </p:stCondLst>
                                        </p:cTn>
                                        <p:tgtEl>
                                          <p:spTgt spid="334">
                                            <p:txEl>
                                              <p:pRg st="0" end="0"/>
                                            </p:txEl>
                                          </p:spTgt>
                                        </p:tgtEl>
                                        <p:attrNameLst>
                                          <p:attrName>style.visibility</p:attrName>
                                        </p:attrNameLst>
                                      </p:cBhvr>
                                      <p:to>
                                        <p:strVal val="visible"/>
                                      </p:to>
                                    </p:set>
                                    <p:animEffect transition="in" filter="dissolve">
                                      <p:cBhvr>
                                        <p:cTn id="105" dur="500"/>
                                        <p:tgtEl>
                                          <p:spTgt spid="334">
                                            <p:txEl>
                                              <p:pRg st="0" end="0"/>
                                            </p:txEl>
                                          </p:spTgt>
                                        </p:tgtEl>
                                      </p:cBhvr>
                                    </p:animEffect>
                                  </p:childTnLst>
                                </p:cTn>
                              </p:par>
                            </p:childTnLst>
                          </p:cTn>
                        </p:par>
                        <p:par>
                          <p:cTn id="106" fill="hold">
                            <p:stCondLst>
                              <p:cond delay="1000"/>
                            </p:stCondLst>
                            <p:childTnLst>
                              <p:par>
                                <p:cTn id="107" presetID="9" presetClass="entr" presetSubtype="0" fill="hold" grpId="0" nodeType="afterEffect">
                                  <p:stCondLst>
                                    <p:cond delay="0"/>
                                  </p:stCondLst>
                                  <p:childTnLst>
                                    <p:set>
                                      <p:cBhvr>
                                        <p:cTn id="108" dur="1" fill="hold">
                                          <p:stCondLst>
                                            <p:cond delay="0"/>
                                          </p:stCondLst>
                                        </p:cTn>
                                        <p:tgtEl>
                                          <p:spTgt spid="330"/>
                                        </p:tgtEl>
                                        <p:attrNameLst>
                                          <p:attrName>style.visibility</p:attrName>
                                        </p:attrNameLst>
                                      </p:cBhvr>
                                      <p:to>
                                        <p:strVal val="visible"/>
                                      </p:to>
                                    </p:set>
                                    <p:animEffect transition="in" filter="dissolve">
                                      <p:cBhvr>
                                        <p:cTn id="109" dur="500"/>
                                        <p:tgtEl>
                                          <p:spTgt spid="330"/>
                                        </p:tgtEl>
                                      </p:cBhvr>
                                    </p:animEffect>
                                  </p:childTnLst>
                                </p:cTn>
                              </p:par>
                            </p:childTnLst>
                          </p:cTn>
                        </p:par>
                        <p:par>
                          <p:cTn id="110" fill="hold">
                            <p:stCondLst>
                              <p:cond delay="1500"/>
                            </p:stCondLst>
                            <p:childTnLst>
                              <p:par>
                                <p:cTn id="111" presetID="22" presetClass="entr" presetSubtype="2" fill="hold" nodeType="afterEffect">
                                  <p:stCondLst>
                                    <p:cond delay="0"/>
                                  </p:stCondLst>
                                  <p:childTnLst>
                                    <p:set>
                                      <p:cBhvr>
                                        <p:cTn id="112" dur="1" fill="hold">
                                          <p:stCondLst>
                                            <p:cond delay="0"/>
                                          </p:stCondLst>
                                        </p:cTn>
                                        <p:tgtEl>
                                          <p:spTgt spid="338"/>
                                        </p:tgtEl>
                                        <p:attrNameLst>
                                          <p:attrName>style.visibility</p:attrName>
                                        </p:attrNameLst>
                                      </p:cBhvr>
                                      <p:to>
                                        <p:strVal val="visible"/>
                                      </p:to>
                                    </p:set>
                                    <p:animEffect transition="in" filter="wipe(right)">
                                      <p:cBhvr>
                                        <p:cTn id="113" dur="500"/>
                                        <p:tgtEl>
                                          <p:spTgt spid="338"/>
                                        </p:tgtEl>
                                      </p:cBhvr>
                                    </p:animEffect>
                                  </p:childTnLst>
                                </p:cTn>
                              </p:par>
                            </p:childTnLst>
                          </p:cTn>
                        </p:par>
                        <p:par>
                          <p:cTn id="114" fill="hold">
                            <p:stCondLst>
                              <p:cond delay="2000"/>
                            </p:stCondLst>
                            <p:childTnLst>
                              <p:par>
                                <p:cTn id="115" presetID="9" presetClass="entr" presetSubtype="0" fill="hold" grpId="0" nodeType="afterEffect">
                                  <p:stCondLst>
                                    <p:cond delay="0"/>
                                  </p:stCondLst>
                                  <p:childTnLst>
                                    <p:set>
                                      <p:cBhvr>
                                        <p:cTn id="116" dur="1" fill="hold">
                                          <p:stCondLst>
                                            <p:cond delay="0"/>
                                          </p:stCondLst>
                                        </p:cTn>
                                        <p:tgtEl>
                                          <p:spTgt spid="331"/>
                                        </p:tgtEl>
                                        <p:attrNameLst>
                                          <p:attrName>style.visibility</p:attrName>
                                        </p:attrNameLst>
                                      </p:cBhvr>
                                      <p:to>
                                        <p:strVal val="visible"/>
                                      </p:to>
                                    </p:set>
                                    <p:animEffect transition="in" filter="dissolve">
                                      <p:cBhvr>
                                        <p:cTn id="117" dur="500"/>
                                        <p:tgtEl>
                                          <p:spTgt spid="331"/>
                                        </p:tgtEl>
                                      </p:cBhvr>
                                    </p:animEffect>
                                  </p:childTnLst>
                                </p:cTn>
                              </p:par>
                            </p:childTnLst>
                          </p:cTn>
                        </p:par>
                        <p:par>
                          <p:cTn id="118" fill="hold">
                            <p:stCondLst>
                              <p:cond delay="2500"/>
                            </p:stCondLst>
                            <p:childTnLst>
                              <p:par>
                                <p:cTn id="119" presetID="9" presetClass="entr" presetSubtype="0" fill="hold" grpId="0" nodeType="afterEffect">
                                  <p:stCondLst>
                                    <p:cond delay="0"/>
                                  </p:stCondLst>
                                  <p:childTnLst>
                                    <p:set>
                                      <p:cBhvr>
                                        <p:cTn id="120" dur="1" fill="hold">
                                          <p:stCondLst>
                                            <p:cond delay="0"/>
                                          </p:stCondLst>
                                        </p:cTn>
                                        <p:tgtEl>
                                          <p:spTgt spid="332"/>
                                        </p:tgtEl>
                                        <p:attrNameLst>
                                          <p:attrName>style.visibility</p:attrName>
                                        </p:attrNameLst>
                                      </p:cBhvr>
                                      <p:to>
                                        <p:strVal val="visible"/>
                                      </p:to>
                                    </p:set>
                                    <p:animEffect transition="in" filter="dissolve">
                                      <p:cBhvr>
                                        <p:cTn id="121" dur="500"/>
                                        <p:tgtEl>
                                          <p:spTgt spid="332"/>
                                        </p:tgtEl>
                                      </p:cBhvr>
                                    </p:animEffect>
                                  </p:childTnLst>
                                </p:cTn>
                              </p:par>
                            </p:childTnLst>
                          </p:cTn>
                        </p:par>
                        <p:par>
                          <p:cTn id="122" fill="hold">
                            <p:stCondLst>
                              <p:cond delay="3000"/>
                            </p:stCondLst>
                            <p:childTnLst>
                              <p:par>
                                <p:cTn id="123" presetID="22" presetClass="entr" presetSubtype="8" fill="hold" nodeType="afterEffect">
                                  <p:stCondLst>
                                    <p:cond delay="0"/>
                                  </p:stCondLst>
                                  <p:childTnLst>
                                    <p:set>
                                      <p:cBhvr>
                                        <p:cTn id="124" dur="1" fill="hold">
                                          <p:stCondLst>
                                            <p:cond delay="0"/>
                                          </p:stCondLst>
                                        </p:cTn>
                                        <p:tgtEl>
                                          <p:spTgt spid="324"/>
                                        </p:tgtEl>
                                        <p:attrNameLst>
                                          <p:attrName>style.visibility</p:attrName>
                                        </p:attrNameLst>
                                      </p:cBhvr>
                                      <p:to>
                                        <p:strVal val="visible"/>
                                      </p:to>
                                    </p:set>
                                    <p:animEffect transition="in" filter="wipe(left)">
                                      <p:cBhvr>
                                        <p:cTn id="125" dur="500"/>
                                        <p:tgtEl>
                                          <p:spTgt spid="324"/>
                                        </p:tgtEl>
                                      </p:cBhvr>
                                    </p:animEffect>
                                  </p:childTnLst>
                                </p:cTn>
                              </p:par>
                            </p:childTnLst>
                          </p:cTn>
                        </p:par>
                        <p:par>
                          <p:cTn id="126" fill="hold">
                            <p:stCondLst>
                              <p:cond delay="3500"/>
                            </p:stCondLst>
                            <p:childTnLst>
                              <p:par>
                                <p:cTn id="127" presetID="9" presetClass="entr" presetSubtype="0" fill="hold" nodeType="afterEffect">
                                  <p:stCondLst>
                                    <p:cond delay="0"/>
                                  </p:stCondLst>
                                  <p:childTnLst>
                                    <p:set>
                                      <p:cBhvr>
                                        <p:cTn id="128" dur="1" fill="hold">
                                          <p:stCondLst>
                                            <p:cond delay="0"/>
                                          </p:stCondLst>
                                        </p:cTn>
                                        <p:tgtEl>
                                          <p:spTgt spid="321">
                                            <p:txEl>
                                              <p:pRg st="0" end="0"/>
                                            </p:txEl>
                                          </p:spTgt>
                                        </p:tgtEl>
                                        <p:attrNameLst>
                                          <p:attrName>style.visibility</p:attrName>
                                        </p:attrNameLst>
                                      </p:cBhvr>
                                      <p:to>
                                        <p:strVal val="visible"/>
                                      </p:to>
                                    </p:set>
                                    <p:animEffect transition="in" filter="dissolve">
                                      <p:cBhvr>
                                        <p:cTn id="129" dur="500"/>
                                        <p:tgtEl>
                                          <p:spTgt spid="321">
                                            <p:txEl>
                                              <p:pRg st="0" end="0"/>
                                            </p:txEl>
                                          </p:spTgt>
                                        </p:tgtEl>
                                      </p:cBhvr>
                                    </p:animEffect>
                                  </p:childTnLst>
                                </p:cTn>
                              </p:par>
                            </p:childTnLst>
                          </p:cTn>
                        </p:par>
                        <p:par>
                          <p:cTn id="130" fill="hold">
                            <p:stCondLst>
                              <p:cond delay="4000"/>
                            </p:stCondLst>
                            <p:childTnLst>
                              <p:par>
                                <p:cTn id="131" presetID="9" presetClass="entr" presetSubtype="0" fill="hold" grpId="0" nodeType="afterEffect">
                                  <p:stCondLst>
                                    <p:cond delay="0"/>
                                  </p:stCondLst>
                                  <p:childTnLst>
                                    <p:set>
                                      <p:cBhvr>
                                        <p:cTn id="132" dur="1" fill="hold">
                                          <p:stCondLst>
                                            <p:cond delay="0"/>
                                          </p:stCondLst>
                                        </p:cTn>
                                        <p:tgtEl>
                                          <p:spTgt spid="322"/>
                                        </p:tgtEl>
                                        <p:attrNameLst>
                                          <p:attrName>style.visibility</p:attrName>
                                        </p:attrNameLst>
                                      </p:cBhvr>
                                      <p:to>
                                        <p:strVal val="visible"/>
                                      </p:to>
                                    </p:set>
                                    <p:animEffect transition="in" filter="dissolve">
                                      <p:cBhvr>
                                        <p:cTn id="133" dur="500"/>
                                        <p:tgtEl>
                                          <p:spTgt spid="322"/>
                                        </p:tgtEl>
                                      </p:cBhvr>
                                    </p:animEffect>
                                  </p:childTnLst>
                                </p:cTn>
                              </p:par>
                            </p:childTnLst>
                          </p:cTn>
                        </p:par>
                        <p:par>
                          <p:cTn id="134" fill="hold">
                            <p:stCondLst>
                              <p:cond delay="4500"/>
                            </p:stCondLst>
                            <p:childTnLst>
                              <p:par>
                                <p:cTn id="135" presetID="22" presetClass="entr" presetSubtype="1" fill="hold" nodeType="afterEffect">
                                  <p:stCondLst>
                                    <p:cond delay="0"/>
                                  </p:stCondLst>
                                  <p:childTnLst>
                                    <p:set>
                                      <p:cBhvr>
                                        <p:cTn id="136" dur="1" fill="hold">
                                          <p:stCondLst>
                                            <p:cond delay="0"/>
                                          </p:stCondLst>
                                        </p:cTn>
                                        <p:tgtEl>
                                          <p:spTgt spid="342"/>
                                        </p:tgtEl>
                                        <p:attrNameLst>
                                          <p:attrName>style.visibility</p:attrName>
                                        </p:attrNameLst>
                                      </p:cBhvr>
                                      <p:to>
                                        <p:strVal val="visible"/>
                                      </p:to>
                                    </p:set>
                                    <p:animEffect transition="in" filter="wipe(up)">
                                      <p:cBhvr>
                                        <p:cTn id="137" dur="1000"/>
                                        <p:tgtEl>
                                          <p:spTgt spid="342"/>
                                        </p:tgtEl>
                                      </p:cBhvr>
                                    </p:animEffect>
                                  </p:childTnLst>
                                </p:cTn>
                              </p:par>
                              <p:par>
                                <p:cTn id="138" presetID="22" presetClass="entr" presetSubtype="1" fill="hold" nodeType="withEffect">
                                  <p:stCondLst>
                                    <p:cond delay="0"/>
                                  </p:stCondLst>
                                  <p:childTnLst>
                                    <p:set>
                                      <p:cBhvr>
                                        <p:cTn id="139" dur="1" fill="hold">
                                          <p:stCondLst>
                                            <p:cond delay="0"/>
                                          </p:stCondLst>
                                        </p:cTn>
                                        <p:tgtEl>
                                          <p:spTgt spid="352"/>
                                        </p:tgtEl>
                                        <p:attrNameLst>
                                          <p:attrName>style.visibility</p:attrName>
                                        </p:attrNameLst>
                                      </p:cBhvr>
                                      <p:to>
                                        <p:strVal val="visible"/>
                                      </p:to>
                                    </p:set>
                                    <p:animEffect transition="in" filter="wipe(up)">
                                      <p:cBhvr>
                                        <p:cTn id="140" dur="500"/>
                                        <p:tgtEl>
                                          <p:spTgt spid="352"/>
                                        </p:tgtEl>
                                      </p:cBhvr>
                                    </p:animEffect>
                                  </p:childTnLst>
                                </p:cTn>
                              </p:par>
                            </p:childTnLst>
                          </p:cTn>
                        </p:par>
                        <p:par>
                          <p:cTn id="141" fill="hold">
                            <p:stCondLst>
                              <p:cond delay="5500"/>
                            </p:stCondLst>
                            <p:childTnLst>
                              <p:par>
                                <p:cTn id="142" presetID="9" presetClass="entr" presetSubtype="0" fill="hold" nodeType="afterEffect">
                                  <p:stCondLst>
                                    <p:cond delay="0"/>
                                  </p:stCondLst>
                                  <p:childTnLst>
                                    <p:set>
                                      <p:cBhvr>
                                        <p:cTn id="143" dur="1" fill="hold">
                                          <p:stCondLst>
                                            <p:cond delay="0"/>
                                          </p:stCondLst>
                                        </p:cTn>
                                        <p:tgtEl>
                                          <p:spTgt spid="349"/>
                                        </p:tgtEl>
                                        <p:attrNameLst>
                                          <p:attrName>style.visibility</p:attrName>
                                        </p:attrNameLst>
                                      </p:cBhvr>
                                      <p:to>
                                        <p:strVal val="visible"/>
                                      </p:to>
                                    </p:set>
                                    <p:animEffect transition="in" filter="dissolve">
                                      <p:cBhvr>
                                        <p:cTn id="144" dur="500"/>
                                        <p:tgtEl>
                                          <p:spTgt spid="349"/>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346"/>
                                        </p:tgtEl>
                                        <p:attrNameLst>
                                          <p:attrName>style.visibility</p:attrName>
                                        </p:attrNameLst>
                                      </p:cBhvr>
                                      <p:to>
                                        <p:strVal val="visible"/>
                                      </p:to>
                                    </p:set>
                                    <p:animEffect transition="in" filter="wipe(left)">
                                      <p:cBhvr>
                                        <p:cTn id="149" dur="500"/>
                                        <p:tgtEl>
                                          <p:spTgt spid="346"/>
                                        </p:tgtEl>
                                      </p:cBhvr>
                                    </p:animEffect>
                                  </p:childTnLst>
                                </p:cTn>
                              </p:par>
                              <p:par>
                                <p:cTn id="150" presetID="22" presetClass="entr" presetSubtype="1" fill="hold" nodeType="withEffect">
                                  <p:stCondLst>
                                    <p:cond delay="0"/>
                                  </p:stCondLst>
                                  <p:childTnLst>
                                    <p:set>
                                      <p:cBhvr>
                                        <p:cTn id="151" dur="1" fill="hold">
                                          <p:stCondLst>
                                            <p:cond delay="0"/>
                                          </p:stCondLst>
                                        </p:cTn>
                                        <p:tgtEl>
                                          <p:spTgt spid="356"/>
                                        </p:tgtEl>
                                        <p:attrNameLst>
                                          <p:attrName>style.visibility</p:attrName>
                                        </p:attrNameLst>
                                      </p:cBhvr>
                                      <p:to>
                                        <p:strVal val="visible"/>
                                      </p:to>
                                    </p:set>
                                    <p:animEffect transition="in" filter="wipe(up)">
                                      <p:cBhvr>
                                        <p:cTn id="152" dur="500"/>
                                        <p:tgtEl>
                                          <p:spTgt spid="356"/>
                                        </p:tgtEl>
                                      </p:cBhvr>
                                    </p:animEffect>
                                  </p:childTnLst>
                                </p:cTn>
                              </p:par>
                            </p:childTnLst>
                          </p:cTn>
                        </p:par>
                        <p:par>
                          <p:cTn id="153" fill="hold">
                            <p:stCondLst>
                              <p:cond delay="500"/>
                            </p:stCondLst>
                            <p:childTnLst>
                              <p:par>
                                <p:cTn id="154" presetID="9" presetClass="entr" presetSubtype="0" fill="hold" nodeType="afterEffect">
                                  <p:stCondLst>
                                    <p:cond delay="0"/>
                                  </p:stCondLst>
                                  <p:childTnLst>
                                    <p:set>
                                      <p:cBhvr>
                                        <p:cTn id="155" dur="1" fill="hold">
                                          <p:stCondLst>
                                            <p:cond delay="0"/>
                                          </p:stCondLst>
                                        </p:cTn>
                                        <p:tgtEl>
                                          <p:spTgt spid="329">
                                            <p:txEl>
                                              <p:pRg st="0" end="0"/>
                                            </p:txEl>
                                          </p:spTgt>
                                        </p:tgtEl>
                                        <p:attrNameLst>
                                          <p:attrName>style.visibility</p:attrName>
                                        </p:attrNameLst>
                                      </p:cBhvr>
                                      <p:to>
                                        <p:strVal val="visible"/>
                                      </p:to>
                                    </p:set>
                                    <p:animEffect transition="in" filter="dissolve">
                                      <p:cBhvr>
                                        <p:cTn id="156" dur="500"/>
                                        <p:tgtEl>
                                          <p:spTgt spid="329">
                                            <p:txEl>
                                              <p:pRg st="0" end="0"/>
                                            </p:txEl>
                                          </p:spTgt>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323"/>
                                        </p:tgtEl>
                                        <p:attrNameLst>
                                          <p:attrName>style.visibility</p:attrName>
                                        </p:attrNameLst>
                                      </p:cBhvr>
                                      <p:to>
                                        <p:strVal val="visible"/>
                                      </p:to>
                                    </p:set>
                                    <p:animEffect transition="in" filter="dissolve">
                                      <p:cBhvr>
                                        <p:cTn id="159" dur="500"/>
                                        <p:tgtEl>
                                          <p:spTgt spid="323"/>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2" fill="hold" nodeType="clickEffect">
                                  <p:stCondLst>
                                    <p:cond delay="0"/>
                                  </p:stCondLst>
                                  <p:childTnLst>
                                    <p:set>
                                      <p:cBhvr>
                                        <p:cTn id="163" dur="1" fill="hold">
                                          <p:stCondLst>
                                            <p:cond delay="0"/>
                                          </p:stCondLst>
                                        </p:cTn>
                                        <p:tgtEl>
                                          <p:spTgt spid="5"/>
                                        </p:tgtEl>
                                        <p:attrNameLst>
                                          <p:attrName>style.visibility</p:attrName>
                                        </p:attrNameLst>
                                      </p:cBhvr>
                                      <p:to>
                                        <p:strVal val="visible"/>
                                      </p:to>
                                    </p:set>
                                    <p:animEffect transition="in" filter="wipe(right)">
                                      <p:cBhvr>
                                        <p:cTn id="164" dur="500"/>
                                        <p:tgtEl>
                                          <p:spTgt spid="5"/>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nodeType="clickEffect">
                                  <p:stCondLst>
                                    <p:cond delay="0"/>
                                  </p:stCondLst>
                                  <p:childTnLst>
                                    <p:set>
                                      <p:cBhvr>
                                        <p:cTn id="168" dur="1" fill="hold">
                                          <p:stCondLst>
                                            <p:cond delay="0"/>
                                          </p:stCondLst>
                                        </p:cTn>
                                        <p:tgtEl>
                                          <p:spTgt spid="6"/>
                                        </p:tgtEl>
                                        <p:attrNameLst>
                                          <p:attrName>style.visibility</p:attrName>
                                        </p:attrNameLst>
                                      </p:cBhvr>
                                      <p:to>
                                        <p:strVal val="visible"/>
                                      </p:to>
                                    </p:set>
                                    <p:animEffect transition="in" filter="wipe(left)">
                                      <p:cBhvr>
                                        <p:cTn id="169" dur="500"/>
                                        <p:tgtEl>
                                          <p:spTgt spid="6"/>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2" fill="hold" nodeType="clickEffect">
                                  <p:stCondLst>
                                    <p:cond delay="0"/>
                                  </p:stCondLst>
                                  <p:childTnLst>
                                    <p:set>
                                      <p:cBhvr>
                                        <p:cTn id="173" dur="1" fill="hold">
                                          <p:stCondLst>
                                            <p:cond delay="0"/>
                                          </p:stCondLst>
                                        </p:cTn>
                                        <p:tgtEl>
                                          <p:spTgt spid="367"/>
                                        </p:tgtEl>
                                        <p:attrNameLst>
                                          <p:attrName>style.visibility</p:attrName>
                                        </p:attrNameLst>
                                      </p:cBhvr>
                                      <p:to>
                                        <p:strVal val="visible"/>
                                      </p:to>
                                    </p:set>
                                    <p:animEffect transition="in" filter="wipe(right)">
                                      <p:cBhvr>
                                        <p:cTn id="174" dur="500"/>
                                        <p:tgtEl>
                                          <p:spTgt spid="367"/>
                                        </p:tgtEl>
                                      </p:cBhvr>
                                    </p:animEffect>
                                  </p:childTnLst>
                                </p:cTn>
                              </p:par>
                            </p:childTnLst>
                          </p:cTn>
                        </p:par>
                        <p:par>
                          <p:cTn id="175" fill="hold">
                            <p:stCondLst>
                              <p:cond delay="500"/>
                            </p:stCondLst>
                            <p:childTnLst>
                              <p:par>
                                <p:cTn id="176" presetID="22" presetClass="entr" presetSubtype="8" fill="hold" nodeType="afterEffect">
                                  <p:stCondLst>
                                    <p:cond delay="0"/>
                                  </p:stCondLst>
                                  <p:childTnLst>
                                    <p:set>
                                      <p:cBhvr>
                                        <p:cTn id="177" dur="1" fill="hold">
                                          <p:stCondLst>
                                            <p:cond delay="0"/>
                                          </p:stCondLst>
                                        </p:cTn>
                                        <p:tgtEl>
                                          <p:spTgt spid="120"/>
                                        </p:tgtEl>
                                        <p:attrNameLst>
                                          <p:attrName>style.visibility</p:attrName>
                                        </p:attrNameLst>
                                      </p:cBhvr>
                                      <p:to>
                                        <p:strVal val="visible"/>
                                      </p:to>
                                    </p:set>
                                    <p:animEffect transition="in" filter="wipe(left)">
                                      <p:cBhvr>
                                        <p:cTn id="178" dur="500"/>
                                        <p:tgtEl>
                                          <p:spTgt spid="120"/>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nodeType="clickEffect">
                                  <p:stCondLst>
                                    <p:cond delay="0"/>
                                  </p:stCondLst>
                                  <p:childTnLst>
                                    <p:set>
                                      <p:cBhvr>
                                        <p:cTn id="182" dur="1" fill="hold">
                                          <p:stCondLst>
                                            <p:cond delay="0"/>
                                          </p:stCondLst>
                                        </p:cTn>
                                        <p:tgtEl>
                                          <p:spTgt spid="3"/>
                                        </p:tgtEl>
                                        <p:attrNameLst>
                                          <p:attrName>style.visibility</p:attrName>
                                        </p:attrNameLst>
                                      </p:cBhvr>
                                      <p:to>
                                        <p:strVal val="visible"/>
                                      </p:to>
                                    </p:set>
                                    <p:animEffect transition="in" filter="dissolve">
                                      <p:cBhvr>
                                        <p:cTn id="18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 grpId="0"/>
      <p:bldP spid="273" grpId="0"/>
      <p:bldP spid="280" grpId="0"/>
      <p:bldP spid="281" grpId="0"/>
      <p:bldP spid="282" grpId="0"/>
      <p:bldP spid="284" grpId="0"/>
      <p:bldP spid="285" grpId="0"/>
      <p:bldP spid="286" grpId="0"/>
      <p:bldP spid="287" grpId="0"/>
      <p:bldP spid="322" grpId="0"/>
      <p:bldP spid="323" grpId="0"/>
      <p:bldP spid="330" grpId="0"/>
      <p:bldP spid="331" grpId="0"/>
      <p:bldP spid="33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C7A046D-38A0-4C4D-89C5-98A73D6176B8}"/>
              </a:ext>
            </a:extLst>
          </p:cNvPr>
          <p:cNvSpPr/>
          <p:nvPr/>
        </p:nvSpPr>
        <p:spPr>
          <a:xfrm>
            <a:off x="2074545" y="3257550"/>
            <a:ext cx="1860233" cy="5057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solidFill>
                  <a:prstClr val="black"/>
                </a:solidFill>
                <a:latin typeface="Calibri Light" panose="020F0302020204030204"/>
              </a:rPr>
              <a:t>Go-Back-N</a:t>
            </a:r>
          </a:p>
        </p:txBody>
      </p:sp>
      <p:sp>
        <p:nvSpPr>
          <p:cNvPr id="4" name="Content Placeholder 3">
            <a:extLst>
              <a:ext uri="{FF2B5EF4-FFF2-40B4-BE49-F238E27FC236}">
                <a16:creationId xmlns:a16="http://schemas.microsoft.com/office/drawing/2014/main" id="{B07C5C57-393E-E60D-89C9-E8EBDDF8D630}"/>
              </a:ext>
            </a:extLst>
          </p:cNvPr>
          <p:cNvSpPr>
            <a:spLocks noGrp="1"/>
          </p:cNvSpPr>
          <p:nvPr>
            <p:ph idx="1"/>
          </p:nvPr>
        </p:nvSpPr>
        <p:spPr>
          <a:xfrm>
            <a:off x="628650" y="1208813"/>
            <a:ext cx="7886700" cy="579580"/>
          </a:xfrm>
        </p:spPr>
        <p:txBody>
          <a:bodyPr/>
          <a:lstStyle/>
          <a:p>
            <a:r>
              <a:rPr lang="en-US" sz="2800" dirty="0"/>
              <a:t>Go-Back-N: sender</a:t>
            </a:r>
            <a:endParaRPr lang="en-US" dirty="0"/>
          </a:p>
        </p:txBody>
      </p:sp>
      <p:sp>
        <p:nvSpPr>
          <p:cNvPr id="7" name="Slide Number Placeholder 2">
            <a:extLst>
              <a:ext uri="{FF2B5EF4-FFF2-40B4-BE49-F238E27FC236}">
                <a16:creationId xmlns:a16="http://schemas.microsoft.com/office/drawing/2014/main" id="{FDEE9FF9-C882-024E-8974-9BAEDEEE0BFA}"/>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29</a:t>
            </a:fld>
            <a:endParaRPr lang="en-US" dirty="0">
              <a:solidFill>
                <a:prstClr val="white">
                  <a:lumMod val="50000"/>
                </a:prstClr>
              </a:solidFill>
              <a:latin typeface="Calibri" panose="020F0502020204030204"/>
            </a:endParaRPr>
          </a:p>
        </p:txBody>
      </p:sp>
      <p:sp>
        <p:nvSpPr>
          <p:cNvPr id="6" name="Rectangle 3">
            <a:extLst>
              <a:ext uri="{FF2B5EF4-FFF2-40B4-BE49-F238E27FC236}">
                <a16:creationId xmlns:a16="http://schemas.microsoft.com/office/drawing/2014/main" id="{1D02EA8C-0D47-4345-907B-176DCE82FE33}"/>
              </a:ext>
            </a:extLst>
          </p:cNvPr>
          <p:cNvSpPr txBox="1">
            <a:spLocks noChangeArrowheads="1"/>
          </p:cNvSpPr>
          <p:nvPr/>
        </p:nvSpPr>
        <p:spPr>
          <a:xfrm>
            <a:off x="703905" y="1828679"/>
            <a:ext cx="8308314" cy="104707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defRPr/>
            </a:pPr>
            <a:r>
              <a:rPr lang="en-US" altLang="ja-JP" sz="2100" dirty="0">
                <a:solidFill>
                  <a:prstClr val="black"/>
                </a:solidFill>
                <a:latin typeface="Calibri" panose="020F0502020204030204"/>
                <a:ea typeface="ＭＳ Ｐゴシック" panose="020B0600070205080204" pitchFamily="34" charset="-128"/>
              </a:rPr>
              <a:t>sender: “window” of up to N, consecutive transmitted but unACKed pkts </a:t>
            </a:r>
          </a:p>
          <a:p>
            <a:pPr marL="611981" lvl="1" indent="-257175" defTabSz="685800">
              <a:spcBef>
                <a:spcPts val="750"/>
              </a:spcBef>
              <a:buClr>
                <a:srgbClr val="0000A3"/>
              </a:buClr>
              <a:defRPr/>
            </a:pPr>
            <a:r>
              <a:rPr lang="en-US" altLang="en-US" sz="1800" dirty="0">
                <a:solidFill>
                  <a:prstClr val="black"/>
                </a:solidFill>
                <a:latin typeface="Calibri" panose="020F0502020204030204"/>
                <a:ea typeface="ＭＳ Ｐゴシック" panose="020B0600070205080204" pitchFamily="34" charset="-128"/>
              </a:rPr>
              <a:t>k-bit seq # in pkt header</a:t>
            </a:r>
          </a:p>
          <a:p>
            <a:pPr marL="521494" lvl="1" indent="-166688" defTabSz="685800">
              <a:spcBef>
                <a:spcPts val="750"/>
              </a:spcBef>
              <a:buClr>
                <a:srgbClr val="0000A3"/>
              </a:buClr>
              <a:buFont typeface="Wingdings" pitchFamily="2" charset="2"/>
              <a:buChar char="§"/>
              <a:defRPr/>
            </a:pPr>
            <a:endParaRPr lang="en-US" altLang="ja-JP" sz="1800" dirty="0">
              <a:solidFill>
                <a:prstClr val="black"/>
              </a:solidFill>
              <a:latin typeface="Calibri" panose="020F0502020204030204"/>
              <a:ea typeface="ＭＳ Ｐゴシック" panose="020B0600070205080204" pitchFamily="34" charset="-128"/>
            </a:endParaRPr>
          </a:p>
          <a:p>
            <a:pPr marL="264319" indent="-166688" defTabSz="685800">
              <a:spcBef>
                <a:spcPts val="750"/>
              </a:spcBef>
              <a:defRPr/>
            </a:pPr>
            <a:endParaRPr lang="en-US" altLang="en-US" sz="2100" dirty="0">
              <a:solidFill>
                <a:prstClr val="black"/>
              </a:solidFill>
              <a:latin typeface="Calibri" panose="020F0502020204030204"/>
              <a:ea typeface="ＭＳ Ｐゴシック" panose="020B0600070205080204" pitchFamily="34" charset="-128"/>
            </a:endParaRPr>
          </a:p>
          <a:p>
            <a:pPr marL="264319" indent="-166688" defTabSz="685800">
              <a:spcBef>
                <a:spcPts val="750"/>
              </a:spcBef>
              <a:defRPr/>
            </a:pPr>
            <a:endParaRPr lang="en-US" altLang="en-US" sz="2100" dirty="0">
              <a:solidFill>
                <a:prstClr val="black"/>
              </a:solidFill>
              <a:latin typeface="Calibri" panose="020F0502020204030204"/>
              <a:ea typeface="ＭＳ Ｐゴシック" panose="020B0600070205080204" pitchFamily="34" charset="-128"/>
            </a:endParaRPr>
          </a:p>
        </p:txBody>
      </p:sp>
      <p:pic>
        <p:nvPicPr>
          <p:cNvPr id="8" name="Picture 4" descr="gbn_seqnum">
            <a:extLst>
              <a:ext uri="{FF2B5EF4-FFF2-40B4-BE49-F238E27FC236}">
                <a16:creationId xmlns:a16="http://schemas.microsoft.com/office/drawing/2014/main" id="{7F787B9F-F0D5-184B-849D-6DD1215CE2A5}"/>
              </a:ext>
            </a:extLst>
          </p:cNvPr>
          <p:cNvPicPr>
            <a:picLocks noChangeAspect="1" noChangeArrowheads="1"/>
          </p:cNvPicPr>
          <p:nvPr/>
        </p:nvPicPr>
        <p:blipFill>
          <a:blip r:embed="rId3">
            <a:alphaModFix amt="83000"/>
            <a:extLst>
              <a:ext uri="{28A0092B-C50C-407E-A947-70E740481C1C}">
                <a14:useLocalDpi xmlns:a14="http://schemas.microsoft.com/office/drawing/2010/main" val="0"/>
              </a:ext>
            </a:extLst>
          </a:blip>
          <a:srcRect/>
          <a:stretch>
            <a:fillRect/>
          </a:stretch>
        </p:blipFill>
        <p:spPr bwMode="auto">
          <a:xfrm>
            <a:off x="1307814" y="2789268"/>
            <a:ext cx="6875603" cy="1384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5">
            <a:extLst>
              <a:ext uri="{FF2B5EF4-FFF2-40B4-BE49-F238E27FC236}">
                <a16:creationId xmlns:a16="http://schemas.microsoft.com/office/drawing/2014/main" id="{5CC992CE-9CC7-5B4F-A0DC-4AE1FB2B5032}"/>
              </a:ext>
            </a:extLst>
          </p:cNvPr>
          <p:cNvSpPr>
            <a:spLocks noChangeArrowheads="1"/>
          </p:cNvSpPr>
          <p:nvPr/>
        </p:nvSpPr>
        <p:spPr bwMode="auto">
          <a:xfrm>
            <a:off x="793376" y="4443961"/>
            <a:ext cx="8482353" cy="14887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marL="292100" indent="-292100">
              <a:defRPr sz="1600">
                <a:solidFill>
                  <a:schemeClr val="tx1"/>
                </a:solidFill>
                <a:latin typeface="Tahoma" panose="020B0604030504040204" pitchFamily="34" charset="0"/>
                <a:ea typeface="ＭＳ Ｐゴシック" panose="020B0600070205080204" pitchFamily="34" charset="-128"/>
              </a:defRPr>
            </a:lvl1pPr>
            <a:lvl2pPr marL="685800" indent="-22860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263129" indent="-254794" defTabSz="685800">
              <a:lnSpc>
                <a:spcPct val="85000"/>
              </a:lnSpc>
              <a:spcBef>
                <a:spcPct val="20000"/>
              </a:spcBef>
              <a:buClr>
                <a:srgbClr val="000099"/>
              </a:buClr>
              <a:buSzPct val="100000"/>
              <a:buFont typeface="Wingdings" pitchFamily="2" charset="2"/>
              <a:buChar char="§"/>
              <a:defRPr/>
            </a:pPr>
            <a:r>
              <a:rPr lang="en-US" altLang="en-US" sz="2100" i="1" dirty="0">
                <a:solidFill>
                  <a:srgbClr val="C00000"/>
                </a:solidFill>
                <a:latin typeface="Calibri" panose="020F0502020204030204"/>
              </a:rPr>
              <a:t>cumulative ACK: </a:t>
            </a:r>
            <a:r>
              <a:rPr lang="en-US" altLang="en-US" sz="2100" dirty="0">
                <a:solidFill>
                  <a:prstClr val="black"/>
                </a:solidFill>
                <a:latin typeface="Calibri" panose="020F0502020204030204"/>
              </a:rPr>
              <a:t>ACK(</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ACKs all packets up to, including seq # </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a:t>
            </a:r>
          </a:p>
          <a:p>
            <a:pPr marL="646510" lvl="1" indent="-342900" defTabSz="685800">
              <a:lnSpc>
                <a:spcPct val="85000"/>
              </a:lnSpc>
              <a:spcBef>
                <a:spcPct val="20000"/>
              </a:spcBef>
              <a:buClr>
                <a:srgbClr val="000099"/>
              </a:buClr>
              <a:buSzPct val="100000"/>
              <a:buFont typeface="Arial" panose="020B0604020202020204" pitchFamily="34" charset="0"/>
              <a:buChar char="•"/>
              <a:defRPr/>
            </a:pPr>
            <a:r>
              <a:rPr lang="en-US" altLang="en-US" sz="2100" dirty="0">
                <a:solidFill>
                  <a:prstClr val="black"/>
                </a:solidFill>
                <a:latin typeface="Calibri" panose="020F0502020204030204"/>
              </a:rPr>
              <a:t>on receiving ACK(</a:t>
            </a:r>
            <a:r>
              <a:rPr lang="en-US" altLang="en-US" sz="2100" i="1" dirty="0">
                <a:solidFill>
                  <a:prstClr val="black"/>
                </a:solidFill>
                <a:latin typeface="Calibri" panose="020F0502020204030204"/>
              </a:rPr>
              <a:t>n</a:t>
            </a:r>
            <a:r>
              <a:rPr lang="en-US" altLang="en-US" sz="2100" dirty="0">
                <a:solidFill>
                  <a:prstClr val="black"/>
                </a:solidFill>
                <a:latin typeface="Calibri" panose="020F0502020204030204"/>
              </a:rPr>
              <a:t>): move window forward to begin at </a:t>
            </a:r>
            <a:r>
              <a:rPr lang="en-US" altLang="en-US" sz="2100" i="1" dirty="0">
                <a:solidFill>
                  <a:prstClr val="black"/>
                </a:solidFill>
                <a:latin typeface="Calibri" panose="020F0502020204030204"/>
              </a:rPr>
              <a:t>n+1</a:t>
            </a:r>
          </a:p>
          <a:p>
            <a:pPr marL="263129" indent="-254794" defTabSz="685800">
              <a:lnSpc>
                <a:spcPct val="85000"/>
              </a:lnSpc>
              <a:spcBef>
                <a:spcPct val="20000"/>
              </a:spcBef>
              <a:buClr>
                <a:srgbClr val="000099"/>
              </a:buClr>
              <a:buFont typeface="Wingdings" pitchFamily="2" charset="2"/>
              <a:buChar char="§"/>
              <a:defRPr/>
            </a:pPr>
            <a:r>
              <a:rPr lang="en-US" altLang="en-US" sz="2100" dirty="0">
                <a:solidFill>
                  <a:prstClr val="black"/>
                </a:solidFill>
                <a:latin typeface="Calibri" panose="020F0502020204030204"/>
              </a:rPr>
              <a:t>timer for oldest in-flight packet</a:t>
            </a:r>
          </a:p>
          <a:p>
            <a:pPr marL="263129" indent="-254794" defTabSz="685800">
              <a:lnSpc>
                <a:spcPct val="85000"/>
              </a:lnSpc>
              <a:spcBef>
                <a:spcPct val="20000"/>
              </a:spcBef>
              <a:buClr>
                <a:srgbClr val="000099"/>
              </a:buClr>
              <a:buSzPct val="100000"/>
              <a:buFont typeface="Wingdings" pitchFamily="2" charset="2"/>
              <a:buChar char="§"/>
              <a:defRPr/>
            </a:pPr>
            <a:r>
              <a:rPr lang="en-US" altLang="en-US" sz="2100" i="1" dirty="0">
                <a:solidFill>
                  <a:prstClr val="black"/>
                </a:solidFill>
                <a:latin typeface="Calibri" panose="020F0502020204030204"/>
              </a:rPr>
              <a:t>timeout(n):</a:t>
            </a:r>
            <a:r>
              <a:rPr lang="en-US" altLang="en-US" sz="2100" dirty="0">
                <a:solidFill>
                  <a:prstClr val="black"/>
                </a:solidFill>
                <a:latin typeface="Calibri" panose="020F0502020204030204"/>
              </a:rPr>
              <a:t> retransmit packet n and all higher seq # packets in window</a:t>
            </a:r>
            <a:endParaRPr lang="en-US" altLang="en-US" sz="2400" dirty="0">
              <a:solidFill>
                <a:prstClr val="black"/>
              </a:solidFill>
              <a:latin typeface="Calibri" panose="020F0502020204030204"/>
            </a:endParaRPr>
          </a:p>
          <a:p>
            <a:pPr marL="219075" indent="-219075" defTabSz="685800">
              <a:lnSpc>
                <a:spcPct val="85000"/>
              </a:lnSpc>
              <a:spcBef>
                <a:spcPct val="20000"/>
              </a:spcBef>
              <a:buClr>
                <a:srgbClr val="000099"/>
              </a:buClr>
              <a:buSzPct val="65000"/>
              <a:buFont typeface="Wingdings" pitchFamily="2" charset="2"/>
              <a:buChar char="v"/>
              <a:defRPr/>
            </a:pPr>
            <a:endParaRPr lang="en-US" altLang="en-US" sz="2100" dirty="0">
              <a:solidFill>
                <a:prstClr val="black"/>
              </a:solidFill>
              <a:latin typeface="Gill Sans MT" panose="020B0502020104020203" pitchFamily="34" charset="77"/>
            </a:endParaRPr>
          </a:p>
        </p:txBody>
      </p:sp>
    </p:spTree>
    <p:extLst>
      <p:ext uri="{BB962C8B-B14F-4D97-AF65-F5344CB8AC3E}">
        <p14:creationId xmlns:p14="http://schemas.microsoft.com/office/powerpoint/2010/main" val="1765973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solidFill>
                  <a:prstClr val="black"/>
                </a:solidFill>
                <a:latin typeface="Calibri Light" panose="020F0302020204030204"/>
              </a:rPr>
              <a:t>Go-Back-N</a:t>
            </a:r>
            <a:endParaRPr lang="en-US" sz="5400" dirty="0"/>
          </a:p>
        </p:txBody>
      </p:sp>
      <p:sp>
        <p:nvSpPr>
          <p:cNvPr id="3" name="Content Placeholder 2">
            <a:extLst>
              <a:ext uri="{FF2B5EF4-FFF2-40B4-BE49-F238E27FC236}">
                <a16:creationId xmlns:a16="http://schemas.microsoft.com/office/drawing/2014/main" id="{30944587-D2E8-C4C2-3860-5682C914903D}"/>
              </a:ext>
            </a:extLst>
          </p:cNvPr>
          <p:cNvSpPr>
            <a:spLocks noGrp="1"/>
          </p:cNvSpPr>
          <p:nvPr>
            <p:ph idx="1"/>
          </p:nvPr>
        </p:nvSpPr>
        <p:spPr>
          <a:xfrm>
            <a:off x="628650" y="1175402"/>
            <a:ext cx="7886700" cy="579580"/>
          </a:xfrm>
        </p:spPr>
        <p:txBody>
          <a:bodyPr/>
          <a:lstStyle/>
          <a:p>
            <a:r>
              <a:rPr lang="en-US" sz="2800" dirty="0"/>
              <a:t>Go-Back-N: receiver</a:t>
            </a:r>
            <a:endParaRPr lang="en-US" dirty="0"/>
          </a:p>
        </p:txBody>
      </p:sp>
      <p:sp>
        <p:nvSpPr>
          <p:cNvPr id="31" name="Slide Number Placeholder 2">
            <a:extLst>
              <a:ext uri="{FF2B5EF4-FFF2-40B4-BE49-F238E27FC236}">
                <a16:creationId xmlns:a16="http://schemas.microsoft.com/office/drawing/2014/main" id="{D2730539-5138-AA4F-8FB6-75E508098962}"/>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30</a:t>
            </a:fld>
            <a:endParaRPr lang="en-US" dirty="0">
              <a:solidFill>
                <a:prstClr val="white">
                  <a:lumMod val="50000"/>
                </a:prstClr>
              </a:solidFill>
              <a:latin typeface="Calibri" panose="020F0502020204030204"/>
            </a:endParaRPr>
          </a:p>
        </p:txBody>
      </p:sp>
      <p:sp>
        <p:nvSpPr>
          <p:cNvPr id="7" name="Rectangle 3">
            <a:extLst>
              <a:ext uri="{FF2B5EF4-FFF2-40B4-BE49-F238E27FC236}">
                <a16:creationId xmlns:a16="http://schemas.microsoft.com/office/drawing/2014/main" id="{D4D350FA-D6D7-FD41-A9BE-7C8ADB1B89FE}"/>
              </a:ext>
            </a:extLst>
          </p:cNvPr>
          <p:cNvSpPr txBox="1">
            <a:spLocks noChangeArrowheads="1"/>
          </p:cNvSpPr>
          <p:nvPr/>
        </p:nvSpPr>
        <p:spPr>
          <a:xfrm>
            <a:off x="602542" y="1888332"/>
            <a:ext cx="7738552" cy="2140744"/>
          </a:xfrm>
          <a:prstGeom prst="rect">
            <a:avLst/>
          </a:prstGeom>
        </p:spPr>
        <p:txBody>
          <a:bodyPr vert="horz" lIns="68580" tIns="34290" rIns="68580" bIns="3429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16694" indent="-208360"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ACK-only: always send ACK for correctly-received packet so far, with highest </a:t>
            </a:r>
            <a:r>
              <a:rPr lang="en-US" altLang="en-US" sz="2100" i="1" dirty="0">
                <a:solidFill>
                  <a:srgbClr val="CC0000"/>
                </a:solidFill>
                <a:latin typeface="Calibri" panose="020F0502020204030204"/>
                <a:ea typeface="ＭＳ Ｐゴシック" panose="020B0600070205080204" pitchFamily="34" charset="-128"/>
              </a:rPr>
              <a:t>in-order</a:t>
            </a:r>
            <a:r>
              <a:rPr lang="en-US" altLang="en-US" sz="2100" dirty="0">
                <a:solidFill>
                  <a:prstClr val="black"/>
                </a:solidFill>
                <a:latin typeface="Calibri" panose="020F0502020204030204"/>
                <a:ea typeface="ＭＳ Ｐゴシック" panose="020B0600070205080204" pitchFamily="34" charset="-128"/>
              </a:rPr>
              <a:t> seq #</a:t>
            </a:r>
          </a:p>
          <a:p>
            <a:pPr marL="521494" lvl="1" indent="-173831" defTabSz="685800">
              <a:spcBef>
                <a:spcPts val="375"/>
              </a:spcBef>
              <a:defRPr/>
            </a:pPr>
            <a:r>
              <a:rPr lang="en-US" altLang="en-US" sz="1800" dirty="0">
                <a:solidFill>
                  <a:prstClr val="black"/>
                </a:solidFill>
                <a:latin typeface="Calibri" panose="020F0502020204030204"/>
                <a:ea typeface="ＭＳ Ｐゴシック" panose="020B0600070205080204" pitchFamily="34" charset="-128"/>
              </a:rPr>
              <a:t>may generate duplicate ACKs</a:t>
            </a:r>
          </a:p>
          <a:p>
            <a:pPr marL="521494" lvl="1" indent="-173831" defTabSz="685800">
              <a:spcBef>
                <a:spcPts val="375"/>
              </a:spcBef>
              <a:defRPr/>
            </a:pPr>
            <a:r>
              <a:rPr lang="en-US" altLang="en-US" sz="1800" dirty="0">
                <a:solidFill>
                  <a:prstClr val="black"/>
                </a:solidFill>
                <a:latin typeface="Calibri" panose="020F0502020204030204"/>
                <a:ea typeface="ＭＳ Ｐゴシック" panose="020B0600070205080204" pitchFamily="34" charset="-128"/>
              </a:rPr>
              <a:t>need only remember </a:t>
            </a:r>
            <a:r>
              <a:rPr lang="en-US" altLang="en-US" sz="1800" dirty="0">
                <a:solidFill>
                  <a:srgbClr val="0013A3"/>
                </a:solidFill>
                <a:latin typeface="Courier New" panose="02070309020205020404" pitchFamily="49" charset="0"/>
                <a:ea typeface="ＭＳ Ｐゴシック" panose="020B0600070205080204" pitchFamily="34" charset="-128"/>
              </a:rPr>
              <a:t>rcv_base</a:t>
            </a:r>
          </a:p>
          <a:p>
            <a:pPr marL="264319" indent="-166688" defTabSz="685800">
              <a:spcBef>
                <a:spcPts val="750"/>
              </a:spcBef>
              <a:defRPr/>
            </a:pPr>
            <a:r>
              <a:rPr lang="en-US" altLang="en-US" sz="2100" dirty="0">
                <a:solidFill>
                  <a:prstClr val="black"/>
                </a:solidFill>
                <a:latin typeface="Calibri" panose="020F0502020204030204"/>
                <a:ea typeface="ＭＳ Ｐゴシック" panose="020B0600070205080204" pitchFamily="34" charset="-128"/>
              </a:rPr>
              <a:t>on receipt of out-of-order packet: </a:t>
            </a:r>
          </a:p>
          <a:p>
            <a:pPr marL="521494" lvl="1" indent="-173831" defTabSz="685800">
              <a:spcBef>
                <a:spcPts val="375"/>
              </a:spcBef>
              <a:defRPr/>
            </a:pPr>
            <a:r>
              <a:rPr lang="en-US" altLang="en-US" sz="1800" dirty="0">
                <a:solidFill>
                  <a:prstClr val="black"/>
                </a:solidFill>
                <a:latin typeface="Calibri" panose="020F0502020204030204"/>
                <a:ea typeface="ＭＳ Ｐゴシック" panose="020B0600070205080204" pitchFamily="34" charset="-128"/>
              </a:rPr>
              <a:t>discard (don’</a:t>
            </a:r>
            <a:r>
              <a:rPr lang="en-US" altLang="ja-JP" sz="1800" dirty="0">
                <a:solidFill>
                  <a:prstClr val="black"/>
                </a:solidFill>
                <a:latin typeface="Calibri" panose="020F0502020204030204"/>
                <a:ea typeface="ＭＳ Ｐゴシック" panose="020B0600070205080204" pitchFamily="34" charset="-128"/>
              </a:rPr>
              <a:t>t buffer)</a:t>
            </a:r>
            <a:endParaRPr lang="en-US" altLang="ja-JP" sz="1800" i="1" dirty="0">
              <a:solidFill>
                <a:srgbClr val="CC0000"/>
              </a:solidFill>
              <a:latin typeface="Calibri" panose="020F0502020204030204"/>
              <a:ea typeface="ＭＳ Ｐゴシック" panose="020B0600070205080204" pitchFamily="34" charset="-128"/>
            </a:endParaRPr>
          </a:p>
          <a:p>
            <a:pPr marL="521494" lvl="1" indent="-173831" defTabSz="685800">
              <a:spcBef>
                <a:spcPts val="375"/>
              </a:spcBef>
              <a:defRPr/>
            </a:pPr>
            <a:r>
              <a:rPr lang="en-US" altLang="en-US" sz="1800" dirty="0">
                <a:solidFill>
                  <a:prstClr val="black"/>
                </a:solidFill>
                <a:latin typeface="Calibri" panose="020F0502020204030204"/>
                <a:ea typeface="ＭＳ Ｐゴシック" panose="020B0600070205080204" pitchFamily="34" charset="-128"/>
              </a:rPr>
              <a:t>re-ACK pkt with highest in-order seq #</a:t>
            </a:r>
          </a:p>
        </p:txBody>
      </p:sp>
      <p:grpSp>
        <p:nvGrpSpPr>
          <p:cNvPr id="40" name="Group 39">
            <a:extLst>
              <a:ext uri="{FF2B5EF4-FFF2-40B4-BE49-F238E27FC236}">
                <a16:creationId xmlns:a16="http://schemas.microsoft.com/office/drawing/2014/main" id="{721F1563-4EE6-624A-B419-51472DAFC422}"/>
              </a:ext>
            </a:extLst>
          </p:cNvPr>
          <p:cNvGrpSpPr/>
          <p:nvPr/>
        </p:nvGrpSpPr>
        <p:grpSpPr>
          <a:xfrm>
            <a:off x="723900" y="4133850"/>
            <a:ext cx="7654809" cy="1601409"/>
            <a:chOff x="965200" y="4368800"/>
            <a:chExt cx="10206411" cy="2135212"/>
          </a:xfrm>
        </p:grpSpPr>
        <p:sp>
          <p:nvSpPr>
            <p:cNvPr id="4" name="Rectangle 3">
              <a:extLst>
                <a:ext uri="{FF2B5EF4-FFF2-40B4-BE49-F238E27FC236}">
                  <a16:creationId xmlns:a16="http://schemas.microsoft.com/office/drawing/2014/main" id="{B5C749AC-5A6B-CE44-BD87-CDEAD30D68DC}"/>
                </a:ext>
              </a:extLst>
            </p:cNvPr>
            <p:cNvSpPr/>
            <p:nvPr/>
          </p:nvSpPr>
          <p:spPr>
            <a:xfrm>
              <a:off x="2412281" y="487799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0" name="Rectangle 9">
              <a:extLst>
                <a:ext uri="{FF2B5EF4-FFF2-40B4-BE49-F238E27FC236}">
                  <a16:creationId xmlns:a16="http://schemas.microsoft.com/office/drawing/2014/main" id="{FB7AB02A-A4B7-9D4F-A1D7-19D810FD4F54}"/>
                </a:ext>
              </a:extLst>
            </p:cNvPr>
            <p:cNvSpPr/>
            <p:nvPr/>
          </p:nvSpPr>
          <p:spPr>
            <a:xfrm>
              <a:off x="2603500" y="487853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1" name="Rectangle 10">
              <a:extLst>
                <a:ext uri="{FF2B5EF4-FFF2-40B4-BE49-F238E27FC236}">
                  <a16:creationId xmlns:a16="http://schemas.microsoft.com/office/drawing/2014/main" id="{6DFBB702-FA2B-A04A-B08F-95DFA12C7EDD}"/>
                </a:ext>
              </a:extLst>
            </p:cNvPr>
            <p:cNvSpPr/>
            <p:nvPr/>
          </p:nvSpPr>
          <p:spPr>
            <a:xfrm>
              <a:off x="2777467" y="4879975"/>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2" name="Rectangle 11">
              <a:extLst>
                <a:ext uri="{FF2B5EF4-FFF2-40B4-BE49-F238E27FC236}">
                  <a16:creationId xmlns:a16="http://schemas.microsoft.com/office/drawing/2014/main" id="{B7C745A3-C7DB-3942-A271-0A92B4788494}"/>
                </a:ext>
              </a:extLst>
            </p:cNvPr>
            <p:cNvSpPr/>
            <p:nvPr/>
          </p:nvSpPr>
          <p:spPr>
            <a:xfrm>
              <a:off x="2951434" y="4878238"/>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13" name="Rectangle 12">
              <a:extLst>
                <a:ext uri="{FF2B5EF4-FFF2-40B4-BE49-F238E27FC236}">
                  <a16:creationId xmlns:a16="http://schemas.microsoft.com/office/drawing/2014/main" id="{9242AB67-120B-794E-928E-64266D32C52D}"/>
                </a:ext>
              </a:extLst>
            </p:cNvPr>
            <p:cNvSpPr/>
            <p:nvPr/>
          </p:nvSpPr>
          <p:spPr>
            <a:xfrm>
              <a:off x="3125401" y="4879676"/>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4" name="Rectangle 13">
              <a:extLst>
                <a:ext uri="{FF2B5EF4-FFF2-40B4-BE49-F238E27FC236}">
                  <a16:creationId xmlns:a16="http://schemas.microsoft.com/office/drawing/2014/main" id="{5E626C37-8D68-3743-89DE-5821F910BA38}"/>
                </a:ext>
              </a:extLst>
            </p:cNvPr>
            <p:cNvSpPr/>
            <p:nvPr/>
          </p:nvSpPr>
          <p:spPr>
            <a:xfrm>
              <a:off x="3312307" y="4876800"/>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8" name="Rectangle 17">
              <a:extLst>
                <a:ext uri="{FF2B5EF4-FFF2-40B4-BE49-F238E27FC236}">
                  <a16:creationId xmlns:a16="http://schemas.microsoft.com/office/drawing/2014/main" id="{713FA41E-5B3A-9E42-85D0-F244A9CA09BA}"/>
                </a:ext>
              </a:extLst>
            </p:cNvPr>
            <p:cNvSpPr/>
            <p:nvPr/>
          </p:nvSpPr>
          <p:spPr>
            <a:xfrm>
              <a:off x="4042679" y="487709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19" name="Rectangle 18">
              <a:extLst>
                <a:ext uri="{FF2B5EF4-FFF2-40B4-BE49-F238E27FC236}">
                  <a16:creationId xmlns:a16="http://schemas.microsoft.com/office/drawing/2014/main" id="{DC459346-9ED9-4045-B9EF-F21C877F5C71}"/>
                </a:ext>
              </a:extLst>
            </p:cNvPr>
            <p:cNvSpPr/>
            <p:nvPr/>
          </p:nvSpPr>
          <p:spPr>
            <a:xfrm>
              <a:off x="4216646" y="48773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0" name="Rectangle 19">
              <a:extLst>
                <a:ext uri="{FF2B5EF4-FFF2-40B4-BE49-F238E27FC236}">
                  <a16:creationId xmlns:a16="http://schemas.microsoft.com/office/drawing/2014/main" id="{F0135D84-780D-1C4B-B705-7166D92BFCB2}"/>
                </a:ext>
              </a:extLst>
            </p:cNvPr>
            <p:cNvSpPr/>
            <p:nvPr/>
          </p:nvSpPr>
          <p:spPr>
            <a:xfrm>
              <a:off x="4394926" y="4877695"/>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1" name="Rectangle 20">
              <a:extLst>
                <a:ext uri="{FF2B5EF4-FFF2-40B4-BE49-F238E27FC236}">
                  <a16:creationId xmlns:a16="http://schemas.microsoft.com/office/drawing/2014/main" id="{4C92DF50-BC76-3348-AFB6-0E120E535E9F}"/>
                </a:ext>
              </a:extLst>
            </p:cNvPr>
            <p:cNvSpPr/>
            <p:nvPr/>
          </p:nvSpPr>
          <p:spPr>
            <a:xfrm>
              <a:off x="4573204" y="4877096"/>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22" name="Rectangle 21">
              <a:extLst>
                <a:ext uri="{FF2B5EF4-FFF2-40B4-BE49-F238E27FC236}">
                  <a16:creationId xmlns:a16="http://schemas.microsoft.com/office/drawing/2014/main" id="{BD359C03-4942-1F4E-9943-A4770ABD7A5C}"/>
                </a:ext>
              </a:extLst>
            </p:cNvPr>
            <p:cNvSpPr/>
            <p:nvPr/>
          </p:nvSpPr>
          <p:spPr>
            <a:xfrm>
              <a:off x="4738544" y="4882607"/>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5" name="TextBox 4">
              <a:extLst>
                <a:ext uri="{FF2B5EF4-FFF2-40B4-BE49-F238E27FC236}">
                  <a16:creationId xmlns:a16="http://schemas.microsoft.com/office/drawing/2014/main" id="{24FB1D15-C716-6642-9A8C-FF574649B132}"/>
                </a:ext>
              </a:extLst>
            </p:cNvPr>
            <p:cNvSpPr txBox="1"/>
            <p:nvPr/>
          </p:nvSpPr>
          <p:spPr>
            <a:xfrm>
              <a:off x="3200400" y="5878723"/>
              <a:ext cx="1357636" cy="400109"/>
            </a:xfrm>
            <a:prstGeom prst="rect">
              <a:avLst/>
            </a:prstGeom>
            <a:noFill/>
          </p:spPr>
          <p:txBody>
            <a:bodyPr wrap="none" rtlCol="0">
              <a:spAutoFit/>
            </a:bodyPr>
            <a:lstStyle/>
            <a:p>
              <a:pPr defTabSz="685800">
                <a:defRPr/>
              </a:pPr>
              <a:r>
                <a:rPr lang="en-US" altLang="en-US" sz="1350" dirty="0">
                  <a:solidFill>
                    <a:srgbClr val="0013A3"/>
                  </a:solidFill>
                  <a:latin typeface="Courier New" panose="02070309020205020404" pitchFamily="49" charset="0"/>
                  <a:ea typeface="ＭＳ Ｐゴシック" panose="020B0600070205080204" pitchFamily="34" charset="-128"/>
                </a:rPr>
                <a:t>rcv_base</a:t>
              </a:r>
              <a:endParaRPr lang="en-US" sz="1350" dirty="0">
                <a:solidFill>
                  <a:srgbClr val="0013A3"/>
                </a:solidFill>
                <a:latin typeface="Calibri" panose="020F0502020204030204"/>
              </a:endParaRPr>
            </a:p>
          </p:txBody>
        </p:sp>
        <p:cxnSp>
          <p:nvCxnSpPr>
            <p:cNvPr id="24" name="Straight Arrow Connector 23">
              <a:extLst>
                <a:ext uri="{FF2B5EF4-FFF2-40B4-BE49-F238E27FC236}">
                  <a16:creationId xmlns:a16="http://schemas.microsoft.com/office/drawing/2014/main" id="{FFDA1BD1-92DD-964D-A4AD-4395424A812F}"/>
                </a:ext>
              </a:extLst>
            </p:cNvPr>
            <p:cNvCxnSpPr/>
            <p:nvPr/>
          </p:nvCxnSpPr>
          <p:spPr>
            <a:xfrm flipV="1">
              <a:off x="3340100" y="5523122"/>
              <a:ext cx="0" cy="46990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814D852D-4652-CD46-A032-5387C52666B7}"/>
                </a:ext>
              </a:extLst>
            </p:cNvPr>
            <p:cNvGrpSpPr/>
            <p:nvPr/>
          </p:nvGrpSpPr>
          <p:grpSpPr>
            <a:xfrm>
              <a:off x="7035081" y="4522877"/>
              <a:ext cx="4136530" cy="1981135"/>
              <a:chOff x="7797081" y="4179977"/>
              <a:chExt cx="4136530" cy="1981135"/>
            </a:xfrm>
          </p:grpSpPr>
          <p:sp>
            <p:nvSpPr>
              <p:cNvPr id="25" name="Rectangle 24">
                <a:extLst>
                  <a:ext uri="{FF2B5EF4-FFF2-40B4-BE49-F238E27FC236}">
                    <a16:creationId xmlns:a16="http://schemas.microsoft.com/office/drawing/2014/main" id="{06E499E9-05E0-2848-A525-BB3AC2E78B77}"/>
                  </a:ext>
                </a:extLst>
              </p:cNvPr>
              <p:cNvSpPr/>
              <p:nvPr/>
            </p:nvSpPr>
            <p:spPr>
              <a:xfrm>
                <a:off x="7797081" y="4179977"/>
                <a:ext cx="81951" cy="59522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7" name="Rectangle 26">
                <a:extLst>
                  <a:ext uri="{FF2B5EF4-FFF2-40B4-BE49-F238E27FC236}">
                    <a16:creationId xmlns:a16="http://schemas.microsoft.com/office/drawing/2014/main" id="{75E59F90-0AC1-D949-8CB5-B7E829DBDF1B}"/>
                  </a:ext>
                </a:extLst>
              </p:cNvPr>
              <p:cNvSpPr/>
              <p:nvPr/>
            </p:nvSpPr>
            <p:spPr>
              <a:xfrm>
                <a:off x="7797081" y="5565889"/>
                <a:ext cx="81951" cy="595223"/>
              </a:xfrm>
              <a:prstGeom prst="rect">
                <a:avLst/>
              </a:prstGeom>
              <a:solidFill>
                <a:schemeClr val="bg1">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8" name="TextBox 27">
                <a:extLst>
                  <a:ext uri="{FF2B5EF4-FFF2-40B4-BE49-F238E27FC236}">
                    <a16:creationId xmlns:a16="http://schemas.microsoft.com/office/drawing/2014/main" id="{0D5C9899-6096-4643-8719-DE793696866F}"/>
                  </a:ext>
                </a:extLst>
              </p:cNvPr>
              <p:cNvSpPr txBox="1"/>
              <p:nvPr/>
            </p:nvSpPr>
            <p:spPr>
              <a:xfrm>
                <a:off x="8089900" y="4279900"/>
                <a:ext cx="2111604"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received and ACKed</a:t>
                </a:r>
              </a:p>
            </p:txBody>
          </p:sp>
          <p:sp>
            <p:nvSpPr>
              <p:cNvPr id="29" name="TextBox 28">
                <a:extLst>
                  <a:ext uri="{FF2B5EF4-FFF2-40B4-BE49-F238E27FC236}">
                    <a16:creationId xmlns:a16="http://schemas.microsoft.com/office/drawing/2014/main" id="{B3F847CB-3827-2544-8543-6EF3912864FB}"/>
                  </a:ext>
                </a:extLst>
              </p:cNvPr>
              <p:cNvSpPr txBox="1"/>
              <p:nvPr/>
            </p:nvSpPr>
            <p:spPr>
              <a:xfrm>
                <a:off x="8115300" y="4965700"/>
                <a:ext cx="3818311"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Out-of-order: received but not  ACKed</a:t>
                </a:r>
              </a:p>
            </p:txBody>
          </p:sp>
          <p:sp>
            <p:nvSpPr>
              <p:cNvPr id="30" name="TextBox 29">
                <a:extLst>
                  <a:ext uri="{FF2B5EF4-FFF2-40B4-BE49-F238E27FC236}">
                    <a16:creationId xmlns:a16="http://schemas.microsoft.com/office/drawing/2014/main" id="{79AF6502-A49B-FB42-8066-694FB04355A3}"/>
                  </a:ext>
                </a:extLst>
              </p:cNvPr>
              <p:cNvSpPr txBox="1"/>
              <p:nvPr/>
            </p:nvSpPr>
            <p:spPr>
              <a:xfrm>
                <a:off x="8089900" y="5664200"/>
                <a:ext cx="1446378" cy="400109"/>
              </a:xfrm>
              <a:prstGeom prst="rect">
                <a:avLst/>
              </a:prstGeom>
              <a:noFill/>
            </p:spPr>
            <p:txBody>
              <a:bodyPr wrap="none" rtlCol="0">
                <a:spAutoFit/>
              </a:bodyPr>
              <a:lstStyle/>
              <a:p>
                <a:pPr defTabSz="685800">
                  <a:defRPr/>
                </a:pPr>
                <a:r>
                  <a:rPr lang="en-US" sz="1350" dirty="0">
                    <a:solidFill>
                      <a:prstClr val="black"/>
                    </a:solidFill>
                    <a:latin typeface="Calibri" panose="020F0502020204030204"/>
                  </a:rPr>
                  <a:t>Not received</a:t>
                </a:r>
              </a:p>
            </p:txBody>
          </p:sp>
        </p:grpSp>
        <p:sp>
          <p:nvSpPr>
            <p:cNvPr id="32" name="TextBox 31">
              <a:extLst>
                <a:ext uri="{FF2B5EF4-FFF2-40B4-BE49-F238E27FC236}">
                  <a16:creationId xmlns:a16="http://schemas.microsoft.com/office/drawing/2014/main" id="{8AE8A9EC-F9D6-AD41-BDA3-40B447572E22}"/>
                </a:ext>
              </a:extLst>
            </p:cNvPr>
            <p:cNvSpPr txBox="1"/>
            <p:nvPr/>
          </p:nvSpPr>
          <p:spPr>
            <a:xfrm>
              <a:off x="965200" y="4368800"/>
              <a:ext cx="5494153" cy="492443"/>
            </a:xfrm>
            <a:prstGeom prst="rect">
              <a:avLst/>
            </a:prstGeom>
            <a:noFill/>
          </p:spPr>
          <p:txBody>
            <a:bodyPr wrap="none" rtlCol="0">
              <a:spAutoFit/>
            </a:bodyPr>
            <a:lstStyle/>
            <a:p>
              <a:pPr defTabSz="685800">
                <a:defRPr/>
              </a:pPr>
              <a:r>
                <a:rPr lang="en-US" dirty="0">
                  <a:solidFill>
                    <a:prstClr val="black"/>
                  </a:solidFill>
                  <a:latin typeface="Calibri" panose="020F0502020204030204"/>
                </a:rPr>
                <a:t>Receiver view of sequence number space:</a:t>
              </a:r>
            </a:p>
          </p:txBody>
        </p:sp>
        <p:sp>
          <p:nvSpPr>
            <p:cNvPr id="34" name="Rectangle 33">
              <a:extLst>
                <a:ext uri="{FF2B5EF4-FFF2-40B4-BE49-F238E27FC236}">
                  <a16:creationId xmlns:a16="http://schemas.microsoft.com/office/drawing/2014/main" id="{7C6C7DB5-7268-0B44-A56E-B28CC92134BC}"/>
                </a:ext>
              </a:extLst>
            </p:cNvPr>
            <p:cNvSpPr/>
            <p:nvPr/>
          </p:nvSpPr>
          <p:spPr>
            <a:xfrm>
              <a:off x="7043594" y="5225507"/>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35" name="Rectangle 34">
              <a:extLst>
                <a:ext uri="{FF2B5EF4-FFF2-40B4-BE49-F238E27FC236}">
                  <a16:creationId xmlns:a16="http://schemas.microsoft.com/office/drawing/2014/main" id="{AA046972-9F03-F944-BC25-0B2150456151}"/>
                </a:ext>
              </a:extLst>
            </p:cNvPr>
            <p:cNvSpPr/>
            <p:nvPr/>
          </p:nvSpPr>
          <p:spPr>
            <a:xfrm>
              <a:off x="38558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36" name="Rectangle 35">
              <a:extLst>
                <a:ext uri="{FF2B5EF4-FFF2-40B4-BE49-F238E27FC236}">
                  <a16:creationId xmlns:a16="http://schemas.microsoft.com/office/drawing/2014/main" id="{E2CC5FA3-3D8B-6548-BA93-1DA3D5DF3E6E}"/>
                </a:ext>
              </a:extLst>
            </p:cNvPr>
            <p:cNvSpPr/>
            <p:nvPr/>
          </p:nvSpPr>
          <p:spPr>
            <a:xfrm>
              <a:off x="350029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37" name="Rectangle 36">
              <a:extLst>
                <a:ext uri="{FF2B5EF4-FFF2-40B4-BE49-F238E27FC236}">
                  <a16:creationId xmlns:a16="http://schemas.microsoft.com/office/drawing/2014/main" id="{BB5F6F20-040F-1941-B33E-7134B25528B8}"/>
                </a:ext>
              </a:extLst>
            </p:cNvPr>
            <p:cNvSpPr/>
            <p:nvPr/>
          </p:nvSpPr>
          <p:spPr>
            <a:xfrm>
              <a:off x="3684444" y="4876800"/>
              <a:ext cx="81951" cy="595223"/>
            </a:xfrm>
            <a:prstGeom prst="rect">
              <a:avLst/>
            </a:prstGeom>
            <a:solidFill>
              <a:srgbClr val="DF167A"/>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sz="1350" dirty="0">
                  <a:solidFill>
                    <a:prstClr val="white"/>
                  </a:solidFill>
                  <a:latin typeface="Calibri" panose="020F0502020204030204"/>
                </a:rPr>
                <a:t>  </a:t>
              </a:r>
            </a:p>
          </p:txBody>
        </p:sp>
        <p:sp>
          <p:nvSpPr>
            <p:cNvPr id="38" name="TextBox 37">
              <a:extLst>
                <a:ext uri="{FF2B5EF4-FFF2-40B4-BE49-F238E27FC236}">
                  <a16:creationId xmlns:a16="http://schemas.microsoft.com/office/drawing/2014/main" id="{27974E79-9D0E-3745-ABD9-0984B3110ABE}"/>
                </a:ext>
              </a:extLst>
            </p:cNvPr>
            <p:cNvSpPr txBox="1"/>
            <p:nvPr/>
          </p:nvSpPr>
          <p:spPr>
            <a:xfrm>
              <a:off x="1892300" y="5105400"/>
              <a:ext cx="494152" cy="553997"/>
            </a:xfrm>
            <a:prstGeom prst="rect">
              <a:avLst/>
            </a:prstGeom>
            <a:noFill/>
          </p:spPr>
          <p:txBody>
            <a:bodyPr wrap="none" rtlCol="0">
              <a:spAutoFit/>
            </a:bodyPr>
            <a:lstStyle/>
            <a:p>
              <a:pPr defTabSz="685800">
                <a:defRPr/>
              </a:pPr>
              <a:r>
                <a:rPr lang="en-US" sz="2100" dirty="0">
                  <a:solidFill>
                    <a:prstClr val="black"/>
                  </a:solidFill>
                  <a:latin typeface="Calibri" panose="020F0502020204030204"/>
                </a:rPr>
                <a:t>…</a:t>
              </a:r>
              <a:endParaRPr lang="en-US" sz="1350" dirty="0">
                <a:solidFill>
                  <a:prstClr val="black"/>
                </a:solidFill>
                <a:latin typeface="Calibri" panose="020F0502020204030204"/>
              </a:endParaRPr>
            </a:p>
          </p:txBody>
        </p:sp>
        <p:sp>
          <p:nvSpPr>
            <p:cNvPr id="39" name="TextBox 38">
              <a:extLst>
                <a:ext uri="{FF2B5EF4-FFF2-40B4-BE49-F238E27FC236}">
                  <a16:creationId xmlns:a16="http://schemas.microsoft.com/office/drawing/2014/main" id="{E72C8E0E-B0A1-2140-BDEC-22D5E69331DA}"/>
                </a:ext>
              </a:extLst>
            </p:cNvPr>
            <p:cNvSpPr txBox="1"/>
            <p:nvPr/>
          </p:nvSpPr>
          <p:spPr>
            <a:xfrm>
              <a:off x="4876800" y="5105400"/>
              <a:ext cx="494152" cy="553997"/>
            </a:xfrm>
            <a:prstGeom prst="rect">
              <a:avLst/>
            </a:prstGeom>
            <a:noFill/>
          </p:spPr>
          <p:txBody>
            <a:bodyPr wrap="none" rtlCol="0">
              <a:spAutoFit/>
            </a:bodyPr>
            <a:lstStyle/>
            <a:p>
              <a:pPr defTabSz="685800">
                <a:defRPr/>
              </a:pPr>
              <a:r>
                <a:rPr lang="en-US" sz="2100" dirty="0">
                  <a:solidFill>
                    <a:prstClr val="black"/>
                  </a:solidFill>
                  <a:latin typeface="Calibri" panose="020F0502020204030204"/>
                </a:rPr>
                <a:t>…</a:t>
              </a:r>
              <a:endParaRPr lang="en-US" sz="1350" dirty="0">
                <a:solidFill>
                  <a:prstClr val="black"/>
                </a:solidFill>
                <a:latin typeface="Calibri" panose="020F0502020204030204"/>
              </a:endParaRPr>
            </a:p>
          </p:txBody>
        </p:sp>
      </p:grpSp>
    </p:spTree>
    <p:extLst>
      <p:ext uri="{BB962C8B-B14F-4D97-AF65-F5344CB8AC3E}">
        <p14:creationId xmlns:p14="http://schemas.microsoft.com/office/powerpoint/2010/main" val="1022194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Go-Back-N</a:t>
            </a:r>
            <a:r>
              <a:rPr lang="en-US" dirty="0"/>
              <a:t> in action</a:t>
            </a:r>
          </a:p>
        </p:txBody>
      </p:sp>
      <p:sp>
        <p:nvSpPr>
          <p:cNvPr id="83" name="Slide Number Placeholder 2">
            <a:extLst>
              <a:ext uri="{FF2B5EF4-FFF2-40B4-BE49-F238E27FC236}">
                <a16:creationId xmlns:a16="http://schemas.microsoft.com/office/drawing/2014/main" id="{D2E57CDD-AF57-3E45-9B83-97B06BD5DF03}"/>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31</a:t>
            </a:fld>
            <a:endParaRPr lang="en-US" dirty="0">
              <a:solidFill>
                <a:prstClr val="white">
                  <a:lumMod val="50000"/>
                </a:prstClr>
              </a:solidFill>
              <a:latin typeface="Calibri" panose="020F0502020204030204"/>
            </a:endParaRPr>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3523096" y="2006203"/>
            <a:ext cx="98937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send  pkt0</a:t>
            </a:r>
          </a:p>
          <a:p>
            <a:pPr algn="r" defTabSz="685800" eaLnBrk="0" fontAlgn="base" hangingPunct="0">
              <a:spcBef>
                <a:spcPct val="0"/>
              </a:spcBef>
              <a:spcAft>
                <a:spcPct val="0"/>
              </a:spcAft>
              <a:defRPr/>
            </a:pPr>
            <a:r>
              <a:rPr lang="en-US" sz="1350" kern="0" dirty="0">
                <a:solidFill>
                  <a:srgbClr val="000000"/>
                </a:solidFill>
              </a:rPr>
              <a:t>send  pkt1</a:t>
            </a:r>
          </a:p>
          <a:p>
            <a:pPr algn="r" defTabSz="685800" eaLnBrk="0" fontAlgn="base" hangingPunct="0">
              <a:spcBef>
                <a:spcPct val="0"/>
              </a:spcBef>
              <a:spcAft>
                <a:spcPct val="0"/>
              </a:spcAft>
              <a:defRPr/>
            </a:pPr>
            <a:r>
              <a:rPr lang="en-US" sz="1350" kern="0" dirty="0">
                <a:solidFill>
                  <a:srgbClr val="000000"/>
                </a:solidFill>
              </a:rPr>
              <a:t>send  pkt2</a:t>
            </a:r>
          </a:p>
          <a:p>
            <a:pPr algn="r" defTabSz="685800" eaLnBrk="0" fontAlgn="base" hangingPunct="0">
              <a:spcBef>
                <a:spcPct val="0"/>
              </a:spcBef>
              <a:spcAft>
                <a:spcPct val="0"/>
              </a:spcAft>
              <a:defRPr/>
            </a:pPr>
            <a:r>
              <a:rPr lang="en-US" sz="1350" kern="0" dirty="0">
                <a:solidFill>
                  <a:srgbClr val="000000"/>
                </a:solidFill>
              </a:rPr>
              <a:t>send  pkt3</a:t>
            </a:r>
          </a:p>
          <a:p>
            <a:pPr algn="r" defTabSz="685800" eaLnBrk="0" fontAlgn="base" hangingPunct="0">
              <a:spcBef>
                <a:spcPct val="0"/>
              </a:spcBef>
              <a:spcAft>
                <a:spcPct val="0"/>
              </a:spcAft>
              <a:defRPr/>
            </a:pPr>
            <a:r>
              <a:rPr lang="en-US" sz="1350" kern="0" dirty="0">
                <a:solidFill>
                  <a:srgbClr val="000000"/>
                </a:solidFill>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3791901" y="1727597"/>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0099"/>
                </a:solidFill>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6066514" y="174188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8000"/>
                </a:solidFill>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6147197" y="2190750"/>
            <a:ext cx="8335" cy="340399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12" name="Text Box 15">
            <a:extLst>
              <a:ext uri="{FF2B5EF4-FFF2-40B4-BE49-F238E27FC236}">
                <a16:creationId xmlns:a16="http://schemas.microsoft.com/office/drawing/2014/main" id="{AF86798F-8D3B-3F46-8E9A-88A423CB91FE}"/>
              </a:ext>
            </a:extLst>
          </p:cNvPr>
          <p:cNvSpPr txBox="1">
            <a:spLocks noChangeArrowheads="1"/>
          </p:cNvSpPr>
          <p:nvPr/>
        </p:nvSpPr>
        <p:spPr bwMode="auto">
          <a:xfrm>
            <a:off x="6104334" y="2337197"/>
            <a:ext cx="199285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pkt0, send ack0</a:t>
            </a:r>
          </a:p>
          <a:p>
            <a:pPr defTabSz="685800" eaLnBrk="0" fontAlgn="base" hangingPunct="0">
              <a:spcBef>
                <a:spcPct val="0"/>
              </a:spcBef>
              <a:spcAft>
                <a:spcPct val="0"/>
              </a:spcAft>
              <a:defRPr/>
            </a:pPr>
            <a:r>
              <a:rPr lang="en-US" sz="1350" kern="0" dirty="0">
                <a:solidFill>
                  <a:srgbClr val="000000"/>
                </a:solidFill>
              </a:rPr>
              <a:t>receive pkt1, send ack1</a:t>
            </a:r>
          </a:p>
          <a:p>
            <a:pPr defTabSz="685800" eaLnBrk="0" fontAlgn="base" hangingPunct="0">
              <a:spcBef>
                <a:spcPct val="0"/>
              </a:spcBef>
              <a:spcAft>
                <a:spcPct val="0"/>
              </a:spcAft>
              <a:defRPr/>
            </a:pPr>
            <a:r>
              <a:rPr lang="en-US" sz="1350" kern="0" dirty="0">
                <a:solidFill>
                  <a:srgbClr val="000000"/>
                </a:solidFill>
              </a:rPr>
              <a:t> </a:t>
            </a:r>
          </a:p>
          <a:p>
            <a:pPr defTabSz="685800" eaLnBrk="0" fontAlgn="base" hangingPunct="0">
              <a:spcBef>
                <a:spcPct val="0"/>
              </a:spcBef>
              <a:spcAft>
                <a:spcPct val="0"/>
              </a:spcAft>
              <a:defRPr/>
            </a:pPr>
            <a:r>
              <a:rPr lang="en-US" sz="1350" kern="0" dirty="0">
                <a:solidFill>
                  <a:srgbClr val="000000"/>
                </a:solidFill>
              </a:rPr>
              <a:t>receive pkt3, discard, </a:t>
            </a:r>
          </a:p>
          <a:p>
            <a:pPr defTabSz="685800" eaLnBrk="0" fontAlgn="base" hangingPunct="0">
              <a:spcBef>
                <a:spcPct val="0"/>
              </a:spcBef>
              <a:spcAft>
                <a:spcPct val="0"/>
              </a:spcAft>
              <a:defRPr/>
            </a:pPr>
            <a:r>
              <a:rPr lang="en-US" sz="1350" kern="0" dirty="0">
                <a:solidFill>
                  <a:srgbClr val="000000"/>
                </a:solidFill>
              </a:rPr>
              <a:t>           (re)send ack1</a:t>
            </a: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3526668" y="4392215"/>
            <a:ext cx="989373"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350" kern="0" dirty="0">
                <a:solidFill>
                  <a:srgbClr val="000000"/>
                </a:solidFill>
              </a:rPr>
              <a:t>send  pkt2</a:t>
            </a:r>
          </a:p>
          <a:p>
            <a:pPr algn="r" defTabSz="685800" eaLnBrk="0" fontAlgn="base" hangingPunct="0">
              <a:lnSpc>
                <a:spcPct val="90000"/>
              </a:lnSpc>
              <a:spcBef>
                <a:spcPct val="0"/>
              </a:spcBef>
              <a:spcAft>
                <a:spcPct val="0"/>
              </a:spcAft>
              <a:defRPr/>
            </a:pPr>
            <a:r>
              <a:rPr lang="en-US" sz="1350" kern="0" dirty="0">
                <a:solidFill>
                  <a:srgbClr val="000000"/>
                </a:solidFill>
              </a:rPr>
              <a:t>send  pkt3</a:t>
            </a:r>
          </a:p>
          <a:p>
            <a:pPr algn="r" defTabSz="685800" eaLnBrk="0" fontAlgn="base" hangingPunct="0">
              <a:lnSpc>
                <a:spcPct val="90000"/>
              </a:lnSpc>
              <a:spcBef>
                <a:spcPct val="0"/>
              </a:spcBef>
              <a:spcAft>
                <a:spcPct val="0"/>
              </a:spcAft>
              <a:defRPr/>
            </a:pPr>
            <a:r>
              <a:rPr lang="en-US" sz="1350" kern="0" dirty="0">
                <a:solidFill>
                  <a:srgbClr val="000000"/>
                </a:solidFill>
              </a:rPr>
              <a:t>send  pkt4</a:t>
            </a:r>
          </a:p>
          <a:p>
            <a:pPr algn="r" defTabSz="685800" eaLnBrk="0" fontAlgn="base" hangingPunct="0">
              <a:lnSpc>
                <a:spcPct val="90000"/>
              </a:lnSpc>
              <a:spcBef>
                <a:spcPct val="0"/>
              </a:spcBef>
              <a:spcAft>
                <a:spcPct val="0"/>
              </a:spcAft>
              <a:defRPr/>
            </a:pPr>
            <a:r>
              <a:rPr lang="en-US" sz="1350" kern="0" dirty="0">
                <a:solidFill>
                  <a:srgbClr val="000000"/>
                </a:solidFill>
              </a:rPr>
              <a:t>send  pkt5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4550569" y="2544365"/>
            <a:ext cx="1510903" cy="8001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4544615" y="2151459"/>
            <a:ext cx="1591866" cy="969169"/>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05826" y="2298700"/>
              <a:ext cx="404385"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b="1" kern="0" dirty="0">
                  <a:solidFill>
                    <a:srgbClr val="FF0000"/>
                  </a:solidFill>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63159" y="2319337"/>
              <a:ext cx="58819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dirty="0">
                  <a:solidFill>
                    <a:srgbClr val="FF0000"/>
                  </a:solidFill>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4548188" y="2758678"/>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4550569" y="3386138"/>
            <a:ext cx="1575197" cy="35123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4574381" y="3625453"/>
            <a:ext cx="1576388" cy="3512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4572000" y="3156346"/>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3061097" y="2547938"/>
            <a:ext cx="1483519" cy="1931689"/>
            <a:chOff x="4081462" y="2254250"/>
            <a:chExt cx="1978025" cy="257558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371795" y="4498975"/>
              <a:ext cx="1616254" cy="3308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75000"/>
                </a:lnSpc>
                <a:spcBef>
                  <a:spcPct val="0"/>
                </a:spcBef>
                <a:spcAft>
                  <a:spcPct val="0"/>
                </a:spcAft>
                <a:defRPr/>
              </a:pPr>
              <a:r>
                <a:rPr lang="en-US" sz="1350" i="1" kern="0" dirty="0">
                  <a:solidFill>
                    <a:srgbClr val="FF0000"/>
                  </a:solidFill>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grpSp>
        <p:nvGrpSpPr>
          <p:cNvPr id="11" name="Group 10">
            <a:extLst>
              <a:ext uri="{FF2B5EF4-FFF2-40B4-BE49-F238E27FC236}">
                <a16:creationId xmlns:a16="http://schemas.microsoft.com/office/drawing/2014/main" id="{B43C2478-ADE4-9940-A00F-07B0A8A168AB}"/>
              </a:ext>
            </a:extLst>
          </p:cNvPr>
          <p:cNvGrpSpPr/>
          <p:nvPr/>
        </p:nvGrpSpPr>
        <p:grpSpPr>
          <a:xfrm>
            <a:off x="4545806" y="4520803"/>
            <a:ext cx="1585913" cy="884635"/>
            <a:chOff x="6061075" y="4884737"/>
            <a:chExt cx="2114550" cy="1179513"/>
          </a:xfrm>
        </p:grpSpPr>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6075362" y="4884737"/>
              <a:ext cx="2100263"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33" name="Line 38">
              <a:extLst>
                <a:ext uri="{FF2B5EF4-FFF2-40B4-BE49-F238E27FC236}">
                  <a16:creationId xmlns:a16="http://schemas.microsoft.com/office/drawing/2014/main" id="{F145FE1E-AA9A-9247-82EE-3228DB0DB25A}"/>
                </a:ext>
              </a:extLst>
            </p:cNvPr>
            <p:cNvSpPr>
              <a:spLocks noChangeShapeType="1"/>
            </p:cNvSpPr>
            <p:nvPr/>
          </p:nvSpPr>
          <p:spPr bwMode="auto">
            <a:xfrm>
              <a:off x="6067425" y="51292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34" name="Line 39">
              <a:extLst>
                <a:ext uri="{FF2B5EF4-FFF2-40B4-BE49-F238E27FC236}">
                  <a16:creationId xmlns:a16="http://schemas.microsoft.com/office/drawing/2014/main" id="{A6917865-5501-404F-B05D-FD50B31DAC19}"/>
                </a:ext>
              </a:extLst>
            </p:cNvPr>
            <p:cNvSpPr>
              <a:spLocks noChangeShapeType="1"/>
            </p:cNvSpPr>
            <p:nvPr/>
          </p:nvSpPr>
          <p:spPr bwMode="auto">
            <a:xfrm>
              <a:off x="6061075" y="5362575"/>
              <a:ext cx="2101850"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35" name="Line 40">
              <a:extLst>
                <a:ext uri="{FF2B5EF4-FFF2-40B4-BE49-F238E27FC236}">
                  <a16:creationId xmlns:a16="http://schemas.microsoft.com/office/drawing/2014/main" id="{C1F71149-521E-A245-80B1-E26288E6E967}"/>
                </a:ext>
              </a:extLst>
            </p:cNvPr>
            <p:cNvSpPr>
              <a:spLocks noChangeShapeType="1"/>
            </p:cNvSpPr>
            <p:nvPr/>
          </p:nvSpPr>
          <p:spPr bwMode="auto">
            <a:xfrm>
              <a:off x="6064250" y="5595937"/>
              <a:ext cx="2100262"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sp>
        <p:nvSpPr>
          <p:cNvPr id="136" name="Text Box 41">
            <a:extLst>
              <a:ext uri="{FF2B5EF4-FFF2-40B4-BE49-F238E27FC236}">
                <a16:creationId xmlns:a16="http://schemas.microsoft.com/office/drawing/2014/main" id="{C2E1F2DD-A0AF-3A4F-84ED-5EB921B7EA8C}"/>
              </a:ext>
            </a:extLst>
          </p:cNvPr>
          <p:cNvSpPr txBox="1">
            <a:spLocks noChangeArrowheads="1"/>
          </p:cNvSpPr>
          <p:nvPr/>
        </p:nvSpPr>
        <p:spPr bwMode="auto">
          <a:xfrm>
            <a:off x="6101953" y="3480197"/>
            <a:ext cx="1875835"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pkt4, discard, </a:t>
            </a:r>
          </a:p>
          <a:p>
            <a:pPr defTabSz="685800" eaLnBrk="0" fontAlgn="base" hangingPunct="0">
              <a:spcBef>
                <a:spcPct val="0"/>
              </a:spcBef>
              <a:spcAft>
                <a:spcPct val="0"/>
              </a:spcAft>
              <a:defRPr/>
            </a:pPr>
            <a:r>
              <a:rPr lang="en-US" sz="1350" kern="0" dirty="0">
                <a:solidFill>
                  <a:srgbClr val="000000"/>
                </a:solidFill>
              </a:rPr>
              <a:t>           (re)send ack1</a:t>
            </a:r>
          </a:p>
        </p:txBody>
      </p:sp>
      <p:sp>
        <p:nvSpPr>
          <p:cNvPr id="137" name="Text Box 42">
            <a:extLst>
              <a:ext uri="{FF2B5EF4-FFF2-40B4-BE49-F238E27FC236}">
                <a16:creationId xmlns:a16="http://schemas.microsoft.com/office/drawing/2014/main" id="{9460E1DE-6181-0944-8A7F-243E2C9494FD}"/>
              </a:ext>
            </a:extLst>
          </p:cNvPr>
          <p:cNvSpPr txBox="1">
            <a:spLocks noChangeArrowheads="1"/>
          </p:cNvSpPr>
          <p:nvPr/>
        </p:nvSpPr>
        <p:spPr bwMode="auto">
          <a:xfrm>
            <a:off x="6116241" y="3870722"/>
            <a:ext cx="1875835"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pkt5, discard, </a:t>
            </a:r>
          </a:p>
          <a:p>
            <a:pPr defTabSz="685800" eaLnBrk="0" fontAlgn="base" hangingPunct="0">
              <a:spcBef>
                <a:spcPct val="0"/>
              </a:spcBef>
              <a:spcAft>
                <a:spcPct val="0"/>
              </a:spcAft>
              <a:defRPr/>
            </a:pPr>
            <a:r>
              <a:rPr lang="en-US" sz="1350" kern="0" dirty="0">
                <a:solidFill>
                  <a:srgbClr val="000000"/>
                </a:solidFill>
              </a:rPr>
              <a:t>           (re)send ack1</a:t>
            </a:r>
          </a:p>
        </p:txBody>
      </p:sp>
      <p:sp>
        <p:nvSpPr>
          <p:cNvPr id="138" name="Text Box 43">
            <a:extLst>
              <a:ext uri="{FF2B5EF4-FFF2-40B4-BE49-F238E27FC236}">
                <a16:creationId xmlns:a16="http://schemas.microsoft.com/office/drawing/2014/main" id="{9372D8AC-242E-6F41-B4F3-7282D16B0794}"/>
              </a:ext>
            </a:extLst>
          </p:cNvPr>
          <p:cNvSpPr txBox="1">
            <a:spLocks noChangeArrowheads="1"/>
          </p:cNvSpPr>
          <p:nvPr/>
        </p:nvSpPr>
        <p:spPr bwMode="auto">
          <a:xfrm>
            <a:off x="6124575" y="4736306"/>
            <a:ext cx="2294218"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kern="0" dirty="0">
                <a:solidFill>
                  <a:srgbClr val="000000"/>
                </a:solidFill>
              </a:rPr>
              <a:t>rcv pkt2, deliver, send ack2</a:t>
            </a:r>
          </a:p>
          <a:p>
            <a:pPr defTabSz="685800" eaLnBrk="0" fontAlgn="base" hangingPunct="0">
              <a:lnSpc>
                <a:spcPct val="90000"/>
              </a:lnSpc>
              <a:spcBef>
                <a:spcPct val="0"/>
              </a:spcBef>
              <a:spcAft>
                <a:spcPct val="0"/>
              </a:spcAft>
              <a:defRPr/>
            </a:pPr>
            <a:r>
              <a:rPr lang="en-US" sz="1350" kern="0" dirty="0">
                <a:solidFill>
                  <a:srgbClr val="000000"/>
                </a:solidFill>
              </a:rPr>
              <a:t>rcv pkt3, deliver, send ack3</a:t>
            </a:r>
          </a:p>
          <a:p>
            <a:pPr defTabSz="685800" eaLnBrk="0" fontAlgn="base" hangingPunct="0">
              <a:lnSpc>
                <a:spcPct val="90000"/>
              </a:lnSpc>
              <a:spcBef>
                <a:spcPct val="0"/>
              </a:spcBef>
              <a:spcAft>
                <a:spcPct val="0"/>
              </a:spcAft>
              <a:defRPr/>
            </a:pPr>
            <a:r>
              <a:rPr lang="en-US" sz="1350" kern="0" dirty="0">
                <a:solidFill>
                  <a:srgbClr val="000000"/>
                </a:solidFill>
              </a:rPr>
              <a:t>rcv pkt4, deliver, send ack4</a:t>
            </a:r>
          </a:p>
          <a:p>
            <a:pPr defTabSz="685800" eaLnBrk="0" fontAlgn="base" hangingPunct="0">
              <a:lnSpc>
                <a:spcPct val="90000"/>
              </a:lnSpc>
              <a:spcBef>
                <a:spcPct val="0"/>
              </a:spcBef>
              <a:spcAft>
                <a:spcPct val="0"/>
              </a:spcAft>
              <a:defRPr/>
            </a:pPr>
            <a:r>
              <a:rPr lang="en-US" sz="1350" kern="0" dirty="0">
                <a:solidFill>
                  <a:srgbClr val="000000"/>
                </a:solidFill>
              </a:rPr>
              <a:t>rcv pkt5, deliver, send ack5</a:t>
            </a:r>
          </a:p>
        </p:txBody>
      </p:sp>
      <p:sp>
        <p:nvSpPr>
          <p:cNvPr id="139" name="Text Box 44">
            <a:extLst>
              <a:ext uri="{FF2B5EF4-FFF2-40B4-BE49-F238E27FC236}">
                <a16:creationId xmlns:a16="http://schemas.microsoft.com/office/drawing/2014/main" id="{3FF05DAC-881F-5A4C-85B0-7DEC9D8730CF}"/>
              </a:ext>
            </a:extLst>
          </p:cNvPr>
          <p:cNvSpPr txBox="1">
            <a:spLocks noChangeArrowheads="1"/>
          </p:cNvSpPr>
          <p:nvPr/>
        </p:nvSpPr>
        <p:spPr bwMode="auto">
          <a:xfrm>
            <a:off x="3137261" y="3857625"/>
            <a:ext cx="1410964"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000000"/>
                </a:solidFill>
              </a:rPr>
              <a:t>ignore duplicate ACK</a:t>
            </a: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1675679" y="1775222"/>
            <a:ext cx="167546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u="sng" kern="0" dirty="0">
                <a:solidFill>
                  <a:srgbClr val="000099"/>
                </a:solidFill>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1707356" y="2034780"/>
            <a:ext cx="1200149" cy="888207"/>
            <a:chOff x="2276475" y="1570039"/>
            <a:chExt cx="1600200" cy="1184276"/>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279650" y="1570039"/>
              <a:ext cx="1592262" cy="338138"/>
              <a:chOff x="89" y="914"/>
              <a:chExt cx="1003" cy="213"/>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276475" y="1855789"/>
              <a:ext cx="1592262" cy="338138"/>
              <a:chOff x="89" y="914"/>
              <a:chExt cx="1003" cy="213"/>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284412" y="2141539"/>
              <a:ext cx="1592263" cy="338138"/>
              <a:chOff x="89" y="914"/>
              <a:chExt cx="1003" cy="213"/>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281237" y="2416177"/>
              <a:ext cx="1592263" cy="338138"/>
              <a:chOff x="89" y="914"/>
              <a:chExt cx="1003" cy="213"/>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1709557" y="3208733"/>
            <a:ext cx="2842204" cy="300082"/>
            <a:chOff x="2279410" y="3135312"/>
            <a:chExt cx="3789604" cy="400109"/>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279410" y="3135312"/>
              <a:ext cx="3789604" cy="400109"/>
              <a:chOff x="2279410" y="3135312"/>
              <a:chExt cx="3789604" cy="400109"/>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699118" y="3135312"/>
                <a:ext cx="2369896"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rcv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279410" y="3186112"/>
                <a:ext cx="159274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a:t>
                </a:r>
                <a:r>
                  <a:rPr lang="en-US" sz="1050" dirty="0">
                    <a:solidFill>
                      <a:srgbClr val="FFFFFF"/>
                    </a:solidFill>
                    <a:latin typeface="Arial" charset="0"/>
                  </a:rPr>
                  <a:t>1 2 3 4</a:t>
                </a:r>
                <a:r>
                  <a:rPr lang="en-US" sz="1050" dirty="0">
                    <a:solidFill>
                      <a:srgbClr val="000000"/>
                    </a:solidFill>
                    <a:latin typeface="Arial" charset="0"/>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1697832" y="4423176"/>
            <a:ext cx="1200151" cy="813198"/>
            <a:chOff x="2263775" y="4754567"/>
            <a:chExt cx="1600200" cy="1084263"/>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263775" y="4754567"/>
              <a:ext cx="1592263" cy="338138"/>
              <a:chOff x="86" y="2105"/>
              <a:chExt cx="1003" cy="213"/>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271712" y="4995867"/>
              <a:ext cx="1592263" cy="338138"/>
              <a:chOff x="86" y="2105"/>
              <a:chExt cx="1003" cy="213"/>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268537" y="5259392"/>
              <a:ext cx="1592263" cy="338138"/>
              <a:chOff x="86" y="2105"/>
              <a:chExt cx="1003" cy="213"/>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265362" y="5500692"/>
              <a:ext cx="1592263" cy="338138"/>
              <a:chOff x="86" y="2105"/>
              <a:chExt cx="1003" cy="213"/>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5347097" y="3764757"/>
            <a:ext cx="779860" cy="654844"/>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grpSp>
        <p:nvGrpSpPr>
          <p:cNvPr id="12" name="Group 11">
            <a:extLst>
              <a:ext uri="{FF2B5EF4-FFF2-40B4-BE49-F238E27FC236}">
                <a16:creationId xmlns:a16="http://schemas.microsoft.com/office/drawing/2014/main" id="{A72E6ECF-EC8F-534A-B975-E7A316543BA2}"/>
              </a:ext>
            </a:extLst>
          </p:cNvPr>
          <p:cNvGrpSpPr/>
          <p:nvPr/>
        </p:nvGrpSpPr>
        <p:grpSpPr>
          <a:xfrm>
            <a:off x="5331619" y="4889896"/>
            <a:ext cx="810815" cy="977504"/>
            <a:chOff x="7083425" y="5376862"/>
            <a:chExt cx="1081087" cy="1303338"/>
          </a:xfrm>
        </p:grpSpPr>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7131050" y="5376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3" name="Line 101">
              <a:extLst>
                <a:ext uri="{FF2B5EF4-FFF2-40B4-BE49-F238E27FC236}">
                  <a16:creationId xmlns:a16="http://schemas.microsoft.com/office/drawing/2014/main" id="{84B4DDDE-6474-8442-BB57-A50ADD9CEBEC}"/>
                </a:ext>
              </a:extLst>
            </p:cNvPr>
            <p:cNvSpPr>
              <a:spLocks noChangeShapeType="1"/>
            </p:cNvSpPr>
            <p:nvPr/>
          </p:nvSpPr>
          <p:spPr bwMode="auto">
            <a:xfrm flipH="1">
              <a:off x="7115175" y="5630862"/>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4" name="Line 102">
              <a:extLst>
                <a:ext uri="{FF2B5EF4-FFF2-40B4-BE49-F238E27FC236}">
                  <a16:creationId xmlns:a16="http://schemas.microsoft.com/office/drawing/2014/main" id="{73C0C64C-D6E3-AC4F-B1DD-2ECA3B116102}"/>
                </a:ext>
              </a:extLst>
            </p:cNvPr>
            <p:cNvSpPr>
              <a:spLocks noChangeShapeType="1"/>
            </p:cNvSpPr>
            <p:nvPr/>
          </p:nvSpPr>
          <p:spPr bwMode="auto">
            <a:xfrm flipH="1">
              <a:off x="7099300" y="5873750"/>
              <a:ext cx="1033462"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5" name="Line 103">
              <a:extLst>
                <a:ext uri="{FF2B5EF4-FFF2-40B4-BE49-F238E27FC236}">
                  <a16:creationId xmlns:a16="http://schemas.microsoft.com/office/drawing/2014/main" id="{2133D681-30CA-654C-AE01-4F7EF0A35A48}"/>
                </a:ext>
              </a:extLst>
            </p:cNvPr>
            <p:cNvSpPr>
              <a:spLocks noChangeShapeType="1"/>
            </p:cNvSpPr>
            <p:nvPr/>
          </p:nvSpPr>
          <p:spPr bwMode="auto">
            <a:xfrm flipH="1">
              <a:off x="7083425" y="6116637"/>
              <a:ext cx="1033462"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grpSp>
        <p:nvGrpSpPr>
          <p:cNvPr id="7" name="Group 6">
            <a:extLst>
              <a:ext uri="{FF2B5EF4-FFF2-40B4-BE49-F238E27FC236}">
                <a16:creationId xmlns:a16="http://schemas.microsoft.com/office/drawing/2014/main" id="{FBA17A60-2A45-964D-961F-A44FDA1E12F8}"/>
              </a:ext>
            </a:extLst>
          </p:cNvPr>
          <p:cNvGrpSpPr/>
          <p:nvPr/>
        </p:nvGrpSpPr>
        <p:grpSpPr>
          <a:xfrm>
            <a:off x="1706165" y="3446862"/>
            <a:ext cx="2845596" cy="300082"/>
            <a:chOff x="2274887" y="3452813"/>
            <a:chExt cx="3794127" cy="400108"/>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274887" y="3460755"/>
              <a:ext cx="1592263" cy="338138"/>
              <a:chOff x="86" y="2105"/>
              <a:chExt cx="1003" cy="213"/>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665783" y="3452813"/>
              <a:ext cx="2403231" cy="400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rcv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4527947" y="2066925"/>
            <a:ext cx="8335" cy="340399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Tree>
    <p:extLst>
      <p:ext uri="{BB962C8B-B14F-4D97-AF65-F5344CB8AC3E}">
        <p14:creationId xmlns:p14="http://schemas.microsoft.com/office/powerpoint/2010/main" val="32905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dissolve">
                                      <p:cBhvr>
                                        <p:cTn id="43" dur="500"/>
                                        <p:tgtEl>
                                          <p:spTgt spid="13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137"/>
                                        </p:tgtEl>
                                        <p:attrNameLst>
                                          <p:attrName>style.visibility</p:attrName>
                                        </p:attrNameLst>
                                      </p:cBhvr>
                                      <p:to>
                                        <p:strVal val="visible"/>
                                      </p:to>
                                    </p:set>
                                    <p:animEffect transition="in" filter="dissolve">
                                      <p:cBhvr>
                                        <p:cTn id="56" dur="500"/>
                                        <p:tgtEl>
                                          <p:spTgt spid="137"/>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39"/>
                                        </p:tgtEl>
                                        <p:attrNameLst>
                                          <p:attrName>style.visibility</p:attrName>
                                        </p:attrNameLst>
                                      </p:cBhvr>
                                      <p:to>
                                        <p:strVal val="visible"/>
                                      </p:to>
                                    </p:set>
                                    <p:animEffect transition="in" filter="dissolve">
                                      <p:cBhvr>
                                        <p:cTn id="61" dur="500"/>
                                        <p:tgtEl>
                                          <p:spTgt spid="13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right)">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dissolve">
                                      <p:cBhvr>
                                        <p:cTn id="71" dur="500"/>
                                        <p:tgtEl>
                                          <p:spTgt spid="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wipe(left)">
                                      <p:cBhvr>
                                        <p:cTn id="76" dur="500"/>
                                        <p:tgtEl>
                                          <p:spTgt spid="10"/>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16"/>
                                        </p:tgtEl>
                                        <p:attrNameLst>
                                          <p:attrName>style.visibility</p:attrName>
                                        </p:attrNameLst>
                                      </p:cBhvr>
                                      <p:to>
                                        <p:strVal val="visible"/>
                                      </p:to>
                                    </p:set>
                                    <p:animEffect transition="in" filter="wipe(left)">
                                      <p:cBhvr>
                                        <p:cTn id="80" dur="500"/>
                                        <p:tgtEl>
                                          <p:spTgt spid="116"/>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left)">
                                      <p:cBhvr>
                                        <p:cTn id="84" dur="500"/>
                                        <p:tgtEl>
                                          <p:spTgt spid="11"/>
                                        </p:tgtEl>
                                      </p:cBhvr>
                                    </p:animEffect>
                                  </p:childTnLst>
                                </p:cTn>
                              </p:par>
                            </p:childTnLst>
                          </p:cTn>
                        </p:par>
                        <p:par>
                          <p:cTn id="85" fill="hold">
                            <p:stCondLst>
                              <p:cond delay="1500"/>
                            </p:stCondLst>
                            <p:childTnLst>
                              <p:par>
                                <p:cTn id="86" presetID="9" presetClass="entr" presetSubtype="0" fill="hold" grpId="0" nodeType="afterEffect">
                                  <p:stCondLst>
                                    <p:cond delay="0"/>
                                  </p:stCondLst>
                                  <p:childTnLst>
                                    <p:set>
                                      <p:cBhvr>
                                        <p:cTn id="87" dur="1" fill="hold">
                                          <p:stCondLst>
                                            <p:cond delay="0"/>
                                          </p:stCondLst>
                                        </p:cTn>
                                        <p:tgtEl>
                                          <p:spTgt spid="138"/>
                                        </p:tgtEl>
                                        <p:attrNameLst>
                                          <p:attrName>style.visibility</p:attrName>
                                        </p:attrNameLst>
                                      </p:cBhvr>
                                      <p:to>
                                        <p:strVal val="visible"/>
                                      </p:to>
                                    </p:set>
                                    <p:animEffect transition="in" filter="dissolve">
                                      <p:cBhvr>
                                        <p:cTn id="88" dur="500"/>
                                        <p:tgtEl>
                                          <p:spTgt spid="138"/>
                                        </p:tgtEl>
                                      </p:cBhvr>
                                    </p:animEffect>
                                  </p:childTnLst>
                                </p:cTn>
                              </p:par>
                            </p:childTnLst>
                          </p:cTn>
                        </p:par>
                        <p:par>
                          <p:cTn id="89" fill="hold">
                            <p:stCondLst>
                              <p:cond delay="2000"/>
                            </p:stCondLst>
                            <p:childTnLst>
                              <p:par>
                                <p:cTn id="90" presetID="22" presetClass="entr" presetSubtype="2" fill="hold" nodeType="after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right)">
                                      <p:cBhvr>
                                        <p:cTn id="9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2" grpId="0"/>
      <p:bldP spid="116" grpId="0"/>
      <p:bldP spid="121" grpId="0" animBg="1"/>
      <p:bldP spid="124" grpId="0" animBg="1"/>
      <p:bldP spid="125" grpId="0" animBg="1"/>
      <p:bldP spid="126" grpId="0" animBg="1"/>
      <p:bldP spid="127" grpId="0" animBg="1"/>
      <p:bldP spid="136" grpId="0"/>
      <p:bldP spid="137" grpId="0"/>
      <p:bldP spid="138" grpId="0"/>
      <p:bldP spid="13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Selective repeat</a:t>
            </a:r>
          </a:p>
        </p:txBody>
      </p:sp>
      <p:sp>
        <p:nvSpPr>
          <p:cNvPr id="4" name="Slide Number Placeholder 2">
            <a:extLst>
              <a:ext uri="{FF2B5EF4-FFF2-40B4-BE49-F238E27FC236}">
                <a16:creationId xmlns:a16="http://schemas.microsoft.com/office/drawing/2014/main" id="{0DFB6A67-ADC6-9C4B-84A6-543096C42B00}"/>
              </a:ext>
            </a:extLst>
          </p:cNvPr>
          <p:cNvSpPr>
            <a:spLocks noGrp="1"/>
          </p:cNvSpPr>
          <p:nvPr>
            <p:ph type="sldNum" sz="quarter" idx="12"/>
          </p:nvPr>
        </p:nvSpPr>
        <p:spPr/>
        <p:txBody>
          <a:bodyPr/>
          <a:lstStyle/>
          <a:p>
            <a:pPr defTabSz="685800">
              <a:defRPr/>
            </a:pPr>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defRPr/>
              </a:pPr>
              <a:t>32</a:t>
            </a:fld>
            <a:endParaRPr lang="en-US" dirty="0">
              <a:solidFill>
                <a:prstClr val="white">
                  <a:lumMod val="50000"/>
                </a:prstClr>
              </a:solidFill>
              <a:latin typeface="Calibri" panose="020F0502020204030204"/>
            </a:endParaRPr>
          </a:p>
        </p:txBody>
      </p:sp>
      <p:sp>
        <p:nvSpPr>
          <p:cNvPr id="72" name="Rectangle 3">
            <a:extLst>
              <a:ext uri="{FF2B5EF4-FFF2-40B4-BE49-F238E27FC236}">
                <a16:creationId xmlns:a16="http://schemas.microsoft.com/office/drawing/2014/main" id="{09D24536-1438-724B-97D9-02D061CA29EA}"/>
              </a:ext>
            </a:extLst>
          </p:cNvPr>
          <p:cNvSpPr txBox="1">
            <a:spLocks noChangeArrowheads="1"/>
          </p:cNvSpPr>
          <p:nvPr/>
        </p:nvSpPr>
        <p:spPr>
          <a:xfrm>
            <a:off x="409266" y="1974314"/>
            <a:ext cx="8515220"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defRPr/>
            </a:pPr>
            <a:r>
              <a:rPr lang="en-US" altLang="en-US" sz="2400" i="1" dirty="0">
                <a:solidFill>
                  <a:srgbClr val="CC0000"/>
                </a:solidFill>
                <a:latin typeface="Calibri" panose="020F0502020204030204"/>
                <a:ea typeface="ＭＳ Ｐゴシック" panose="020B0600070205080204" pitchFamily="34" charset="-128"/>
              </a:rPr>
              <a:t>pipelining</a:t>
            </a:r>
            <a:r>
              <a:rPr lang="en-US" altLang="en-US" sz="2400" dirty="0">
                <a:solidFill>
                  <a:prstClr val="black"/>
                </a:solidFill>
                <a:latin typeface="Calibri" panose="020F0502020204030204"/>
                <a:ea typeface="ＭＳ Ｐゴシック" panose="020B0600070205080204" pitchFamily="34" charset="-128"/>
              </a:rPr>
              <a:t>:  </a:t>
            </a:r>
            <a:r>
              <a:rPr lang="en-US" altLang="en-US" sz="2400" i="1" dirty="0">
                <a:solidFill>
                  <a:prstClr val="black"/>
                </a:solidFill>
                <a:latin typeface="Calibri" panose="020F0502020204030204"/>
                <a:ea typeface="ＭＳ Ｐゴシック" panose="020B0600070205080204" pitchFamily="34" charset="-128"/>
              </a:rPr>
              <a:t>multiple</a:t>
            </a:r>
            <a:r>
              <a:rPr lang="en-US" altLang="en-US" sz="2400" dirty="0">
                <a:solidFill>
                  <a:prstClr val="black"/>
                </a:solidFill>
                <a:latin typeface="Calibri" panose="020F0502020204030204"/>
                <a:ea typeface="ＭＳ Ｐゴシック" panose="020B0600070205080204" pitchFamily="34" charset="-128"/>
              </a:rPr>
              <a:t> packets in flight</a:t>
            </a:r>
          </a:p>
          <a:p>
            <a:pPr marL="264319" indent="-166688" defTabSz="685800">
              <a:spcBef>
                <a:spcPts val="750"/>
              </a:spcBef>
              <a:defRPr/>
            </a:pPr>
            <a:r>
              <a:rPr lang="en-US" altLang="en-US" sz="2400" i="1" dirty="0">
                <a:solidFill>
                  <a:srgbClr val="CC0000"/>
                </a:solidFill>
                <a:latin typeface="Calibri" panose="020F0502020204030204"/>
                <a:ea typeface="ＭＳ Ｐゴシック" panose="020B0600070205080204" pitchFamily="34" charset="-128"/>
              </a:rPr>
              <a:t>receiver individually ACKs </a:t>
            </a:r>
            <a:r>
              <a:rPr lang="en-US" altLang="en-US" sz="2400" dirty="0">
                <a:solidFill>
                  <a:prstClr val="black"/>
                </a:solidFill>
                <a:latin typeface="Calibri" panose="020F0502020204030204"/>
                <a:ea typeface="ＭＳ Ｐゴシック" panose="020B0600070205080204" pitchFamily="34" charset="-128"/>
              </a:rPr>
              <a:t>all correctly received packets</a:t>
            </a:r>
          </a:p>
          <a:p>
            <a:pPr marL="521494" lvl="1" indent="-173831" defTabSz="685800">
              <a:spcBef>
                <a:spcPts val="375"/>
              </a:spcBef>
              <a:defRPr/>
            </a:pPr>
            <a:r>
              <a:rPr lang="en-US" altLang="en-US" sz="2100" dirty="0">
                <a:solidFill>
                  <a:prstClr val="black"/>
                </a:solidFill>
                <a:latin typeface="Calibri" panose="020F0502020204030204"/>
                <a:ea typeface="ＭＳ Ｐゴシック" panose="020B0600070205080204" pitchFamily="34" charset="-128"/>
              </a:rPr>
              <a:t>buffers packets, as needed, for in-order delivery to upper layer</a:t>
            </a:r>
          </a:p>
          <a:p>
            <a:pPr marL="264319" indent="-166688" defTabSz="685800">
              <a:spcBef>
                <a:spcPts val="750"/>
              </a:spcBef>
              <a:defRPr/>
            </a:pPr>
            <a:r>
              <a:rPr lang="en-US" altLang="en-US" sz="2400" dirty="0">
                <a:solidFill>
                  <a:prstClr val="black"/>
                </a:solidFill>
                <a:latin typeface="Calibri" panose="020F0502020204030204"/>
                <a:ea typeface="ＭＳ Ｐゴシック" panose="020B0600070205080204" pitchFamily="34" charset="-128"/>
              </a:rPr>
              <a:t>sender:</a:t>
            </a:r>
          </a:p>
          <a:p>
            <a:pPr marL="560785" lvl="1" indent="-170260" defTabSz="685800">
              <a:spcBef>
                <a:spcPts val="750"/>
              </a:spcBef>
              <a:buClr>
                <a:srgbClr val="0000A3"/>
              </a:buClr>
              <a:defRPr/>
            </a:pPr>
            <a:r>
              <a:rPr lang="en-US" altLang="en-US" sz="2100" dirty="0">
                <a:solidFill>
                  <a:prstClr val="black"/>
                </a:solidFill>
                <a:latin typeface="Calibri" panose="020F0502020204030204"/>
                <a:ea typeface="ＭＳ Ｐゴシック" panose="020B0600070205080204" pitchFamily="34" charset="-128"/>
              </a:rPr>
              <a:t>maintains (conceptually) a timer for each unACKed pkt</a:t>
            </a:r>
          </a:p>
          <a:p>
            <a:pPr marL="896541" lvl="2" indent="-170260" defTabSz="685800">
              <a:spcBef>
                <a:spcPts val="750"/>
              </a:spcBef>
              <a:buClr>
                <a:srgbClr val="0000A3"/>
              </a:buClr>
              <a:defRPr/>
            </a:pPr>
            <a:r>
              <a:rPr lang="en-US" altLang="en-US" sz="2100" dirty="0">
                <a:solidFill>
                  <a:prstClr val="black"/>
                </a:solidFill>
                <a:latin typeface="Calibri" panose="020F0502020204030204"/>
                <a:ea typeface="ＭＳ Ｐゴシック" panose="020B0600070205080204" pitchFamily="34" charset="-128"/>
              </a:rPr>
              <a:t>timeout: retransmits single unACKed packet  associated with timeout</a:t>
            </a:r>
          </a:p>
          <a:p>
            <a:pPr marL="559594" lvl="1" indent="-167879" defTabSz="685800">
              <a:spcBef>
                <a:spcPts val="750"/>
              </a:spcBef>
              <a:buClr>
                <a:srgbClr val="0000A3"/>
              </a:buClr>
              <a:defRPr/>
            </a:pPr>
            <a:r>
              <a:rPr lang="en-US" altLang="en-US" sz="2100" dirty="0">
                <a:solidFill>
                  <a:prstClr val="black"/>
                </a:solidFill>
                <a:latin typeface="Calibri" panose="020F0502020204030204"/>
                <a:ea typeface="ＭＳ Ｐゴシック" panose="020B0600070205080204" pitchFamily="34" charset="-128"/>
              </a:rPr>
              <a:t>maintains (conceptually) “window” over  </a:t>
            </a:r>
            <a:r>
              <a:rPr lang="en-US" altLang="en-US" sz="2100" i="1" dirty="0">
                <a:solidFill>
                  <a:srgbClr val="CC0000"/>
                </a:solidFill>
                <a:latin typeface="Calibri" panose="020F0502020204030204"/>
                <a:ea typeface="ＭＳ Ｐゴシック" panose="020B0600070205080204" pitchFamily="34" charset="-128"/>
              </a:rPr>
              <a:t>N</a:t>
            </a:r>
            <a:r>
              <a:rPr lang="en-US" altLang="en-US" sz="2100" dirty="0">
                <a:solidFill>
                  <a:prstClr val="black"/>
                </a:solidFill>
                <a:latin typeface="Calibri" panose="020F0502020204030204"/>
                <a:ea typeface="ＭＳ Ｐゴシック" panose="020B0600070205080204" pitchFamily="34" charset="-128"/>
              </a:rPr>
              <a:t> consecutive seq #</a:t>
            </a:r>
            <a:r>
              <a:rPr lang="en-US" altLang="ja-JP" sz="2100" dirty="0">
                <a:solidFill>
                  <a:prstClr val="black"/>
                </a:solidFill>
                <a:latin typeface="Calibri" panose="020F0502020204030204"/>
                <a:ea typeface="ＭＳ Ｐゴシック" panose="020B0600070205080204" pitchFamily="34" charset="-128"/>
              </a:rPr>
              <a:t>s</a:t>
            </a:r>
          </a:p>
          <a:p>
            <a:pPr marL="857250" lvl="2" indent="-173831" defTabSz="685800">
              <a:spcBef>
                <a:spcPts val="375"/>
              </a:spcBef>
              <a:buClr>
                <a:srgbClr val="0000A8"/>
              </a:buClr>
              <a:defRPr/>
            </a:pPr>
            <a:r>
              <a:rPr lang="en-US" altLang="en-US" sz="2100" dirty="0">
                <a:solidFill>
                  <a:prstClr val="black"/>
                </a:solidFill>
                <a:latin typeface="Calibri" panose="020F0502020204030204"/>
                <a:ea typeface="ＭＳ Ｐゴシック" panose="020B0600070205080204" pitchFamily="34" charset="-128"/>
              </a:rPr>
              <a:t>limits pipelined, “in flight” packets to be within this window</a:t>
            </a:r>
          </a:p>
        </p:txBody>
      </p:sp>
    </p:spTree>
    <p:extLst>
      <p:ext uri="{BB962C8B-B14F-4D97-AF65-F5344CB8AC3E}">
        <p14:creationId xmlns:p14="http://schemas.microsoft.com/office/powerpoint/2010/main" val="2525200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Autofit/>
          </a:bodyPr>
          <a:lstStyle/>
          <a:p>
            <a:r>
              <a:rPr lang="en-US" dirty="0"/>
              <a:t>Selective repeat</a:t>
            </a:r>
          </a:p>
        </p:txBody>
      </p:sp>
      <p:sp>
        <p:nvSpPr>
          <p:cNvPr id="14" name="Slide Number Placeholder 2">
            <a:extLst>
              <a:ext uri="{FF2B5EF4-FFF2-40B4-BE49-F238E27FC236}">
                <a16:creationId xmlns:a16="http://schemas.microsoft.com/office/drawing/2014/main" id="{35ADF915-960F-4549-A41A-E37050FD56C6}"/>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33</a:t>
            </a:fld>
            <a:endParaRPr lang="en-US" dirty="0">
              <a:solidFill>
                <a:prstClr val="white">
                  <a:lumMod val="50000"/>
                </a:prstClr>
              </a:solidFill>
              <a:latin typeface="Calibri" panose="020F0502020204030204"/>
            </a:endParaRPr>
          </a:p>
        </p:txBody>
      </p:sp>
      <p:pic>
        <p:nvPicPr>
          <p:cNvPr id="6" name="Picture 3" descr="sr_seqnum">
            <a:extLst>
              <a:ext uri="{FF2B5EF4-FFF2-40B4-BE49-F238E27FC236}">
                <a16:creationId xmlns:a16="http://schemas.microsoft.com/office/drawing/2014/main" id="{B408F707-79A8-7C45-92D6-B9D41955B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3519" y="2002202"/>
            <a:ext cx="6176963" cy="3687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67A9314B-F457-C74F-8B5C-8B9FBE998696}"/>
              </a:ext>
            </a:extLst>
          </p:cNvPr>
          <p:cNvSpPr/>
          <p:nvPr/>
        </p:nvSpPr>
        <p:spPr>
          <a:xfrm>
            <a:off x="1612944" y="4360960"/>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3" name="Rectangle 22">
            <a:extLst>
              <a:ext uri="{FF2B5EF4-FFF2-40B4-BE49-F238E27FC236}">
                <a16:creationId xmlns:a16="http://schemas.microsoft.com/office/drawing/2014/main" id="{B0F38C4F-2B96-9546-A76A-EDC479247B21}"/>
              </a:ext>
            </a:extLst>
          </p:cNvPr>
          <p:cNvSpPr/>
          <p:nvPr/>
        </p:nvSpPr>
        <p:spPr>
          <a:xfrm>
            <a:off x="1724855" y="4358172"/>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4" name="Rectangle 23">
            <a:extLst>
              <a:ext uri="{FF2B5EF4-FFF2-40B4-BE49-F238E27FC236}">
                <a16:creationId xmlns:a16="http://schemas.microsoft.com/office/drawing/2014/main" id="{32BD7889-A737-7D4B-971C-3750988F6013}"/>
              </a:ext>
            </a:extLst>
          </p:cNvPr>
          <p:cNvSpPr/>
          <p:nvPr/>
        </p:nvSpPr>
        <p:spPr>
          <a:xfrm>
            <a:off x="1839155" y="4357774"/>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5" name="Rectangle 24">
            <a:extLst>
              <a:ext uri="{FF2B5EF4-FFF2-40B4-BE49-F238E27FC236}">
                <a16:creationId xmlns:a16="http://schemas.microsoft.com/office/drawing/2014/main" id="{943AD1DC-A49B-E740-9378-AEE45A7316AB}"/>
              </a:ext>
            </a:extLst>
          </p:cNvPr>
          <p:cNvSpPr/>
          <p:nvPr/>
        </p:nvSpPr>
        <p:spPr>
          <a:xfrm>
            <a:off x="1953455" y="4357375"/>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6" name="Rectangle 25">
            <a:extLst>
              <a:ext uri="{FF2B5EF4-FFF2-40B4-BE49-F238E27FC236}">
                <a16:creationId xmlns:a16="http://schemas.microsoft.com/office/drawing/2014/main" id="{C59C4CB6-96AA-2142-B786-5286E4736F13}"/>
              </a:ext>
            </a:extLst>
          </p:cNvPr>
          <p:cNvSpPr/>
          <p:nvPr/>
        </p:nvSpPr>
        <p:spPr>
          <a:xfrm>
            <a:off x="2070144" y="4354588"/>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7" name="Rectangle 26">
            <a:extLst>
              <a:ext uri="{FF2B5EF4-FFF2-40B4-BE49-F238E27FC236}">
                <a16:creationId xmlns:a16="http://schemas.microsoft.com/office/drawing/2014/main" id="{93D401EB-5081-DE4D-B48D-957376A4A1E9}"/>
              </a:ext>
            </a:extLst>
          </p:cNvPr>
          <p:cNvSpPr/>
          <p:nvPr/>
        </p:nvSpPr>
        <p:spPr>
          <a:xfrm>
            <a:off x="2186834" y="4356579"/>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8" name="Rectangle 27">
            <a:extLst>
              <a:ext uri="{FF2B5EF4-FFF2-40B4-BE49-F238E27FC236}">
                <a16:creationId xmlns:a16="http://schemas.microsoft.com/office/drawing/2014/main" id="{C9D2D6A3-AE73-C845-B552-42990FBA7272}"/>
              </a:ext>
            </a:extLst>
          </p:cNvPr>
          <p:cNvSpPr/>
          <p:nvPr/>
        </p:nvSpPr>
        <p:spPr>
          <a:xfrm>
            <a:off x="2298744" y="4353791"/>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29" name="Rectangle 28">
            <a:extLst>
              <a:ext uri="{FF2B5EF4-FFF2-40B4-BE49-F238E27FC236}">
                <a16:creationId xmlns:a16="http://schemas.microsoft.com/office/drawing/2014/main" id="{B0D0AD03-5829-A84F-B214-1C5783CA72DE}"/>
              </a:ext>
            </a:extLst>
          </p:cNvPr>
          <p:cNvSpPr/>
          <p:nvPr/>
        </p:nvSpPr>
        <p:spPr>
          <a:xfrm>
            <a:off x="2415434" y="4353393"/>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
        <p:nvSpPr>
          <p:cNvPr id="30" name="Rectangle 29">
            <a:extLst>
              <a:ext uri="{FF2B5EF4-FFF2-40B4-BE49-F238E27FC236}">
                <a16:creationId xmlns:a16="http://schemas.microsoft.com/office/drawing/2014/main" id="{920F0D8A-CE6F-474B-B2DC-9775F3C752BA}"/>
              </a:ext>
            </a:extLst>
          </p:cNvPr>
          <p:cNvSpPr/>
          <p:nvPr/>
        </p:nvSpPr>
        <p:spPr>
          <a:xfrm>
            <a:off x="2527344" y="4355384"/>
            <a:ext cx="54960" cy="384083"/>
          </a:xfrm>
          <a:prstGeom prst="rect">
            <a:avLst/>
          </a:prstGeom>
          <a:solidFill>
            <a:schemeClr val="accent6">
              <a:lumMod val="75000"/>
            </a:schemeClr>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dirty="0">
              <a:solidFill>
                <a:prstClr val="white"/>
              </a:solidFill>
              <a:latin typeface="Calibri" panose="020F0502020204030204"/>
            </a:endParaRPr>
          </a:p>
        </p:txBody>
      </p:sp>
    </p:spTree>
    <p:extLst>
      <p:ext uri="{BB962C8B-B14F-4D97-AF65-F5344CB8AC3E}">
        <p14:creationId xmlns:p14="http://schemas.microsoft.com/office/powerpoint/2010/main" val="2131050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Selective repeat</a:t>
            </a:r>
            <a:endParaRPr lang="en-US" sz="5400" dirty="0"/>
          </a:p>
        </p:txBody>
      </p:sp>
      <p:sp>
        <p:nvSpPr>
          <p:cNvPr id="17" name="Slide Number Placeholder 2">
            <a:extLst>
              <a:ext uri="{FF2B5EF4-FFF2-40B4-BE49-F238E27FC236}">
                <a16:creationId xmlns:a16="http://schemas.microsoft.com/office/drawing/2014/main" id="{D4E14E77-C43E-7D40-89D1-406C4092020D}"/>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34</a:t>
            </a:fld>
            <a:endParaRPr lang="en-US" dirty="0">
              <a:solidFill>
                <a:prstClr val="white">
                  <a:lumMod val="50000"/>
                </a:prstClr>
              </a:solidFill>
              <a:latin typeface="Calibri" panose="020F0502020204030204"/>
            </a:endParaRPr>
          </a:p>
        </p:txBody>
      </p:sp>
      <p:sp>
        <p:nvSpPr>
          <p:cNvPr id="5" name="Rectangle 3">
            <a:extLst>
              <a:ext uri="{FF2B5EF4-FFF2-40B4-BE49-F238E27FC236}">
                <a16:creationId xmlns:a16="http://schemas.microsoft.com/office/drawing/2014/main" id="{95DAFC84-FD76-BE4E-9E1F-0F49401B0D9B}"/>
              </a:ext>
            </a:extLst>
          </p:cNvPr>
          <p:cNvSpPr txBox="1">
            <a:spLocks noChangeArrowheads="1"/>
          </p:cNvSpPr>
          <p:nvPr/>
        </p:nvSpPr>
        <p:spPr>
          <a:xfrm>
            <a:off x="709624" y="2131484"/>
            <a:ext cx="3488431" cy="3486150"/>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166688" defTabSz="685800">
              <a:spcBef>
                <a:spcPts val="750"/>
              </a:spcBef>
              <a:buNone/>
              <a:defRPr/>
            </a:pPr>
            <a:r>
              <a:rPr lang="en-US" sz="2100" dirty="0">
                <a:solidFill>
                  <a:srgbClr val="CC0000"/>
                </a:solidFill>
                <a:latin typeface="Calibri" panose="020F0502020204030204"/>
              </a:rPr>
              <a:t>data from above:</a:t>
            </a:r>
          </a:p>
          <a:p>
            <a:pPr marL="390525" indent="-171450" defTabSz="685800">
              <a:spcBef>
                <a:spcPts val="750"/>
              </a:spcBef>
              <a:buFont typeface="Wingdings" charset="2"/>
              <a:buChar char="§"/>
              <a:defRPr/>
            </a:pPr>
            <a:r>
              <a:rPr lang="en-US" sz="1800" dirty="0">
                <a:solidFill>
                  <a:prstClr val="black"/>
                </a:solidFill>
                <a:latin typeface="Calibri" panose="020F0502020204030204"/>
              </a:rPr>
              <a:t>if next available seq # in window, send packet</a:t>
            </a:r>
          </a:p>
          <a:p>
            <a:pPr marL="264319" indent="-166688" defTabSz="685800">
              <a:spcBef>
                <a:spcPts val="750"/>
              </a:spcBef>
              <a:buNone/>
              <a:defRPr/>
            </a:pPr>
            <a:r>
              <a:rPr lang="en-US" sz="2100" dirty="0">
                <a:solidFill>
                  <a:srgbClr val="CC0000"/>
                </a:solidFill>
                <a:latin typeface="Calibri" panose="020F0502020204030204"/>
              </a:rPr>
              <a:t>timeout(</a:t>
            </a:r>
            <a:r>
              <a:rPr lang="en-US" sz="2100" i="1" dirty="0">
                <a:solidFill>
                  <a:srgbClr val="CC0000"/>
                </a:solidFill>
                <a:latin typeface="Calibri" panose="020F0502020204030204"/>
              </a:rPr>
              <a:t>n</a:t>
            </a:r>
            <a:r>
              <a:rPr lang="en-US" sz="2100" dirty="0">
                <a:solidFill>
                  <a:srgbClr val="CC0000"/>
                </a:solidFill>
                <a:latin typeface="Calibri" panose="020F0502020204030204"/>
              </a:rPr>
              <a:t>):</a:t>
            </a:r>
          </a:p>
          <a:p>
            <a:pPr marL="353616" indent="-171450" defTabSz="685800">
              <a:spcBef>
                <a:spcPts val="750"/>
              </a:spcBef>
              <a:buFont typeface="Wingdings" charset="2"/>
              <a:buChar char="§"/>
              <a:defRPr/>
            </a:pPr>
            <a:r>
              <a:rPr lang="en-US" sz="1800" dirty="0">
                <a:solidFill>
                  <a:prstClr val="black"/>
                </a:solidFill>
                <a:latin typeface="Calibri" panose="020F0502020204030204"/>
              </a:rPr>
              <a:t>resend packet </a:t>
            </a:r>
            <a:r>
              <a:rPr lang="en-US" sz="1800" i="1" dirty="0">
                <a:solidFill>
                  <a:prstClr val="black"/>
                </a:solidFill>
                <a:latin typeface="Calibri" panose="020F0502020204030204"/>
              </a:rPr>
              <a:t>n</a:t>
            </a:r>
            <a:r>
              <a:rPr lang="en-US" sz="1800" dirty="0">
                <a:solidFill>
                  <a:prstClr val="black"/>
                </a:solidFill>
                <a:latin typeface="Calibri" panose="020F0502020204030204"/>
              </a:rPr>
              <a:t>, restart timer</a:t>
            </a:r>
          </a:p>
          <a:p>
            <a:pPr marL="264319" indent="-166688" defTabSz="685800">
              <a:spcBef>
                <a:spcPts val="750"/>
              </a:spcBef>
              <a:buNone/>
              <a:defRPr/>
            </a:pPr>
            <a:r>
              <a:rPr lang="en-US" sz="1800" dirty="0">
                <a:solidFill>
                  <a:srgbClr val="CC0000"/>
                </a:solidFill>
                <a:latin typeface="Calibri" panose="020F0502020204030204"/>
              </a:rPr>
              <a:t>ACK(</a:t>
            </a:r>
            <a:r>
              <a:rPr lang="en-US" sz="1800" i="1" dirty="0">
                <a:solidFill>
                  <a:srgbClr val="CC0000"/>
                </a:solidFill>
                <a:latin typeface="Calibri" panose="020F0502020204030204"/>
              </a:rPr>
              <a:t>n</a:t>
            </a:r>
            <a:r>
              <a:rPr lang="en-US" sz="1800" dirty="0">
                <a:solidFill>
                  <a:srgbClr val="CC0000"/>
                </a:solidFill>
                <a:latin typeface="Calibri" panose="020F0502020204030204"/>
              </a:rPr>
              <a:t>)</a:t>
            </a:r>
            <a:r>
              <a:rPr lang="en-US" sz="2100" dirty="0">
                <a:solidFill>
                  <a:srgbClr val="FF0000"/>
                </a:solidFill>
                <a:latin typeface="Calibri" panose="020F0502020204030204"/>
              </a:rPr>
              <a:t> </a:t>
            </a:r>
            <a:r>
              <a:rPr lang="en-US" sz="1800" dirty="0">
                <a:solidFill>
                  <a:prstClr val="black"/>
                </a:solidFill>
                <a:latin typeface="Calibri" panose="020F0502020204030204"/>
              </a:rPr>
              <a:t>in [</a:t>
            </a:r>
            <a:r>
              <a:rPr lang="en-US" sz="1500" dirty="0">
                <a:solidFill>
                  <a:prstClr val="black"/>
                </a:solidFill>
                <a:latin typeface="Calibri" panose="020F0502020204030204"/>
              </a:rPr>
              <a:t>sendbase,sendbase+N-1</a:t>
            </a:r>
            <a:r>
              <a:rPr lang="en-US" sz="1800" dirty="0">
                <a:solidFill>
                  <a:prstClr val="black"/>
                </a:solidFill>
                <a:latin typeface="Calibri" panose="020F0502020204030204"/>
              </a:rPr>
              <a:t>]</a:t>
            </a:r>
            <a:r>
              <a:rPr lang="en-US" sz="1500" dirty="0">
                <a:solidFill>
                  <a:prstClr val="black"/>
                </a:solidFill>
                <a:latin typeface="Calibri" panose="020F0502020204030204"/>
              </a:rPr>
              <a:t>:</a:t>
            </a:r>
            <a:endParaRPr lang="en-US" sz="2100" dirty="0">
              <a:solidFill>
                <a:prstClr val="black"/>
              </a:solidFill>
              <a:latin typeface="Calibri" panose="020F0502020204030204"/>
            </a:endParaRPr>
          </a:p>
          <a:p>
            <a:pPr marL="390525" indent="-171450" defTabSz="685800">
              <a:spcBef>
                <a:spcPts val="750"/>
              </a:spcBef>
              <a:buFont typeface="Wingdings" charset="2"/>
              <a:buChar char="§"/>
              <a:defRPr/>
            </a:pPr>
            <a:r>
              <a:rPr lang="en-US" sz="1800" dirty="0">
                <a:solidFill>
                  <a:prstClr val="black"/>
                </a:solidFill>
                <a:latin typeface="Calibri" panose="020F0502020204030204"/>
              </a:rPr>
              <a:t>mark packet </a:t>
            </a:r>
            <a:r>
              <a:rPr lang="en-US" sz="1800" i="1" dirty="0">
                <a:solidFill>
                  <a:prstClr val="black"/>
                </a:solidFill>
                <a:latin typeface="Calibri" panose="020F0502020204030204"/>
              </a:rPr>
              <a:t>n</a:t>
            </a:r>
            <a:r>
              <a:rPr lang="en-US" sz="1800" dirty="0">
                <a:solidFill>
                  <a:prstClr val="black"/>
                </a:solidFill>
                <a:latin typeface="Calibri" panose="020F0502020204030204"/>
              </a:rPr>
              <a:t> as received</a:t>
            </a:r>
          </a:p>
          <a:p>
            <a:pPr marL="390525" indent="-171450" defTabSz="685800">
              <a:spcBef>
                <a:spcPts val="750"/>
              </a:spcBef>
              <a:buFont typeface="Wingdings" charset="2"/>
              <a:buChar char="§"/>
              <a:defRPr/>
            </a:pPr>
            <a:r>
              <a:rPr lang="en-US" sz="1800" dirty="0">
                <a:solidFill>
                  <a:prstClr val="black"/>
                </a:solidFill>
                <a:latin typeface="Calibri" panose="020F0502020204030204"/>
              </a:rPr>
              <a:t>if n smallest unACKed packet, advance window base to next unACKed seq # </a:t>
            </a:r>
            <a:endParaRPr lang="en-US" sz="2100" dirty="0">
              <a:solidFill>
                <a:prstClr val="black"/>
              </a:solidFill>
              <a:latin typeface="Calibri" panose="020F0502020204030204"/>
            </a:endParaRPr>
          </a:p>
          <a:p>
            <a:pPr marL="264319" indent="-166688" defTabSz="685800">
              <a:spcBef>
                <a:spcPts val="750"/>
              </a:spcBef>
              <a:buFont typeface="Wingdings" charset="2"/>
              <a:buChar char="§"/>
              <a:defRPr/>
            </a:pPr>
            <a:endParaRPr lang="en-US" sz="2100" dirty="0">
              <a:solidFill>
                <a:prstClr val="black"/>
              </a:solidFill>
              <a:latin typeface="Calibri" panose="020F0502020204030204"/>
            </a:endParaRPr>
          </a:p>
        </p:txBody>
      </p:sp>
      <p:sp>
        <p:nvSpPr>
          <p:cNvPr id="7" name="Rectangle 4">
            <a:extLst>
              <a:ext uri="{FF2B5EF4-FFF2-40B4-BE49-F238E27FC236}">
                <a16:creationId xmlns:a16="http://schemas.microsoft.com/office/drawing/2014/main" id="{3BD58A7C-C9C7-8442-855F-43F3A4947ED8}"/>
              </a:ext>
            </a:extLst>
          </p:cNvPr>
          <p:cNvSpPr>
            <a:spLocks noChangeArrowheads="1"/>
          </p:cNvSpPr>
          <p:nvPr/>
        </p:nvSpPr>
        <p:spPr bwMode="auto">
          <a:xfrm>
            <a:off x="657225" y="1971675"/>
            <a:ext cx="3540830" cy="3457575"/>
          </a:xfrm>
          <a:prstGeom prst="rect">
            <a:avLst/>
          </a:prstGeom>
          <a:noFill/>
          <a:ln w="28575">
            <a:solidFill>
              <a:srgbClr val="000099"/>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grpSp>
        <p:nvGrpSpPr>
          <p:cNvPr id="8" name="Group 5">
            <a:extLst>
              <a:ext uri="{FF2B5EF4-FFF2-40B4-BE49-F238E27FC236}">
                <a16:creationId xmlns:a16="http://schemas.microsoft.com/office/drawing/2014/main" id="{4B0682BD-2D45-384C-A3BE-B71A10F3C9D2}"/>
              </a:ext>
            </a:extLst>
          </p:cNvPr>
          <p:cNvGrpSpPr>
            <a:grpSpLocks/>
          </p:cNvGrpSpPr>
          <p:nvPr/>
        </p:nvGrpSpPr>
        <p:grpSpPr bwMode="auto">
          <a:xfrm>
            <a:off x="809626" y="1745461"/>
            <a:ext cx="1044299" cy="461963"/>
            <a:chOff x="1100" y="3896"/>
            <a:chExt cx="789" cy="388"/>
          </a:xfrm>
        </p:grpSpPr>
        <p:sp>
          <p:nvSpPr>
            <p:cNvPr id="9" name="Rectangle 6">
              <a:extLst>
                <a:ext uri="{FF2B5EF4-FFF2-40B4-BE49-F238E27FC236}">
                  <a16:creationId xmlns:a16="http://schemas.microsoft.com/office/drawing/2014/main" id="{E480EC05-1FA2-1449-9DA4-EE3CBEF3CB0E}"/>
                </a:ext>
              </a:extLst>
            </p:cNvPr>
            <p:cNvSpPr>
              <a:spLocks noChangeArrowheads="1"/>
            </p:cNvSpPr>
            <p:nvPr/>
          </p:nvSpPr>
          <p:spPr bwMode="auto">
            <a:xfrm>
              <a:off x="1146" y="3984"/>
              <a:ext cx="612" cy="18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Tahoma" charset="0"/>
                <a:ea typeface="ＭＳ Ｐゴシック" charset="0"/>
              </a:endParaRPr>
            </a:p>
          </p:txBody>
        </p:sp>
        <p:sp>
          <p:nvSpPr>
            <p:cNvPr id="10" name="Text Box 7">
              <a:extLst>
                <a:ext uri="{FF2B5EF4-FFF2-40B4-BE49-F238E27FC236}">
                  <a16:creationId xmlns:a16="http://schemas.microsoft.com/office/drawing/2014/main" id="{FEE55EB3-D10F-D944-85E2-05ABE9F3A72A}"/>
                </a:ext>
              </a:extLst>
            </p:cNvPr>
            <p:cNvSpPr txBox="1">
              <a:spLocks noChangeArrowheads="1"/>
            </p:cNvSpPr>
            <p:nvPr/>
          </p:nvSpPr>
          <p:spPr bwMode="auto">
            <a:xfrm>
              <a:off x="1100" y="3896"/>
              <a:ext cx="789" cy="388"/>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2400" dirty="0">
                  <a:solidFill>
                    <a:srgbClr val="000099"/>
                  </a:solidFill>
                  <a:latin typeface="Calibri" panose="020F0502020204030204"/>
                </a:rPr>
                <a:t>sender</a:t>
              </a:r>
              <a:endParaRPr lang="en-US" sz="2100" dirty="0">
                <a:solidFill>
                  <a:srgbClr val="000099"/>
                </a:solidFill>
                <a:latin typeface="Calibri" panose="020F0502020204030204"/>
              </a:endParaRPr>
            </a:p>
          </p:txBody>
        </p:sp>
      </p:grpSp>
      <p:grpSp>
        <p:nvGrpSpPr>
          <p:cNvPr id="16" name="Group 15">
            <a:extLst>
              <a:ext uri="{FF2B5EF4-FFF2-40B4-BE49-F238E27FC236}">
                <a16:creationId xmlns:a16="http://schemas.microsoft.com/office/drawing/2014/main" id="{1FB417EC-6705-FB4A-BE74-163FB12F88C6}"/>
              </a:ext>
            </a:extLst>
          </p:cNvPr>
          <p:cNvGrpSpPr/>
          <p:nvPr/>
        </p:nvGrpSpPr>
        <p:grpSpPr>
          <a:xfrm>
            <a:off x="4835816" y="1745210"/>
            <a:ext cx="3952100" cy="3915890"/>
            <a:chOff x="6447754" y="1183947"/>
            <a:chExt cx="5269467" cy="5221186"/>
          </a:xfrm>
        </p:grpSpPr>
        <p:sp>
          <p:nvSpPr>
            <p:cNvPr id="11" name="Rectangle 8">
              <a:extLst>
                <a:ext uri="{FF2B5EF4-FFF2-40B4-BE49-F238E27FC236}">
                  <a16:creationId xmlns:a16="http://schemas.microsoft.com/office/drawing/2014/main" id="{BCF7478D-ADC0-4749-9951-A140F00D7BA1}"/>
                </a:ext>
              </a:extLst>
            </p:cNvPr>
            <p:cNvSpPr>
              <a:spLocks noChangeArrowheads="1"/>
            </p:cNvSpPr>
            <p:nvPr/>
          </p:nvSpPr>
          <p:spPr bwMode="auto">
            <a:xfrm>
              <a:off x="6855858" y="1756933"/>
              <a:ext cx="4861363" cy="4648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57175" indent="-257175" defTabSz="685800">
                <a:lnSpc>
                  <a:spcPct val="85000"/>
                </a:lnSpc>
                <a:spcBef>
                  <a:spcPct val="20000"/>
                </a:spcBef>
                <a:buClr>
                  <a:srgbClr val="000099"/>
                </a:buClr>
                <a:buSzPct val="65000"/>
                <a:defRPr/>
              </a:pPr>
              <a:r>
                <a:rPr lang="en-US" sz="2100" dirty="0">
                  <a:solidFill>
                    <a:srgbClr val="CC0000"/>
                  </a:solidFill>
                  <a:latin typeface="Calibri" panose="020F0502020204030204"/>
                  <a:ea typeface="ＭＳ Ｐゴシック" charset="0"/>
                </a:rPr>
                <a:t>packet </a:t>
              </a:r>
              <a:r>
                <a:rPr lang="en-US" sz="2100" i="1" dirty="0">
                  <a:solidFill>
                    <a:srgbClr val="CC0000"/>
                  </a:solidFill>
                  <a:latin typeface="Calibri" panose="020F0502020204030204"/>
                  <a:ea typeface="ＭＳ Ｐゴシック" charset="0"/>
                </a:rPr>
                <a:t>n</a:t>
              </a:r>
              <a:r>
                <a:rPr lang="en-US" sz="2100" dirty="0">
                  <a:solidFill>
                    <a:srgbClr val="CC0000"/>
                  </a:solidFill>
                  <a:latin typeface="Calibri" panose="020F0502020204030204"/>
                  <a:ea typeface="ＭＳ Ｐゴシック" charset="0"/>
                </a:rPr>
                <a:t> in </a:t>
              </a:r>
              <a:r>
                <a:rPr lang="en-US" sz="1350" dirty="0">
                  <a:solidFill>
                    <a:srgbClr val="CC0000"/>
                  </a:solidFill>
                  <a:latin typeface="Calibri" panose="020F0502020204030204"/>
                  <a:ea typeface="ＭＳ Ｐゴシック" charset="0"/>
                </a:rPr>
                <a:t>[</a:t>
              </a:r>
              <a:r>
                <a:rPr lang="en-US" dirty="0">
                  <a:solidFill>
                    <a:srgbClr val="CC0000"/>
                  </a:solidFill>
                  <a:latin typeface="Calibri" panose="020F0502020204030204"/>
                  <a:ea typeface="ＭＳ Ｐゴシック" charset="0"/>
                </a:rPr>
                <a:t>rcvbase, rcvbase+N-1]</a:t>
              </a:r>
              <a:endParaRPr lang="en-US" sz="2100" dirty="0">
                <a:solidFill>
                  <a:srgbClr val="CC0000"/>
                </a:solidFill>
                <a:latin typeface="Calibri" panose="020F0502020204030204"/>
                <a:ea typeface="ＭＳ Ｐゴシック" charset="0"/>
              </a:endParaRPr>
            </a:p>
            <a:p>
              <a:pPr marL="304800" indent="-207169" defTabSz="685800">
                <a:lnSpc>
                  <a:spcPct val="90000"/>
                </a:lnSpc>
                <a:spcBef>
                  <a:spcPct val="20000"/>
                </a:spcBef>
                <a:buClr>
                  <a:srgbClr val="000099"/>
                </a:buClr>
                <a:buSzPct val="100000"/>
                <a:buFont typeface="Wingdings" charset="2"/>
                <a:buChar char="§"/>
                <a:defRPr/>
              </a:pPr>
              <a:r>
                <a:rPr lang="en-US" dirty="0">
                  <a:solidFill>
                    <a:prstClr val="black"/>
                  </a:solidFill>
                  <a:latin typeface="Calibri" panose="020F0502020204030204"/>
                  <a:ea typeface="ＭＳ Ｐゴシック" charset="0"/>
                </a:rPr>
                <a:t>send ACK(</a:t>
              </a:r>
              <a:r>
                <a:rPr lang="en-US" i="1" dirty="0">
                  <a:solidFill>
                    <a:prstClr val="black"/>
                  </a:solidFill>
                  <a:latin typeface="Calibri" panose="020F0502020204030204"/>
                  <a:ea typeface="ＭＳ Ｐゴシック" charset="0"/>
                </a:rPr>
                <a:t>n</a:t>
              </a:r>
              <a:r>
                <a:rPr lang="en-US" dirty="0">
                  <a:solidFill>
                    <a:prstClr val="black"/>
                  </a:solidFill>
                  <a:latin typeface="Calibri" panose="020F0502020204030204"/>
                  <a:ea typeface="ＭＳ Ｐゴシック" charset="0"/>
                </a:rPr>
                <a:t>)</a:t>
              </a:r>
            </a:p>
            <a:p>
              <a:pPr marL="304800" indent="-207169" defTabSz="685800">
                <a:lnSpc>
                  <a:spcPct val="90000"/>
                </a:lnSpc>
                <a:spcBef>
                  <a:spcPct val="20000"/>
                </a:spcBef>
                <a:buClr>
                  <a:srgbClr val="000099"/>
                </a:buClr>
                <a:buSzPct val="100000"/>
                <a:buFont typeface="Wingdings" charset="2"/>
                <a:buChar char="§"/>
                <a:defRPr/>
              </a:pPr>
              <a:r>
                <a:rPr lang="en-US" dirty="0">
                  <a:solidFill>
                    <a:prstClr val="black"/>
                  </a:solidFill>
                  <a:latin typeface="Calibri" panose="020F0502020204030204"/>
                  <a:ea typeface="ＭＳ Ｐゴシック" charset="0"/>
                </a:rPr>
                <a:t>out-of-order: buffer</a:t>
              </a:r>
            </a:p>
            <a:p>
              <a:pPr marL="304800" indent="-207169" defTabSz="685800">
                <a:lnSpc>
                  <a:spcPct val="90000"/>
                </a:lnSpc>
                <a:spcBef>
                  <a:spcPct val="20000"/>
                </a:spcBef>
                <a:buClr>
                  <a:srgbClr val="000099"/>
                </a:buClr>
                <a:buSzPct val="100000"/>
                <a:buFont typeface="Wingdings" charset="2"/>
                <a:buChar char="§"/>
                <a:defRPr/>
              </a:pPr>
              <a:r>
                <a:rPr lang="en-US" dirty="0">
                  <a:solidFill>
                    <a:prstClr val="black"/>
                  </a:solidFill>
                  <a:latin typeface="Calibri" panose="020F0502020204030204"/>
                  <a:ea typeface="ＭＳ Ｐゴシック" charset="0"/>
                </a:rPr>
                <a:t>in-order: deliver (also deliver buffered, in-order packets), advance window to next not-yet-received packet</a:t>
              </a:r>
            </a:p>
            <a:p>
              <a:pPr marL="257175" indent="-257175" defTabSz="685800">
                <a:lnSpc>
                  <a:spcPct val="85000"/>
                </a:lnSpc>
                <a:spcBef>
                  <a:spcPct val="20000"/>
                </a:spcBef>
                <a:buClr>
                  <a:srgbClr val="000099"/>
                </a:buClr>
                <a:buSzPct val="65000"/>
                <a:defRPr/>
              </a:pPr>
              <a:r>
                <a:rPr lang="en-US" sz="2100" dirty="0">
                  <a:solidFill>
                    <a:srgbClr val="CC0000"/>
                  </a:solidFill>
                  <a:latin typeface="Calibri" panose="020F0502020204030204"/>
                  <a:ea typeface="ＭＳ Ｐゴシック" charset="0"/>
                </a:rPr>
                <a:t>packet</a:t>
              </a:r>
              <a:r>
                <a:rPr lang="en-US" sz="2100" i="1" dirty="0">
                  <a:solidFill>
                    <a:srgbClr val="CC0000"/>
                  </a:solidFill>
                  <a:latin typeface="Calibri" panose="020F0502020204030204"/>
                  <a:ea typeface="ＭＳ Ｐゴシック" charset="0"/>
                </a:rPr>
                <a:t> n </a:t>
              </a:r>
              <a:r>
                <a:rPr lang="en-US" sz="2100" dirty="0">
                  <a:solidFill>
                    <a:srgbClr val="CC0000"/>
                  </a:solidFill>
                  <a:latin typeface="Calibri" panose="020F0502020204030204"/>
                  <a:ea typeface="ＭＳ Ｐゴシック" charset="0"/>
                </a:rPr>
                <a:t>in </a:t>
              </a:r>
              <a:r>
                <a:rPr lang="en-US" dirty="0">
                  <a:solidFill>
                    <a:srgbClr val="CC0000"/>
                  </a:solidFill>
                  <a:latin typeface="Calibri" panose="020F0502020204030204"/>
                  <a:ea typeface="ＭＳ Ｐゴシック" charset="0"/>
                </a:rPr>
                <a:t>[rcvbase-N,rcvbase-1]</a:t>
              </a:r>
              <a:endParaRPr lang="en-US" sz="2700" dirty="0">
                <a:solidFill>
                  <a:srgbClr val="CC0000"/>
                </a:solidFill>
                <a:latin typeface="Calibri" panose="020F0502020204030204"/>
                <a:ea typeface="ＭＳ Ｐゴシック" charset="0"/>
              </a:endParaRPr>
            </a:p>
            <a:p>
              <a:pPr marL="304800" indent="-207169" defTabSz="685800">
                <a:lnSpc>
                  <a:spcPct val="85000"/>
                </a:lnSpc>
                <a:spcBef>
                  <a:spcPct val="20000"/>
                </a:spcBef>
                <a:buClr>
                  <a:srgbClr val="000099"/>
                </a:buClr>
                <a:buSzPct val="100000"/>
                <a:buFont typeface="Wingdings" charset="2"/>
                <a:buChar char="§"/>
                <a:defRPr/>
              </a:pPr>
              <a:r>
                <a:rPr lang="en-US" dirty="0">
                  <a:solidFill>
                    <a:prstClr val="black"/>
                  </a:solidFill>
                  <a:latin typeface="Calibri" panose="020F0502020204030204"/>
                  <a:ea typeface="ＭＳ Ｐゴシック" charset="0"/>
                </a:rPr>
                <a:t>ACK(</a:t>
              </a:r>
              <a:r>
                <a:rPr lang="en-US" i="1" dirty="0">
                  <a:solidFill>
                    <a:prstClr val="black"/>
                  </a:solidFill>
                  <a:latin typeface="Calibri" panose="020F0502020204030204"/>
                  <a:ea typeface="ＭＳ Ｐゴシック" charset="0"/>
                </a:rPr>
                <a:t>n</a:t>
              </a:r>
              <a:r>
                <a:rPr lang="en-US" dirty="0">
                  <a:solidFill>
                    <a:prstClr val="black"/>
                  </a:solidFill>
                  <a:latin typeface="Calibri" panose="020F0502020204030204"/>
                  <a:ea typeface="ＭＳ Ｐゴシック" charset="0"/>
                </a:rPr>
                <a:t>)</a:t>
              </a:r>
            </a:p>
            <a:p>
              <a:pPr marL="257175" indent="-257175" defTabSz="685800">
                <a:lnSpc>
                  <a:spcPct val="85000"/>
                </a:lnSpc>
                <a:spcBef>
                  <a:spcPct val="20000"/>
                </a:spcBef>
                <a:buClr>
                  <a:srgbClr val="000099"/>
                </a:buClr>
                <a:buSzPct val="65000"/>
                <a:defRPr/>
              </a:pPr>
              <a:r>
                <a:rPr lang="en-US" sz="2100" dirty="0">
                  <a:solidFill>
                    <a:srgbClr val="CC0000"/>
                  </a:solidFill>
                  <a:latin typeface="Calibri" panose="020F0502020204030204"/>
                  <a:ea typeface="ＭＳ Ｐゴシック" charset="0"/>
                </a:rPr>
                <a:t>otherwise:</a:t>
              </a:r>
              <a:r>
                <a:rPr lang="en-US" dirty="0">
                  <a:solidFill>
                    <a:srgbClr val="FF0000"/>
                  </a:solidFill>
                  <a:latin typeface="Calibri" panose="020F0502020204030204"/>
                  <a:ea typeface="ＭＳ Ｐゴシック" charset="0"/>
                </a:rPr>
                <a:t> </a:t>
              </a:r>
            </a:p>
            <a:p>
              <a:pPr marL="304800" indent="-207169" defTabSz="685800">
                <a:lnSpc>
                  <a:spcPct val="85000"/>
                </a:lnSpc>
                <a:spcBef>
                  <a:spcPct val="20000"/>
                </a:spcBef>
                <a:buClr>
                  <a:srgbClr val="000099"/>
                </a:buClr>
                <a:buSzPct val="100000"/>
                <a:buFont typeface="Wingdings" charset="2"/>
                <a:buChar char="§"/>
                <a:defRPr/>
              </a:pPr>
              <a:r>
                <a:rPr lang="en-US" dirty="0">
                  <a:solidFill>
                    <a:prstClr val="black"/>
                  </a:solidFill>
                  <a:latin typeface="Calibri" panose="020F0502020204030204"/>
                  <a:ea typeface="ＭＳ Ｐゴシック" charset="0"/>
                </a:rPr>
                <a:t>ignore </a:t>
              </a:r>
              <a:endParaRPr lang="en-US" sz="2100" dirty="0">
                <a:solidFill>
                  <a:prstClr val="black"/>
                </a:solidFill>
                <a:latin typeface="Calibri" panose="020F0502020204030204"/>
                <a:ea typeface="ＭＳ Ｐゴシック" charset="0"/>
              </a:endParaRPr>
            </a:p>
            <a:p>
              <a:pPr marL="257175" indent="-257175" defTabSz="685800">
                <a:lnSpc>
                  <a:spcPct val="85000"/>
                </a:lnSpc>
                <a:spcBef>
                  <a:spcPct val="20000"/>
                </a:spcBef>
                <a:buClr>
                  <a:srgbClr val="000099"/>
                </a:buClr>
                <a:buSzPct val="65000"/>
                <a:buFont typeface="Wingdings" charset="0"/>
                <a:buChar char="v"/>
                <a:defRPr/>
              </a:pPr>
              <a:endParaRPr lang="en-US" sz="2100" dirty="0">
                <a:solidFill>
                  <a:prstClr val="black"/>
                </a:solidFill>
                <a:latin typeface="Calibri" panose="020F0502020204030204"/>
                <a:ea typeface="ＭＳ Ｐゴシック" charset="0"/>
              </a:endParaRPr>
            </a:p>
          </p:txBody>
        </p:sp>
        <p:sp>
          <p:nvSpPr>
            <p:cNvPr id="12" name="Rectangle 9">
              <a:extLst>
                <a:ext uri="{FF2B5EF4-FFF2-40B4-BE49-F238E27FC236}">
                  <a16:creationId xmlns:a16="http://schemas.microsoft.com/office/drawing/2014/main" id="{639FDE2D-E714-5A49-BA51-5350EC426F3A}"/>
                </a:ext>
              </a:extLst>
            </p:cNvPr>
            <p:cNvSpPr>
              <a:spLocks noChangeArrowheads="1"/>
            </p:cNvSpPr>
            <p:nvPr/>
          </p:nvSpPr>
          <p:spPr bwMode="auto">
            <a:xfrm>
              <a:off x="6447754" y="1495097"/>
              <a:ext cx="5129210" cy="4610100"/>
            </a:xfrm>
            <a:prstGeom prst="rect">
              <a:avLst/>
            </a:prstGeom>
            <a:noFill/>
            <a:ln w="28575">
              <a:solidFill>
                <a:srgbClr val="000099"/>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Calibri" panose="020F0502020204030204"/>
                <a:ea typeface="ＭＳ Ｐゴシック" charset="0"/>
              </a:endParaRPr>
            </a:p>
          </p:txBody>
        </p:sp>
        <p:grpSp>
          <p:nvGrpSpPr>
            <p:cNvPr id="13" name="Group 10">
              <a:extLst>
                <a:ext uri="{FF2B5EF4-FFF2-40B4-BE49-F238E27FC236}">
                  <a16:creationId xmlns:a16="http://schemas.microsoft.com/office/drawing/2014/main" id="{B84C2084-BE83-5E42-B1FF-F6D6F4774AC4}"/>
                </a:ext>
              </a:extLst>
            </p:cNvPr>
            <p:cNvGrpSpPr>
              <a:grpSpLocks/>
            </p:cNvGrpSpPr>
            <p:nvPr/>
          </p:nvGrpSpPr>
          <p:grpSpPr bwMode="auto">
            <a:xfrm>
              <a:off x="6643024" y="1183947"/>
              <a:ext cx="1592263" cy="615951"/>
              <a:chOff x="3339" y="158"/>
              <a:chExt cx="1003" cy="388"/>
            </a:xfrm>
          </p:grpSpPr>
          <p:sp>
            <p:nvSpPr>
              <p:cNvPr id="14" name="Rectangle 11">
                <a:extLst>
                  <a:ext uri="{FF2B5EF4-FFF2-40B4-BE49-F238E27FC236}">
                    <a16:creationId xmlns:a16="http://schemas.microsoft.com/office/drawing/2014/main" id="{C313B5FA-94EA-DF4A-8CF3-F58277EB5C0A}"/>
                  </a:ext>
                </a:extLst>
              </p:cNvPr>
              <p:cNvSpPr>
                <a:spLocks noChangeArrowheads="1"/>
              </p:cNvSpPr>
              <p:nvPr/>
            </p:nvSpPr>
            <p:spPr bwMode="auto">
              <a:xfrm>
                <a:off x="3360" y="264"/>
                <a:ext cx="822" cy="18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dirty="0">
                  <a:solidFill>
                    <a:prstClr val="black"/>
                  </a:solidFill>
                  <a:latin typeface="Calibri" panose="020F0502020204030204"/>
                  <a:ea typeface="ＭＳ Ｐゴシック" charset="0"/>
                </a:endParaRPr>
              </a:p>
            </p:txBody>
          </p:sp>
          <p:sp>
            <p:nvSpPr>
              <p:cNvPr id="15" name="Text Box 12">
                <a:extLst>
                  <a:ext uri="{FF2B5EF4-FFF2-40B4-BE49-F238E27FC236}">
                    <a16:creationId xmlns:a16="http://schemas.microsoft.com/office/drawing/2014/main" id="{DDD5CA52-38FB-BF40-B64E-C5C9EE06B0C0}"/>
                  </a:ext>
                </a:extLst>
              </p:cNvPr>
              <p:cNvSpPr txBox="1">
                <a:spLocks noChangeArrowheads="1"/>
              </p:cNvSpPr>
              <p:nvPr/>
            </p:nvSpPr>
            <p:spPr bwMode="auto">
              <a:xfrm>
                <a:off x="3339" y="158"/>
                <a:ext cx="1003" cy="38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a:defRPr/>
                </a:pPr>
                <a:r>
                  <a:rPr lang="en-US" sz="2400" dirty="0">
                    <a:solidFill>
                      <a:srgbClr val="000099"/>
                    </a:solidFill>
                    <a:latin typeface="Calibri" panose="020F0502020204030204"/>
                  </a:rPr>
                  <a:t>receiver</a:t>
                </a:r>
                <a:endParaRPr lang="en-US" sz="2100" dirty="0">
                  <a:solidFill>
                    <a:srgbClr val="000099"/>
                  </a:solidFill>
                  <a:latin typeface="Calibri" panose="020F0502020204030204"/>
                </a:endParaRPr>
              </a:p>
            </p:txBody>
          </p:sp>
        </p:grpSp>
      </p:grpSp>
    </p:spTree>
    <p:extLst>
      <p:ext uri="{BB962C8B-B14F-4D97-AF65-F5344CB8AC3E}">
        <p14:creationId xmlns:p14="http://schemas.microsoft.com/office/powerpoint/2010/main" val="7627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normAutofit/>
          </a:bodyPr>
          <a:lstStyle/>
          <a:p>
            <a:r>
              <a:rPr lang="en-US" dirty="0"/>
              <a:t>Selective Repeat in action</a:t>
            </a:r>
            <a:endParaRPr lang="en-US" sz="5400" dirty="0"/>
          </a:p>
        </p:txBody>
      </p:sp>
      <p:sp>
        <p:nvSpPr>
          <p:cNvPr id="76" name="Slide Number Placeholder 2">
            <a:extLst>
              <a:ext uri="{FF2B5EF4-FFF2-40B4-BE49-F238E27FC236}">
                <a16:creationId xmlns:a16="http://schemas.microsoft.com/office/drawing/2014/main" id="{31C667D1-6F31-7340-B2B9-6B7265E49357}"/>
              </a:ext>
            </a:extLst>
          </p:cNvPr>
          <p:cNvSpPr>
            <a:spLocks noGrp="1"/>
          </p:cNvSpPr>
          <p:nvPr>
            <p:ph type="sldNum" sz="quarter" idx="12"/>
          </p:nvPr>
        </p:nvSpPr>
        <p:spPr/>
        <p:txBody>
          <a:bodyPr/>
          <a:lstStyle/>
          <a:p>
            <a:pPr defTabSz="685800"/>
            <a:r>
              <a:rPr lang="en-US" dirty="0">
                <a:solidFill>
                  <a:prstClr val="white">
                    <a:lumMod val="50000"/>
                  </a:prstClr>
                </a:solidFill>
                <a:latin typeface="Calibri" panose="020F0502020204030204"/>
              </a:rPr>
              <a:t>Transport Layer: 3-</a:t>
            </a:r>
            <a:fld id="{C4204591-24BD-A542-B9D5-F8D8A88D2FEE}" type="slidenum">
              <a:rPr lang="en-US">
                <a:solidFill>
                  <a:prstClr val="white">
                    <a:lumMod val="50000"/>
                  </a:prstClr>
                </a:solidFill>
                <a:latin typeface="Calibri" panose="020F0502020204030204"/>
              </a:rPr>
              <a:pPr defTabSz="685800"/>
              <a:t>35</a:t>
            </a:fld>
            <a:endParaRPr lang="en-US" dirty="0">
              <a:solidFill>
                <a:prstClr val="white">
                  <a:lumMod val="50000"/>
                </a:prstClr>
              </a:solidFill>
              <a:latin typeface="Calibri" panose="020F0502020204030204"/>
            </a:endParaRPr>
          </a:p>
        </p:txBody>
      </p:sp>
      <p:sp>
        <p:nvSpPr>
          <p:cNvPr id="108" name="Text Box 4">
            <a:extLst>
              <a:ext uri="{FF2B5EF4-FFF2-40B4-BE49-F238E27FC236}">
                <a16:creationId xmlns:a16="http://schemas.microsoft.com/office/drawing/2014/main" id="{78073BDB-A57A-A349-BAC2-3E6F651411BA}"/>
              </a:ext>
            </a:extLst>
          </p:cNvPr>
          <p:cNvSpPr txBox="1">
            <a:spLocks noChangeArrowheads="1"/>
          </p:cNvSpPr>
          <p:nvPr/>
        </p:nvSpPr>
        <p:spPr bwMode="auto">
          <a:xfrm>
            <a:off x="3523096" y="2006203"/>
            <a:ext cx="98937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send  pkt0</a:t>
            </a:r>
          </a:p>
          <a:p>
            <a:pPr algn="r" defTabSz="685800" eaLnBrk="0" fontAlgn="base" hangingPunct="0">
              <a:spcBef>
                <a:spcPct val="0"/>
              </a:spcBef>
              <a:spcAft>
                <a:spcPct val="0"/>
              </a:spcAft>
              <a:defRPr/>
            </a:pPr>
            <a:r>
              <a:rPr lang="en-US" sz="1350" kern="0" dirty="0">
                <a:solidFill>
                  <a:srgbClr val="000000"/>
                </a:solidFill>
              </a:rPr>
              <a:t>send  pkt1</a:t>
            </a:r>
          </a:p>
          <a:p>
            <a:pPr algn="r" defTabSz="685800" eaLnBrk="0" fontAlgn="base" hangingPunct="0">
              <a:spcBef>
                <a:spcPct val="0"/>
              </a:spcBef>
              <a:spcAft>
                <a:spcPct val="0"/>
              </a:spcAft>
              <a:defRPr/>
            </a:pPr>
            <a:r>
              <a:rPr lang="en-US" sz="1350" kern="0" dirty="0">
                <a:solidFill>
                  <a:srgbClr val="000000"/>
                </a:solidFill>
              </a:rPr>
              <a:t>send  pkt2</a:t>
            </a:r>
          </a:p>
          <a:p>
            <a:pPr algn="r" defTabSz="685800" eaLnBrk="0" fontAlgn="base" hangingPunct="0">
              <a:spcBef>
                <a:spcPct val="0"/>
              </a:spcBef>
              <a:spcAft>
                <a:spcPct val="0"/>
              </a:spcAft>
              <a:defRPr/>
            </a:pPr>
            <a:r>
              <a:rPr lang="en-US" sz="1350" kern="0" dirty="0">
                <a:solidFill>
                  <a:srgbClr val="000000"/>
                </a:solidFill>
              </a:rPr>
              <a:t>send  pkt3</a:t>
            </a:r>
          </a:p>
          <a:p>
            <a:pPr algn="r" defTabSz="685800" eaLnBrk="0" fontAlgn="base" hangingPunct="0">
              <a:spcBef>
                <a:spcPct val="0"/>
              </a:spcBef>
              <a:spcAft>
                <a:spcPct val="0"/>
              </a:spcAft>
              <a:defRPr/>
            </a:pPr>
            <a:r>
              <a:rPr lang="en-US" sz="1350" kern="0" dirty="0">
                <a:solidFill>
                  <a:srgbClr val="000000"/>
                </a:solidFill>
              </a:rPr>
              <a:t>(wait)</a:t>
            </a:r>
          </a:p>
        </p:txBody>
      </p:sp>
      <p:sp>
        <p:nvSpPr>
          <p:cNvPr id="109" name="Text Box 5">
            <a:extLst>
              <a:ext uri="{FF2B5EF4-FFF2-40B4-BE49-F238E27FC236}">
                <a16:creationId xmlns:a16="http://schemas.microsoft.com/office/drawing/2014/main" id="{551532E5-B9F6-D645-BA17-1BDC2A81DE6A}"/>
              </a:ext>
            </a:extLst>
          </p:cNvPr>
          <p:cNvSpPr txBox="1">
            <a:spLocks noChangeArrowheads="1"/>
          </p:cNvSpPr>
          <p:nvPr/>
        </p:nvSpPr>
        <p:spPr bwMode="auto">
          <a:xfrm>
            <a:off x="3791901" y="1727597"/>
            <a:ext cx="755336"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0099"/>
                </a:solidFill>
              </a:rPr>
              <a:t>sender</a:t>
            </a:r>
          </a:p>
        </p:txBody>
      </p:sp>
      <p:sp>
        <p:nvSpPr>
          <p:cNvPr id="110" name="Text Box 6">
            <a:extLst>
              <a:ext uri="{FF2B5EF4-FFF2-40B4-BE49-F238E27FC236}">
                <a16:creationId xmlns:a16="http://schemas.microsoft.com/office/drawing/2014/main" id="{A94628DF-42AC-0E4A-B609-2C56040AB9D4}"/>
              </a:ext>
            </a:extLst>
          </p:cNvPr>
          <p:cNvSpPr txBox="1">
            <a:spLocks noChangeArrowheads="1"/>
          </p:cNvSpPr>
          <p:nvPr/>
        </p:nvSpPr>
        <p:spPr bwMode="auto">
          <a:xfrm>
            <a:off x="6066514" y="1741884"/>
            <a:ext cx="853119" cy="323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500" i="1" u="sng" kern="0" dirty="0">
                <a:solidFill>
                  <a:srgbClr val="008000"/>
                </a:solidFill>
              </a:rPr>
              <a:t>receiver</a:t>
            </a:r>
          </a:p>
        </p:txBody>
      </p:sp>
      <p:sp>
        <p:nvSpPr>
          <p:cNvPr id="111" name="Line 14">
            <a:extLst>
              <a:ext uri="{FF2B5EF4-FFF2-40B4-BE49-F238E27FC236}">
                <a16:creationId xmlns:a16="http://schemas.microsoft.com/office/drawing/2014/main" id="{3E685DEE-2DB5-5740-BE6F-2C74E54E1F41}"/>
              </a:ext>
            </a:extLst>
          </p:cNvPr>
          <p:cNvSpPr>
            <a:spLocks noChangeShapeType="1"/>
          </p:cNvSpPr>
          <p:nvPr/>
        </p:nvSpPr>
        <p:spPr bwMode="auto">
          <a:xfrm>
            <a:off x="6147197" y="2190750"/>
            <a:ext cx="8335" cy="3403997"/>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16" name="Text Box 36">
            <a:extLst>
              <a:ext uri="{FF2B5EF4-FFF2-40B4-BE49-F238E27FC236}">
                <a16:creationId xmlns:a16="http://schemas.microsoft.com/office/drawing/2014/main" id="{964FE54C-5448-C540-B538-09B51BB48337}"/>
              </a:ext>
            </a:extLst>
          </p:cNvPr>
          <p:cNvSpPr txBox="1">
            <a:spLocks noChangeArrowheads="1"/>
          </p:cNvSpPr>
          <p:nvPr/>
        </p:nvSpPr>
        <p:spPr bwMode="auto">
          <a:xfrm>
            <a:off x="3329498" y="4392216"/>
            <a:ext cx="1186543" cy="4455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90000"/>
              </a:lnSpc>
              <a:spcBef>
                <a:spcPct val="0"/>
              </a:spcBef>
              <a:spcAft>
                <a:spcPct val="0"/>
              </a:spcAft>
              <a:defRPr/>
            </a:pPr>
            <a:r>
              <a:rPr lang="en-US" sz="1350" kern="0" dirty="0">
                <a:solidFill>
                  <a:srgbClr val="000000"/>
                </a:solidFill>
              </a:rPr>
              <a:t>send  pkt2</a:t>
            </a:r>
          </a:p>
          <a:p>
            <a:pPr algn="r" defTabSz="685800" eaLnBrk="0" fontAlgn="base" hangingPunct="0">
              <a:lnSpc>
                <a:spcPct val="90000"/>
              </a:lnSpc>
              <a:spcBef>
                <a:spcPct val="0"/>
              </a:spcBef>
              <a:spcAft>
                <a:spcPct val="0"/>
              </a:spcAft>
              <a:defRPr/>
            </a:pPr>
            <a:r>
              <a:rPr lang="en-US" sz="1200" kern="0" dirty="0">
                <a:solidFill>
                  <a:srgbClr val="C00000"/>
                </a:solidFill>
              </a:rPr>
              <a:t>(but not 3,4,5)</a:t>
            </a:r>
          </a:p>
        </p:txBody>
      </p:sp>
      <p:sp>
        <p:nvSpPr>
          <p:cNvPr id="121" name="Line 17">
            <a:extLst>
              <a:ext uri="{FF2B5EF4-FFF2-40B4-BE49-F238E27FC236}">
                <a16:creationId xmlns:a16="http://schemas.microsoft.com/office/drawing/2014/main" id="{E56FB9D2-45AC-5443-AEF4-39148B03DDDD}"/>
              </a:ext>
            </a:extLst>
          </p:cNvPr>
          <p:cNvSpPr>
            <a:spLocks noChangeShapeType="1"/>
          </p:cNvSpPr>
          <p:nvPr/>
        </p:nvSpPr>
        <p:spPr bwMode="auto">
          <a:xfrm flipH="1">
            <a:off x="4550569" y="2544365"/>
            <a:ext cx="1510903" cy="800100"/>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5" name="Group 4">
            <a:extLst>
              <a:ext uri="{FF2B5EF4-FFF2-40B4-BE49-F238E27FC236}">
                <a16:creationId xmlns:a16="http://schemas.microsoft.com/office/drawing/2014/main" id="{B51492D2-F443-DF42-B594-B3FB06C15EF0}"/>
              </a:ext>
            </a:extLst>
          </p:cNvPr>
          <p:cNvGrpSpPr/>
          <p:nvPr/>
        </p:nvGrpSpPr>
        <p:grpSpPr>
          <a:xfrm>
            <a:off x="4544615" y="2151459"/>
            <a:ext cx="1591866" cy="969169"/>
            <a:chOff x="6059487" y="1725612"/>
            <a:chExt cx="2122488" cy="1292225"/>
          </a:xfrm>
        </p:grpSpPr>
        <p:sp>
          <p:nvSpPr>
            <p:cNvPr id="117" name="Line 7">
              <a:extLst>
                <a:ext uri="{FF2B5EF4-FFF2-40B4-BE49-F238E27FC236}">
                  <a16:creationId xmlns:a16="http://schemas.microsoft.com/office/drawing/2014/main" id="{B2FE61CD-8B0C-B642-BB41-80A1601F10C7}"/>
                </a:ext>
              </a:extLst>
            </p:cNvPr>
            <p:cNvSpPr>
              <a:spLocks noChangeShapeType="1"/>
            </p:cNvSpPr>
            <p:nvPr/>
          </p:nvSpPr>
          <p:spPr bwMode="auto">
            <a:xfrm>
              <a:off x="6061075" y="1725612"/>
              <a:ext cx="2101850" cy="4683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18" name="Line 11">
              <a:extLst>
                <a:ext uri="{FF2B5EF4-FFF2-40B4-BE49-F238E27FC236}">
                  <a16:creationId xmlns:a16="http://schemas.microsoft.com/office/drawing/2014/main" id="{228455C5-D681-384D-AD76-D61774E5E1CD}"/>
                </a:ext>
              </a:extLst>
            </p:cNvPr>
            <p:cNvSpPr>
              <a:spLocks noChangeShapeType="1"/>
            </p:cNvSpPr>
            <p:nvPr/>
          </p:nvSpPr>
          <p:spPr bwMode="auto">
            <a:xfrm>
              <a:off x="6059487" y="2000250"/>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19" name="Line 12">
              <a:extLst>
                <a:ext uri="{FF2B5EF4-FFF2-40B4-BE49-F238E27FC236}">
                  <a16:creationId xmlns:a16="http://schemas.microsoft.com/office/drawing/2014/main" id="{465896CF-249D-3347-9172-240118AF405B}"/>
                </a:ext>
              </a:extLst>
            </p:cNvPr>
            <p:cNvSpPr>
              <a:spLocks noChangeShapeType="1"/>
            </p:cNvSpPr>
            <p:nvPr/>
          </p:nvSpPr>
          <p:spPr bwMode="auto">
            <a:xfrm>
              <a:off x="6075362" y="2263775"/>
              <a:ext cx="876300" cy="20002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0" name="Line 13">
              <a:extLst>
                <a:ext uri="{FF2B5EF4-FFF2-40B4-BE49-F238E27FC236}">
                  <a16:creationId xmlns:a16="http://schemas.microsoft.com/office/drawing/2014/main" id="{6D003599-FAD5-2A43-BCF2-8C9D5635EAA7}"/>
                </a:ext>
              </a:extLst>
            </p:cNvPr>
            <p:cNvSpPr>
              <a:spLocks noChangeShapeType="1"/>
            </p:cNvSpPr>
            <p:nvPr/>
          </p:nvSpPr>
          <p:spPr bwMode="auto">
            <a:xfrm>
              <a:off x="6081712" y="2549525"/>
              <a:ext cx="2100263" cy="468312"/>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2" name="Text Box 19">
              <a:extLst>
                <a:ext uri="{FF2B5EF4-FFF2-40B4-BE49-F238E27FC236}">
                  <a16:creationId xmlns:a16="http://schemas.microsoft.com/office/drawing/2014/main" id="{6FFC0E8C-8B36-B744-B255-B1213F7C3B36}"/>
                </a:ext>
              </a:extLst>
            </p:cNvPr>
            <p:cNvSpPr txBox="1">
              <a:spLocks noChangeArrowheads="1"/>
            </p:cNvSpPr>
            <p:nvPr/>
          </p:nvSpPr>
          <p:spPr bwMode="auto">
            <a:xfrm>
              <a:off x="6805826" y="2298700"/>
              <a:ext cx="404385"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350" b="1" kern="0" dirty="0">
                  <a:solidFill>
                    <a:srgbClr val="FF0000"/>
                  </a:solidFill>
                </a:rPr>
                <a:t>X</a:t>
              </a:r>
            </a:p>
          </p:txBody>
        </p:sp>
        <p:sp>
          <p:nvSpPr>
            <p:cNvPr id="123" name="Text Box 20">
              <a:extLst>
                <a:ext uri="{FF2B5EF4-FFF2-40B4-BE49-F238E27FC236}">
                  <a16:creationId xmlns:a16="http://schemas.microsoft.com/office/drawing/2014/main" id="{999FCA58-CB9B-B749-BA08-25AB40ACE0A2}"/>
                </a:ext>
              </a:extLst>
            </p:cNvPr>
            <p:cNvSpPr txBox="1">
              <a:spLocks noChangeArrowheads="1"/>
            </p:cNvSpPr>
            <p:nvPr/>
          </p:nvSpPr>
          <p:spPr bwMode="auto">
            <a:xfrm>
              <a:off x="6963159" y="2319337"/>
              <a:ext cx="58819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dirty="0">
                  <a:solidFill>
                    <a:srgbClr val="FF0000"/>
                  </a:solidFill>
                </a:rPr>
                <a:t>loss</a:t>
              </a:r>
            </a:p>
          </p:txBody>
        </p:sp>
      </p:grpSp>
      <p:sp>
        <p:nvSpPr>
          <p:cNvPr id="124" name="Line 21">
            <a:extLst>
              <a:ext uri="{FF2B5EF4-FFF2-40B4-BE49-F238E27FC236}">
                <a16:creationId xmlns:a16="http://schemas.microsoft.com/office/drawing/2014/main" id="{82EB3AA5-A272-9741-98D1-88E47FABEAC6}"/>
              </a:ext>
            </a:extLst>
          </p:cNvPr>
          <p:cNvSpPr>
            <a:spLocks noChangeShapeType="1"/>
          </p:cNvSpPr>
          <p:nvPr/>
        </p:nvSpPr>
        <p:spPr bwMode="auto">
          <a:xfrm flipH="1">
            <a:off x="4548188" y="2758678"/>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5" name="Line 24">
            <a:extLst>
              <a:ext uri="{FF2B5EF4-FFF2-40B4-BE49-F238E27FC236}">
                <a16:creationId xmlns:a16="http://schemas.microsoft.com/office/drawing/2014/main" id="{E42793DA-B54F-8A4A-B169-AADC48D8492B}"/>
              </a:ext>
            </a:extLst>
          </p:cNvPr>
          <p:cNvSpPr>
            <a:spLocks noChangeShapeType="1"/>
          </p:cNvSpPr>
          <p:nvPr/>
        </p:nvSpPr>
        <p:spPr bwMode="auto">
          <a:xfrm>
            <a:off x="4550569" y="3386138"/>
            <a:ext cx="1575197" cy="351234"/>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6" name="Line 25">
            <a:extLst>
              <a:ext uri="{FF2B5EF4-FFF2-40B4-BE49-F238E27FC236}">
                <a16:creationId xmlns:a16="http://schemas.microsoft.com/office/drawing/2014/main" id="{F496288B-3032-8C46-B36C-DC6EE518FC26}"/>
              </a:ext>
            </a:extLst>
          </p:cNvPr>
          <p:cNvSpPr>
            <a:spLocks noChangeShapeType="1"/>
          </p:cNvSpPr>
          <p:nvPr/>
        </p:nvSpPr>
        <p:spPr bwMode="auto">
          <a:xfrm>
            <a:off x="4574381" y="3625453"/>
            <a:ext cx="1576388" cy="3512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27" name="Line 26">
            <a:extLst>
              <a:ext uri="{FF2B5EF4-FFF2-40B4-BE49-F238E27FC236}">
                <a16:creationId xmlns:a16="http://schemas.microsoft.com/office/drawing/2014/main" id="{567E0CBA-D560-7142-9ABA-AC076E08A151}"/>
              </a:ext>
            </a:extLst>
          </p:cNvPr>
          <p:cNvSpPr>
            <a:spLocks noChangeShapeType="1"/>
          </p:cNvSpPr>
          <p:nvPr/>
        </p:nvSpPr>
        <p:spPr bwMode="auto">
          <a:xfrm flipH="1">
            <a:off x="4572000" y="3156346"/>
            <a:ext cx="1510903" cy="825104"/>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9" name="Group 8">
            <a:extLst>
              <a:ext uri="{FF2B5EF4-FFF2-40B4-BE49-F238E27FC236}">
                <a16:creationId xmlns:a16="http://schemas.microsoft.com/office/drawing/2014/main" id="{FEA4268D-2918-6446-A65A-828C5CA72DEE}"/>
              </a:ext>
            </a:extLst>
          </p:cNvPr>
          <p:cNvGrpSpPr/>
          <p:nvPr/>
        </p:nvGrpSpPr>
        <p:grpSpPr>
          <a:xfrm>
            <a:off x="3061097" y="2547938"/>
            <a:ext cx="1483519" cy="1931689"/>
            <a:chOff x="4081462" y="2254250"/>
            <a:chExt cx="1978025" cy="2575585"/>
          </a:xfrm>
        </p:grpSpPr>
        <p:pic>
          <p:nvPicPr>
            <p:cNvPr id="114" name="Picture 34" descr="alarm_clock_ringing">
              <a:extLst>
                <a:ext uri="{FF2B5EF4-FFF2-40B4-BE49-F238E27FC236}">
                  <a16:creationId xmlns:a16="http://schemas.microsoft.com/office/drawing/2014/main" id="{6923BC91-E9C5-D049-B59C-D41625176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1462" y="4283075"/>
              <a:ext cx="436563"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Box 35">
              <a:extLst>
                <a:ext uri="{FF2B5EF4-FFF2-40B4-BE49-F238E27FC236}">
                  <a16:creationId xmlns:a16="http://schemas.microsoft.com/office/drawing/2014/main" id="{171ECC6D-E77E-7541-880B-B7D3C99DC8C1}"/>
                </a:ext>
              </a:extLst>
            </p:cNvPr>
            <p:cNvSpPr txBox="1">
              <a:spLocks noChangeArrowheads="1"/>
            </p:cNvSpPr>
            <p:nvPr/>
          </p:nvSpPr>
          <p:spPr bwMode="auto">
            <a:xfrm>
              <a:off x="4371795" y="4498975"/>
              <a:ext cx="1616254" cy="3308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lnSpc>
                  <a:spcPct val="75000"/>
                </a:lnSpc>
                <a:spcBef>
                  <a:spcPct val="0"/>
                </a:spcBef>
                <a:spcAft>
                  <a:spcPct val="0"/>
                </a:spcAft>
                <a:defRPr/>
              </a:pPr>
              <a:r>
                <a:rPr lang="en-US" sz="1350" i="1" kern="0" dirty="0">
                  <a:solidFill>
                    <a:srgbClr val="FF0000"/>
                  </a:solidFill>
                </a:rPr>
                <a:t>pkt 2 timeout</a:t>
              </a:r>
            </a:p>
          </p:txBody>
        </p:sp>
        <p:grpSp>
          <p:nvGrpSpPr>
            <p:cNvPr id="128" name="Group 29">
              <a:extLst>
                <a:ext uri="{FF2B5EF4-FFF2-40B4-BE49-F238E27FC236}">
                  <a16:creationId xmlns:a16="http://schemas.microsoft.com/office/drawing/2014/main" id="{CCD75B32-9279-9249-845C-EEAC69B59B93}"/>
                </a:ext>
              </a:extLst>
            </p:cNvPr>
            <p:cNvGrpSpPr>
              <a:grpSpLocks/>
            </p:cNvGrpSpPr>
            <p:nvPr/>
          </p:nvGrpSpPr>
          <p:grpSpPr bwMode="auto">
            <a:xfrm>
              <a:off x="5956300" y="2254250"/>
              <a:ext cx="103187" cy="2462212"/>
              <a:chOff x="3651" y="1878"/>
              <a:chExt cx="78" cy="963"/>
            </a:xfrm>
          </p:grpSpPr>
          <p:sp>
            <p:nvSpPr>
              <p:cNvPr id="129" name="Line 30">
                <a:extLst>
                  <a:ext uri="{FF2B5EF4-FFF2-40B4-BE49-F238E27FC236}">
                    <a16:creationId xmlns:a16="http://schemas.microsoft.com/office/drawing/2014/main" id="{968CAD8F-1975-844E-A2BC-06214EDA9B2E}"/>
                  </a:ext>
                </a:extLst>
              </p:cNvPr>
              <p:cNvSpPr>
                <a:spLocks noChangeShapeType="1"/>
              </p:cNvSpPr>
              <p:nvPr/>
            </p:nvSpPr>
            <p:spPr bwMode="auto">
              <a:xfrm>
                <a:off x="3729" y="1879"/>
                <a:ext cx="0" cy="962"/>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0" name="Line 31">
                <a:extLst>
                  <a:ext uri="{FF2B5EF4-FFF2-40B4-BE49-F238E27FC236}">
                    <a16:creationId xmlns:a16="http://schemas.microsoft.com/office/drawing/2014/main" id="{46F70D7C-544C-D549-80EC-BBE7913442BA}"/>
                  </a:ext>
                </a:extLst>
              </p:cNvPr>
              <p:cNvSpPr>
                <a:spLocks noChangeShapeType="1"/>
              </p:cNvSpPr>
              <p:nvPr/>
            </p:nvSpPr>
            <p:spPr bwMode="auto">
              <a:xfrm flipH="1">
                <a:off x="3651" y="1878"/>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131" name="Line 32">
                <a:extLst>
                  <a:ext uri="{FF2B5EF4-FFF2-40B4-BE49-F238E27FC236}">
                    <a16:creationId xmlns:a16="http://schemas.microsoft.com/office/drawing/2014/main" id="{7CCD21DE-7848-8E49-8DFB-3B7580C3720B}"/>
                  </a:ext>
                </a:extLst>
              </p:cNvPr>
              <p:cNvSpPr>
                <a:spLocks noChangeShapeType="1"/>
              </p:cNvSpPr>
              <p:nvPr/>
            </p:nvSpPr>
            <p:spPr bwMode="auto">
              <a:xfrm flipH="1">
                <a:off x="3651" y="2841"/>
                <a:ext cx="76" cy="0"/>
              </a:xfrm>
              <a:prstGeom prst="line">
                <a:avLst/>
              </a:prstGeom>
              <a:noFill/>
              <a:ln w="2857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grpSp>
      </p:grpSp>
      <p:sp>
        <p:nvSpPr>
          <p:cNvPr id="132" name="Line 37">
            <a:extLst>
              <a:ext uri="{FF2B5EF4-FFF2-40B4-BE49-F238E27FC236}">
                <a16:creationId xmlns:a16="http://schemas.microsoft.com/office/drawing/2014/main" id="{87F3997F-AC6F-E94C-BDDA-D675458BE183}"/>
              </a:ext>
            </a:extLst>
          </p:cNvPr>
          <p:cNvSpPr>
            <a:spLocks noChangeShapeType="1"/>
          </p:cNvSpPr>
          <p:nvPr/>
        </p:nvSpPr>
        <p:spPr bwMode="auto">
          <a:xfrm>
            <a:off x="4556522" y="4520803"/>
            <a:ext cx="1575197" cy="351235"/>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3" name="Text Box 59">
            <a:extLst>
              <a:ext uri="{FF2B5EF4-FFF2-40B4-BE49-F238E27FC236}">
                <a16:creationId xmlns:a16="http://schemas.microsoft.com/office/drawing/2014/main" id="{FB2F6CDE-F6A8-F844-B10B-589750594621}"/>
              </a:ext>
            </a:extLst>
          </p:cNvPr>
          <p:cNvSpPr txBox="1">
            <a:spLocks noChangeArrowheads="1"/>
          </p:cNvSpPr>
          <p:nvPr/>
        </p:nvSpPr>
        <p:spPr bwMode="auto">
          <a:xfrm>
            <a:off x="1675679" y="1775222"/>
            <a:ext cx="1675460"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u="sng" kern="0" dirty="0">
                <a:solidFill>
                  <a:srgbClr val="000099"/>
                </a:solidFill>
              </a:rPr>
              <a:t>sender window (N=4)</a:t>
            </a:r>
          </a:p>
        </p:txBody>
      </p:sp>
      <p:grpSp>
        <p:nvGrpSpPr>
          <p:cNvPr id="4" name="Group 3">
            <a:extLst>
              <a:ext uri="{FF2B5EF4-FFF2-40B4-BE49-F238E27FC236}">
                <a16:creationId xmlns:a16="http://schemas.microsoft.com/office/drawing/2014/main" id="{76DDE7CA-1E78-DA4A-AE1B-74DF7C479CF1}"/>
              </a:ext>
            </a:extLst>
          </p:cNvPr>
          <p:cNvGrpSpPr/>
          <p:nvPr/>
        </p:nvGrpSpPr>
        <p:grpSpPr>
          <a:xfrm>
            <a:off x="1707356" y="2034780"/>
            <a:ext cx="1200149" cy="888207"/>
            <a:chOff x="2276475" y="1570039"/>
            <a:chExt cx="1600200" cy="1184276"/>
          </a:xfrm>
        </p:grpSpPr>
        <p:grpSp>
          <p:nvGrpSpPr>
            <p:cNvPr id="140" name="Group 65">
              <a:extLst>
                <a:ext uri="{FF2B5EF4-FFF2-40B4-BE49-F238E27FC236}">
                  <a16:creationId xmlns:a16="http://schemas.microsoft.com/office/drawing/2014/main" id="{931A5080-440D-784B-A586-03D399A7E982}"/>
                </a:ext>
              </a:extLst>
            </p:cNvPr>
            <p:cNvGrpSpPr>
              <a:grpSpLocks/>
            </p:cNvGrpSpPr>
            <p:nvPr/>
          </p:nvGrpSpPr>
          <p:grpSpPr bwMode="auto">
            <a:xfrm>
              <a:off x="2279650" y="1570039"/>
              <a:ext cx="1592262" cy="338138"/>
              <a:chOff x="89" y="914"/>
              <a:chExt cx="1003" cy="213"/>
            </a:xfrm>
          </p:grpSpPr>
          <p:sp>
            <p:nvSpPr>
              <p:cNvPr id="141" name="Rectangle 60">
                <a:extLst>
                  <a:ext uri="{FF2B5EF4-FFF2-40B4-BE49-F238E27FC236}">
                    <a16:creationId xmlns:a16="http://schemas.microsoft.com/office/drawing/2014/main" id="{B26ABC90-7E5F-8A4E-8270-EAE554611A43}"/>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2" name="Text Box 46">
                <a:extLst>
                  <a:ext uri="{FF2B5EF4-FFF2-40B4-BE49-F238E27FC236}">
                    <a16:creationId xmlns:a16="http://schemas.microsoft.com/office/drawing/2014/main" id="{7BFA6562-0DAC-EB45-9C52-212661A48237}"/>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4" name="Group 67">
              <a:extLst>
                <a:ext uri="{FF2B5EF4-FFF2-40B4-BE49-F238E27FC236}">
                  <a16:creationId xmlns:a16="http://schemas.microsoft.com/office/drawing/2014/main" id="{58213E82-566B-494B-9703-4038DD2EF040}"/>
                </a:ext>
              </a:extLst>
            </p:cNvPr>
            <p:cNvGrpSpPr>
              <a:grpSpLocks/>
            </p:cNvGrpSpPr>
            <p:nvPr/>
          </p:nvGrpSpPr>
          <p:grpSpPr bwMode="auto">
            <a:xfrm>
              <a:off x="2276475" y="1855789"/>
              <a:ext cx="1592262" cy="338138"/>
              <a:chOff x="89" y="914"/>
              <a:chExt cx="1003" cy="213"/>
            </a:xfrm>
          </p:grpSpPr>
          <p:sp>
            <p:nvSpPr>
              <p:cNvPr id="145" name="Rectangle 68">
                <a:extLst>
                  <a:ext uri="{FF2B5EF4-FFF2-40B4-BE49-F238E27FC236}">
                    <a16:creationId xmlns:a16="http://schemas.microsoft.com/office/drawing/2014/main" id="{4568CC56-ACBD-D74D-BF0B-726A16BC810C}"/>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6" name="Text Box 69">
                <a:extLst>
                  <a:ext uri="{FF2B5EF4-FFF2-40B4-BE49-F238E27FC236}">
                    <a16:creationId xmlns:a16="http://schemas.microsoft.com/office/drawing/2014/main" id="{407928DF-AB75-9C4A-93E1-B6C00F1ED1ED}"/>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47" name="Group 70">
              <a:extLst>
                <a:ext uri="{FF2B5EF4-FFF2-40B4-BE49-F238E27FC236}">
                  <a16:creationId xmlns:a16="http://schemas.microsoft.com/office/drawing/2014/main" id="{00B20D72-C787-994E-A325-6842B818626F}"/>
                </a:ext>
              </a:extLst>
            </p:cNvPr>
            <p:cNvGrpSpPr>
              <a:grpSpLocks/>
            </p:cNvGrpSpPr>
            <p:nvPr/>
          </p:nvGrpSpPr>
          <p:grpSpPr bwMode="auto">
            <a:xfrm>
              <a:off x="2284412" y="2141539"/>
              <a:ext cx="1592263" cy="338138"/>
              <a:chOff x="89" y="914"/>
              <a:chExt cx="1003" cy="213"/>
            </a:xfrm>
          </p:grpSpPr>
          <p:sp>
            <p:nvSpPr>
              <p:cNvPr id="148" name="Rectangle 71">
                <a:extLst>
                  <a:ext uri="{FF2B5EF4-FFF2-40B4-BE49-F238E27FC236}">
                    <a16:creationId xmlns:a16="http://schemas.microsoft.com/office/drawing/2014/main" id="{CB23F592-B205-C747-BC5C-8DED1F25489A}"/>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49" name="Text Box 72">
                <a:extLst>
                  <a:ext uri="{FF2B5EF4-FFF2-40B4-BE49-F238E27FC236}">
                    <a16:creationId xmlns:a16="http://schemas.microsoft.com/office/drawing/2014/main" id="{3023C1E8-641E-D34A-BDDD-05F2D4DF44B2}"/>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nvGrpSpPr>
            <p:cNvPr id="150" name="Group 73">
              <a:extLst>
                <a:ext uri="{FF2B5EF4-FFF2-40B4-BE49-F238E27FC236}">
                  <a16:creationId xmlns:a16="http://schemas.microsoft.com/office/drawing/2014/main" id="{40BB12DF-C4A4-6A41-A0BD-D8F19F8C262D}"/>
                </a:ext>
              </a:extLst>
            </p:cNvPr>
            <p:cNvGrpSpPr>
              <a:grpSpLocks/>
            </p:cNvGrpSpPr>
            <p:nvPr/>
          </p:nvGrpSpPr>
          <p:grpSpPr bwMode="auto">
            <a:xfrm>
              <a:off x="2281237" y="2416177"/>
              <a:ext cx="1592263" cy="338138"/>
              <a:chOff x="89" y="914"/>
              <a:chExt cx="1003" cy="213"/>
            </a:xfrm>
          </p:grpSpPr>
          <p:sp>
            <p:nvSpPr>
              <p:cNvPr id="151" name="Rectangle 74">
                <a:extLst>
                  <a:ext uri="{FF2B5EF4-FFF2-40B4-BE49-F238E27FC236}">
                    <a16:creationId xmlns:a16="http://schemas.microsoft.com/office/drawing/2014/main" id="{89CB1498-6077-D041-AC57-35BA218CB0F4}"/>
                  </a:ext>
                </a:extLst>
              </p:cNvPr>
              <p:cNvSpPr>
                <a:spLocks noChangeArrowheads="1"/>
              </p:cNvSpPr>
              <p:nvPr/>
            </p:nvSpPr>
            <p:spPr bwMode="auto">
              <a:xfrm>
                <a:off x="152" y="936"/>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52" name="Text Box 75">
                <a:extLst>
                  <a:ext uri="{FF2B5EF4-FFF2-40B4-BE49-F238E27FC236}">
                    <a16:creationId xmlns:a16="http://schemas.microsoft.com/office/drawing/2014/main" id="{51265616-94AA-1940-B75F-94B688FDD5BE}"/>
                  </a:ext>
                </a:extLst>
              </p:cNvPr>
              <p:cNvSpPr txBox="1">
                <a:spLocks noChangeArrowheads="1"/>
              </p:cNvSpPr>
              <p:nvPr/>
            </p:nvSpPr>
            <p:spPr bwMode="auto">
              <a:xfrm>
                <a:off x="89" y="914"/>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FFFFFF"/>
                    </a:solidFill>
                    <a:latin typeface="Arial" charset="0"/>
                  </a:rPr>
                  <a:t>0 1 2 3 </a:t>
                </a:r>
                <a:r>
                  <a:rPr lang="en-US" sz="1050" dirty="0">
                    <a:solidFill>
                      <a:srgbClr val="000000"/>
                    </a:solidFill>
                    <a:latin typeface="Arial" charset="0"/>
                  </a:rPr>
                  <a:t>4 5 6 7 8 </a:t>
                </a:r>
              </a:p>
            </p:txBody>
          </p:sp>
        </p:grpSp>
      </p:grpSp>
      <p:grpSp>
        <p:nvGrpSpPr>
          <p:cNvPr id="8" name="Group 7">
            <a:extLst>
              <a:ext uri="{FF2B5EF4-FFF2-40B4-BE49-F238E27FC236}">
                <a16:creationId xmlns:a16="http://schemas.microsoft.com/office/drawing/2014/main" id="{453FA832-3142-3345-8926-97B188BFCE5C}"/>
              </a:ext>
            </a:extLst>
          </p:cNvPr>
          <p:cNvGrpSpPr/>
          <p:nvPr/>
        </p:nvGrpSpPr>
        <p:grpSpPr>
          <a:xfrm>
            <a:off x="1709557" y="3208733"/>
            <a:ext cx="2842204" cy="300082"/>
            <a:chOff x="2279410" y="3135312"/>
            <a:chExt cx="3789605" cy="400109"/>
          </a:xfrm>
        </p:grpSpPr>
        <p:sp>
          <p:nvSpPr>
            <p:cNvPr id="153" name="Rectangle 79">
              <a:extLst>
                <a:ext uri="{FF2B5EF4-FFF2-40B4-BE49-F238E27FC236}">
                  <a16:creationId xmlns:a16="http://schemas.microsoft.com/office/drawing/2014/main" id="{136FFCEA-08CB-4B46-986C-2B7FBEB6B3C9}"/>
                </a:ext>
              </a:extLst>
            </p:cNvPr>
            <p:cNvSpPr>
              <a:spLocks noChangeArrowheads="1"/>
            </p:cNvSpPr>
            <p:nvPr/>
          </p:nvSpPr>
          <p:spPr bwMode="auto">
            <a:xfrm>
              <a:off x="2533650" y="3221037"/>
              <a:ext cx="628650" cy="228600"/>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6" name="Group 5">
              <a:extLst>
                <a:ext uri="{FF2B5EF4-FFF2-40B4-BE49-F238E27FC236}">
                  <a16:creationId xmlns:a16="http://schemas.microsoft.com/office/drawing/2014/main" id="{D1DC4FE7-5ADF-3340-99A4-F8E562CC9D77}"/>
                </a:ext>
              </a:extLst>
            </p:cNvPr>
            <p:cNvGrpSpPr/>
            <p:nvPr/>
          </p:nvGrpSpPr>
          <p:grpSpPr>
            <a:xfrm>
              <a:off x="2279410" y="3135312"/>
              <a:ext cx="3789605" cy="400109"/>
              <a:chOff x="2279410" y="3135312"/>
              <a:chExt cx="3789605" cy="400109"/>
            </a:xfrm>
          </p:grpSpPr>
          <p:sp>
            <p:nvSpPr>
              <p:cNvPr id="113" name="Text Box 22">
                <a:extLst>
                  <a:ext uri="{FF2B5EF4-FFF2-40B4-BE49-F238E27FC236}">
                    <a16:creationId xmlns:a16="http://schemas.microsoft.com/office/drawing/2014/main" id="{E3AAA9D4-24A2-9445-B632-A99BE73DC655}"/>
                  </a:ext>
                </a:extLst>
              </p:cNvPr>
              <p:cNvSpPr txBox="1">
                <a:spLocks noChangeArrowheads="1"/>
              </p:cNvSpPr>
              <p:nvPr/>
            </p:nvSpPr>
            <p:spPr bwMode="auto">
              <a:xfrm>
                <a:off x="3753038" y="3135312"/>
                <a:ext cx="2315977" cy="4001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rcv ack0, send pkt4</a:t>
                </a:r>
              </a:p>
            </p:txBody>
          </p:sp>
          <p:sp>
            <p:nvSpPr>
              <p:cNvPr id="154" name="Text Box 80">
                <a:extLst>
                  <a:ext uri="{FF2B5EF4-FFF2-40B4-BE49-F238E27FC236}">
                    <a16:creationId xmlns:a16="http://schemas.microsoft.com/office/drawing/2014/main" id="{60379420-DE18-E947-A726-0A6ECF67B96A}"/>
                  </a:ext>
                </a:extLst>
              </p:cNvPr>
              <p:cNvSpPr txBox="1">
                <a:spLocks noChangeArrowheads="1"/>
              </p:cNvSpPr>
              <p:nvPr/>
            </p:nvSpPr>
            <p:spPr bwMode="auto">
              <a:xfrm>
                <a:off x="2279410" y="3186112"/>
                <a:ext cx="1592744"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a:t>
                </a:r>
                <a:r>
                  <a:rPr lang="en-US" sz="1050" dirty="0">
                    <a:solidFill>
                      <a:srgbClr val="FFFFFF"/>
                    </a:solidFill>
                    <a:latin typeface="Arial" charset="0"/>
                  </a:rPr>
                  <a:t>1 2 3 4</a:t>
                </a:r>
                <a:r>
                  <a:rPr lang="en-US" sz="1050" dirty="0">
                    <a:solidFill>
                      <a:srgbClr val="000000"/>
                    </a:solidFill>
                    <a:latin typeface="Arial" charset="0"/>
                  </a:rPr>
                  <a:t> 5 6 7 8 </a:t>
                </a:r>
              </a:p>
            </p:txBody>
          </p:sp>
        </p:grpSp>
      </p:grpSp>
      <p:grpSp>
        <p:nvGrpSpPr>
          <p:cNvPr id="10" name="Group 9">
            <a:extLst>
              <a:ext uri="{FF2B5EF4-FFF2-40B4-BE49-F238E27FC236}">
                <a16:creationId xmlns:a16="http://schemas.microsoft.com/office/drawing/2014/main" id="{1269BB31-73E3-7544-97DE-32AB0574DD7B}"/>
              </a:ext>
            </a:extLst>
          </p:cNvPr>
          <p:cNvGrpSpPr/>
          <p:nvPr/>
        </p:nvGrpSpPr>
        <p:grpSpPr>
          <a:xfrm>
            <a:off x="1697832" y="4423176"/>
            <a:ext cx="1200151" cy="813198"/>
            <a:chOff x="2263775" y="4754567"/>
            <a:chExt cx="1600200" cy="1084263"/>
          </a:xfrm>
        </p:grpSpPr>
        <p:grpSp>
          <p:nvGrpSpPr>
            <p:cNvPr id="158" name="Group 85">
              <a:extLst>
                <a:ext uri="{FF2B5EF4-FFF2-40B4-BE49-F238E27FC236}">
                  <a16:creationId xmlns:a16="http://schemas.microsoft.com/office/drawing/2014/main" id="{03417B8E-F478-8C46-B780-7DF3A846A09A}"/>
                </a:ext>
              </a:extLst>
            </p:cNvPr>
            <p:cNvGrpSpPr>
              <a:grpSpLocks/>
            </p:cNvGrpSpPr>
            <p:nvPr/>
          </p:nvGrpSpPr>
          <p:grpSpPr bwMode="auto">
            <a:xfrm>
              <a:off x="2263775" y="4754567"/>
              <a:ext cx="1592263" cy="338138"/>
              <a:chOff x="86" y="2105"/>
              <a:chExt cx="1003" cy="213"/>
            </a:xfrm>
          </p:grpSpPr>
          <p:sp>
            <p:nvSpPr>
              <p:cNvPr id="159" name="Rectangle 86">
                <a:extLst>
                  <a:ext uri="{FF2B5EF4-FFF2-40B4-BE49-F238E27FC236}">
                    <a16:creationId xmlns:a16="http://schemas.microsoft.com/office/drawing/2014/main" id="{51D5A277-3EBC-904A-AC8D-23CF45D5EF67}"/>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0" name="Text Box 87">
                <a:extLst>
                  <a:ext uri="{FF2B5EF4-FFF2-40B4-BE49-F238E27FC236}">
                    <a16:creationId xmlns:a16="http://schemas.microsoft.com/office/drawing/2014/main" id="{B4DADF2A-5673-3046-9E59-DCC911CA29C8}"/>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1" name="Group 88">
              <a:extLst>
                <a:ext uri="{FF2B5EF4-FFF2-40B4-BE49-F238E27FC236}">
                  <a16:creationId xmlns:a16="http://schemas.microsoft.com/office/drawing/2014/main" id="{73C5048A-4F54-D24B-B928-04D9BDFC162C}"/>
                </a:ext>
              </a:extLst>
            </p:cNvPr>
            <p:cNvGrpSpPr>
              <a:grpSpLocks/>
            </p:cNvGrpSpPr>
            <p:nvPr/>
          </p:nvGrpSpPr>
          <p:grpSpPr bwMode="auto">
            <a:xfrm>
              <a:off x="2271712" y="4995867"/>
              <a:ext cx="1592263" cy="338138"/>
              <a:chOff x="86" y="2105"/>
              <a:chExt cx="1003" cy="213"/>
            </a:xfrm>
          </p:grpSpPr>
          <p:sp>
            <p:nvSpPr>
              <p:cNvPr id="162" name="Rectangle 89">
                <a:extLst>
                  <a:ext uri="{FF2B5EF4-FFF2-40B4-BE49-F238E27FC236}">
                    <a16:creationId xmlns:a16="http://schemas.microsoft.com/office/drawing/2014/main" id="{2DE076E2-D66C-3A41-9D7C-1EAD271BB244}"/>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3" name="Text Box 90">
                <a:extLst>
                  <a:ext uri="{FF2B5EF4-FFF2-40B4-BE49-F238E27FC236}">
                    <a16:creationId xmlns:a16="http://schemas.microsoft.com/office/drawing/2014/main" id="{4E90CC58-BC14-8A46-9EF1-B2445A87ACD6}"/>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4" name="Group 91">
              <a:extLst>
                <a:ext uri="{FF2B5EF4-FFF2-40B4-BE49-F238E27FC236}">
                  <a16:creationId xmlns:a16="http://schemas.microsoft.com/office/drawing/2014/main" id="{FC55D8F5-B4F7-874A-8587-FEFF1658A4DF}"/>
                </a:ext>
              </a:extLst>
            </p:cNvPr>
            <p:cNvGrpSpPr>
              <a:grpSpLocks/>
            </p:cNvGrpSpPr>
            <p:nvPr/>
          </p:nvGrpSpPr>
          <p:grpSpPr bwMode="auto">
            <a:xfrm>
              <a:off x="2268537" y="5259392"/>
              <a:ext cx="1592263" cy="338138"/>
              <a:chOff x="86" y="2105"/>
              <a:chExt cx="1003" cy="213"/>
            </a:xfrm>
          </p:grpSpPr>
          <p:sp>
            <p:nvSpPr>
              <p:cNvPr id="165" name="Rectangle 92">
                <a:extLst>
                  <a:ext uri="{FF2B5EF4-FFF2-40B4-BE49-F238E27FC236}">
                    <a16:creationId xmlns:a16="http://schemas.microsoft.com/office/drawing/2014/main" id="{5F79878B-FB81-654E-BD8D-25D0529EEA5B}"/>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6" name="Text Box 93">
                <a:extLst>
                  <a:ext uri="{FF2B5EF4-FFF2-40B4-BE49-F238E27FC236}">
                    <a16:creationId xmlns:a16="http://schemas.microsoft.com/office/drawing/2014/main" id="{1562EC1E-E59B-7944-A04F-448394E225AD}"/>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nvGrpSpPr>
            <p:cNvPr id="167" name="Group 94">
              <a:extLst>
                <a:ext uri="{FF2B5EF4-FFF2-40B4-BE49-F238E27FC236}">
                  <a16:creationId xmlns:a16="http://schemas.microsoft.com/office/drawing/2014/main" id="{D2F62372-EF14-F24B-B336-E5FA5F73E441}"/>
                </a:ext>
              </a:extLst>
            </p:cNvPr>
            <p:cNvGrpSpPr>
              <a:grpSpLocks/>
            </p:cNvGrpSpPr>
            <p:nvPr/>
          </p:nvGrpSpPr>
          <p:grpSpPr bwMode="auto">
            <a:xfrm>
              <a:off x="2265362" y="5500692"/>
              <a:ext cx="1592263" cy="338138"/>
              <a:chOff x="86" y="2105"/>
              <a:chExt cx="1003" cy="213"/>
            </a:xfrm>
          </p:grpSpPr>
          <p:sp>
            <p:nvSpPr>
              <p:cNvPr id="168" name="Rectangle 95">
                <a:extLst>
                  <a:ext uri="{FF2B5EF4-FFF2-40B4-BE49-F238E27FC236}">
                    <a16:creationId xmlns:a16="http://schemas.microsoft.com/office/drawing/2014/main" id="{BCA2899F-BA48-C640-8ADB-7E90D0337123}"/>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69" name="Text Box 96">
                <a:extLst>
                  <a:ext uri="{FF2B5EF4-FFF2-40B4-BE49-F238E27FC236}">
                    <a16:creationId xmlns:a16="http://schemas.microsoft.com/office/drawing/2014/main" id="{8A067021-ACF5-964B-98EA-A0B6BE082C42}"/>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grpSp>
      <p:grpSp>
        <p:nvGrpSpPr>
          <p:cNvPr id="13" name="Group 12">
            <a:extLst>
              <a:ext uri="{FF2B5EF4-FFF2-40B4-BE49-F238E27FC236}">
                <a16:creationId xmlns:a16="http://schemas.microsoft.com/office/drawing/2014/main" id="{59C661FF-CD5C-6E4B-970B-3DCF09E317A2}"/>
              </a:ext>
            </a:extLst>
          </p:cNvPr>
          <p:cNvGrpSpPr/>
          <p:nvPr/>
        </p:nvGrpSpPr>
        <p:grpSpPr>
          <a:xfrm>
            <a:off x="5347097" y="3764757"/>
            <a:ext cx="779860" cy="654844"/>
            <a:chOff x="7129462" y="3876675"/>
            <a:chExt cx="1039813" cy="873125"/>
          </a:xfrm>
        </p:grpSpPr>
        <p:sp>
          <p:nvSpPr>
            <p:cNvPr id="170" name="Line 98">
              <a:extLst>
                <a:ext uri="{FF2B5EF4-FFF2-40B4-BE49-F238E27FC236}">
                  <a16:creationId xmlns:a16="http://schemas.microsoft.com/office/drawing/2014/main" id="{E4B1EB39-53C3-8344-8ADA-9E76B91AB89A}"/>
                </a:ext>
              </a:extLst>
            </p:cNvPr>
            <p:cNvSpPr>
              <a:spLocks noChangeShapeType="1"/>
            </p:cNvSpPr>
            <p:nvPr/>
          </p:nvSpPr>
          <p:spPr bwMode="auto">
            <a:xfrm flipH="1">
              <a:off x="7129462" y="3876675"/>
              <a:ext cx="1033463" cy="56356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71" name="Line 99">
              <a:extLst>
                <a:ext uri="{FF2B5EF4-FFF2-40B4-BE49-F238E27FC236}">
                  <a16:creationId xmlns:a16="http://schemas.microsoft.com/office/drawing/2014/main" id="{A383D701-6209-8C45-966C-F73AADF8A621}"/>
                </a:ext>
              </a:extLst>
            </p:cNvPr>
            <p:cNvSpPr>
              <a:spLocks noChangeShapeType="1"/>
            </p:cNvSpPr>
            <p:nvPr/>
          </p:nvSpPr>
          <p:spPr bwMode="auto">
            <a:xfrm flipH="1">
              <a:off x="7135812" y="4186237"/>
              <a:ext cx="1033463" cy="563563"/>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sp>
        <p:nvSpPr>
          <p:cNvPr id="172" name="Line 100">
            <a:extLst>
              <a:ext uri="{FF2B5EF4-FFF2-40B4-BE49-F238E27FC236}">
                <a16:creationId xmlns:a16="http://schemas.microsoft.com/office/drawing/2014/main" id="{50E2BD6B-ADC1-C84D-8DBB-656FE09D31D3}"/>
              </a:ext>
            </a:extLst>
          </p:cNvPr>
          <p:cNvSpPr>
            <a:spLocks noChangeShapeType="1"/>
          </p:cNvSpPr>
          <p:nvPr/>
        </p:nvSpPr>
        <p:spPr bwMode="auto">
          <a:xfrm flipH="1">
            <a:off x="5367337" y="4889897"/>
            <a:ext cx="775097" cy="422672"/>
          </a:xfrm>
          <a:prstGeom prst="line">
            <a:avLst/>
          </a:prstGeom>
          <a:noFill/>
          <a:ln w="28575">
            <a:solidFill>
              <a:srgbClr val="008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grpSp>
        <p:nvGrpSpPr>
          <p:cNvPr id="7" name="Group 6">
            <a:extLst>
              <a:ext uri="{FF2B5EF4-FFF2-40B4-BE49-F238E27FC236}">
                <a16:creationId xmlns:a16="http://schemas.microsoft.com/office/drawing/2014/main" id="{FBA17A60-2A45-964D-961F-A44FDA1E12F8}"/>
              </a:ext>
            </a:extLst>
          </p:cNvPr>
          <p:cNvGrpSpPr/>
          <p:nvPr/>
        </p:nvGrpSpPr>
        <p:grpSpPr>
          <a:xfrm>
            <a:off x="1706165" y="3446862"/>
            <a:ext cx="2845594" cy="300082"/>
            <a:chOff x="2274887" y="3452813"/>
            <a:chExt cx="3794125" cy="400108"/>
          </a:xfrm>
        </p:grpSpPr>
        <p:grpSp>
          <p:nvGrpSpPr>
            <p:cNvPr id="155" name="Group 84">
              <a:extLst>
                <a:ext uri="{FF2B5EF4-FFF2-40B4-BE49-F238E27FC236}">
                  <a16:creationId xmlns:a16="http://schemas.microsoft.com/office/drawing/2014/main" id="{F747F193-29E4-2141-AA7E-B7B6D30FD8F8}"/>
                </a:ext>
              </a:extLst>
            </p:cNvPr>
            <p:cNvGrpSpPr>
              <a:grpSpLocks/>
            </p:cNvGrpSpPr>
            <p:nvPr/>
          </p:nvGrpSpPr>
          <p:grpSpPr bwMode="auto">
            <a:xfrm>
              <a:off x="2274887" y="3460755"/>
              <a:ext cx="1592263" cy="338138"/>
              <a:chOff x="86" y="2105"/>
              <a:chExt cx="1003" cy="213"/>
            </a:xfrm>
          </p:grpSpPr>
          <p:sp>
            <p:nvSpPr>
              <p:cNvPr id="156" name="Rectangle 82">
                <a:extLst>
                  <a:ext uri="{FF2B5EF4-FFF2-40B4-BE49-F238E27FC236}">
                    <a16:creationId xmlns:a16="http://schemas.microsoft.com/office/drawing/2014/main" id="{D67393F3-D1F3-2847-92CB-862D70806A1E}"/>
                  </a:ext>
                </a:extLst>
              </p:cNvPr>
              <p:cNvSpPr>
                <a:spLocks noChangeArrowheads="1"/>
              </p:cNvSpPr>
              <p:nvPr/>
            </p:nvSpPr>
            <p:spPr bwMode="auto">
              <a:xfrm>
                <a:off x="338" y="2127"/>
                <a:ext cx="396" cy="144"/>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defTabSz="685800" eaLnBrk="0" fontAlgn="base" hangingPunct="0">
                  <a:spcBef>
                    <a:spcPct val="0"/>
                  </a:spcBef>
                  <a:spcAft>
                    <a:spcPct val="0"/>
                  </a:spcAft>
                  <a:defRPr/>
                </a:pPr>
                <a:endParaRPr lang="en-US" sz="1200" dirty="0">
                  <a:solidFill>
                    <a:srgbClr val="000000"/>
                  </a:solidFill>
                  <a:latin typeface="Tahoma" charset="0"/>
                  <a:ea typeface="ＭＳ Ｐゴシック" charset="0"/>
                </a:endParaRPr>
              </a:p>
            </p:txBody>
          </p:sp>
          <p:sp>
            <p:nvSpPr>
              <p:cNvPr id="157" name="Text Box 83">
                <a:extLst>
                  <a:ext uri="{FF2B5EF4-FFF2-40B4-BE49-F238E27FC236}">
                    <a16:creationId xmlns:a16="http://schemas.microsoft.com/office/drawing/2014/main" id="{4ACB79AA-81A1-824F-B374-FE28920BA23C}"/>
                  </a:ext>
                </a:extLst>
              </p:cNvPr>
              <p:cNvSpPr txBox="1">
                <a:spLocks noChangeArrowheads="1"/>
              </p:cNvSpPr>
              <p:nvPr/>
            </p:nvSpPr>
            <p:spPr bwMode="auto">
              <a:xfrm>
                <a:off x="86" y="2105"/>
                <a:ext cx="1003" cy="2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dirty="0">
                    <a:solidFill>
                      <a:srgbClr val="000000"/>
                    </a:solidFill>
                    <a:latin typeface="Arial" charset="0"/>
                  </a:rPr>
                  <a:t>0 1</a:t>
                </a:r>
                <a:r>
                  <a:rPr lang="en-US" sz="1050" dirty="0">
                    <a:solidFill>
                      <a:srgbClr val="FFFFFF"/>
                    </a:solidFill>
                    <a:latin typeface="Arial" charset="0"/>
                  </a:rPr>
                  <a:t> 2 3 4 5</a:t>
                </a:r>
                <a:r>
                  <a:rPr lang="en-US" sz="1050" dirty="0">
                    <a:solidFill>
                      <a:srgbClr val="000000"/>
                    </a:solidFill>
                    <a:latin typeface="Arial" charset="0"/>
                  </a:rPr>
                  <a:t> 6 7 8 </a:t>
                </a:r>
              </a:p>
            </p:txBody>
          </p:sp>
        </p:grpSp>
        <p:sp>
          <p:nvSpPr>
            <p:cNvPr id="74" name="Text Box 22">
              <a:extLst>
                <a:ext uri="{FF2B5EF4-FFF2-40B4-BE49-F238E27FC236}">
                  <a16:creationId xmlns:a16="http://schemas.microsoft.com/office/drawing/2014/main" id="{112AB488-4C54-7D47-830A-D3403F86F18E}"/>
                </a:ext>
              </a:extLst>
            </p:cNvPr>
            <p:cNvSpPr txBox="1">
              <a:spLocks noChangeArrowheads="1"/>
            </p:cNvSpPr>
            <p:nvPr/>
          </p:nvSpPr>
          <p:spPr bwMode="auto">
            <a:xfrm>
              <a:off x="3749862" y="3452813"/>
              <a:ext cx="2319150" cy="400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r" defTabSz="685800" eaLnBrk="0" fontAlgn="base" hangingPunct="0">
                <a:spcBef>
                  <a:spcPct val="0"/>
                </a:spcBef>
                <a:spcAft>
                  <a:spcPct val="0"/>
                </a:spcAft>
                <a:defRPr/>
              </a:pPr>
              <a:r>
                <a:rPr lang="en-US" sz="1350" kern="0" dirty="0">
                  <a:solidFill>
                    <a:srgbClr val="000000"/>
                  </a:solidFill>
                </a:rPr>
                <a:t>rcv ack1, send pkt5</a:t>
              </a:r>
            </a:p>
          </p:txBody>
        </p:sp>
      </p:grpSp>
      <p:sp>
        <p:nvSpPr>
          <p:cNvPr id="79" name="Line 14">
            <a:extLst>
              <a:ext uri="{FF2B5EF4-FFF2-40B4-BE49-F238E27FC236}">
                <a16:creationId xmlns:a16="http://schemas.microsoft.com/office/drawing/2014/main" id="{7310A5FB-4554-E045-9214-7084F7E862DB}"/>
              </a:ext>
            </a:extLst>
          </p:cNvPr>
          <p:cNvSpPr>
            <a:spLocks noChangeShapeType="1"/>
          </p:cNvSpPr>
          <p:nvPr/>
        </p:nvSpPr>
        <p:spPr bwMode="auto">
          <a:xfrm>
            <a:off x="4527947" y="2066925"/>
            <a:ext cx="5954" cy="321945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algn="ctr" defTabSz="685800" eaLnBrk="0" fontAlgn="base" hangingPunct="0">
              <a:spcBef>
                <a:spcPct val="0"/>
              </a:spcBef>
              <a:spcAft>
                <a:spcPct val="0"/>
              </a:spcAft>
              <a:defRPr/>
            </a:pPr>
            <a:endParaRPr lang="en-US" sz="1200" kern="0" dirty="0">
              <a:solidFill>
                <a:srgbClr val="000000"/>
              </a:solidFill>
              <a:latin typeface="Tahoma" charset="0"/>
              <a:ea typeface="ＭＳ Ｐゴシック" charset="0"/>
            </a:endParaRPr>
          </a:p>
        </p:txBody>
      </p:sp>
      <p:sp>
        <p:nvSpPr>
          <p:cNvPr id="83" name="Text Box 8">
            <a:extLst>
              <a:ext uri="{FF2B5EF4-FFF2-40B4-BE49-F238E27FC236}">
                <a16:creationId xmlns:a16="http://schemas.microsoft.com/office/drawing/2014/main" id="{BABEA9E2-FB48-7943-B33A-C867AB1A6D4D}"/>
              </a:ext>
            </a:extLst>
          </p:cNvPr>
          <p:cNvSpPr txBox="1">
            <a:spLocks noChangeArrowheads="1"/>
          </p:cNvSpPr>
          <p:nvPr/>
        </p:nvSpPr>
        <p:spPr bwMode="auto">
          <a:xfrm>
            <a:off x="6091749" y="2359819"/>
            <a:ext cx="1992853" cy="11310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pkt0, send ack0</a:t>
            </a:r>
          </a:p>
          <a:p>
            <a:pPr defTabSz="685800" eaLnBrk="0" fontAlgn="base" hangingPunct="0">
              <a:spcBef>
                <a:spcPct val="0"/>
              </a:spcBef>
              <a:spcAft>
                <a:spcPct val="0"/>
              </a:spcAft>
              <a:defRPr/>
            </a:pPr>
            <a:r>
              <a:rPr lang="en-US" sz="1350" kern="0" dirty="0">
                <a:solidFill>
                  <a:srgbClr val="000000"/>
                </a:solidFill>
              </a:rPr>
              <a:t>receive pkt1, send ack1</a:t>
            </a:r>
          </a:p>
          <a:p>
            <a:pPr defTabSz="685800" eaLnBrk="0" fontAlgn="base" hangingPunct="0">
              <a:spcBef>
                <a:spcPct val="0"/>
              </a:spcBef>
              <a:spcAft>
                <a:spcPct val="0"/>
              </a:spcAft>
              <a:defRPr/>
            </a:pPr>
            <a:r>
              <a:rPr lang="en-US" sz="1350" kern="0" dirty="0">
                <a:solidFill>
                  <a:srgbClr val="000000"/>
                </a:solidFill>
              </a:rPr>
              <a:t> </a:t>
            </a:r>
          </a:p>
          <a:p>
            <a:pPr defTabSz="685800" eaLnBrk="0" fontAlgn="base" hangingPunct="0">
              <a:spcBef>
                <a:spcPct val="0"/>
              </a:spcBef>
              <a:spcAft>
                <a:spcPct val="0"/>
              </a:spcAft>
              <a:defRPr/>
            </a:pPr>
            <a:r>
              <a:rPr lang="en-US" sz="1350" kern="0" dirty="0">
                <a:solidFill>
                  <a:srgbClr val="000000"/>
                </a:solidFill>
              </a:rPr>
              <a:t>receive pkt3, </a:t>
            </a:r>
            <a:r>
              <a:rPr lang="en-US" sz="1350" kern="0" dirty="0">
                <a:solidFill>
                  <a:srgbClr val="C00000"/>
                </a:solidFill>
              </a:rPr>
              <a:t>buffer</a:t>
            </a:r>
            <a:r>
              <a:rPr lang="en-US" sz="1350" kern="0" dirty="0">
                <a:solidFill>
                  <a:srgbClr val="000000"/>
                </a:solidFill>
              </a:rPr>
              <a:t>, </a:t>
            </a:r>
          </a:p>
          <a:p>
            <a:pPr defTabSz="685800" eaLnBrk="0" fontAlgn="base" hangingPunct="0">
              <a:spcBef>
                <a:spcPct val="0"/>
              </a:spcBef>
              <a:spcAft>
                <a:spcPct val="0"/>
              </a:spcAft>
              <a:defRPr/>
            </a:pPr>
            <a:r>
              <a:rPr lang="en-US" sz="1350" kern="0" dirty="0">
                <a:solidFill>
                  <a:srgbClr val="000000"/>
                </a:solidFill>
              </a:rPr>
              <a:t>           </a:t>
            </a:r>
            <a:r>
              <a:rPr lang="en-US" sz="1350" kern="0" dirty="0">
                <a:solidFill>
                  <a:srgbClr val="C00000"/>
                </a:solidFill>
              </a:rPr>
              <a:t>send ack3</a:t>
            </a:r>
          </a:p>
        </p:txBody>
      </p:sp>
      <p:sp>
        <p:nvSpPr>
          <p:cNvPr id="84" name="Text Box 36">
            <a:extLst>
              <a:ext uri="{FF2B5EF4-FFF2-40B4-BE49-F238E27FC236}">
                <a16:creationId xmlns:a16="http://schemas.microsoft.com/office/drawing/2014/main" id="{325F31E4-5A9D-1040-8789-38B287C19C3E}"/>
              </a:ext>
            </a:extLst>
          </p:cNvPr>
          <p:cNvSpPr txBox="1">
            <a:spLocks noChangeArrowheads="1"/>
          </p:cNvSpPr>
          <p:nvPr/>
        </p:nvSpPr>
        <p:spPr bwMode="auto">
          <a:xfrm>
            <a:off x="3265769" y="3832622"/>
            <a:ext cx="1327608" cy="253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050" kern="0" dirty="0">
                <a:solidFill>
                  <a:srgbClr val="C00000"/>
                </a:solidFill>
              </a:rPr>
              <a:t>record ack3 arrived</a:t>
            </a:r>
          </a:p>
        </p:txBody>
      </p:sp>
      <p:sp>
        <p:nvSpPr>
          <p:cNvPr id="85" name="Text Box 33">
            <a:extLst>
              <a:ext uri="{FF2B5EF4-FFF2-40B4-BE49-F238E27FC236}">
                <a16:creationId xmlns:a16="http://schemas.microsoft.com/office/drawing/2014/main" id="{2C93E184-20A0-D148-9427-205CD214D4C6}"/>
              </a:ext>
            </a:extLst>
          </p:cNvPr>
          <p:cNvSpPr txBox="1">
            <a:spLocks noChangeArrowheads="1"/>
          </p:cNvSpPr>
          <p:nvPr/>
        </p:nvSpPr>
        <p:spPr bwMode="auto">
          <a:xfrm>
            <a:off x="6127467" y="3559969"/>
            <a:ext cx="1787669"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pkt4, </a:t>
            </a:r>
            <a:r>
              <a:rPr lang="en-US" sz="1350" kern="0" dirty="0">
                <a:solidFill>
                  <a:srgbClr val="C00000"/>
                </a:solidFill>
              </a:rPr>
              <a:t>buffer, </a:t>
            </a:r>
          </a:p>
          <a:p>
            <a:pPr defTabSz="685800" eaLnBrk="0" fontAlgn="base" hangingPunct="0">
              <a:spcBef>
                <a:spcPct val="0"/>
              </a:spcBef>
              <a:spcAft>
                <a:spcPct val="0"/>
              </a:spcAft>
              <a:defRPr/>
            </a:pPr>
            <a:r>
              <a:rPr lang="en-US" sz="1350" kern="0" dirty="0">
                <a:solidFill>
                  <a:srgbClr val="C00000"/>
                </a:solidFill>
              </a:rPr>
              <a:t>           send ack4</a:t>
            </a:r>
          </a:p>
        </p:txBody>
      </p:sp>
      <p:sp>
        <p:nvSpPr>
          <p:cNvPr id="86" name="Text Box 34">
            <a:extLst>
              <a:ext uri="{FF2B5EF4-FFF2-40B4-BE49-F238E27FC236}">
                <a16:creationId xmlns:a16="http://schemas.microsoft.com/office/drawing/2014/main" id="{68B83592-7F50-904A-B0CC-EE81AD5FA7B7}"/>
              </a:ext>
            </a:extLst>
          </p:cNvPr>
          <p:cNvSpPr txBox="1">
            <a:spLocks noChangeArrowheads="1"/>
          </p:cNvSpPr>
          <p:nvPr/>
        </p:nvSpPr>
        <p:spPr bwMode="auto">
          <a:xfrm>
            <a:off x="6141755" y="3950494"/>
            <a:ext cx="1787669" cy="5078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spcBef>
                <a:spcPct val="0"/>
              </a:spcBef>
              <a:spcAft>
                <a:spcPct val="0"/>
              </a:spcAft>
              <a:defRPr/>
            </a:pPr>
            <a:r>
              <a:rPr lang="en-US" sz="1350" kern="0" dirty="0">
                <a:solidFill>
                  <a:srgbClr val="000000"/>
                </a:solidFill>
              </a:rPr>
              <a:t>receive pkt5, </a:t>
            </a:r>
            <a:r>
              <a:rPr lang="en-US" sz="1350" kern="0" dirty="0">
                <a:solidFill>
                  <a:srgbClr val="C00000"/>
                </a:solidFill>
              </a:rPr>
              <a:t>buffer, </a:t>
            </a:r>
          </a:p>
          <a:p>
            <a:pPr defTabSz="685800" eaLnBrk="0" fontAlgn="base" hangingPunct="0">
              <a:spcBef>
                <a:spcPct val="0"/>
              </a:spcBef>
              <a:spcAft>
                <a:spcPct val="0"/>
              </a:spcAft>
              <a:defRPr/>
            </a:pPr>
            <a:r>
              <a:rPr lang="en-US" sz="1350" kern="0" dirty="0">
                <a:solidFill>
                  <a:srgbClr val="C00000"/>
                </a:solidFill>
              </a:rPr>
              <a:t>           send ack5</a:t>
            </a:r>
          </a:p>
        </p:txBody>
      </p:sp>
      <p:sp>
        <p:nvSpPr>
          <p:cNvPr id="87" name="Text Box 35">
            <a:extLst>
              <a:ext uri="{FF2B5EF4-FFF2-40B4-BE49-F238E27FC236}">
                <a16:creationId xmlns:a16="http://schemas.microsoft.com/office/drawing/2014/main" id="{CD12A2A4-73A8-BA4D-9548-DF22CB731141}"/>
              </a:ext>
            </a:extLst>
          </p:cNvPr>
          <p:cNvSpPr txBox="1">
            <a:spLocks noChangeArrowheads="1"/>
          </p:cNvSpPr>
          <p:nvPr/>
        </p:nvSpPr>
        <p:spPr bwMode="auto">
          <a:xfrm>
            <a:off x="6121513" y="4749403"/>
            <a:ext cx="2287806" cy="4662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defTabSz="685800" eaLnBrk="0" fontAlgn="base" hangingPunct="0">
              <a:lnSpc>
                <a:spcPct val="90000"/>
              </a:lnSpc>
              <a:spcBef>
                <a:spcPct val="0"/>
              </a:spcBef>
              <a:spcAft>
                <a:spcPct val="0"/>
              </a:spcAft>
              <a:defRPr/>
            </a:pPr>
            <a:r>
              <a:rPr lang="en-US" sz="1350" kern="0" dirty="0">
                <a:solidFill>
                  <a:srgbClr val="000000"/>
                </a:solidFill>
              </a:rPr>
              <a:t>rcv pkt2; </a:t>
            </a:r>
            <a:r>
              <a:rPr lang="en-US" sz="1350" kern="0" dirty="0">
                <a:solidFill>
                  <a:srgbClr val="C00000"/>
                </a:solidFill>
              </a:rPr>
              <a:t>deliver pkt2,</a:t>
            </a:r>
          </a:p>
          <a:p>
            <a:pPr defTabSz="685800" eaLnBrk="0" fontAlgn="base" hangingPunct="0">
              <a:lnSpc>
                <a:spcPct val="90000"/>
              </a:lnSpc>
              <a:spcBef>
                <a:spcPct val="0"/>
              </a:spcBef>
              <a:spcAft>
                <a:spcPct val="0"/>
              </a:spcAft>
              <a:defRPr/>
            </a:pPr>
            <a:r>
              <a:rPr lang="en-US" sz="1350" kern="0" dirty="0">
                <a:solidFill>
                  <a:srgbClr val="C00000"/>
                </a:solidFill>
              </a:rPr>
              <a:t>pkt3, pkt4, pkt5; send ack2</a:t>
            </a:r>
          </a:p>
        </p:txBody>
      </p:sp>
      <p:sp>
        <p:nvSpPr>
          <p:cNvPr id="88" name="Text Box 93">
            <a:extLst>
              <a:ext uri="{FF2B5EF4-FFF2-40B4-BE49-F238E27FC236}">
                <a16:creationId xmlns:a16="http://schemas.microsoft.com/office/drawing/2014/main" id="{DA7120B9-9E7A-1348-95F0-2AB8574C69FF}"/>
              </a:ext>
            </a:extLst>
          </p:cNvPr>
          <p:cNvSpPr txBox="1">
            <a:spLocks noChangeArrowheads="1"/>
          </p:cNvSpPr>
          <p:nvPr/>
        </p:nvSpPr>
        <p:spPr bwMode="auto">
          <a:xfrm>
            <a:off x="3315880" y="5297091"/>
            <a:ext cx="2701381"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i="1" kern="0" dirty="0">
                <a:solidFill>
                  <a:srgbClr val="000000"/>
                </a:solidFill>
              </a:rPr>
              <a:t>Q: what happens when ack2 arrives?</a:t>
            </a:r>
          </a:p>
        </p:txBody>
      </p:sp>
    </p:spTree>
    <p:extLst>
      <p:ext uri="{BB962C8B-B14F-4D97-AF65-F5344CB8AC3E}">
        <p14:creationId xmlns:p14="http://schemas.microsoft.com/office/powerpoint/2010/main" val="299390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8"/>
                                        </p:tgtEl>
                                        <p:attrNameLst>
                                          <p:attrName>style.visibility</p:attrName>
                                        </p:attrNameLst>
                                      </p:cBhvr>
                                      <p:to>
                                        <p:strVal val="visible"/>
                                      </p:to>
                                    </p:set>
                                    <p:animEffect transition="in" filter="wipe(left)">
                                      <p:cBhvr>
                                        <p:cTn id="11" dur="500"/>
                                        <p:tgtEl>
                                          <p:spTgt spid="108"/>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dissolve">
                                      <p:cBhvr>
                                        <p:cTn id="19" dur="500"/>
                                        <p:tgtEl>
                                          <p:spTgt spid="8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right)">
                                      <p:cBhvr>
                                        <p:cTn id="24" dur="500"/>
                                        <p:tgtEl>
                                          <p:spTgt spid="121"/>
                                        </p:tgtEl>
                                      </p:cBhvr>
                                    </p:animEffect>
                                  </p:childTnLst>
                                </p:cTn>
                              </p:par>
                              <p:par>
                                <p:cTn id="25" presetID="22" presetClass="entr" presetSubtype="2" fill="hold" grpId="0"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wipe(right)">
                                      <p:cBhvr>
                                        <p:cTn id="27" dur="500"/>
                                        <p:tgtEl>
                                          <p:spTgt spid="124"/>
                                        </p:tgtEl>
                                      </p:cBhvr>
                                    </p:animEffect>
                                  </p:childTnLst>
                                </p:cTn>
                              </p:par>
                              <p:par>
                                <p:cTn id="28" presetID="22" presetClass="entr" presetSubtype="2"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wipe(right)">
                                      <p:cBhvr>
                                        <p:cTn id="30" dur="500"/>
                                        <p:tgtEl>
                                          <p:spTgt spid="1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125"/>
                                        </p:tgtEl>
                                        <p:attrNameLst>
                                          <p:attrName>style.visibility</p:attrName>
                                        </p:attrNameLst>
                                      </p:cBhvr>
                                      <p:to>
                                        <p:strVal val="visible"/>
                                      </p:to>
                                    </p:set>
                                    <p:animEffect transition="in" filter="wipe(left)">
                                      <p:cBhvr>
                                        <p:cTn id="39" dur="500"/>
                                        <p:tgtEl>
                                          <p:spTgt spid="125"/>
                                        </p:tgtEl>
                                      </p:cBhvr>
                                    </p:animEffect>
                                  </p:childTnLst>
                                </p:cTn>
                              </p:par>
                            </p:childTnLst>
                          </p:cTn>
                        </p:par>
                        <p:par>
                          <p:cTn id="40" fill="hold">
                            <p:stCondLst>
                              <p:cond delay="1000"/>
                            </p:stCondLst>
                            <p:childTnLst>
                              <p:par>
                                <p:cTn id="41" presetID="9" presetClass="entr" presetSubtype="0" fill="hold" grpId="0" nodeType="afterEffect">
                                  <p:stCondLst>
                                    <p:cond delay="0"/>
                                  </p:stCondLst>
                                  <p:childTnLst>
                                    <p:set>
                                      <p:cBhvr>
                                        <p:cTn id="42" dur="1" fill="hold">
                                          <p:stCondLst>
                                            <p:cond delay="0"/>
                                          </p:stCondLst>
                                        </p:cTn>
                                        <p:tgtEl>
                                          <p:spTgt spid="85"/>
                                        </p:tgtEl>
                                        <p:attrNameLst>
                                          <p:attrName>style.visibility</p:attrName>
                                        </p:attrNameLst>
                                      </p:cBhvr>
                                      <p:to>
                                        <p:strVal val="visible"/>
                                      </p:to>
                                    </p:set>
                                    <p:animEffect transition="in" filter="dissolve">
                                      <p:cBhvr>
                                        <p:cTn id="43" dur="500"/>
                                        <p:tgtEl>
                                          <p:spTgt spid="8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6"/>
                                        </p:tgtEl>
                                        <p:attrNameLst>
                                          <p:attrName>style.visibility</p:attrName>
                                        </p:attrNameLst>
                                      </p:cBhvr>
                                      <p:to>
                                        <p:strVal val="visible"/>
                                      </p:to>
                                    </p:set>
                                    <p:animEffect transition="in" filter="wipe(left)">
                                      <p:cBhvr>
                                        <p:cTn id="52" dur="500"/>
                                        <p:tgtEl>
                                          <p:spTgt spid="126"/>
                                        </p:tgtEl>
                                      </p:cBhvr>
                                    </p:animEffect>
                                  </p:childTnLst>
                                </p:cTn>
                              </p:par>
                            </p:childTnLst>
                          </p:cTn>
                        </p:par>
                        <p:par>
                          <p:cTn id="53" fill="hold">
                            <p:stCondLst>
                              <p:cond delay="1000"/>
                            </p:stCondLst>
                            <p:childTnLst>
                              <p:par>
                                <p:cTn id="54" presetID="9" presetClass="entr" presetSubtype="0" fill="hold" grpId="0" nodeType="afterEffect">
                                  <p:stCondLst>
                                    <p:cond delay="0"/>
                                  </p:stCondLst>
                                  <p:childTnLst>
                                    <p:set>
                                      <p:cBhvr>
                                        <p:cTn id="55" dur="1" fill="hold">
                                          <p:stCondLst>
                                            <p:cond delay="0"/>
                                          </p:stCondLst>
                                        </p:cTn>
                                        <p:tgtEl>
                                          <p:spTgt spid="86"/>
                                        </p:tgtEl>
                                        <p:attrNameLst>
                                          <p:attrName>style.visibility</p:attrName>
                                        </p:attrNameLst>
                                      </p:cBhvr>
                                      <p:to>
                                        <p:strVal val="visible"/>
                                      </p:to>
                                    </p:set>
                                    <p:animEffect transition="in" filter="dissolve">
                                      <p:cBhvr>
                                        <p:cTn id="56" dur="500"/>
                                        <p:tgtEl>
                                          <p:spTgt spid="8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right)">
                                      <p:cBhvr>
                                        <p:cTn id="61" dur="500"/>
                                        <p:tgtEl>
                                          <p:spTgt spid="13"/>
                                        </p:tgtEl>
                                      </p:cBhvr>
                                    </p:animEffect>
                                  </p:childTnLst>
                                </p:cTn>
                              </p:par>
                            </p:childTnLst>
                          </p:cTn>
                        </p:par>
                        <p:par>
                          <p:cTn id="62" fill="hold">
                            <p:stCondLst>
                              <p:cond delay="500"/>
                            </p:stCondLst>
                            <p:childTnLst>
                              <p:par>
                                <p:cTn id="63" presetID="9" presetClass="entr" presetSubtype="0" fill="hold" grpId="0" nodeType="after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dissolve">
                                      <p:cBhvr>
                                        <p:cTn id="65" dur="500"/>
                                        <p:tgtEl>
                                          <p:spTgt spid="84"/>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9"/>
                                        </p:tgtEl>
                                        <p:attrNameLst>
                                          <p:attrName>style.visibility</p:attrName>
                                        </p:attrNameLst>
                                      </p:cBhvr>
                                      <p:to>
                                        <p:strVal val="visible"/>
                                      </p:to>
                                    </p:set>
                                    <p:animEffect transition="in" filter="dissolve">
                                      <p:cBhvr>
                                        <p:cTn id="70" dur="500"/>
                                        <p:tgtEl>
                                          <p:spTgt spid="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wipe(left)">
                                      <p:cBhvr>
                                        <p:cTn id="75" dur="500"/>
                                        <p:tgtEl>
                                          <p:spTgt spid="10"/>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116"/>
                                        </p:tgtEl>
                                        <p:attrNameLst>
                                          <p:attrName>style.visibility</p:attrName>
                                        </p:attrNameLst>
                                      </p:cBhvr>
                                      <p:to>
                                        <p:strVal val="visible"/>
                                      </p:to>
                                    </p:set>
                                    <p:animEffect transition="in" filter="wipe(left)">
                                      <p:cBhvr>
                                        <p:cTn id="79" dur="500"/>
                                        <p:tgtEl>
                                          <p:spTgt spid="116"/>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32"/>
                                        </p:tgtEl>
                                        <p:attrNameLst>
                                          <p:attrName>style.visibility</p:attrName>
                                        </p:attrNameLst>
                                      </p:cBhvr>
                                      <p:to>
                                        <p:strVal val="visible"/>
                                      </p:to>
                                    </p:set>
                                    <p:animEffect transition="in" filter="wipe(left)">
                                      <p:cBhvr>
                                        <p:cTn id="83" dur="500"/>
                                        <p:tgtEl>
                                          <p:spTgt spid="132"/>
                                        </p:tgtEl>
                                      </p:cBhvr>
                                    </p:animEffect>
                                  </p:childTnLst>
                                </p:cTn>
                              </p:par>
                            </p:childTnLst>
                          </p:cTn>
                        </p:par>
                        <p:par>
                          <p:cTn id="84" fill="hold">
                            <p:stCondLst>
                              <p:cond delay="1500"/>
                            </p:stCondLst>
                            <p:childTnLst>
                              <p:par>
                                <p:cTn id="85" presetID="9" presetClass="entr" presetSubtype="0" fill="hold" grpId="0" nodeType="after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dissolve">
                                      <p:cBhvr>
                                        <p:cTn id="87" dur="500"/>
                                        <p:tgtEl>
                                          <p:spTgt spid="87"/>
                                        </p:tgtEl>
                                      </p:cBhvr>
                                    </p:animEffect>
                                  </p:childTnLst>
                                </p:cTn>
                              </p:par>
                            </p:childTnLst>
                          </p:cTn>
                        </p:par>
                        <p:par>
                          <p:cTn id="88" fill="hold">
                            <p:stCondLst>
                              <p:cond delay="2000"/>
                            </p:stCondLst>
                            <p:childTnLst>
                              <p:par>
                                <p:cTn id="89" presetID="22" presetClass="entr" presetSubtype="2" fill="hold" grpId="0" nodeType="afterEffect">
                                  <p:stCondLst>
                                    <p:cond delay="0"/>
                                  </p:stCondLst>
                                  <p:childTnLst>
                                    <p:set>
                                      <p:cBhvr>
                                        <p:cTn id="90" dur="1" fill="hold">
                                          <p:stCondLst>
                                            <p:cond delay="0"/>
                                          </p:stCondLst>
                                        </p:cTn>
                                        <p:tgtEl>
                                          <p:spTgt spid="172"/>
                                        </p:tgtEl>
                                        <p:attrNameLst>
                                          <p:attrName>style.visibility</p:attrName>
                                        </p:attrNameLst>
                                      </p:cBhvr>
                                      <p:to>
                                        <p:strVal val="visible"/>
                                      </p:to>
                                    </p:set>
                                    <p:animEffect transition="in" filter="wipe(right)">
                                      <p:cBhvr>
                                        <p:cTn id="91" dur="500"/>
                                        <p:tgtEl>
                                          <p:spTgt spid="172"/>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grpId="0" nodeType="click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dissolve">
                                      <p:cBhvr>
                                        <p:cTn id="9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16" grpId="0"/>
      <p:bldP spid="121" grpId="0" animBg="1"/>
      <p:bldP spid="124" grpId="0" animBg="1"/>
      <p:bldP spid="125" grpId="0" animBg="1"/>
      <p:bldP spid="126" grpId="0" animBg="1"/>
      <p:bldP spid="127" grpId="0" animBg="1"/>
      <p:bldP spid="132" grpId="0" animBg="1"/>
      <p:bldP spid="172" grpId="0" animBg="1"/>
      <p:bldP spid="83" grpId="0"/>
      <p:bldP spid="84" grpId="0"/>
      <p:bldP spid="85" grpId="0"/>
      <p:bldP spid="86" grpId="0"/>
      <p:bldP spid="87" grpId="0"/>
      <p:bldP spid="8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7B86-82D5-ACFA-12E7-13023CDD95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FE287C-DAD1-234B-5161-6263D306D0B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AC02BF5-4564-88A2-7D29-BA3FB77D293A}"/>
              </a:ext>
            </a:extLst>
          </p:cNvPr>
          <p:cNvSpPr>
            <a:spLocks noGrp="1"/>
          </p:cNvSpPr>
          <p:nvPr>
            <p:ph type="sldNum" sz="quarter" idx="12"/>
          </p:nvPr>
        </p:nvSpPr>
        <p:spPr/>
        <p:txBody>
          <a:bodyPr/>
          <a:lstStyle/>
          <a:p>
            <a:fld id="{0BC41B36-6335-F546-90B9-E2121371E10D}" type="slidenum">
              <a:rPr lang="en-US" smtClean="0"/>
              <a:pPr/>
              <a:t>36</a:t>
            </a:fld>
            <a:endParaRPr lang="en-US" dirty="0"/>
          </a:p>
        </p:txBody>
      </p:sp>
      <p:sp>
        <p:nvSpPr>
          <p:cNvPr id="6" name="TextBox 5">
            <a:extLst>
              <a:ext uri="{FF2B5EF4-FFF2-40B4-BE49-F238E27FC236}">
                <a16:creationId xmlns:a16="http://schemas.microsoft.com/office/drawing/2014/main" id="{D34D4F25-2B8E-7F53-6158-96377A0C736A}"/>
              </a:ext>
            </a:extLst>
          </p:cNvPr>
          <p:cNvSpPr txBox="1"/>
          <p:nvPr/>
        </p:nvSpPr>
        <p:spPr>
          <a:xfrm>
            <a:off x="1418462" y="2402073"/>
            <a:ext cx="6989445" cy="1200329"/>
          </a:xfrm>
          <a:prstGeom prst="rect">
            <a:avLst/>
          </a:prstGeom>
          <a:noFill/>
        </p:spPr>
        <p:txBody>
          <a:bodyPr wrap="square">
            <a:spAutoFit/>
          </a:bodyPr>
          <a:lstStyle/>
          <a:p>
            <a:r>
              <a:rPr lang="en-US" dirty="0">
                <a:hlinkClick r:id="rId2"/>
              </a:rPr>
              <a:t>https://www.tkn.tu-berlin.de/teaching/rn/animations/gbn_sr/</a:t>
            </a:r>
            <a:endParaRPr lang="en-US" dirty="0"/>
          </a:p>
          <a:p>
            <a:endParaRPr lang="en-US" dirty="0"/>
          </a:p>
          <a:p>
            <a:br>
              <a:rPr lang="en-US" dirty="0"/>
            </a:br>
            <a:r>
              <a:rPr lang="en-US" dirty="0">
                <a:hlinkClick r:id="rId3"/>
              </a:rPr>
              <a:t>https://nikhilsahu.me/Sliding-window-simulator/SelectiveRepeat.html</a:t>
            </a:r>
            <a:endParaRPr lang="en-US" dirty="0"/>
          </a:p>
        </p:txBody>
      </p:sp>
    </p:spTree>
    <p:extLst>
      <p:ext uri="{BB962C8B-B14F-4D97-AF65-F5344CB8AC3E}">
        <p14:creationId xmlns:p14="http://schemas.microsoft.com/office/powerpoint/2010/main" val="4223883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E5DE9-7171-ABE8-14FC-CDF4D427C3E8}"/>
              </a:ext>
            </a:extLst>
          </p:cNvPr>
          <p:cNvSpPr>
            <a:spLocks noGrp="1"/>
          </p:cNvSpPr>
          <p:nvPr>
            <p:ph idx="1"/>
          </p:nvPr>
        </p:nvSpPr>
        <p:spPr>
          <a:xfrm>
            <a:off x="628650" y="1913469"/>
            <a:ext cx="7886700" cy="745065"/>
          </a:xfrm>
        </p:spPr>
        <p:txBody>
          <a:bodyPr/>
          <a:lstStyle/>
          <a:p>
            <a:pPr marL="0" indent="0">
              <a:buNone/>
            </a:pPr>
            <a:r>
              <a:rPr lang="en-US" altLang="zh-CN" dirty="0"/>
              <a:t>Thanks</a:t>
            </a:r>
            <a:endParaRPr lang="en-US" dirty="0"/>
          </a:p>
        </p:txBody>
      </p:sp>
      <p:sp>
        <p:nvSpPr>
          <p:cNvPr id="4" name="Slide Number Placeholder 3">
            <a:extLst>
              <a:ext uri="{FF2B5EF4-FFF2-40B4-BE49-F238E27FC236}">
                <a16:creationId xmlns:a16="http://schemas.microsoft.com/office/drawing/2014/main" id="{C6F5CF3F-2EF3-BC1A-AE92-1417AE1C23B4}"/>
              </a:ext>
            </a:extLst>
          </p:cNvPr>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BC41B36-6335-F546-90B9-E2121371E10D}" type="slidenum">
              <a:rPr lang="en-US" smtClean="0"/>
              <a:pPr/>
              <a:t>37</a:t>
            </a:fld>
            <a:endParaRPr lang="en-US" dirty="0"/>
          </a:p>
        </p:txBody>
      </p:sp>
      <p:sp>
        <p:nvSpPr>
          <p:cNvPr id="5" name="TextBox 4">
            <a:extLst>
              <a:ext uri="{FF2B5EF4-FFF2-40B4-BE49-F238E27FC236}">
                <a16:creationId xmlns:a16="http://schemas.microsoft.com/office/drawing/2014/main" id="{5C0DBBE3-FC6B-25D4-1813-2EBD68F50C41}"/>
              </a:ext>
            </a:extLst>
          </p:cNvPr>
          <p:cNvSpPr txBox="1"/>
          <p:nvPr/>
        </p:nvSpPr>
        <p:spPr>
          <a:xfrm>
            <a:off x="628651" y="4626393"/>
            <a:ext cx="7359650" cy="1569660"/>
          </a:xfrm>
          <a:prstGeom prst="rect">
            <a:avLst/>
          </a:prstGeom>
          <a:noFill/>
        </p:spPr>
        <p:txBody>
          <a:bodyPr wrap="square">
            <a:spAutoFit/>
          </a:bodyPr>
          <a:lstStyle/>
          <a:p>
            <a:r>
              <a:rPr lang="en-US" sz="1200" b="1" dirty="0"/>
              <a:t>Acknowledgment</a:t>
            </a:r>
          </a:p>
          <a:p>
            <a:endParaRPr lang="en-US" sz="1200" dirty="0"/>
          </a:p>
          <a:p>
            <a:r>
              <a:rPr lang="en-US" sz="1200" dirty="0"/>
              <a:t>The materials for this course are in part based upon the materials from a number of people/sources, including:</a:t>
            </a:r>
          </a:p>
          <a:p>
            <a:pPr marL="285750" indent="-285750">
              <a:buFont typeface="Arial" panose="020B0604020202020204" pitchFamily="34" charset="0"/>
              <a:buChar char="•"/>
            </a:pPr>
            <a:r>
              <a:rPr lang="en-US" sz="1200" dirty="0"/>
              <a:t>Official website of the Kurose and Ross text: Computer Networking: A Top-Down Approach</a:t>
            </a:r>
          </a:p>
          <a:p>
            <a:pPr marL="285750" indent="-285750">
              <a:buFont typeface="Arial" panose="020B0604020202020204" pitchFamily="34" charset="0"/>
              <a:buChar char="•"/>
            </a:pPr>
            <a:r>
              <a:rPr lang="en-US" sz="1200" dirty="0"/>
              <a:t>Official website of the Tanenbaum &amp; Wetherall text: Computer Networks</a:t>
            </a:r>
          </a:p>
          <a:p>
            <a:pPr marL="285750" indent="-285750">
              <a:buFont typeface="Arial" panose="020B0604020202020204" pitchFamily="34" charset="0"/>
              <a:buChar char="•"/>
            </a:pPr>
            <a:r>
              <a:rPr lang="en-US" sz="1200" dirty="0"/>
              <a:t>Dr. Murat Yuksel: </a:t>
            </a:r>
            <a:r>
              <a:rPr lang="en-US" sz="1200" dirty="0">
                <a:hlinkClick r:id="rId2"/>
              </a:rPr>
              <a:t>https://www.ece.ucf.edu/~yuksem/teaching/EEL-4781-Fall-2020.html</a:t>
            </a:r>
            <a:endParaRPr lang="en-US" sz="1200" dirty="0"/>
          </a:p>
          <a:p>
            <a:pPr marL="285750" indent="-285750">
              <a:buFont typeface="Arial" panose="020B0604020202020204" pitchFamily="34" charset="0"/>
              <a:buChar char="•"/>
            </a:pPr>
            <a:r>
              <a:rPr lang="en-US" sz="1200" dirty="0"/>
              <a:t>Dr. Raj Jain: </a:t>
            </a:r>
            <a:r>
              <a:rPr lang="en-US" sz="1200" dirty="0">
                <a:hlinkClick r:id="rId3"/>
              </a:rPr>
              <a:t>https://www.cse.wustl.edu/~jain/</a:t>
            </a:r>
            <a:endParaRPr lang="en-US" sz="1200" dirty="0"/>
          </a:p>
          <a:p>
            <a:endParaRPr lang="en-US" sz="1200" dirty="0"/>
          </a:p>
        </p:txBody>
      </p:sp>
    </p:spTree>
    <p:extLst>
      <p:ext uri="{BB962C8B-B14F-4D97-AF65-F5344CB8AC3E}">
        <p14:creationId xmlns:p14="http://schemas.microsoft.com/office/powerpoint/2010/main" val="3685795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6BF3A-4319-3A50-0DB8-18FAA8A2CF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8DE432-5D03-51CB-1AF1-C6EE4E9AB427}"/>
              </a:ext>
            </a:extLst>
          </p:cNvPr>
          <p:cNvSpPr>
            <a:spLocks noGrp="1"/>
          </p:cNvSpPr>
          <p:nvPr>
            <p:ph idx="1"/>
          </p:nvPr>
        </p:nvSpPr>
        <p:spPr/>
        <p:txBody>
          <a:bodyPr>
            <a:normAutofit/>
          </a:bodyPr>
          <a:lstStyle/>
          <a:p>
            <a:r>
              <a:rPr lang="en-US" altLang="zh-CN" dirty="0"/>
              <a:t>Video Streaming</a:t>
            </a:r>
          </a:p>
          <a:p>
            <a:pPr lvl="1"/>
            <a:r>
              <a:rPr lang="en-US" dirty="0"/>
              <a:t>Challenge1: Streaming vs Various Network Delay	</a:t>
            </a:r>
          </a:p>
          <a:p>
            <a:pPr lvl="2"/>
            <a:r>
              <a:rPr lang="en-US" dirty="0"/>
              <a:t>Solution: DASH (Dynamic, Adaptive Streaming over HTTP)</a:t>
            </a:r>
          </a:p>
          <a:p>
            <a:pPr lvl="1"/>
            <a:r>
              <a:rPr lang="en-US" dirty="0"/>
              <a:t>Challenge2: Stream to Numerous Simultaneous Users</a:t>
            </a:r>
          </a:p>
          <a:p>
            <a:pPr lvl="2"/>
            <a:r>
              <a:rPr lang="en-US" dirty="0"/>
              <a:t>Solution: ?</a:t>
            </a:r>
            <a:endParaRPr lang="en-US" altLang="zh-CN" dirty="0"/>
          </a:p>
          <a:p>
            <a:pPr marL="264319" lvl="1" indent="-166688">
              <a:spcBef>
                <a:spcPts val="750"/>
              </a:spcBef>
              <a:buClr>
                <a:srgbClr val="0000A3"/>
              </a:buClr>
              <a:buFont typeface="Wingdings" pitchFamily="2" charset="2"/>
              <a:buChar char="§"/>
            </a:pPr>
            <a:r>
              <a:rPr lang="en-US" sz="2100" dirty="0"/>
              <a:t>Socket programming </a:t>
            </a:r>
          </a:p>
          <a:p>
            <a:pPr lvl="1"/>
            <a:r>
              <a:rPr lang="en-US" dirty="0"/>
              <a:t>UDP Flow</a:t>
            </a:r>
          </a:p>
          <a:p>
            <a:pPr lvl="2"/>
            <a:r>
              <a:rPr lang="en-US" dirty="0"/>
              <a:t>Sender: ?</a:t>
            </a:r>
          </a:p>
          <a:p>
            <a:pPr lvl="2"/>
            <a:r>
              <a:rPr lang="en-US" dirty="0"/>
              <a:t>Receiver: ?</a:t>
            </a:r>
          </a:p>
          <a:p>
            <a:pPr lvl="1"/>
            <a:r>
              <a:rPr lang="en-US" dirty="0"/>
              <a:t>TCP Flow</a:t>
            </a:r>
          </a:p>
          <a:p>
            <a:pPr lvl="2"/>
            <a:r>
              <a:rPr lang="en-US" dirty="0"/>
              <a:t>?: Create Socket -&gt; Bind -&gt; Wait -&gt; Accept -&gt; Send/</a:t>
            </a:r>
            <a:r>
              <a:rPr lang="en-US" dirty="0" err="1"/>
              <a:t>Recv</a:t>
            </a:r>
            <a:endParaRPr lang="en-US" dirty="0"/>
          </a:p>
          <a:p>
            <a:pPr lvl="2"/>
            <a:r>
              <a:rPr lang="en-US" dirty="0"/>
              <a:t>?: Create Socket -&gt; </a:t>
            </a:r>
            <a:r>
              <a:rPr lang="en-US" dirty="0">
                <a:solidFill>
                  <a:schemeClr val="bg1">
                    <a:lumMod val="65000"/>
                  </a:schemeClr>
                </a:solidFill>
              </a:rPr>
              <a:t>(Bind -&gt;) </a:t>
            </a:r>
            <a:r>
              <a:rPr lang="en-US" dirty="0"/>
              <a:t>Connect -&gt; Send/</a:t>
            </a:r>
            <a:r>
              <a:rPr lang="en-US" dirty="0" err="1"/>
              <a:t>Recv</a:t>
            </a:r>
            <a:endParaRPr lang="en-US" dirty="0"/>
          </a:p>
          <a:p>
            <a:pPr lvl="2"/>
            <a:endParaRPr lang="en-US" dirty="0"/>
          </a:p>
          <a:p>
            <a:endParaRPr lang="en-US" dirty="0"/>
          </a:p>
        </p:txBody>
      </p:sp>
      <p:sp>
        <p:nvSpPr>
          <p:cNvPr id="3" name="Title 2">
            <a:extLst>
              <a:ext uri="{FF2B5EF4-FFF2-40B4-BE49-F238E27FC236}">
                <a16:creationId xmlns:a16="http://schemas.microsoft.com/office/drawing/2014/main" id="{29EBCE4E-86A9-BA9C-BAE2-8CB3BA54A9F4}"/>
              </a:ext>
            </a:extLst>
          </p:cNvPr>
          <p:cNvSpPr>
            <a:spLocks noGrp="1"/>
          </p:cNvSpPr>
          <p:nvPr>
            <p:ph type="title"/>
          </p:nvPr>
        </p:nvSpPr>
        <p:spPr/>
        <p:txBody>
          <a:bodyPr/>
          <a:lstStyle/>
          <a:p>
            <a:r>
              <a:rPr lang="en-US" dirty="0"/>
              <a:t>Recap Chapter 2-4, 3-1, and 3-2</a:t>
            </a:r>
          </a:p>
        </p:txBody>
      </p:sp>
      <p:sp>
        <p:nvSpPr>
          <p:cNvPr id="4" name="Slide Number Placeholder 3">
            <a:extLst>
              <a:ext uri="{FF2B5EF4-FFF2-40B4-BE49-F238E27FC236}">
                <a16:creationId xmlns:a16="http://schemas.microsoft.com/office/drawing/2014/main" id="{4D62DB45-AECA-6C15-C149-EDF978E7917A}"/>
              </a:ext>
            </a:extLst>
          </p:cNvPr>
          <p:cNvSpPr>
            <a:spLocks noGrp="1"/>
          </p:cNvSpPr>
          <p:nvPr>
            <p:ph type="sldNum" sz="quarter" idx="4"/>
          </p:nvPr>
        </p:nvSpPr>
        <p:spPr/>
        <p:txBody>
          <a:bodyPr/>
          <a:lstStyle/>
          <a:p>
            <a:r>
              <a:rPr lang="en-US"/>
              <a:t>Transport Layer: 3-</a:t>
            </a:r>
            <a:fld id="{C4204591-24BD-A542-B9D5-F8D8A88D2FEE}" type="slidenum">
              <a:rPr lang="en-US" smtClean="0"/>
              <a:pPr/>
              <a:t>38</a:t>
            </a:fld>
            <a:endParaRPr lang="en-US"/>
          </a:p>
        </p:txBody>
      </p:sp>
      <p:sp>
        <p:nvSpPr>
          <p:cNvPr id="9" name="TextBox 8">
            <a:extLst>
              <a:ext uri="{FF2B5EF4-FFF2-40B4-BE49-F238E27FC236}">
                <a16:creationId xmlns:a16="http://schemas.microsoft.com/office/drawing/2014/main" id="{A3E37D17-1D70-E0FB-9511-74B1D4024D06}"/>
              </a:ext>
            </a:extLst>
          </p:cNvPr>
          <p:cNvSpPr txBox="1"/>
          <p:nvPr/>
        </p:nvSpPr>
        <p:spPr>
          <a:xfrm>
            <a:off x="6947989" y="3118065"/>
            <a:ext cx="1990846" cy="2031325"/>
          </a:xfrm>
          <a:prstGeom prst="rect">
            <a:avLst/>
          </a:prstGeom>
          <a:solidFill>
            <a:schemeClr val="bg2"/>
          </a:solidFill>
        </p:spPr>
        <p:txBody>
          <a:bodyPr wrap="square">
            <a:spAutoFit/>
          </a:bodyPr>
          <a:lstStyle/>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socket.bind</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dirty="0" err="1">
                <a:latin typeface="Calibri" panose="020F0502020204030204" pitchFamily="34" charset="0"/>
                <a:ea typeface="DengXian" panose="02010600030101010101" pitchFamily="2" charset="-122"/>
                <a:cs typeface="Times New Roman" panose="02020603050405020304" pitchFamily="18" charset="0"/>
              </a:rPr>
              <a:t>socket.connect</a:t>
            </a:r>
            <a:r>
              <a:rPr lang="en-US" dirty="0">
                <a:latin typeface="Calibri" panose="020F0502020204030204" pitchFamily="34"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socket.listen</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US" dirty="0">
              <a:latin typeface="Calibri" panose="020F0502020204030204" pitchFamily="34" charset="0"/>
              <a:ea typeface="DengXian" panose="02010600030101010101" pitchFamily="2" charset="-122"/>
              <a:cs typeface="Times New Roman" panose="02020603050405020304" pitchFamily="18" charset="0"/>
            </a:endParaRP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socket.accept</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socket.recv</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socket.send</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socket.close</a:t>
            </a:r>
            <a:r>
              <a:rPr lang="en-US" sz="1800" dirty="0">
                <a:effectLst/>
                <a:latin typeface="Calibri" panose="020F0502020204030204" pitchFamily="34" charset="0"/>
                <a:ea typeface="DengXian" panose="02010600030101010101" pitchFamily="2" charset="-122"/>
                <a:cs typeface="Times New Roman" panose="02020603050405020304" pitchFamily="18" charset="0"/>
              </a:rPr>
              <a:t>()</a:t>
            </a:r>
            <a:endParaRPr lang="en-US" dirty="0"/>
          </a:p>
        </p:txBody>
      </p:sp>
    </p:spTree>
    <p:extLst>
      <p:ext uri="{BB962C8B-B14F-4D97-AF65-F5344CB8AC3E}">
        <p14:creationId xmlns:p14="http://schemas.microsoft.com/office/powerpoint/2010/main" val="373959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41F50-B821-14F8-BA60-D73FD012A2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3721A9-3E3F-F0BC-5B89-80C20B406110}"/>
              </a:ext>
            </a:extLst>
          </p:cNvPr>
          <p:cNvSpPr>
            <a:spLocks noGrp="1"/>
          </p:cNvSpPr>
          <p:nvPr>
            <p:ph idx="1"/>
          </p:nvPr>
        </p:nvSpPr>
        <p:spPr/>
        <p:txBody>
          <a:bodyPr>
            <a:normAutofit/>
          </a:bodyPr>
          <a:lstStyle/>
          <a:p>
            <a:r>
              <a:rPr lang="en-US" altLang="zh-CN" dirty="0"/>
              <a:t>Video Streaming</a:t>
            </a:r>
          </a:p>
          <a:p>
            <a:pPr lvl="1"/>
            <a:r>
              <a:rPr lang="en-US" dirty="0"/>
              <a:t>Challenge1: Streaming vs Various Network Delay	</a:t>
            </a:r>
          </a:p>
          <a:p>
            <a:pPr lvl="2"/>
            <a:r>
              <a:rPr lang="en-US" dirty="0"/>
              <a:t>Solution: DASH (Dynamic, Adaptive Streaming over HTTP)</a:t>
            </a:r>
          </a:p>
          <a:p>
            <a:pPr lvl="1"/>
            <a:r>
              <a:rPr lang="en-US" dirty="0"/>
              <a:t>Challenge2: Stream to Numerous Simultaneous Users</a:t>
            </a:r>
          </a:p>
          <a:p>
            <a:pPr lvl="2"/>
            <a:r>
              <a:rPr lang="en-US" dirty="0"/>
              <a:t>Solution: CDN (Content distribution networks)</a:t>
            </a:r>
            <a:endParaRPr lang="en-US" altLang="zh-CN" dirty="0"/>
          </a:p>
          <a:p>
            <a:pPr marL="264319" lvl="1" indent="-166688">
              <a:spcBef>
                <a:spcPts val="750"/>
              </a:spcBef>
              <a:buClr>
                <a:srgbClr val="0000A3"/>
              </a:buClr>
              <a:buFont typeface="Wingdings" pitchFamily="2" charset="2"/>
              <a:buChar char="§"/>
            </a:pPr>
            <a:r>
              <a:rPr lang="en-US" sz="2100" dirty="0"/>
              <a:t>Socket programming </a:t>
            </a:r>
          </a:p>
          <a:p>
            <a:pPr lvl="1"/>
            <a:r>
              <a:rPr lang="en-US" dirty="0"/>
              <a:t>UDP Flow</a:t>
            </a:r>
          </a:p>
          <a:p>
            <a:pPr lvl="2"/>
            <a:r>
              <a:rPr lang="en-US" dirty="0"/>
              <a:t>Receiver: Create Socket -&gt; Bind -&gt; Send/</a:t>
            </a:r>
            <a:r>
              <a:rPr lang="en-US" dirty="0" err="1"/>
              <a:t>Recv</a:t>
            </a:r>
            <a:endParaRPr lang="en-US" dirty="0"/>
          </a:p>
          <a:p>
            <a:pPr lvl="2"/>
            <a:r>
              <a:rPr lang="en-US" dirty="0"/>
              <a:t>Sender: Create Socket -&gt; </a:t>
            </a:r>
            <a:r>
              <a:rPr lang="en-US" dirty="0">
                <a:solidFill>
                  <a:schemeClr val="bg1">
                    <a:lumMod val="65000"/>
                  </a:schemeClr>
                </a:solidFill>
              </a:rPr>
              <a:t>(Bind -&gt;)</a:t>
            </a:r>
            <a:r>
              <a:rPr lang="en-US" dirty="0"/>
              <a:t> Send/</a:t>
            </a:r>
            <a:r>
              <a:rPr lang="en-US" dirty="0" err="1"/>
              <a:t>Recv</a:t>
            </a:r>
            <a:endParaRPr lang="en-US" dirty="0"/>
          </a:p>
          <a:p>
            <a:pPr lvl="1"/>
            <a:r>
              <a:rPr lang="en-US" dirty="0"/>
              <a:t>TCP Flow</a:t>
            </a:r>
          </a:p>
          <a:p>
            <a:pPr lvl="2"/>
            <a:r>
              <a:rPr lang="en-US" dirty="0"/>
              <a:t>Server: Create Socket -&gt; Bind -&gt; Wait -&gt; Accept -&gt; Send/</a:t>
            </a:r>
            <a:r>
              <a:rPr lang="en-US" dirty="0" err="1"/>
              <a:t>Recv</a:t>
            </a:r>
            <a:endParaRPr lang="en-US" dirty="0"/>
          </a:p>
          <a:p>
            <a:pPr lvl="2"/>
            <a:r>
              <a:rPr lang="en-US" dirty="0"/>
              <a:t>Client: Create Socket -&gt; </a:t>
            </a:r>
            <a:r>
              <a:rPr lang="en-US" dirty="0">
                <a:solidFill>
                  <a:schemeClr val="bg1">
                    <a:lumMod val="65000"/>
                  </a:schemeClr>
                </a:solidFill>
              </a:rPr>
              <a:t>(Bind -&gt;) </a:t>
            </a:r>
            <a:r>
              <a:rPr lang="en-US" dirty="0"/>
              <a:t>Connect -&gt; Send/</a:t>
            </a:r>
            <a:r>
              <a:rPr lang="en-US" dirty="0" err="1"/>
              <a:t>Recv</a:t>
            </a:r>
            <a:endParaRPr lang="en-US" dirty="0"/>
          </a:p>
          <a:p>
            <a:pPr lvl="2"/>
            <a:endParaRPr lang="en-US" dirty="0"/>
          </a:p>
          <a:p>
            <a:endParaRPr lang="en-US" dirty="0"/>
          </a:p>
        </p:txBody>
      </p:sp>
      <p:sp>
        <p:nvSpPr>
          <p:cNvPr id="3" name="Title 2">
            <a:extLst>
              <a:ext uri="{FF2B5EF4-FFF2-40B4-BE49-F238E27FC236}">
                <a16:creationId xmlns:a16="http://schemas.microsoft.com/office/drawing/2014/main" id="{9B8882AA-82EC-76F9-1D3B-B82283A8B3DE}"/>
              </a:ext>
            </a:extLst>
          </p:cNvPr>
          <p:cNvSpPr>
            <a:spLocks noGrp="1"/>
          </p:cNvSpPr>
          <p:nvPr>
            <p:ph type="title"/>
          </p:nvPr>
        </p:nvSpPr>
        <p:spPr/>
        <p:txBody>
          <a:bodyPr/>
          <a:lstStyle/>
          <a:p>
            <a:r>
              <a:rPr lang="en-US" dirty="0"/>
              <a:t>Recap Chapter 2-4, 3-1, and 3-2</a:t>
            </a:r>
          </a:p>
        </p:txBody>
      </p:sp>
      <p:sp>
        <p:nvSpPr>
          <p:cNvPr id="4" name="Slide Number Placeholder 3">
            <a:extLst>
              <a:ext uri="{FF2B5EF4-FFF2-40B4-BE49-F238E27FC236}">
                <a16:creationId xmlns:a16="http://schemas.microsoft.com/office/drawing/2014/main" id="{788D992C-F265-BED9-015A-753A62BA0F3C}"/>
              </a:ext>
            </a:extLst>
          </p:cNvPr>
          <p:cNvSpPr>
            <a:spLocks noGrp="1"/>
          </p:cNvSpPr>
          <p:nvPr>
            <p:ph type="sldNum" sz="quarter" idx="4"/>
          </p:nvPr>
        </p:nvSpPr>
        <p:spPr/>
        <p:txBody>
          <a:bodyPr/>
          <a:lstStyle/>
          <a:p>
            <a:r>
              <a:rPr lang="en-US"/>
              <a:t>Transport Layer: 3-</a:t>
            </a:r>
            <a:fld id="{C4204591-24BD-A542-B9D5-F8D8A88D2FEE}" type="slidenum">
              <a:rPr lang="en-US" smtClean="0"/>
              <a:pPr/>
              <a:t>39</a:t>
            </a:fld>
            <a:endParaRPr lang="en-US"/>
          </a:p>
        </p:txBody>
      </p:sp>
      <p:sp>
        <p:nvSpPr>
          <p:cNvPr id="9" name="TextBox 8">
            <a:extLst>
              <a:ext uri="{FF2B5EF4-FFF2-40B4-BE49-F238E27FC236}">
                <a16:creationId xmlns:a16="http://schemas.microsoft.com/office/drawing/2014/main" id="{5EDAACAB-C4E1-A2A9-1439-BB328A3FCCA2}"/>
              </a:ext>
            </a:extLst>
          </p:cNvPr>
          <p:cNvSpPr txBox="1"/>
          <p:nvPr/>
        </p:nvSpPr>
        <p:spPr>
          <a:xfrm>
            <a:off x="6947989" y="3118065"/>
            <a:ext cx="1990846" cy="2031325"/>
          </a:xfrm>
          <a:prstGeom prst="rect">
            <a:avLst/>
          </a:prstGeom>
          <a:solidFill>
            <a:schemeClr val="bg2"/>
          </a:solidFill>
        </p:spPr>
        <p:txBody>
          <a:bodyPr wrap="square">
            <a:spAutoFit/>
          </a:bodyPr>
          <a:lstStyle/>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socket.bind</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dirty="0" err="1">
                <a:latin typeface="Calibri" panose="020F0502020204030204" pitchFamily="34" charset="0"/>
                <a:ea typeface="DengXian" panose="02010600030101010101" pitchFamily="2" charset="-122"/>
                <a:cs typeface="Times New Roman" panose="02020603050405020304" pitchFamily="18" charset="0"/>
              </a:rPr>
              <a:t>socket.connect</a:t>
            </a:r>
            <a:r>
              <a:rPr lang="en-US" dirty="0">
                <a:latin typeface="Calibri" panose="020F0502020204030204" pitchFamily="34" charset="0"/>
                <a:ea typeface="DengXian" panose="02010600030101010101" pitchFamily="2" charset="-122"/>
                <a:cs typeface="Times New Roman" panose="02020603050405020304" pitchFamily="18" charset="0"/>
              </a:rPr>
              <a:t>()</a:t>
            </a:r>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socket.listen</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endParaRPr lang="en-US" dirty="0">
              <a:latin typeface="Calibri" panose="020F0502020204030204" pitchFamily="34" charset="0"/>
              <a:ea typeface="DengXian" panose="02010600030101010101" pitchFamily="2" charset="-122"/>
              <a:cs typeface="Times New Roman" panose="02020603050405020304" pitchFamily="18" charset="0"/>
            </a:endParaRP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socket.accept</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socket.recv</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socket.send</a:t>
            </a:r>
            <a:r>
              <a:rPr lang="en-US" sz="1800" dirty="0">
                <a:effectLst/>
                <a:latin typeface="Calibri" panose="020F0502020204030204" pitchFamily="34" charset="0"/>
                <a:ea typeface="DengXian" panose="02010600030101010101" pitchFamily="2" charset="-122"/>
                <a:cs typeface="Times New Roman" panose="02020603050405020304" pitchFamily="18" charset="0"/>
              </a:rPr>
              <a:t>()      </a:t>
            </a:r>
          </a:p>
          <a:p>
            <a:r>
              <a:rPr lang="en-US" sz="1800" dirty="0" err="1">
                <a:effectLst/>
                <a:latin typeface="Calibri" panose="020F0502020204030204" pitchFamily="34" charset="0"/>
                <a:ea typeface="DengXian" panose="02010600030101010101" pitchFamily="2" charset="-122"/>
                <a:cs typeface="Times New Roman" panose="02020603050405020304" pitchFamily="18" charset="0"/>
              </a:rPr>
              <a:t>socket.close</a:t>
            </a:r>
            <a:r>
              <a:rPr lang="en-US" sz="1800" dirty="0">
                <a:effectLst/>
                <a:latin typeface="Calibri" panose="020F0502020204030204" pitchFamily="34" charset="0"/>
                <a:ea typeface="DengXian" panose="02010600030101010101" pitchFamily="2" charset="-122"/>
                <a:cs typeface="Times New Roman" panose="02020603050405020304" pitchFamily="18" charset="0"/>
              </a:rPr>
              <a:t>()</a:t>
            </a:r>
            <a:endParaRPr lang="en-US" dirty="0"/>
          </a:p>
        </p:txBody>
      </p:sp>
    </p:spTree>
    <p:extLst>
      <p:ext uri="{BB962C8B-B14F-4D97-AF65-F5344CB8AC3E}">
        <p14:creationId xmlns:p14="http://schemas.microsoft.com/office/powerpoint/2010/main" val="2977975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51970-46F5-C25B-7D23-915C30FF197A}"/>
              </a:ext>
            </a:extLst>
          </p:cNvPr>
          <p:cNvSpPr>
            <a:spLocks noGrp="1"/>
          </p:cNvSpPr>
          <p:nvPr>
            <p:ph idx="1"/>
          </p:nvPr>
        </p:nvSpPr>
        <p:spPr>
          <a:xfrm>
            <a:off x="628650" y="1724027"/>
            <a:ext cx="7886700" cy="4682152"/>
          </a:xfrm>
        </p:spPr>
        <p:txBody>
          <a:bodyPr>
            <a:normAutofit/>
          </a:bodyPr>
          <a:lstStyle/>
          <a:p>
            <a:r>
              <a:rPr lang="en-US" altLang="zh-CN" dirty="0"/>
              <a:t>Transport layer</a:t>
            </a:r>
          </a:p>
          <a:p>
            <a:pPr lvl="1"/>
            <a:r>
              <a:rPr lang="en-US" dirty="0"/>
              <a:t>UDP: </a:t>
            </a:r>
          </a:p>
          <a:p>
            <a:pPr lvl="2"/>
            <a:r>
              <a:rPr lang="en-US" dirty="0"/>
              <a:t>No protection at all? </a:t>
            </a:r>
          </a:p>
          <a:p>
            <a:pPr lvl="2"/>
            <a:r>
              <a:rPr lang="en-US" b="1" dirty="0"/>
              <a:t>Applications</a:t>
            </a:r>
            <a:r>
              <a:rPr lang="en-US" dirty="0"/>
              <a:t>:?</a:t>
            </a:r>
          </a:p>
          <a:p>
            <a:pPr lvl="1"/>
            <a:r>
              <a:rPr lang="en-US" dirty="0"/>
              <a:t>TCP:</a:t>
            </a:r>
          </a:p>
          <a:p>
            <a:pPr lvl="2"/>
            <a:r>
              <a:rPr lang="en-US" dirty="0"/>
              <a:t>reliable data transfer</a:t>
            </a:r>
          </a:p>
          <a:p>
            <a:pPr lvl="2"/>
            <a:r>
              <a:rPr lang="en-US" dirty="0"/>
              <a:t>flow control</a:t>
            </a:r>
          </a:p>
          <a:p>
            <a:pPr lvl="2"/>
            <a:r>
              <a:rPr lang="en-US" dirty="0"/>
              <a:t>congestion control</a:t>
            </a:r>
          </a:p>
          <a:p>
            <a:pPr lvl="2"/>
            <a:r>
              <a:rPr lang="en-US" b="1" dirty="0"/>
              <a:t>Applications</a:t>
            </a:r>
            <a:r>
              <a:rPr lang="en-US" dirty="0"/>
              <a:t>:?</a:t>
            </a:r>
          </a:p>
          <a:p>
            <a:pPr lvl="1"/>
            <a:r>
              <a:rPr lang="en-US" dirty="0"/>
              <a:t>delay guarantees? bandwidth guarantees?</a:t>
            </a:r>
          </a:p>
          <a:p>
            <a:r>
              <a:rPr lang="en-US" altLang="zh-CN" dirty="0"/>
              <a:t>Multiplexing/demultiplexing</a:t>
            </a:r>
          </a:p>
          <a:p>
            <a:r>
              <a:rPr lang="en-US" altLang="zh-CN" dirty="0"/>
              <a:t>Detection Code</a:t>
            </a:r>
          </a:p>
          <a:p>
            <a:pPr lvl="2"/>
            <a:r>
              <a:rPr lang="en-US" dirty="0"/>
              <a:t>Bitwise XOR</a:t>
            </a:r>
          </a:p>
          <a:p>
            <a:pPr lvl="2"/>
            <a:r>
              <a:rPr lang="en-US" dirty="0"/>
              <a:t>Checksum</a:t>
            </a:r>
          </a:p>
          <a:p>
            <a:pPr lvl="2"/>
            <a:r>
              <a:rPr lang="en-US" dirty="0">
                <a:solidFill>
                  <a:schemeClr val="bg1">
                    <a:lumMod val="65000"/>
                  </a:schemeClr>
                </a:solidFill>
              </a:rPr>
              <a:t>CRC</a:t>
            </a:r>
          </a:p>
          <a:p>
            <a:pPr lvl="2"/>
            <a:r>
              <a:rPr lang="en-US" dirty="0">
                <a:solidFill>
                  <a:schemeClr val="bg1">
                    <a:lumMod val="65000"/>
                  </a:schemeClr>
                </a:solidFill>
              </a:rPr>
              <a:t>Hamming Code</a:t>
            </a:r>
          </a:p>
        </p:txBody>
      </p:sp>
      <p:sp>
        <p:nvSpPr>
          <p:cNvPr id="3" name="Title 2">
            <a:extLst>
              <a:ext uri="{FF2B5EF4-FFF2-40B4-BE49-F238E27FC236}">
                <a16:creationId xmlns:a16="http://schemas.microsoft.com/office/drawing/2014/main" id="{08C03CD4-BD65-6B46-5D7A-562A3E2DDC26}"/>
              </a:ext>
            </a:extLst>
          </p:cNvPr>
          <p:cNvSpPr>
            <a:spLocks noGrp="1"/>
          </p:cNvSpPr>
          <p:nvPr>
            <p:ph type="title"/>
          </p:nvPr>
        </p:nvSpPr>
        <p:spPr/>
        <p:txBody>
          <a:bodyPr/>
          <a:lstStyle/>
          <a:p>
            <a:r>
              <a:rPr lang="en-US" dirty="0"/>
              <a:t>Recap</a:t>
            </a:r>
          </a:p>
        </p:txBody>
      </p:sp>
      <p:sp>
        <p:nvSpPr>
          <p:cNvPr id="4" name="Slide Number Placeholder 3">
            <a:extLst>
              <a:ext uri="{FF2B5EF4-FFF2-40B4-BE49-F238E27FC236}">
                <a16:creationId xmlns:a16="http://schemas.microsoft.com/office/drawing/2014/main" id="{F83C424B-94E2-4757-AE28-08B9CFDEA9AC}"/>
              </a:ext>
            </a:extLst>
          </p:cNvPr>
          <p:cNvSpPr>
            <a:spLocks noGrp="1"/>
          </p:cNvSpPr>
          <p:nvPr>
            <p:ph type="sldNum" sz="quarter" idx="4"/>
          </p:nvPr>
        </p:nvSpPr>
        <p:spPr/>
        <p:txBody>
          <a:bodyPr/>
          <a:lstStyle/>
          <a:p>
            <a:r>
              <a:rPr lang="en-US"/>
              <a:t>Transport Layer: 3-</a:t>
            </a:r>
            <a:fld id="{C4204591-24BD-A542-B9D5-F8D8A88D2FEE}" type="slidenum">
              <a:rPr lang="en-US" smtClean="0"/>
              <a:pPr/>
              <a:t>40</a:t>
            </a:fld>
            <a:endParaRPr lang="en-US"/>
          </a:p>
        </p:txBody>
      </p:sp>
    </p:spTree>
    <p:extLst>
      <p:ext uri="{BB962C8B-B14F-4D97-AF65-F5344CB8AC3E}">
        <p14:creationId xmlns:p14="http://schemas.microsoft.com/office/powerpoint/2010/main" val="9004814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51408-E988-E50E-B01F-67579644E00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31A593-5B49-CAF1-09EE-49EC34FD912F}"/>
              </a:ext>
            </a:extLst>
          </p:cNvPr>
          <p:cNvSpPr>
            <a:spLocks noGrp="1"/>
          </p:cNvSpPr>
          <p:nvPr>
            <p:ph idx="1"/>
          </p:nvPr>
        </p:nvSpPr>
        <p:spPr>
          <a:xfrm>
            <a:off x="628650" y="1724027"/>
            <a:ext cx="7886700" cy="4682152"/>
          </a:xfrm>
        </p:spPr>
        <p:txBody>
          <a:bodyPr>
            <a:normAutofit/>
          </a:bodyPr>
          <a:lstStyle/>
          <a:p>
            <a:r>
              <a:rPr lang="en-US" altLang="zh-CN" dirty="0"/>
              <a:t>Transport layer</a:t>
            </a:r>
          </a:p>
          <a:p>
            <a:pPr lvl="1"/>
            <a:r>
              <a:rPr lang="en-US" dirty="0"/>
              <a:t>UDP: </a:t>
            </a:r>
          </a:p>
          <a:p>
            <a:pPr lvl="2"/>
            <a:r>
              <a:rPr lang="en-US" dirty="0"/>
              <a:t>No protection at all? (data-level error detection code)</a:t>
            </a:r>
          </a:p>
          <a:p>
            <a:pPr lvl="2"/>
            <a:r>
              <a:rPr lang="en-US" b="1" dirty="0"/>
              <a:t>Applications</a:t>
            </a:r>
            <a:r>
              <a:rPr lang="en-US" dirty="0"/>
              <a:t>: DNS, </a:t>
            </a:r>
            <a:r>
              <a:rPr lang="en-US" dirty="0">
                <a:solidFill>
                  <a:schemeClr val="bg1">
                    <a:lumMod val="65000"/>
                  </a:schemeClr>
                </a:solidFill>
              </a:rPr>
              <a:t>HTTP/3</a:t>
            </a:r>
          </a:p>
          <a:p>
            <a:pPr lvl="1"/>
            <a:r>
              <a:rPr lang="en-US" dirty="0"/>
              <a:t>TCP:</a:t>
            </a:r>
          </a:p>
          <a:p>
            <a:pPr lvl="2"/>
            <a:r>
              <a:rPr lang="en-US" dirty="0"/>
              <a:t>reliable data transfer</a:t>
            </a:r>
          </a:p>
          <a:p>
            <a:pPr lvl="2"/>
            <a:r>
              <a:rPr lang="en-US" dirty="0"/>
              <a:t>flow control</a:t>
            </a:r>
          </a:p>
          <a:p>
            <a:pPr lvl="2"/>
            <a:r>
              <a:rPr lang="en-US" dirty="0"/>
              <a:t>congestion control</a:t>
            </a:r>
          </a:p>
          <a:p>
            <a:pPr lvl="2"/>
            <a:r>
              <a:rPr lang="en-US" b="1" dirty="0"/>
              <a:t>Applications</a:t>
            </a:r>
            <a:r>
              <a:rPr lang="en-US" dirty="0"/>
              <a:t>: HTTP/2, SMTP, </a:t>
            </a:r>
            <a:r>
              <a:rPr lang="en-US" dirty="0">
                <a:solidFill>
                  <a:schemeClr val="bg1">
                    <a:lumMod val="65000"/>
                  </a:schemeClr>
                </a:solidFill>
              </a:rPr>
              <a:t>BitTorrent</a:t>
            </a:r>
            <a:r>
              <a:rPr lang="en-US" dirty="0"/>
              <a:t> </a:t>
            </a:r>
          </a:p>
          <a:p>
            <a:pPr lvl="1"/>
            <a:r>
              <a:rPr lang="en-US" dirty="0"/>
              <a:t>No delay guarantees, No bandwidth guarantees</a:t>
            </a:r>
          </a:p>
          <a:p>
            <a:r>
              <a:rPr lang="en-US" altLang="zh-CN" dirty="0"/>
              <a:t>Multiplexing/demultiplexing</a:t>
            </a:r>
          </a:p>
          <a:p>
            <a:r>
              <a:rPr lang="en-US" altLang="zh-CN" dirty="0"/>
              <a:t>Detection Code</a:t>
            </a:r>
          </a:p>
          <a:p>
            <a:pPr lvl="2"/>
            <a:r>
              <a:rPr lang="en-US" dirty="0"/>
              <a:t>Bitwise XOR</a:t>
            </a:r>
          </a:p>
          <a:p>
            <a:pPr lvl="2"/>
            <a:r>
              <a:rPr lang="en-US" dirty="0"/>
              <a:t>Checksum</a:t>
            </a:r>
          </a:p>
          <a:p>
            <a:pPr lvl="2"/>
            <a:r>
              <a:rPr lang="en-US" dirty="0">
                <a:solidFill>
                  <a:schemeClr val="bg1">
                    <a:lumMod val="65000"/>
                  </a:schemeClr>
                </a:solidFill>
              </a:rPr>
              <a:t>CRC</a:t>
            </a:r>
          </a:p>
          <a:p>
            <a:pPr lvl="2"/>
            <a:r>
              <a:rPr lang="en-US" dirty="0">
                <a:solidFill>
                  <a:schemeClr val="bg1">
                    <a:lumMod val="65000"/>
                  </a:schemeClr>
                </a:solidFill>
              </a:rPr>
              <a:t>Hamming Code</a:t>
            </a:r>
          </a:p>
          <a:p>
            <a:pPr lvl="2"/>
            <a:endParaRPr lang="en-US" dirty="0"/>
          </a:p>
        </p:txBody>
      </p:sp>
      <p:sp>
        <p:nvSpPr>
          <p:cNvPr id="3" name="Title 2">
            <a:extLst>
              <a:ext uri="{FF2B5EF4-FFF2-40B4-BE49-F238E27FC236}">
                <a16:creationId xmlns:a16="http://schemas.microsoft.com/office/drawing/2014/main" id="{1FFF7A4C-4131-82CD-19DD-8A58930E505E}"/>
              </a:ext>
            </a:extLst>
          </p:cNvPr>
          <p:cNvSpPr>
            <a:spLocks noGrp="1"/>
          </p:cNvSpPr>
          <p:nvPr>
            <p:ph type="title"/>
          </p:nvPr>
        </p:nvSpPr>
        <p:spPr/>
        <p:txBody>
          <a:bodyPr/>
          <a:lstStyle/>
          <a:p>
            <a:r>
              <a:rPr lang="en-US" dirty="0"/>
              <a:t>Recap</a:t>
            </a:r>
          </a:p>
        </p:txBody>
      </p:sp>
      <p:sp>
        <p:nvSpPr>
          <p:cNvPr id="4" name="Slide Number Placeholder 3">
            <a:extLst>
              <a:ext uri="{FF2B5EF4-FFF2-40B4-BE49-F238E27FC236}">
                <a16:creationId xmlns:a16="http://schemas.microsoft.com/office/drawing/2014/main" id="{FE683FBB-1B65-274A-91AE-C4AD626E138A}"/>
              </a:ext>
            </a:extLst>
          </p:cNvPr>
          <p:cNvSpPr>
            <a:spLocks noGrp="1"/>
          </p:cNvSpPr>
          <p:nvPr>
            <p:ph type="sldNum" sz="quarter" idx="4"/>
          </p:nvPr>
        </p:nvSpPr>
        <p:spPr/>
        <p:txBody>
          <a:bodyPr/>
          <a:lstStyle/>
          <a:p>
            <a:r>
              <a:rPr lang="en-US"/>
              <a:t>Transport Layer: 3-</a:t>
            </a:r>
            <a:fld id="{C4204591-24BD-A542-B9D5-F8D8A88D2FEE}" type="slidenum">
              <a:rPr lang="en-US" smtClean="0"/>
              <a:pPr/>
              <a:t>41</a:t>
            </a:fld>
            <a:endParaRPr lang="en-US"/>
          </a:p>
        </p:txBody>
      </p:sp>
    </p:spTree>
    <p:extLst>
      <p:ext uri="{BB962C8B-B14F-4D97-AF65-F5344CB8AC3E}">
        <p14:creationId xmlns:p14="http://schemas.microsoft.com/office/powerpoint/2010/main" val="30498867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a:extLst>
              <a:ext uri="{FF2B5EF4-FFF2-40B4-BE49-F238E27FC236}">
                <a16:creationId xmlns:a16="http://schemas.microsoft.com/office/drawing/2014/main" id="{0C12A890-FFFB-73A4-7BE0-1F398EB5E822}"/>
              </a:ext>
            </a:extLst>
          </p:cNvPr>
          <p:cNvSpPr>
            <a:spLocks noGrp="1"/>
          </p:cNvSpPr>
          <p:nvPr>
            <p:ph idx="1"/>
          </p:nvPr>
        </p:nvSpPr>
        <p:spPr>
          <a:xfrm>
            <a:off x="628650" y="1724027"/>
            <a:ext cx="7886700" cy="4351338"/>
          </a:xfrm>
        </p:spPr>
        <p:txBody>
          <a:bodyPr>
            <a:normAutofit/>
          </a:bodyPr>
          <a:lstStyle/>
          <a:p>
            <a:r>
              <a:rPr lang="en-US" altLang="zh-CN" dirty="0"/>
              <a:t>Reliable Data Transfer (RDT)</a:t>
            </a:r>
          </a:p>
          <a:p>
            <a:pPr lvl="1"/>
            <a:r>
              <a:rPr lang="en-US" altLang="zh-CN" dirty="0"/>
              <a:t>Reliability problems:</a:t>
            </a:r>
          </a:p>
          <a:p>
            <a:pPr marL="685800" lvl="2" indent="0">
              <a:buNone/>
            </a:pPr>
            <a:r>
              <a:rPr lang="en-US" altLang="zh-CN" dirty="0"/>
              <a:t>1. Corruption; 2. Loss; 3. Out-of-Order</a:t>
            </a:r>
          </a:p>
          <a:p>
            <a:pPr lvl="1"/>
            <a:r>
              <a:rPr lang="en-US" altLang="zh-CN" dirty="0"/>
              <a:t>Non-Pipeline</a:t>
            </a:r>
          </a:p>
          <a:p>
            <a:pPr lvl="2"/>
            <a:r>
              <a:rPr lang="en-US" dirty="0"/>
              <a:t>RDT2.0: ACK NAK</a:t>
            </a:r>
          </a:p>
          <a:p>
            <a:pPr lvl="2"/>
            <a:r>
              <a:rPr lang="en-US" dirty="0"/>
              <a:t>RDT2.1: Seq#</a:t>
            </a:r>
          </a:p>
          <a:p>
            <a:pPr lvl="2"/>
            <a:r>
              <a:rPr lang="en-US" dirty="0"/>
              <a:t>RDT2.2: NAK-free</a:t>
            </a:r>
          </a:p>
          <a:p>
            <a:pPr lvl="2"/>
            <a:r>
              <a:rPr lang="en-US" dirty="0"/>
              <a:t>RDT3.0: Timer</a:t>
            </a:r>
          </a:p>
          <a:p>
            <a:pPr lvl="1"/>
            <a:r>
              <a:rPr lang="en-US" altLang="zh-CN" dirty="0"/>
              <a:t>Pipeline</a:t>
            </a:r>
          </a:p>
          <a:p>
            <a:pPr lvl="2"/>
            <a:r>
              <a:rPr lang="en-US" dirty="0"/>
              <a:t>Go-Back-N</a:t>
            </a:r>
          </a:p>
          <a:p>
            <a:pPr lvl="2"/>
            <a:r>
              <a:rPr lang="en-US" dirty="0"/>
              <a:t>Selective Repeat</a:t>
            </a:r>
          </a:p>
          <a:p>
            <a:pPr lvl="2"/>
            <a:r>
              <a:rPr lang="en-US" dirty="0"/>
              <a:t>TCP</a:t>
            </a:r>
          </a:p>
        </p:txBody>
      </p:sp>
      <p:sp>
        <p:nvSpPr>
          <p:cNvPr id="8" name="Title 2">
            <a:extLst>
              <a:ext uri="{FF2B5EF4-FFF2-40B4-BE49-F238E27FC236}">
                <a16:creationId xmlns:a16="http://schemas.microsoft.com/office/drawing/2014/main" id="{8EB5AF39-56C1-353C-7BA9-6DC0FBD36BDC}"/>
              </a:ext>
            </a:extLst>
          </p:cNvPr>
          <p:cNvSpPr>
            <a:spLocks noGrp="1"/>
          </p:cNvSpPr>
          <p:nvPr>
            <p:ph type="title"/>
          </p:nvPr>
        </p:nvSpPr>
        <p:spPr>
          <a:xfrm>
            <a:off x="628650" y="451821"/>
            <a:ext cx="7886700" cy="894622"/>
          </a:xfrm>
        </p:spPr>
        <p:txBody>
          <a:bodyPr/>
          <a:lstStyle/>
          <a:p>
            <a:r>
              <a:rPr lang="en-US" dirty="0"/>
              <a:t>Recap</a:t>
            </a:r>
          </a:p>
        </p:txBody>
      </p:sp>
      <p:pic>
        <p:nvPicPr>
          <p:cNvPr id="93" name="Picture 92">
            <a:extLst>
              <a:ext uri="{FF2B5EF4-FFF2-40B4-BE49-F238E27FC236}">
                <a16:creationId xmlns:a16="http://schemas.microsoft.com/office/drawing/2014/main" id="{F29ADE0A-B3ED-BDCA-97C7-CC3CB1640B7A}"/>
              </a:ext>
            </a:extLst>
          </p:cNvPr>
          <p:cNvPicPr>
            <a:picLocks noChangeAspect="1"/>
          </p:cNvPicPr>
          <p:nvPr/>
        </p:nvPicPr>
        <p:blipFill>
          <a:blip r:embed="rId2"/>
          <a:stretch>
            <a:fillRect/>
          </a:stretch>
        </p:blipFill>
        <p:spPr>
          <a:xfrm>
            <a:off x="4308527" y="2054859"/>
            <a:ext cx="4097893" cy="2613389"/>
          </a:xfrm>
          <a:prstGeom prst="rect">
            <a:avLst/>
          </a:prstGeom>
        </p:spPr>
      </p:pic>
      <p:grpSp>
        <p:nvGrpSpPr>
          <p:cNvPr id="175" name="Group 174">
            <a:extLst>
              <a:ext uri="{FF2B5EF4-FFF2-40B4-BE49-F238E27FC236}">
                <a16:creationId xmlns:a16="http://schemas.microsoft.com/office/drawing/2014/main" id="{C689827F-F5B9-669B-BBC3-5FA896C26733}"/>
              </a:ext>
            </a:extLst>
          </p:cNvPr>
          <p:cNvGrpSpPr/>
          <p:nvPr/>
        </p:nvGrpSpPr>
        <p:grpSpPr>
          <a:xfrm>
            <a:off x="2230466" y="2642823"/>
            <a:ext cx="7402877" cy="3443769"/>
            <a:chOff x="2230466" y="2642823"/>
            <a:chExt cx="7402877" cy="3443769"/>
          </a:xfrm>
        </p:grpSpPr>
        <p:sp>
          <p:nvSpPr>
            <p:cNvPr id="135" name="Oval 3">
              <a:extLst>
                <a:ext uri="{FF2B5EF4-FFF2-40B4-BE49-F238E27FC236}">
                  <a16:creationId xmlns:a16="http://schemas.microsoft.com/office/drawing/2014/main" id="{E36D9A69-D85B-04DC-6868-92898C109A58}"/>
                </a:ext>
              </a:extLst>
            </p:cNvPr>
            <p:cNvSpPr>
              <a:spLocks noChangeArrowheads="1"/>
            </p:cNvSpPr>
            <p:nvPr/>
          </p:nvSpPr>
          <p:spPr bwMode="auto">
            <a:xfrm>
              <a:off x="4030993" y="3583682"/>
              <a:ext cx="676275" cy="62745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36" name="Text Box 4">
              <a:extLst>
                <a:ext uri="{FF2B5EF4-FFF2-40B4-BE49-F238E27FC236}">
                  <a16:creationId xmlns:a16="http://schemas.microsoft.com/office/drawing/2014/main" id="{C475794F-4C2E-7B84-C8C1-F572F1F7C9A9}"/>
                </a:ext>
              </a:extLst>
            </p:cNvPr>
            <p:cNvSpPr txBox="1">
              <a:spLocks noChangeArrowheads="1"/>
            </p:cNvSpPr>
            <p:nvPr/>
          </p:nvSpPr>
          <p:spPr bwMode="auto">
            <a:xfrm>
              <a:off x="3962724" y="3640698"/>
              <a:ext cx="81796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Wait for call 0 from above</a:t>
              </a:r>
              <a:endParaRPr lang="en-US" altLang="en-US" sz="1050" dirty="0">
                <a:solidFill>
                  <a:srgbClr val="000000"/>
                </a:solidFill>
                <a:latin typeface="Times New Roman" panose="02020603050405020304" pitchFamily="18" charset="0"/>
              </a:endParaRPr>
            </a:p>
          </p:txBody>
        </p:sp>
        <p:sp>
          <p:nvSpPr>
            <p:cNvPr id="137" name="Line 8">
              <a:extLst>
                <a:ext uri="{FF2B5EF4-FFF2-40B4-BE49-F238E27FC236}">
                  <a16:creationId xmlns:a16="http://schemas.microsoft.com/office/drawing/2014/main" id="{AF0C3C2B-4D0E-5CF3-E841-A3E5708389DB}"/>
                </a:ext>
              </a:extLst>
            </p:cNvPr>
            <p:cNvSpPr>
              <a:spLocks noChangeShapeType="1"/>
            </p:cNvSpPr>
            <p:nvPr/>
          </p:nvSpPr>
          <p:spPr bwMode="auto">
            <a:xfrm>
              <a:off x="3825015" y="3550345"/>
              <a:ext cx="283369" cy="1428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38" name="Group 137">
              <a:extLst>
                <a:ext uri="{FF2B5EF4-FFF2-40B4-BE49-F238E27FC236}">
                  <a16:creationId xmlns:a16="http://schemas.microsoft.com/office/drawing/2014/main" id="{E4B3868D-005D-29D7-62A8-AB521234FA8D}"/>
                </a:ext>
              </a:extLst>
            </p:cNvPr>
            <p:cNvGrpSpPr>
              <a:grpSpLocks/>
            </p:cNvGrpSpPr>
            <p:nvPr/>
          </p:nvGrpSpPr>
          <p:grpSpPr bwMode="auto">
            <a:xfrm>
              <a:off x="5406165" y="3544391"/>
              <a:ext cx="816769" cy="648891"/>
              <a:chOff x="2848" y="1499"/>
              <a:chExt cx="660" cy="510"/>
            </a:xfrm>
          </p:grpSpPr>
          <p:sp>
            <p:nvSpPr>
              <p:cNvPr id="139" name="Oval 138">
                <a:extLst>
                  <a:ext uri="{FF2B5EF4-FFF2-40B4-BE49-F238E27FC236}">
                    <a16:creationId xmlns:a16="http://schemas.microsoft.com/office/drawing/2014/main" id="{4A8C5B06-EFF9-88AE-DAD4-E8F6FDB5CCCB}"/>
                  </a:ext>
                </a:extLst>
              </p:cNvPr>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40" name="Text Box 12">
                <a:extLst>
                  <a:ext uri="{FF2B5EF4-FFF2-40B4-BE49-F238E27FC236}">
                    <a16:creationId xmlns:a16="http://schemas.microsoft.com/office/drawing/2014/main" id="{06A7275F-2691-EDB0-B205-62A88D26975B}"/>
                  </a:ext>
                </a:extLst>
              </p:cNvPr>
              <p:cNvSpPr txBox="1">
                <a:spLocks noChangeArrowheads="1"/>
              </p:cNvSpPr>
              <p:nvPr/>
            </p:nvSpPr>
            <p:spPr bwMode="auto">
              <a:xfrm>
                <a:off x="2848" y="1551"/>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ACK0</a:t>
                </a:r>
                <a:endParaRPr lang="en-US" altLang="en-US" sz="1050" kern="0" dirty="0">
                  <a:solidFill>
                    <a:srgbClr val="000000"/>
                  </a:solidFill>
                  <a:latin typeface="Times New Roman" panose="02020603050405020304" pitchFamily="18" charset="0"/>
                </a:endParaRPr>
              </a:p>
            </p:txBody>
          </p:sp>
        </p:grpSp>
        <p:sp>
          <p:nvSpPr>
            <p:cNvPr id="141" name="Text Box 5">
              <a:extLst>
                <a:ext uri="{FF2B5EF4-FFF2-40B4-BE49-F238E27FC236}">
                  <a16:creationId xmlns:a16="http://schemas.microsoft.com/office/drawing/2014/main" id="{3CE08FB3-1589-2202-4F88-58F6EA288629}"/>
                </a:ext>
              </a:extLst>
            </p:cNvPr>
            <p:cNvSpPr txBox="1">
              <a:spLocks noChangeArrowheads="1"/>
            </p:cNvSpPr>
            <p:nvPr/>
          </p:nvSpPr>
          <p:spPr bwMode="auto">
            <a:xfrm>
              <a:off x="4122408" y="3235149"/>
              <a:ext cx="1411620"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a:t>
              </a:r>
              <a:endParaRPr lang="en-US" altLang="en-US" sz="1200" dirty="0">
                <a:solidFill>
                  <a:srgbClr val="000000"/>
                </a:solidFill>
                <a:latin typeface="Times New Roman" panose="02020603050405020304" pitchFamily="18" charset="0"/>
              </a:endParaRPr>
            </a:p>
          </p:txBody>
        </p:sp>
        <p:sp>
          <p:nvSpPr>
            <p:cNvPr id="142" name="Text Box 6">
              <a:extLst>
                <a:ext uri="{FF2B5EF4-FFF2-40B4-BE49-F238E27FC236}">
                  <a16:creationId xmlns:a16="http://schemas.microsoft.com/office/drawing/2014/main" id="{B58EAA3A-B493-0D44-EDFC-27D2EC6146EF}"/>
                </a:ext>
              </a:extLst>
            </p:cNvPr>
            <p:cNvSpPr txBox="1">
              <a:spLocks noChangeArrowheads="1"/>
            </p:cNvSpPr>
            <p:nvPr/>
          </p:nvSpPr>
          <p:spPr bwMode="auto">
            <a:xfrm>
              <a:off x="4133864" y="3000596"/>
              <a:ext cx="1693092" cy="22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call 0</a:t>
              </a:r>
              <a:endParaRPr lang="en-US" altLang="en-US" sz="1200" dirty="0">
                <a:solidFill>
                  <a:srgbClr val="000000"/>
                </a:solidFill>
                <a:latin typeface="Times New Roman" panose="02020603050405020304" pitchFamily="18" charset="0"/>
              </a:endParaRPr>
            </a:p>
          </p:txBody>
        </p:sp>
        <p:sp>
          <p:nvSpPr>
            <p:cNvPr id="143" name="Line 7">
              <a:extLst>
                <a:ext uri="{FF2B5EF4-FFF2-40B4-BE49-F238E27FC236}">
                  <a16:creationId xmlns:a16="http://schemas.microsoft.com/office/drawing/2014/main" id="{F28F1795-919B-5E95-2C2C-AA6EBC6CFC0E}"/>
                </a:ext>
              </a:extLst>
            </p:cNvPr>
            <p:cNvSpPr>
              <a:spLocks noChangeShapeType="1"/>
            </p:cNvSpPr>
            <p:nvPr/>
          </p:nvSpPr>
          <p:spPr bwMode="auto">
            <a:xfrm>
              <a:off x="4228066" y="3274440"/>
              <a:ext cx="96262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4" name="Freeform 13">
              <a:extLst>
                <a:ext uri="{FF2B5EF4-FFF2-40B4-BE49-F238E27FC236}">
                  <a16:creationId xmlns:a16="http://schemas.microsoft.com/office/drawing/2014/main" id="{55D82FD7-298F-52BD-C0B6-6AD4331C4136}"/>
                </a:ext>
              </a:extLst>
            </p:cNvPr>
            <p:cNvSpPr>
              <a:spLocks/>
            </p:cNvSpPr>
            <p:nvPr/>
          </p:nvSpPr>
          <p:spPr bwMode="auto">
            <a:xfrm flipV="1">
              <a:off x="4272863" y="3452714"/>
              <a:ext cx="1188983" cy="16549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45" name="Group 144">
              <a:extLst>
                <a:ext uri="{FF2B5EF4-FFF2-40B4-BE49-F238E27FC236}">
                  <a16:creationId xmlns:a16="http://schemas.microsoft.com/office/drawing/2014/main" id="{11822A21-38D1-3B42-FFDA-35B82BBC087F}"/>
                </a:ext>
              </a:extLst>
            </p:cNvPr>
            <p:cNvGrpSpPr/>
            <p:nvPr/>
          </p:nvGrpSpPr>
          <p:grpSpPr>
            <a:xfrm>
              <a:off x="6071723" y="3440808"/>
              <a:ext cx="2193464" cy="721519"/>
              <a:chOff x="7379752" y="2244927"/>
              <a:chExt cx="2924619" cy="962025"/>
            </a:xfrm>
          </p:grpSpPr>
          <p:sp>
            <p:nvSpPr>
              <p:cNvPr id="146" name="Freeform 14">
                <a:extLst>
                  <a:ext uri="{FF2B5EF4-FFF2-40B4-BE49-F238E27FC236}">
                    <a16:creationId xmlns:a16="http://schemas.microsoft.com/office/drawing/2014/main" id="{2EAE01FC-2ECC-4B02-BB9B-545FA68591F4}"/>
                  </a:ext>
                </a:extLst>
              </p:cNvPr>
              <p:cNvSpPr>
                <a:spLocks/>
              </p:cNvSpPr>
              <p:nvPr/>
            </p:nvSpPr>
            <p:spPr bwMode="auto">
              <a:xfrm rot="20242820">
                <a:off x="7379752" y="2244927"/>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47" name="Text Box 15">
                <a:extLst>
                  <a:ext uri="{FF2B5EF4-FFF2-40B4-BE49-F238E27FC236}">
                    <a16:creationId xmlns:a16="http://schemas.microsoft.com/office/drawing/2014/main" id="{A606623D-3A5E-228F-1C3B-2349C6CE20DB}"/>
                  </a:ext>
                </a:extLst>
              </p:cNvPr>
              <p:cNvSpPr txBox="1">
                <a:spLocks noChangeArrowheads="1"/>
              </p:cNvSpPr>
              <p:nvPr/>
            </p:nvSpPr>
            <p:spPr bwMode="auto">
              <a:xfrm>
                <a:off x="7742239" y="2806902"/>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a:t>
                </a:r>
                <a:endParaRPr lang="en-US" altLang="en-US" sz="1200" dirty="0">
                  <a:solidFill>
                    <a:srgbClr val="000000"/>
                  </a:solidFill>
                  <a:latin typeface="Times New Roman" panose="02020603050405020304" pitchFamily="18" charset="0"/>
                </a:endParaRPr>
              </a:p>
            </p:txBody>
          </p:sp>
          <p:sp>
            <p:nvSpPr>
              <p:cNvPr id="148" name="Text Box 16">
                <a:extLst>
                  <a:ext uri="{FF2B5EF4-FFF2-40B4-BE49-F238E27FC236}">
                    <a16:creationId xmlns:a16="http://schemas.microsoft.com/office/drawing/2014/main" id="{019989CF-E005-3126-EE5F-585F02E00406}"/>
                  </a:ext>
                </a:extLst>
              </p:cNvPr>
              <p:cNvSpPr txBox="1">
                <a:spLocks noChangeArrowheads="1"/>
              </p:cNvSpPr>
              <p:nvPr/>
            </p:nvSpPr>
            <p:spPr bwMode="auto">
              <a:xfrm>
                <a:off x="7714671" y="2446539"/>
                <a:ext cx="25897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(corrupt() || ACK1)</a:t>
                </a:r>
                <a:endParaRPr lang="en-US" altLang="en-US" sz="1200" dirty="0">
                  <a:solidFill>
                    <a:srgbClr val="000000"/>
                  </a:solidFill>
                  <a:latin typeface="Times New Roman" panose="02020603050405020304" pitchFamily="18" charset="0"/>
                </a:endParaRPr>
              </a:p>
            </p:txBody>
          </p:sp>
          <p:sp>
            <p:nvSpPr>
              <p:cNvPr id="149" name="Line 17">
                <a:extLst>
                  <a:ext uri="{FF2B5EF4-FFF2-40B4-BE49-F238E27FC236}">
                    <a16:creationId xmlns:a16="http://schemas.microsoft.com/office/drawing/2014/main" id="{44178EA7-0597-F5B6-4A12-F3AF673A8C15}"/>
                  </a:ext>
                </a:extLst>
              </p:cNvPr>
              <p:cNvSpPr>
                <a:spLocks noChangeShapeType="1"/>
              </p:cNvSpPr>
              <p:nvPr/>
            </p:nvSpPr>
            <p:spPr bwMode="auto">
              <a:xfrm>
                <a:off x="7835364" y="2846589"/>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sp>
          <p:nvSpPr>
            <p:cNvPr id="150" name="Freeform 19">
              <a:extLst>
                <a:ext uri="{FF2B5EF4-FFF2-40B4-BE49-F238E27FC236}">
                  <a16:creationId xmlns:a16="http://schemas.microsoft.com/office/drawing/2014/main" id="{2B1F6B03-B7CF-E21C-2BA7-CF9635FE09E8}"/>
                </a:ext>
              </a:extLst>
            </p:cNvPr>
            <p:cNvSpPr>
              <a:spLocks/>
            </p:cNvSpPr>
            <p:nvPr/>
          </p:nvSpPr>
          <p:spPr bwMode="auto">
            <a:xfrm>
              <a:off x="4579871" y="5438676"/>
              <a:ext cx="1204912"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51" name="Text Box 21">
              <a:extLst>
                <a:ext uri="{FF2B5EF4-FFF2-40B4-BE49-F238E27FC236}">
                  <a16:creationId xmlns:a16="http://schemas.microsoft.com/office/drawing/2014/main" id="{DB56FB9D-70B2-D1EE-1AC1-014F9F2B3319}"/>
                </a:ext>
              </a:extLst>
            </p:cNvPr>
            <p:cNvSpPr txBox="1">
              <a:spLocks noChangeArrowheads="1"/>
            </p:cNvSpPr>
            <p:nvPr/>
          </p:nvSpPr>
          <p:spPr bwMode="auto">
            <a:xfrm>
              <a:off x="4949030" y="5786554"/>
              <a:ext cx="1465563"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a:t>
              </a:r>
              <a:endParaRPr lang="en-US" altLang="en-US" sz="1200" dirty="0">
                <a:solidFill>
                  <a:srgbClr val="000000"/>
                </a:solidFill>
                <a:latin typeface="Times New Roman" panose="02020603050405020304" pitchFamily="18" charset="0"/>
              </a:endParaRPr>
            </a:p>
          </p:txBody>
        </p:sp>
        <p:sp>
          <p:nvSpPr>
            <p:cNvPr id="152" name="Text Box 22">
              <a:extLst>
                <a:ext uri="{FF2B5EF4-FFF2-40B4-BE49-F238E27FC236}">
                  <a16:creationId xmlns:a16="http://schemas.microsoft.com/office/drawing/2014/main" id="{EDEC86EC-8EC7-E352-48BC-AC2A06B05F27}"/>
                </a:ext>
              </a:extLst>
            </p:cNvPr>
            <p:cNvSpPr txBox="1">
              <a:spLocks noChangeArrowheads="1"/>
            </p:cNvSpPr>
            <p:nvPr/>
          </p:nvSpPr>
          <p:spPr bwMode="auto">
            <a:xfrm>
              <a:off x="5001417" y="5532951"/>
              <a:ext cx="1791891"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call 0</a:t>
              </a:r>
              <a:endParaRPr lang="en-US" altLang="en-US" sz="1200" dirty="0">
                <a:solidFill>
                  <a:srgbClr val="000000"/>
                </a:solidFill>
                <a:latin typeface="Times New Roman" panose="02020603050405020304" pitchFamily="18" charset="0"/>
              </a:endParaRPr>
            </a:p>
          </p:txBody>
        </p:sp>
        <p:sp>
          <p:nvSpPr>
            <p:cNvPr id="153" name="Line 23">
              <a:extLst>
                <a:ext uri="{FF2B5EF4-FFF2-40B4-BE49-F238E27FC236}">
                  <a16:creationId xmlns:a16="http://schemas.microsoft.com/office/drawing/2014/main" id="{3C0CC40C-3357-7146-8302-D8FDF3871E98}"/>
                </a:ext>
              </a:extLst>
            </p:cNvPr>
            <p:cNvSpPr>
              <a:spLocks noChangeShapeType="1"/>
            </p:cNvSpPr>
            <p:nvPr/>
          </p:nvSpPr>
          <p:spPr bwMode="auto">
            <a:xfrm>
              <a:off x="5037136" y="5797270"/>
              <a:ext cx="105562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54" name="Freeform 9">
              <a:extLst>
                <a:ext uri="{FF2B5EF4-FFF2-40B4-BE49-F238E27FC236}">
                  <a16:creationId xmlns:a16="http://schemas.microsoft.com/office/drawing/2014/main" id="{AD463B59-BCD7-101A-1CCB-51378736FBE5}"/>
                </a:ext>
              </a:extLst>
            </p:cNvPr>
            <p:cNvSpPr>
              <a:spLocks/>
            </p:cNvSpPr>
            <p:nvPr/>
          </p:nvSpPr>
          <p:spPr bwMode="auto">
            <a:xfrm rot="14610547">
              <a:off x="3462408" y="5339409"/>
              <a:ext cx="7143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55" name="Text Box 26">
              <a:extLst>
                <a:ext uri="{FF2B5EF4-FFF2-40B4-BE49-F238E27FC236}">
                  <a16:creationId xmlns:a16="http://schemas.microsoft.com/office/drawing/2014/main" id="{593D6593-719A-AC1B-2099-DD7D4733673B}"/>
                </a:ext>
              </a:extLst>
            </p:cNvPr>
            <p:cNvSpPr txBox="1">
              <a:spLocks noChangeArrowheads="1"/>
            </p:cNvSpPr>
            <p:nvPr/>
          </p:nvSpPr>
          <p:spPr bwMode="auto">
            <a:xfrm>
              <a:off x="2237955" y="5795618"/>
              <a:ext cx="1364456" cy="207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a:t>
              </a:r>
              <a:endParaRPr lang="en-US" altLang="en-US" sz="1200" dirty="0">
                <a:solidFill>
                  <a:srgbClr val="000000"/>
                </a:solidFill>
                <a:latin typeface="Times New Roman" panose="02020603050405020304" pitchFamily="18" charset="0"/>
              </a:endParaRPr>
            </a:p>
          </p:txBody>
        </p:sp>
        <p:sp>
          <p:nvSpPr>
            <p:cNvPr id="156" name="Text Box 27">
              <a:extLst>
                <a:ext uri="{FF2B5EF4-FFF2-40B4-BE49-F238E27FC236}">
                  <a16:creationId xmlns:a16="http://schemas.microsoft.com/office/drawing/2014/main" id="{D7F9E0C0-5454-F50C-AC2C-DE6C38338D5C}"/>
                </a:ext>
              </a:extLst>
            </p:cNvPr>
            <p:cNvSpPr txBox="1">
              <a:spLocks noChangeArrowheads="1"/>
            </p:cNvSpPr>
            <p:nvPr/>
          </p:nvSpPr>
          <p:spPr bwMode="auto">
            <a:xfrm>
              <a:off x="2230466" y="5477359"/>
              <a:ext cx="2021415" cy="286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(corrupt() || ACK1)</a:t>
              </a:r>
            </a:p>
            <a:p>
              <a:pPr algn="r" defTabSz="685800" eaLnBrk="0" fontAlgn="base" hangingPunct="0">
                <a:spcBef>
                  <a:spcPct val="0"/>
                </a:spcBef>
                <a:spcAft>
                  <a:spcPct val="0"/>
                </a:spcAft>
                <a:defRPr/>
              </a:pPr>
              <a:endParaRPr lang="en-US" altLang="en-US" sz="1200" dirty="0">
                <a:solidFill>
                  <a:srgbClr val="000000"/>
                </a:solidFill>
                <a:latin typeface="Times New Roman" panose="02020603050405020304" pitchFamily="18" charset="0"/>
              </a:endParaRPr>
            </a:p>
          </p:txBody>
        </p:sp>
        <p:sp>
          <p:nvSpPr>
            <p:cNvPr id="157" name="Line 28">
              <a:extLst>
                <a:ext uri="{FF2B5EF4-FFF2-40B4-BE49-F238E27FC236}">
                  <a16:creationId xmlns:a16="http://schemas.microsoft.com/office/drawing/2014/main" id="{31EF0E8A-626A-8ACC-EE19-AC16541B5A0C}"/>
                </a:ext>
              </a:extLst>
            </p:cNvPr>
            <p:cNvSpPr>
              <a:spLocks noChangeShapeType="1"/>
            </p:cNvSpPr>
            <p:nvPr/>
          </p:nvSpPr>
          <p:spPr bwMode="auto">
            <a:xfrm>
              <a:off x="2396425" y="5803454"/>
              <a:ext cx="11680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58" name="Group 31">
              <a:extLst>
                <a:ext uri="{FF2B5EF4-FFF2-40B4-BE49-F238E27FC236}">
                  <a16:creationId xmlns:a16="http://schemas.microsoft.com/office/drawing/2014/main" id="{9C90C661-7E8A-0634-5181-73297E92AA0A}"/>
                </a:ext>
              </a:extLst>
            </p:cNvPr>
            <p:cNvGrpSpPr>
              <a:grpSpLocks/>
            </p:cNvGrpSpPr>
            <p:nvPr/>
          </p:nvGrpSpPr>
          <p:grpSpPr bwMode="auto">
            <a:xfrm>
              <a:off x="5519274" y="5004098"/>
              <a:ext cx="838200" cy="617935"/>
              <a:chOff x="4156" y="2812"/>
              <a:chExt cx="704" cy="519"/>
            </a:xfrm>
          </p:grpSpPr>
          <p:sp>
            <p:nvSpPr>
              <p:cNvPr id="159" name="Oval 32">
                <a:extLst>
                  <a:ext uri="{FF2B5EF4-FFF2-40B4-BE49-F238E27FC236}">
                    <a16:creationId xmlns:a16="http://schemas.microsoft.com/office/drawing/2014/main" id="{F46D0E1E-58BD-45F4-95AC-61003A08735F}"/>
                  </a:ext>
                </a:extLst>
              </p:cNvPr>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60" name="Text Box 33">
                <a:extLst>
                  <a:ext uri="{FF2B5EF4-FFF2-40B4-BE49-F238E27FC236}">
                    <a16:creationId xmlns:a16="http://schemas.microsoft.com/office/drawing/2014/main" id="{7194C4ED-C8B4-70DD-220F-EB11CFCFFF18}"/>
                  </a:ext>
                </a:extLst>
              </p:cNvPr>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 call 1 from above</a:t>
                </a:r>
                <a:endParaRPr lang="en-US" altLang="en-US" sz="1050" kern="0" dirty="0">
                  <a:solidFill>
                    <a:srgbClr val="000000"/>
                  </a:solidFill>
                  <a:latin typeface="Times New Roman" panose="02020603050405020304" pitchFamily="18" charset="0"/>
                </a:endParaRPr>
              </a:p>
            </p:txBody>
          </p:sp>
        </p:grpSp>
        <p:grpSp>
          <p:nvGrpSpPr>
            <p:cNvPr id="161" name="Group 34">
              <a:extLst>
                <a:ext uri="{FF2B5EF4-FFF2-40B4-BE49-F238E27FC236}">
                  <a16:creationId xmlns:a16="http://schemas.microsoft.com/office/drawing/2014/main" id="{70AC6127-F7CA-BF39-2469-1C1B82A133D9}"/>
                </a:ext>
              </a:extLst>
            </p:cNvPr>
            <p:cNvGrpSpPr>
              <a:grpSpLocks/>
            </p:cNvGrpSpPr>
            <p:nvPr/>
          </p:nvGrpSpPr>
          <p:grpSpPr bwMode="auto">
            <a:xfrm>
              <a:off x="3877402" y="4963617"/>
              <a:ext cx="784622" cy="617935"/>
              <a:chOff x="4916" y="3266"/>
              <a:chExt cx="659" cy="519"/>
            </a:xfrm>
          </p:grpSpPr>
          <p:sp>
            <p:nvSpPr>
              <p:cNvPr id="162" name="Oval 35">
                <a:extLst>
                  <a:ext uri="{FF2B5EF4-FFF2-40B4-BE49-F238E27FC236}">
                    <a16:creationId xmlns:a16="http://schemas.microsoft.com/office/drawing/2014/main" id="{15B71289-D6B7-E684-D005-B8813448D7DF}"/>
                  </a:ext>
                </a:extLst>
              </p:cNvPr>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63" name="Text Box 36">
                <a:extLst>
                  <a:ext uri="{FF2B5EF4-FFF2-40B4-BE49-F238E27FC236}">
                    <a16:creationId xmlns:a16="http://schemas.microsoft.com/office/drawing/2014/main" id="{FC1C0E40-8EF2-56CE-A285-63B255CC3FDE}"/>
                  </a:ext>
                </a:extLst>
              </p:cNvPr>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ACK1</a:t>
                </a:r>
                <a:endParaRPr lang="en-US" altLang="en-US" sz="1050" kern="0" dirty="0">
                  <a:solidFill>
                    <a:srgbClr val="000000"/>
                  </a:solidFill>
                  <a:latin typeface="Times New Roman" panose="02020603050405020304" pitchFamily="18" charset="0"/>
                </a:endParaRPr>
              </a:p>
            </p:txBody>
          </p:sp>
        </p:grpSp>
        <p:grpSp>
          <p:nvGrpSpPr>
            <p:cNvPr id="164" name="Group 163">
              <a:extLst>
                <a:ext uri="{FF2B5EF4-FFF2-40B4-BE49-F238E27FC236}">
                  <a16:creationId xmlns:a16="http://schemas.microsoft.com/office/drawing/2014/main" id="{EDC257A0-ECAB-07F8-BAF6-EF72E0D7D0EE}"/>
                </a:ext>
              </a:extLst>
            </p:cNvPr>
            <p:cNvGrpSpPr/>
            <p:nvPr/>
          </p:nvGrpSpPr>
          <p:grpSpPr>
            <a:xfrm>
              <a:off x="6041958" y="3999210"/>
              <a:ext cx="2388738" cy="1022748"/>
              <a:chOff x="7340064" y="2989464"/>
              <a:chExt cx="3184984" cy="1363663"/>
            </a:xfrm>
          </p:grpSpPr>
          <p:sp>
            <p:nvSpPr>
              <p:cNvPr id="165" name="Freeform 20">
                <a:extLst>
                  <a:ext uri="{FF2B5EF4-FFF2-40B4-BE49-F238E27FC236}">
                    <a16:creationId xmlns:a16="http://schemas.microsoft.com/office/drawing/2014/main" id="{D76C6E0D-F772-6CBC-240D-0361DE7636AF}"/>
                  </a:ext>
                </a:extLst>
              </p:cNvPr>
              <p:cNvSpPr>
                <a:spLocks/>
              </p:cNvSpPr>
              <p:nvPr/>
            </p:nvSpPr>
            <p:spPr bwMode="auto">
              <a:xfrm rot="5400000" flipH="1" flipV="1">
                <a:off x="6760626" y="3568902"/>
                <a:ext cx="1363663" cy="20478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66" name="Text Box 24">
                <a:extLst>
                  <a:ext uri="{FF2B5EF4-FFF2-40B4-BE49-F238E27FC236}">
                    <a16:creationId xmlns:a16="http://schemas.microsoft.com/office/drawing/2014/main" id="{4C2F396F-A902-9AA4-CA01-854BC9883A6D}"/>
                  </a:ext>
                </a:extLst>
              </p:cNvPr>
              <p:cNvSpPr txBox="1">
                <a:spLocks noChangeArrowheads="1"/>
              </p:cNvSpPr>
              <p:nvPr/>
            </p:nvSpPr>
            <p:spPr bwMode="auto">
              <a:xfrm>
                <a:off x="7529435" y="3442149"/>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ACK0</a:t>
                </a:r>
              </a:p>
            </p:txBody>
          </p:sp>
          <p:sp>
            <p:nvSpPr>
              <p:cNvPr id="167" name="Line 25">
                <a:extLst>
                  <a:ext uri="{FF2B5EF4-FFF2-40B4-BE49-F238E27FC236}">
                    <a16:creationId xmlns:a16="http://schemas.microsoft.com/office/drawing/2014/main" id="{78ACF351-AD1B-0665-6947-59162970F446}"/>
                  </a:ext>
                </a:extLst>
              </p:cNvPr>
              <p:cNvSpPr>
                <a:spLocks noChangeShapeType="1"/>
              </p:cNvSpPr>
              <p:nvPr/>
            </p:nvSpPr>
            <p:spPr bwMode="auto">
              <a:xfrm>
                <a:off x="7611527" y="3864483"/>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68" name="Text Box 37">
                <a:extLst>
                  <a:ext uri="{FF2B5EF4-FFF2-40B4-BE49-F238E27FC236}">
                    <a16:creationId xmlns:a16="http://schemas.microsoft.com/office/drawing/2014/main" id="{BDF172E9-0432-7E62-A10B-9396FCC3745C}"/>
                  </a:ext>
                </a:extLst>
              </p:cNvPr>
              <p:cNvSpPr txBox="1">
                <a:spLocks noChangeArrowheads="1"/>
              </p:cNvSpPr>
              <p:nvPr/>
            </p:nvSpPr>
            <p:spPr bwMode="auto">
              <a:xfrm>
                <a:off x="7962396" y="387400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grpSp>
        <p:sp>
          <p:nvSpPr>
            <p:cNvPr id="169" name="Freeform 18">
              <a:extLst>
                <a:ext uri="{FF2B5EF4-FFF2-40B4-BE49-F238E27FC236}">
                  <a16:creationId xmlns:a16="http://schemas.microsoft.com/office/drawing/2014/main" id="{698E1272-AD14-ADD9-8D30-757B3BB792F1}"/>
                </a:ext>
              </a:extLst>
            </p:cNvPr>
            <p:cNvSpPr>
              <a:spLocks/>
            </p:cNvSpPr>
            <p:nvPr/>
          </p:nvSpPr>
          <p:spPr bwMode="auto">
            <a:xfrm rot="16200000" flipV="1">
              <a:off x="3530931" y="4473080"/>
              <a:ext cx="950119" cy="92869"/>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70" name="Text Box 29">
              <a:extLst>
                <a:ext uri="{FF2B5EF4-FFF2-40B4-BE49-F238E27FC236}">
                  <a16:creationId xmlns:a16="http://schemas.microsoft.com/office/drawing/2014/main" id="{06420B24-3971-D87B-097C-3FBD0184642B}"/>
                </a:ext>
              </a:extLst>
            </p:cNvPr>
            <p:cNvSpPr txBox="1">
              <a:spLocks noChangeArrowheads="1"/>
            </p:cNvSpPr>
            <p:nvPr/>
          </p:nvSpPr>
          <p:spPr bwMode="auto">
            <a:xfrm>
              <a:off x="2735161" y="4432010"/>
              <a:ext cx="109591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ACK1</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171" name="Line 30">
              <a:extLst>
                <a:ext uri="{FF2B5EF4-FFF2-40B4-BE49-F238E27FC236}">
                  <a16:creationId xmlns:a16="http://schemas.microsoft.com/office/drawing/2014/main" id="{55B543E8-0512-4545-07A1-A3F55249ADB4}"/>
                </a:ext>
              </a:extLst>
            </p:cNvPr>
            <p:cNvSpPr>
              <a:spLocks noChangeShapeType="1"/>
            </p:cNvSpPr>
            <p:nvPr/>
          </p:nvSpPr>
          <p:spPr bwMode="auto">
            <a:xfrm>
              <a:off x="2966114" y="4744543"/>
              <a:ext cx="80413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72" name="Text Box 38">
              <a:extLst>
                <a:ext uri="{FF2B5EF4-FFF2-40B4-BE49-F238E27FC236}">
                  <a16:creationId xmlns:a16="http://schemas.microsoft.com/office/drawing/2014/main" id="{789ED6D6-C15A-1CCE-B374-FBF2DAAFC23D}"/>
                </a:ext>
              </a:extLst>
            </p:cNvPr>
            <p:cNvSpPr txBox="1">
              <a:spLocks noChangeArrowheads="1"/>
            </p:cNvSpPr>
            <p:nvPr/>
          </p:nvSpPr>
          <p:spPr bwMode="auto">
            <a:xfrm>
              <a:off x="3361426" y="4755259"/>
              <a:ext cx="290464"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sp>
          <p:nvSpPr>
            <p:cNvPr id="173" name="Rectangle 172">
              <a:extLst>
                <a:ext uri="{FF2B5EF4-FFF2-40B4-BE49-F238E27FC236}">
                  <a16:creationId xmlns:a16="http://schemas.microsoft.com/office/drawing/2014/main" id="{2FD0F3CF-EF19-5B0D-BE62-34C1B267D133}"/>
                </a:ext>
              </a:extLst>
            </p:cNvPr>
            <p:cNvSpPr/>
            <p:nvPr/>
          </p:nvSpPr>
          <p:spPr>
            <a:xfrm>
              <a:off x="4865074" y="3298667"/>
              <a:ext cx="943737"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1350" dirty="0">
                  <a:solidFill>
                    <a:schemeClr val="tx1"/>
                  </a:solidFill>
                  <a:latin typeface="Calibri" panose="020F0502020204030204"/>
                </a:rPr>
                <a:t>start timer</a:t>
              </a:r>
            </a:p>
          </p:txBody>
        </p:sp>
        <p:sp>
          <p:nvSpPr>
            <p:cNvPr id="174" name="TextBox 173">
              <a:extLst>
                <a:ext uri="{FF2B5EF4-FFF2-40B4-BE49-F238E27FC236}">
                  <a16:creationId xmlns:a16="http://schemas.microsoft.com/office/drawing/2014/main" id="{0A8B3630-B048-6640-43D8-349D1590982B}"/>
                </a:ext>
              </a:extLst>
            </p:cNvPr>
            <p:cNvSpPr txBox="1"/>
            <p:nvPr/>
          </p:nvSpPr>
          <p:spPr>
            <a:xfrm>
              <a:off x="5061343" y="2642823"/>
              <a:ext cx="4572000" cy="461665"/>
            </a:xfrm>
            <a:prstGeom prst="rect">
              <a:avLst/>
            </a:prstGeom>
            <a:noFill/>
          </p:spPr>
          <p:txBody>
            <a:bodyPr wrap="square">
              <a:spAutoFit/>
            </a:bodyPr>
            <a:lstStyle/>
            <a:p>
              <a:pPr lvl="2"/>
              <a:r>
                <a:rPr lang="en-US" sz="2400" dirty="0">
                  <a:solidFill>
                    <a:srgbClr val="FF0000"/>
                  </a:solidFill>
                </a:rPr>
                <a:t>Anything Wrong?</a:t>
              </a:r>
            </a:p>
          </p:txBody>
        </p:sp>
      </p:grpSp>
    </p:spTree>
    <p:extLst>
      <p:ext uri="{BB962C8B-B14F-4D97-AF65-F5344CB8AC3E}">
        <p14:creationId xmlns:p14="http://schemas.microsoft.com/office/powerpoint/2010/main" val="9721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9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FBB08-3DD5-E7F3-9984-7BBC5B3CDC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65DBAE-F9F8-11A5-359D-0079D24B9D44}"/>
              </a:ext>
            </a:extLst>
          </p:cNvPr>
          <p:cNvSpPr>
            <a:spLocks noGrp="1"/>
          </p:cNvSpPr>
          <p:nvPr>
            <p:ph type="sldNum" sz="quarter" idx="4"/>
          </p:nvPr>
        </p:nvSpPr>
        <p:spPr/>
        <p:txBody>
          <a:bodyPr/>
          <a:lstStyle/>
          <a:p>
            <a:r>
              <a:rPr lang="en-US"/>
              <a:t>Transport Layer: 3-</a:t>
            </a:r>
            <a:fld id="{C4204591-24BD-A542-B9D5-F8D8A88D2FEE}" type="slidenum">
              <a:rPr lang="en-US" smtClean="0"/>
              <a:pPr/>
              <a:t>43</a:t>
            </a:fld>
            <a:endParaRPr lang="en-US"/>
          </a:p>
        </p:txBody>
      </p:sp>
      <p:sp>
        <p:nvSpPr>
          <p:cNvPr id="9" name="Slide Number Placeholder 3">
            <a:extLst>
              <a:ext uri="{FF2B5EF4-FFF2-40B4-BE49-F238E27FC236}">
                <a16:creationId xmlns:a16="http://schemas.microsoft.com/office/drawing/2014/main" id="{51E381F5-5B02-7EB8-BF41-9153E5CD2295}"/>
              </a:ext>
            </a:extLst>
          </p:cNvPr>
          <p:cNvSpPr txBox="1">
            <a:spLocks/>
          </p:cNvSpPr>
          <p:nvPr/>
        </p:nvSpPr>
        <p:spPr>
          <a:xfrm>
            <a:off x="6914712" y="6443090"/>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825" kern="1200">
                <a:solidFill>
                  <a:schemeClr val="bg1">
                    <a:lumMod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Transport Layer: 3-</a:t>
            </a:r>
            <a:fld id="{C4204591-24BD-A542-B9D5-F8D8A88D2FEE}" type="slidenum">
              <a:rPr lang="en-US" smtClean="0"/>
              <a:pPr/>
              <a:t>43</a:t>
            </a:fld>
            <a:endParaRPr lang="en-US"/>
          </a:p>
        </p:txBody>
      </p:sp>
      <p:sp>
        <p:nvSpPr>
          <p:cNvPr id="3" name="Oval 3">
            <a:extLst>
              <a:ext uri="{FF2B5EF4-FFF2-40B4-BE49-F238E27FC236}">
                <a16:creationId xmlns:a16="http://schemas.microsoft.com/office/drawing/2014/main" id="{B21D7828-2CDA-F1B4-7C97-9357C77297C3}"/>
              </a:ext>
            </a:extLst>
          </p:cNvPr>
          <p:cNvSpPr>
            <a:spLocks noChangeArrowheads="1"/>
          </p:cNvSpPr>
          <p:nvPr/>
        </p:nvSpPr>
        <p:spPr bwMode="auto">
          <a:xfrm>
            <a:off x="4030993" y="3583682"/>
            <a:ext cx="676275" cy="62745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5" name="Text Box 4">
            <a:extLst>
              <a:ext uri="{FF2B5EF4-FFF2-40B4-BE49-F238E27FC236}">
                <a16:creationId xmlns:a16="http://schemas.microsoft.com/office/drawing/2014/main" id="{51026172-BE61-3CDB-DCC0-CF719D020877}"/>
              </a:ext>
            </a:extLst>
          </p:cNvPr>
          <p:cNvSpPr txBox="1">
            <a:spLocks noChangeArrowheads="1"/>
          </p:cNvSpPr>
          <p:nvPr/>
        </p:nvSpPr>
        <p:spPr bwMode="auto">
          <a:xfrm>
            <a:off x="3962724" y="3640698"/>
            <a:ext cx="81796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dirty="0">
                <a:solidFill>
                  <a:srgbClr val="000000"/>
                </a:solidFill>
                <a:latin typeface="Arial" panose="020B0604020202020204" pitchFamily="34" charset="0"/>
              </a:rPr>
              <a:t>Wait for call 0 from above</a:t>
            </a:r>
            <a:endParaRPr lang="en-US" altLang="en-US" sz="1050" dirty="0">
              <a:solidFill>
                <a:srgbClr val="000000"/>
              </a:solidFill>
              <a:latin typeface="Times New Roman" panose="02020603050405020304" pitchFamily="18" charset="0"/>
            </a:endParaRPr>
          </a:p>
        </p:txBody>
      </p:sp>
      <p:sp>
        <p:nvSpPr>
          <p:cNvPr id="10" name="Line 8">
            <a:extLst>
              <a:ext uri="{FF2B5EF4-FFF2-40B4-BE49-F238E27FC236}">
                <a16:creationId xmlns:a16="http://schemas.microsoft.com/office/drawing/2014/main" id="{32CCB200-0EA1-4554-9562-B79A86F95626}"/>
              </a:ext>
            </a:extLst>
          </p:cNvPr>
          <p:cNvSpPr>
            <a:spLocks noChangeShapeType="1"/>
          </p:cNvSpPr>
          <p:nvPr/>
        </p:nvSpPr>
        <p:spPr bwMode="auto">
          <a:xfrm>
            <a:off x="3825015" y="3550345"/>
            <a:ext cx="283369" cy="1428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11" name="Group 10">
            <a:extLst>
              <a:ext uri="{FF2B5EF4-FFF2-40B4-BE49-F238E27FC236}">
                <a16:creationId xmlns:a16="http://schemas.microsoft.com/office/drawing/2014/main" id="{FDB9A3BB-ADF9-AE4A-B112-0AC04DF3EF35}"/>
              </a:ext>
            </a:extLst>
          </p:cNvPr>
          <p:cNvGrpSpPr>
            <a:grpSpLocks/>
          </p:cNvGrpSpPr>
          <p:nvPr/>
        </p:nvGrpSpPr>
        <p:grpSpPr bwMode="auto">
          <a:xfrm>
            <a:off x="5406165" y="3544391"/>
            <a:ext cx="816769" cy="648891"/>
            <a:chOff x="2848" y="1499"/>
            <a:chExt cx="660" cy="510"/>
          </a:xfrm>
        </p:grpSpPr>
        <p:sp>
          <p:nvSpPr>
            <p:cNvPr id="12" name="Oval 11">
              <a:extLst>
                <a:ext uri="{FF2B5EF4-FFF2-40B4-BE49-F238E27FC236}">
                  <a16:creationId xmlns:a16="http://schemas.microsoft.com/office/drawing/2014/main" id="{070BE2E1-E53A-8424-1B80-2BD726C4E604}"/>
                </a:ext>
              </a:extLst>
            </p:cNvPr>
            <p:cNvSpPr>
              <a:spLocks noChangeArrowheads="1"/>
            </p:cNvSpPr>
            <p:nvPr/>
          </p:nvSpPr>
          <p:spPr bwMode="auto">
            <a:xfrm>
              <a:off x="2893" y="1499"/>
              <a:ext cx="568" cy="510"/>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13" name="Text Box 12">
              <a:extLst>
                <a:ext uri="{FF2B5EF4-FFF2-40B4-BE49-F238E27FC236}">
                  <a16:creationId xmlns:a16="http://schemas.microsoft.com/office/drawing/2014/main" id="{7522BDD2-F598-3C65-0C9E-9592270A5E5A}"/>
                </a:ext>
              </a:extLst>
            </p:cNvPr>
            <p:cNvSpPr txBox="1">
              <a:spLocks noChangeArrowheads="1"/>
            </p:cNvSpPr>
            <p:nvPr/>
          </p:nvSpPr>
          <p:spPr bwMode="auto">
            <a:xfrm>
              <a:off x="2848" y="1551"/>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ACK0</a:t>
              </a:r>
              <a:endParaRPr lang="en-US" altLang="en-US" sz="1050" kern="0" dirty="0">
                <a:solidFill>
                  <a:srgbClr val="000000"/>
                </a:solidFill>
                <a:latin typeface="Times New Roman" panose="02020603050405020304" pitchFamily="18" charset="0"/>
              </a:endParaRPr>
            </a:p>
          </p:txBody>
        </p:sp>
      </p:grpSp>
      <p:sp>
        <p:nvSpPr>
          <p:cNvPr id="15" name="Text Box 5">
            <a:extLst>
              <a:ext uri="{FF2B5EF4-FFF2-40B4-BE49-F238E27FC236}">
                <a16:creationId xmlns:a16="http://schemas.microsoft.com/office/drawing/2014/main" id="{2ADE953A-148A-75B2-0B19-53C84F0293AA}"/>
              </a:ext>
            </a:extLst>
          </p:cNvPr>
          <p:cNvSpPr txBox="1">
            <a:spLocks noChangeArrowheads="1"/>
          </p:cNvSpPr>
          <p:nvPr/>
        </p:nvSpPr>
        <p:spPr bwMode="auto">
          <a:xfrm>
            <a:off x="4122408" y="3235149"/>
            <a:ext cx="1411620"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send(pkt0)</a:t>
            </a:r>
            <a:endParaRPr lang="en-US" altLang="en-US" sz="1200" dirty="0">
              <a:solidFill>
                <a:srgbClr val="000000"/>
              </a:solidFill>
              <a:latin typeface="Times New Roman" panose="02020603050405020304" pitchFamily="18" charset="0"/>
            </a:endParaRPr>
          </a:p>
        </p:txBody>
      </p:sp>
      <p:sp>
        <p:nvSpPr>
          <p:cNvPr id="17" name="Text Box 6">
            <a:extLst>
              <a:ext uri="{FF2B5EF4-FFF2-40B4-BE49-F238E27FC236}">
                <a16:creationId xmlns:a16="http://schemas.microsoft.com/office/drawing/2014/main" id="{A06750E5-AE86-8E97-4BFD-2AD166A50672}"/>
              </a:ext>
            </a:extLst>
          </p:cNvPr>
          <p:cNvSpPr txBox="1">
            <a:spLocks noChangeArrowheads="1"/>
          </p:cNvSpPr>
          <p:nvPr/>
        </p:nvSpPr>
        <p:spPr bwMode="auto">
          <a:xfrm>
            <a:off x="4133864" y="3000596"/>
            <a:ext cx="1693092" cy="225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call 0</a:t>
            </a:r>
            <a:endParaRPr lang="en-US" altLang="en-US" sz="1200" dirty="0">
              <a:solidFill>
                <a:srgbClr val="000000"/>
              </a:solidFill>
              <a:latin typeface="Times New Roman" panose="02020603050405020304" pitchFamily="18" charset="0"/>
            </a:endParaRPr>
          </a:p>
        </p:txBody>
      </p:sp>
      <p:sp>
        <p:nvSpPr>
          <p:cNvPr id="18" name="Line 7">
            <a:extLst>
              <a:ext uri="{FF2B5EF4-FFF2-40B4-BE49-F238E27FC236}">
                <a16:creationId xmlns:a16="http://schemas.microsoft.com/office/drawing/2014/main" id="{311194DC-3DA3-52F2-F782-21239CCD4F89}"/>
              </a:ext>
            </a:extLst>
          </p:cNvPr>
          <p:cNvSpPr>
            <a:spLocks noChangeShapeType="1"/>
          </p:cNvSpPr>
          <p:nvPr/>
        </p:nvSpPr>
        <p:spPr bwMode="auto">
          <a:xfrm>
            <a:off x="4228066" y="3274440"/>
            <a:ext cx="96262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19" name="Freeform 13">
            <a:extLst>
              <a:ext uri="{FF2B5EF4-FFF2-40B4-BE49-F238E27FC236}">
                <a16:creationId xmlns:a16="http://schemas.microsoft.com/office/drawing/2014/main" id="{5267A917-CB65-3D21-2BFF-72A7210F7B9E}"/>
              </a:ext>
            </a:extLst>
          </p:cNvPr>
          <p:cNvSpPr>
            <a:spLocks/>
          </p:cNvSpPr>
          <p:nvPr/>
        </p:nvSpPr>
        <p:spPr bwMode="auto">
          <a:xfrm flipV="1">
            <a:off x="4272863" y="3452714"/>
            <a:ext cx="1188983" cy="165497"/>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20" name="Group 19">
            <a:extLst>
              <a:ext uri="{FF2B5EF4-FFF2-40B4-BE49-F238E27FC236}">
                <a16:creationId xmlns:a16="http://schemas.microsoft.com/office/drawing/2014/main" id="{C8CF3C90-4487-FB7B-4C2A-8CEACDE40ED0}"/>
              </a:ext>
            </a:extLst>
          </p:cNvPr>
          <p:cNvGrpSpPr/>
          <p:nvPr/>
        </p:nvGrpSpPr>
        <p:grpSpPr>
          <a:xfrm>
            <a:off x="6071723" y="3440808"/>
            <a:ext cx="2193464" cy="721519"/>
            <a:chOff x="7379752" y="2244927"/>
            <a:chExt cx="2924619" cy="962025"/>
          </a:xfrm>
        </p:grpSpPr>
        <p:sp>
          <p:nvSpPr>
            <p:cNvPr id="21" name="Freeform 14">
              <a:extLst>
                <a:ext uri="{FF2B5EF4-FFF2-40B4-BE49-F238E27FC236}">
                  <a16:creationId xmlns:a16="http://schemas.microsoft.com/office/drawing/2014/main" id="{1954CE40-A989-8555-96F5-F9611DCF140A}"/>
                </a:ext>
              </a:extLst>
            </p:cNvPr>
            <p:cNvSpPr>
              <a:spLocks/>
            </p:cNvSpPr>
            <p:nvPr/>
          </p:nvSpPr>
          <p:spPr bwMode="auto">
            <a:xfrm rot="20242820">
              <a:off x="7379752" y="2244927"/>
              <a:ext cx="466725" cy="685800"/>
            </a:xfrm>
            <a:custGeom>
              <a:avLst/>
              <a:gdLst>
                <a:gd name="T0" fmla="*/ 0 w 735"/>
                <a:gd name="T1" fmla="*/ 2147483647 h 1080"/>
                <a:gd name="T2" fmla="*/ 0 w 735"/>
                <a:gd name="T3" fmla="*/ 2147483647 h 1080"/>
                <a:gd name="T4" fmla="*/ 0 60000 65536"/>
                <a:gd name="T5" fmla="*/ 0 60000 65536"/>
              </a:gdLst>
              <a:ahLst/>
              <a:cxnLst>
                <a:cxn ang="T4">
                  <a:pos x="T0" y="T1"/>
                </a:cxn>
                <a:cxn ang="T5">
                  <a:pos x="T2" y="T3"/>
                </a:cxn>
              </a:cxnLst>
              <a:rect l="0" t="0" r="r" b="b"/>
              <a:pathLst>
                <a:path w="735" h="1080">
                  <a:moveTo>
                    <a:pt x="0" y="195"/>
                  </a:moveTo>
                  <a:cubicBezTo>
                    <a:pt x="690" y="0"/>
                    <a:pt x="735" y="1080"/>
                    <a:pt x="0" y="855"/>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22" name="Text Box 15">
              <a:extLst>
                <a:ext uri="{FF2B5EF4-FFF2-40B4-BE49-F238E27FC236}">
                  <a16:creationId xmlns:a16="http://schemas.microsoft.com/office/drawing/2014/main" id="{090FF242-77EC-0AE2-0451-02C2A0916BF4}"/>
                </a:ext>
              </a:extLst>
            </p:cNvPr>
            <p:cNvSpPr txBox="1">
              <a:spLocks noChangeArrowheads="1"/>
            </p:cNvSpPr>
            <p:nvPr/>
          </p:nvSpPr>
          <p:spPr bwMode="auto">
            <a:xfrm>
              <a:off x="7742239" y="2806902"/>
              <a:ext cx="22621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send(pkt0)</a:t>
              </a:r>
              <a:endParaRPr lang="en-US" altLang="en-US" sz="1200" dirty="0">
                <a:solidFill>
                  <a:srgbClr val="000000"/>
                </a:solidFill>
                <a:latin typeface="Times New Roman" panose="02020603050405020304" pitchFamily="18" charset="0"/>
              </a:endParaRPr>
            </a:p>
          </p:txBody>
        </p:sp>
        <p:sp>
          <p:nvSpPr>
            <p:cNvPr id="23" name="Text Box 16">
              <a:extLst>
                <a:ext uri="{FF2B5EF4-FFF2-40B4-BE49-F238E27FC236}">
                  <a16:creationId xmlns:a16="http://schemas.microsoft.com/office/drawing/2014/main" id="{AAF64DC5-199F-B883-833B-34AACCE19BFF}"/>
                </a:ext>
              </a:extLst>
            </p:cNvPr>
            <p:cNvSpPr txBox="1">
              <a:spLocks noChangeArrowheads="1"/>
            </p:cNvSpPr>
            <p:nvPr/>
          </p:nvSpPr>
          <p:spPr bwMode="auto">
            <a:xfrm>
              <a:off x="7714671" y="2446539"/>
              <a:ext cx="25897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(corrupt() || ACK1)</a:t>
              </a:r>
              <a:endParaRPr lang="en-US" altLang="en-US" sz="1200" dirty="0">
                <a:solidFill>
                  <a:srgbClr val="000000"/>
                </a:solidFill>
                <a:latin typeface="Times New Roman" panose="02020603050405020304" pitchFamily="18" charset="0"/>
              </a:endParaRPr>
            </a:p>
          </p:txBody>
        </p:sp>
        <p:sp>
          <p:nvSpPr>
            <p:cNvPr id="24" name="Line 17">
              <a:extLst>
                <a:ext uri="{FF2B5EF4-FFF2-40B4-BE49-F238E27FC236}">
                  <a16:creationId xmlns:a16="http://schemas.microsoft.com/office/drawing/2014/main" id="{4B429F1C-3CF3-6343-C9BD-4CC3FD499ED2}"/>
                </a:ext>
              </a:extLst>
            </p:cNvPr>
            <p:cNvSpPr>
              <a:spLocks noChangeShapeType="1"/>
            </p:cNvSpPr>
            <p:nvPr/>
          </p:nvSpPr>
          <p:spPr bwMode="auto">
            <a:xfrm>
              <a:off x="7835364" y="2846589"/>
              <a:ext cx="143351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sp>
        <p:nvSpPr>
          <p:cNvPr id="26" name="Freeform 19">
            <a:extLst>
              <a:ext uri="{FF2B5EF4-FFF2-40B4-BE49-F238E27FC236}">
                <a16:creationId xmlns:a16="http://schemas.microsoft.com/office/drawing/2014/main" id="{62A4D875-F3F6-E3EC-7E2B-7AC9ED4A1274}"/>
              </a:ext>
            </a:extLst>
          </p:cNvPr>
          <p:cNvSpPr>
            <a:spLocks/>
          </p:cNvSpPr>
          <p:nvPr/>
        </p:nvSpPr>
        <p:spPr bwMode="auto">
          <a:xfrm>
            <a:off x="4579871" y="5438676"/>
            <a:ext cx="1204912" cy="18573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27" name="Text Box 21">
            <a:extLst>
              <a:ext uri="{FF2B5EF4-FFF2-40B4-BE49-F238E27FC236}">
                <a16:creationId xmlns:a16="http://schemas.microsoft.com/office/drawing/2014/main" id="{269B7DCF-AEB0-CE2D-29DD-80D7FB302538}"/>
              </a:ext>
            </a:extLst>
          </p:cNvPr>
          <p:cNvSpPr txBox="1">
            <a:spLocks noChangeArrowheads="1"/>
          </p:cNvSpPr>
          <p:nvPr/>
        </p:nvSpPr>
        <p:spPr bwMode="auto">
          <a:xfrm>
            <a:off x="4949030" y="5786554"/>
            <a:ext cx="1465563"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send(pkt1)</a:t>
            </a:r>
            <a:endParaRPr lang="en-US" altLang="en-US" sz="1200" dirty="0">
              <a:solidFill>
                <a:srgbClr val="000000"/>
              </a:solidFill>
              <a:latin typeface="Times New Roman" panose="02020603050405020304" pitchFamily="18" charset="0"/>
            </a:endParaRPr>
          </a:p>
        </p:txBody>
      </p:sp>
      <p:sp>
        <p:nvSpPr>
          <p:cNvPr id="28" name="Text Box 22">
            <a:extLst>
              <a:ext uri="{FF2B5EF4-FFF2-40B4-BE49-F238E27FC236}">
                <a16:creationId xmlns:a16="http://schemas.microsoft.com/office/drawing/2014/main" id="{33E91017-1319-21DC-FD88-79124D8848CA}"/>
              </a:ext>
            </a:extLst>
          </p:cNvPr>
          <p:cNvSpPr txBox="1">
            <a:spLocks noChangeArrowheads="1"/>
          </p:cNvSpPr>
          <p:nvPr/>
        </p:nvSpPr>
        <p:spPr bwMode="auto">
          <a:xfrm>
            <a:off x="5001417" y="5532951"/>
            <a:ext cx="1791891"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call 1</a:t>
            </a:r>
            <a:endParaRPr lang="en-US" altLang="en-US" sz="1200" dirty="0">
              <a:solidFill>
                <a:srgbClr val="000000"/>
              </a:solidFill>
              <a:latin typeface="Times New Roman" panose="02020603050405020304" pitchFamily="18" charset="0"/>
            </a:endParaRPr>
          </a:p>
        </p:txBody>
      </p:sp>
      <p:sp>
        <p:nvSpPr>
          <p:cNvPr id="29" name="Line 23">
            <a:extLst>
              <a:ext uri="{FF2B5EF4-FFF2-40B4-BE49-F238E27FC236}">
                <a16:creationId xmlns:a16="http://schemas.microsoft.com/office/drawing/2014/main" id="{15131334-37AB-0A52-5D59-82EAC5F25523}"/>
              </a:ext>
            </a:extLst>
          </p:cNvPr>
          <p:cNvSpPr>
            <a:spLocks noChangeShapeType="1"/>
          </p:cNvSpPr>
          <p:nvPr/>
        </p:nvSpPr>
        <p:spPr bwMode="auto">
          <a:xfrm>
            <a:off x="5037136" y="5797270"/>
            <a:ext cx="105562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31" name="Freeform 9">
            <a:extLst>
              <a:ext uri="{FF2B5EF4-FFF2-40B4-BE49-F238E27FC236}">
                <a16:creationId xmlns:a16="http://schemas.microsoft.com/office/drawing/2014/main" id="{A79138E1-CD62-2F3D-3047-2D74A0E9417A}"/>
              </a:ext>
            </a:extLst>
          </p:cNvPr>
          <p:cNvSpPr>
            <a:spLocks/>
          </p:cNvSpPr>
          <p:nvPr/>
        </p:nvSpPr>
        <p:spPr bwMode="auto">
          <a:xfrm rot="14610547">
            <a:off x="3462408" y="5339409"/>
            <a:ext cx="714375" cy="352425"/>
          </a:xfrm>
          <a:custGeom>
            <a:avLst/>
            <a:gdLst>
              <a:gd name="T0" fmla="*/ 2147483647 w 1500"/>
              <a:gd name="T1" fmla="*/ 2147483647 h 740"/>
              <a:gd name="T2" fmla="*/ 2147483647 w 1500"/>
              <a:gd name="T3" fmla="*/ 2147483647 h 740"/>
              <a:gd name="T4" fmla="*/ 0 60000 65536"/>
              <a:gd name="T5" fmla="*/ 0 60000 65536"/>
            </a:gdLst>
            <a:ahLst/>
            <a:cxnLst>
              <a:cxn ang="T4">
                <a:pos x="T0" y="T1"/>
              </a:cxn>
              <a:cxn ang="T5">
                <a:pos x="T2" y="T3"/>
              </a:cxn>
            </a:cxnLst>
            <a:rect l="0" t="0" r="r" b="b"/>
            <a:pathLst>
              <a:path w="1500" h="740">
                <a:moveTo>
                  <a:pt x="361" y="671"/>
                </a:moveTo>
                <a:cubicBezTo>
                  <a:pt x="0" y="0"/>
                  <a:pt x="1500" y="90"/>
                  <a:pt x="1017" y="74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32" name="Text Box 26">
            <a:extLst>
              <a:ext uri="{FF2B5EF4-FFF2-40B4-BE49-F238E27FC236}">
                <a16:creationId xmlns:a16="http://schemas.microsoft.com/office/drawing/2014/main" id="{91F03ADB-D77C-05A5-97AE-132F3AC1B833}"/>
              </a:ext>
            </a:extLst>
          </p:cNvPr>
          <p:cNvSpPr txBox="1">
            <a:spLocks noChangeArrowheads="1"/>
          </p:cNvSpPr>
          <p:nvPr/>
        </p:nvSpPr>
        <p:spPr bwMode="auto">
          <a:xfrm>
            <a:off x="2237955" y="5795618"/>
            <a:ext cx="1364456" cy="207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send(pkt1)</a:t>
            </a:r>
            <a:endParaRPr lang="en-US" altLang="en-US" sz="1200" dirty="0">
              <a:solidFill>
                <a:srgbClr val="000000"/>
              </a:solidFill>
              <a:latin typeface="Times New Roman" panose="02020603050405020304" pitchFamily="18" charset="0"/>
            </a:endParaRPr>
          </a:p>
        </p:txBody>
      </p:sp>
      <p:sp>
        <p:nvSpPr>
          <p:cNvPr id="33" name="Text Box 27">
            <a:extLst>
              <a:ext uri="{FF2B5EF4-FFF2-40B4-BE49-F238E27FC236}">
                <a16:creationId xmlns:a16="http://schemas.microsoft.com/office/drawing/2014/main" id="{012F15A4-3410-CCAB-11AD-FAF58A0D4492}"/>
              </a:ext>
            </a:extLst>
          </p:cNvPr>
          <p:cNvSpPr txBox="1">
            <a:spLocks noChangeArrowheads="1"/>
          </p:cNvSpPr>
          <p:nvPr/>
        </p:nvSpPr>
        <p:spPr bwMode="auto">
          <a:xfrm>
            <a:off x="2230466" y="5477359"/>
            <a:ext cx="2021415" cy="286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(corrupt() || ACK0)</a:t>
            </a:r>
          </a:p>
          <a:p>
            <a:pPr algn="r" defTabSz="685800" eaLnBrk="0" fontAlgn="base" hangingPunct="0">
              <a:spcBef>
                <a:spcPct val="0"/>
              </a:spcBef>
              <a:spcAft>
                <a:spcPct val="0"/>
              </a:spcAft>
              <a:defRPr/>
            </a:pPr>
            <a:endParaRPr lang="en-US" altLang="en-US" sz="1200" dirty="0">
              <a:solidFill>
                <a:srgbClr val="000000"/>
              </a:solidFill>
              <a:latin typeface="Times New Roman" panose="02020603050405020304" pitchFamily="18" charset="0"/>
            </a:endParaRPr>
          </a:p>
        </p:txBody>
      </p:sp>
      <p:sp>
        <p:nvSpPr>
          <p:cNvPr id="34" name="Line 28">
            <a:extLst>
              <a:ext uri="{FF2B5EF4-FFF2-40B4-BE49-F238E27FC236}">
                <a16:creationId xmlns:a16="http://schemas.microsoft.com/office/drawing/2014/main" id="{997C119B-FE0E-BFAB-77F5-A2F068DD6450}"/>
              </a:ext>
            </a:extLst>
          </p:cNvPr>
          <p:cNvSpPr>
            <a:spLocks noChangeShapeType="1"/>
          </p:cNvSpPr>
          <p:nvPr/>
        </p:nvSpPr>
        <p:spPr bwMode="auto">
          <a:xfrm>
            <a:off x="2396425" y="5803454"/>
            <a:ext cx="11680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grpSp>
        <p:nvGrpSpPr>
          <p:cNvPr id="35" name="Group 31">
            <a:extLst>
              <a:ext uri="{FF2B5EF4-FFF2-40B4-BE49-F238E27FC236}">
                <a16:creationId xmlns:a16="http://schemas.microsoft.com/office/drawing/2014/main" id="{EE5B4C5D-01FA-8A02-21B5-CB8995949D0D}"/>
              </a:ext>
            </a:extLst>
          </p:cNvPr>
          <p:cNvGrpSpPr>
            <a:grpSpLocks/>
          </p:cNvGrpSpPr>
          <p:nvPr/>
        </p:nvGrpSpPr>
        <p:grpSpPr bwMode="auto">
          <a:xfrm>
            <a:off x="5519274" y="5004098"/>
            <a:ext cx="838200" cy="617935"/>
            <a:chOff x="4156" y="2812"/>
            <a:chExt cx="704" cy="519"/>
          </a:xfrm>
        </p:grpSpPr>
        <p:sp>
          <p:nvSpPr>
            <p:cNvPr id="36" name="Oval 32">
              <a:extLst>
                <a:ext uri="{FF2B5EF4-FFF2-40B4-BE49-F238E27FC236}">
                  <a16:creationId xmlns:a16="http://schemas.microsoft.com/office/drawing/2014/main" id="{01A65715-DF47-4D95-C0BA-10B6125A20DC}"/>
                </a:ext>
              </a:extLst>
            </p:cNvPr>
            <p:cNvSpPr>
              <a:spLocks noChangeArrowheads="1"/>
            </p:cNvSpPr>
            <p:nvPr/>
          </p:nvSpPr>
          <p:spPr bwMode="auto">
            <a:xfrm>
              <a:off x="4242" y="2812"/>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37" name="Text Box 33">
              <a:extLst>
                <a:ext uri="{FF2B5EF4-FFF2-40B4-BE49-F238E27FC236}">
                  <a16:creationId xmlns:a16="http://schemas.microsoft.com/office/drawing/2014/main" id="{8286F82B-9B0C-DC72-47EB-47FAA9E602C8}"/>
                </a:ext>
              </a:extLst>
            </p:cNvPr>
            <p:cNvSpPr txBox="1">
              <a:spLocks noChangeArrowheads="1"/>
            </p:cNvSpPr>
            <p:nvPr/>
          </p:nvSpPr>
          <p:spPr bwMode="auto">
            <a:xfrm>
              <a:off x="4156" y="2870"/>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a:t>
              </a:r>
            </a:p>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 call 1 from above</a:t>
              </a:r>
              <a:endParaRPr lang="en-US" altLang="en-US" sz="1050" kern="0" dirty="0">
                <a:solidFill>
                  <a:srgbClr val="000000"/>
                </a:solidFill>
                <a:latin typeface="Times New Roman" panose="02020603050405020304" pitchFamily="18" charset="0"/>
              </a:endParaRPr>
            </a:p>
          </p:txBody>
        </p:sp>
      </p:grpSp>
      <p:grpSp>
        <p:nvGrpSpPr>
          <p:cNvPr id="38" name="Group 34">
            <a:extLst>
              <a:ext uri="{FF2B5EF4-FFF2-40B4-BE49-F238E27FC236}">
                <a16:creationId xmlns:a16="http://schemas.microsoft.com/office/drawing/2014/main" id="{1F5E5D34-994B-C814-0C84-4843C794FEC2}"/>
              </a:ext>
            </a:extLst>
          </p:cNvPr>
          <p:cNvGrpSpPr>
            <a:grpSpLocks/>
          </p:cNvGrpSpPr>
          <p:nvPr/>
        </p:nvGrpSpPr>
        <p:grpSpPr bwMode="auto">
          <a:xfrm>
            <a:off x="3877402" y="4963617"/>
            <a:ext cx="784622" cy="617935"/>
            <a:chOff x="4916" y="3266"/>
            <a:chExt cx="659" cy="519"/>
          </a:xfrm>
        </p:grpSpPr>
        <p:sp>
          <p:nvSpPr>
            <p:cNvPr id="39" name="Oval 35">
              <a:extLst>
                <a:ext uri="{FF2B5EF4-FFF2-40B4-BE49-F238E27FC236}">
                  <a16:creationId xmlns:a16="http://schemas.microsoft.com/office/drawing/2014/main" id="{6D87008F-528E-2D08-8924-EB64D88B8F63}"/>
                </a:ext>
              </a:extLst>
            </p:cNvPr>
            <p:cNvSpPr>
              <a:spLocks noChangeArrowheads="1"/>
            </p:cNvSpPr>
            <p:nvPr/>
          </p:nvSpPr>
          <p:spPr bwMode="auto">
            <a:xfrm>
              <a:off x="4957" y="3266"/>
              <a:ext cx="567" cy="519"/>
            </a:xfrm>
            <a:prstGeom prst="ellipse">
              <a:avLst/>
            </a:prstGeom>
            <a:solidFill>
              <a:srgbClr val="FFFFFF"/>
            </a:solidFill>
            <a:ln w="19050">
              <a:solidFill>
                <a:srgbClr val="000000"/>
              </a:solidFill>
              <a:round/>
              <a:headEnd/>
              <a:tailEnd/>
            </a:ln>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endParaRPr lang="en-US" altLang="en-US" sz="1200" kern="0" dirty="0">
                <a:solidFill>
                  <a:srgbClr val="000000"/>
                </a:solidFill>
              </a:endParaRPr>
            </a:p>
          </p:txBody>
        </p:sp>
        <p:sp>
          <p:nvSpPr>
            <p:cNvPr id="40" name="Text Box 36">
              <a:extLst>
                <a:ext uri="{FF2B5EF4-FFF2-40B4-BE49-F238E27FC236}">
                  <a16:creationId xmlns:a16="http://schemas.microsoft.com/office/drawing/2014/main" id="{ACB6B450-E336-1E70-A836-8C13C2089B9B}"/>
                </a:ext>
              </a:extLst>
            </p:cNvPr>
            <p:cNvSpPr txBox="1">
              <a:spLocks noChangeArrowheads="1"/>
            </p:cNvSpPr>
            <p:nvPr/>
          </p:nvSpPr>
          <p:spPr bwMode="auto">
            <a:xfrm>
              <a:off x="4916" y="3319"/>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ctr" defTabSz="685800" eaLnBrk="0" fontAlgn="base" hangingPunct="0">
                <a:spcBef>
                  <a:spcPct val="0"/>
                </a:spcBef>
                <a:spcAft>
                  <a:spcPct val="0"/>
                </a:spcAft>
                <a:defRPr/>
              </a:pPr>
              <a:r>
                <a:rPr lang="en-US" altLang="en-US" sz="1050" kern="0" dirty="0">
                  <a:solidFill>
                    <a:srgbClr val="000000"/>
                  </a:solidFill>
                  <a:latin typeface="Arial" panose="020B0604020202020204" pitchFamily="34" charset="0"/>
                </a:rPr>
                <a:t>Wait for ACK1</a:t>
              </a:r>
              <a:endParaRPr lang="en-US" altLang="en-US" sz="1050" kern="0" dirty="0">
                <a:solidFill>
                  <a:srgbClr val="000000"/>
                </a:solidFill>
                <a:latin typeface="Times New Roman" panose="02020603050405020304" pitchFamily="18" charset="0"/>
              </a:endParaRPr>
            </a:p>
          </p:txBody>
        </p:sp>
      </p:grpSp>
      <p:grpSp>
        <p:nvGrpSpPr>
          <p:cNvPr id="41" name="Group 40">
            <a:extLst>
              <a:ext uri="{FF2B5EF4-FFF2-40B4-BE49-F238E27FC236}">
                <a16:creationId xmlns:a16="http://schemas.microsoft.com/office/drawing/2014/main" id="{AC46450A-41ED-5D35-4B3B-3E2E8BF351D0}"/>
              </a:ext>
            </a:extLst>
          </p:cNvPr>
          <p:cNvGrpSpPr/>
          <p:nvPr/>
        </p:nvGrpSpPr>
        <p:grpSpPr>
          <a:xfrm>
            <a:off x="6041958" y="3999210"/>
            <a:ext cx="2388738" cy="1022748"/>
            <a:chOff x="7340064" y="2989464"/>
            <a:chExt cx="3184984" cy="1363663"/>
          </a:xfrm>
        </p:grpSpPr>
        <p:sp>
          <p:nvSpPr>
            <p:cNvPr id="42" name="Freeform 20">
              <a:extLst>
                <a:ext uri="{FF2B5EF4-FFF2-40B4-BE49-F238E27FC236}">
                  <a16:creationId xmlns:a16="http://schemas.microsoft.com/office/drawing/2014/main" id="{E401C8EC-9595-11C2-B9A7-5CB1E542E512}"/>
                </a:ext>
              </a:extLst>
            </p:cNvPr>
            <p:cNvSpPr>
              <a:spLocks/>
            </p:cNvSpPr>
            <p:nvPr/>
          </p:nvSpPr>
          <p:spPr bwMode="auto">
            <a:xfrm rot="5400000" flipH="1" flipV="1">
              <a:off x="6760626" y="3568902"/>
              <a:ext cx="1363663" cy="204788"/>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triangle" w="med" len="med"/>
              <a:tailEnd type="non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43" name="Text Box 24">
              <a:extLst>
                <a:ext uri="{FF2B5EF4-FFF2-40B4-BE49-F238E27FC236}">
                  <a16:creationId xmlns:a16="http://schemas.microsoft.com/office/drawing/2014/main" id="{7713E6C0-7EB6-E26C-4B0C-6F1C2B3E4FE5}"/>
                </a:ext>
              </a:extLst>
            </p:cNvPr>
            <p:cNvSpPr txBox="1">
              <a:spLocks noChangeArrowheads="1"/>
            </p:cNvSpPr>
            <p:nvPr/>
          </p:nvSpPr>
          <p:spPr bwMode="auto">
            <a:xfrm>
              <a:off x="7529435" y="3442149"/>
              <a:ext cx="29956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ACK0</a:t>
              </a:r>
            </a:p>
          </p:txBody>
        </p:sp>
        <p:sp>
          <p:nvSpPr>
            <p:cNvPr id="44" name="Line 25">
              <a:extLst>
                <a:ext uri="{FF2B5EF4-FFF2-40B4-BE49-F238E27FC236}">
                  <a16:creationId xmlns:a16="http://schemas.microsoft.com/office/drawing/2014/main" id="{4E5C966F-6C70-85E5-CF91-3A6E0781ECD0}"/>
                </a:ext>
              </a:extLst>
            </p:cNvPr>
            <p:cNvSpPr>
              <a:spLocks noChangeShapeType="1"/>
            </p:cNvSpPr>
            <p:nvPr/>
          </p:nvSpPr>
          <p:spPr bwMode="auto">
            <a:xfrm>
              <a:off x="7611527" y="3864483"/>
              <a:ext cx="9906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45" name="Text Box 37">
              <a:extLst>
                <a:ext uri="{FF2B5EF4-FFF2-40B4-BE49-F238E27FC236}">
                  <a16:creationId xmlns:a16="http://schemas.microsoft.com/office/drawing/2014/main" id="{26A2544C-6EA4-5C9A-021C-D6C0DE961B40}"/>
                </a:ext>
              </a:extLst>
            </p:cNvPr>
            <p:cNvSpPr txBox="1">
              <a:spLocks noChangeArrowheads="1"/>
            </p:cNvSpPr>
            <p:nvPr/>
          </p:nvSpPr>
          <p:spPr bwMode="auto">
            <a:xfrm>
              <a:off x="7962396" y="3874009"/>
              <a:ext cx="38728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grpSp>
      <p:sp>
        <p:nvSpPr>
          <p:cNvPr id="47" name="Freeform 18">
            <a:extLst>
              <a:ext uri="{FF2B5EF4-FFF2-40B4-BE49-F238E27FC236}">
                <a16:creationId xmlns:a16="http://schemas.microsoft.com/office/drawing/2014/main" id="{AFF53A36-FA04-A1E8-6D07-CFF263EFADCD}"/>
              </a:ext>
            </a:extLst>
          </p:cNvPr>
          <p:cNvSpPr>
            <a:spLocks/>
          </p:cNvSpPr>
          <p:nvPr/>
        </p:nvSpPr>
        <p:spPr bwMode="auto">
          <a:xfrm rot="16200000" flipV="1">
            <a:off x="3530931" y="4473080"/>
            <a:ext cx="950119" cy="92869"/>
          </a:xfrm>
          <a:custGeom>
            <a:avLst/>
            <a:gdLst>
              <a:gd name="T0" fmla="*/ 0 w 2835"/>
              <a:gd name="T1" fmla="*/ 0 h 525"/>
              <a:gd name="T2" fmla="*/ 2147483647 w 2835"/>
              <a:gd name="T3" fmla="*/ 0 h 525"/>
              <a:gd name="T4" fmla="*/ 0 60000 65536"/>
              <a:gd name="T5" fmla="*/ 0 60000 65536"/>
            </a:gdLst>
            <a:ahLst/>
            <a:cxnLst>
              <a:cxn ang="T4">
                <a:pos x="T0" y="T1"/>
              </a:cxn>
              <a:cxn ang="T5">
                <a:pos x="T2" y="T3"/>
              </a:cxn>
            </a:cxnLst>
            <a:rect l="0" t="0" r="r" b="b"/>
            <a:pathLst>
              <a:path w="2835" h="525">
                <a:moveTo>
                  <a:pt x="0" y="0"/>
                </a:moveTo>
                <a:cubicBezTo>
                  <a:pt x="60" y="525"/>
                  <a:pt x="2835" y="495"/>
                  <a:pt x="2835" y="0"/>
                </a:cubicBezTo>
              </a:path>
            </a:pathLst>
          </a:custGeom>
          <a:noFill/>
          <a:ln w="1905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48" name="Text Box 29">
            <a:extLst>
              <a:ext uri="{FF2B5EF4-FFF2-40B4-BE49-F238E27FC236}">
                <a16:creationId xmlns:a16="http://schemas.microsoft.com/office/drawing/2014/main" id="{5656C066-5FE2-AED0-9DDD-51181ED67F86}"/>
              </a:ext>
            </a:extLst>
          </p:cNvPr>
          <p:cNvSpPr txBox="1">
            <a:spLocks noChangeArrowheads="1"/>
          </p:cNvSpPr>
          <p:nvPr/>
        </p:nvSpPr>
        <p:spPr bwMode="auto">
          <a:xfrm>
            <a:off x="2735161" y="4432010"/>
            <a:ext cx="109591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algn="r" defTabSz="685800" eaLnBrk="0" fontAlgn="base" hangingPunct="0">
              <a:spcBef>
                <a:spcPct val="0"/>
              </a:spcBef>
              <a:spcAft>
                <a:spcPct val="0"/>
              </a:spcAft>
              <a:defRPr/>
            </a:pPr>
            <a:r>
              <a:rPr lang="en-US" altLang="en-US" sz="1200" dirty="0">
                <a:solidFill>
                  <a:srgbClr val="000000"/>
                </a:solidFill>
                <a:latin typeface="Arial" panose="020B0604020202020204" pitchFamily="34" charset="0"/>
              </a:rPr>
              <a:t>If ACK1</a:t>
            </a:r>
            <a:r>
              <a:rPr lang="en-US" altLang="en-US" sz="750" dirty="0">
                <a:solidFill>
                  <a:srgbClr val="000000"/>
                </a:solidFill>
                <a:latin typeface="Arial" panose="020B0604020202020204" pitchFamily="34" charset="0"/>
              </a:rPr>
              <a:t> </a:t>
            </a:r>
            <a:endParaRPr lang="en-US" altLang="en-US" sz="1800" dirty="0">
              <a:solidFill>
                <a:srgbClr val="000000"/>
              </a:solidFill>
              <a:latin typeface="Times New Roman" panose="02020603050405020304" pitchFamily="18" charset="0"/>
            </a:endParaRPr>
          </a:p>
        </p:txBody>
      </p:sp>
      <p:sp>
        <p:nvSpPr>
          <p:cNvPr id="49" name="Line 30">
            <a:extLst>
              <a:ext uri="{FF2B5EF4-FFF2-40B4-BE49-F238E27FC236}">
                <a16:creationId xmlns:a16="http://schemas.microsoft.com/office/drawing/2014/main" id="{930BB03E-18F1-309A-D30C-830D4186F721}"/>
              </a:ext>
            </a:extLst>
          </p:cNvPr>
          <p:cNvSpPr>
            <a:spLocks noChangeShapeType="1"/>
          </p:cNvSpPr>
          <p:nvPr/>
        </p:nvSpPr>
        <p:spPr bwMode="auto">
          <a:xfrm>
            <a:off x="2966114" y="4744543"/>
            <a:ext cx="80413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algn="ctr" defTabSz="685800" eaLnBrk="0" fontAlgn="base" hangingPunct="0">
              <a:spcBef>
                <a:spcPct val="0"/>
              </a:spcBef>
              <a:spcAft>
                <a:spcPct val="0"/>
              </a:spcAft>
              <a:defRPr/>
            </a:pPr>
            <a:endParaRPr lang="en-US" sz="1200" dirty="0">
              <a:solidFill>
                <a:srgbClr val="000000"/>
              </a:solidFill>
              <a:latin typeface="Tahoma" panose="020B0604030504040204" pitchFamily="34" charset="0"/>
              <a:ea typeface="ＭＳ Ｐゴシック" panose="020B0600070205080204" pitchFamily="34" charset="-128"/>
            </a:endParaRPr>
          </a:p>
        </p:txBody>
      </p:sp>
      <p:sp>
        <p:nvSpPr>
          <p:cNvPr id="50" name="Text Box 38">
            <a:extLst>
              <a:ext uri="{FF2B5EF4-FFF2-40B4-BE49-F238E27FC236}">
                <a16:creationId xmlns:a16="http://schemas.microsoft.com/office/drawing/2014/main" id="{7F7E975E-8C7B-6FF1-C842-A682F00BADA7}"/>
              </a:ext>
            </a:extLst>
          </p:cNvPr>
          <p:cNvSpPr txBox="1">
            <a:spLocks noChangeArrowheads="1"/>
          </p:cNvSpPr>
          <p:nvPr/>
        </p:nvSpPr>
        <p:spPr bwMode="auto">
          <a:xfrm>
            <a:off x="3361426" y="4755259"/>
            <a:ext cx="290464" cy="276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ctr" defTabSz="685800" eaLnBrk="0" fontAlgn="base" hangingPunct="0">
              <a:spcBef>
                <a:spcPct val="0"/>
              </a:spcBef>
              <a:spcAft>
                <a:spcPct val="0"/>
              </a:spcAft>
              <a:defRPr/>
            </a:pPr>
            <a:r>
              <a:rPr lang="en-US" sz="1200" dirty="0">
                <a:solidFill>
                  <a:srgbClr val="000000"/>
                </a:solidFill>
                <a:latin typeface="Symbol" charset="0"/>
              </a:rPr>
              <a:t>L</a:t>
            </a:r>
          </a:p>
        </p:txBody>
      </p:sp>
      <p:sp>
        <p:nvSpPr>
          <p:cNvPr id="51" name="Rectangle 50">
            <a:extLst>
              <a:ext uri="{FF2B5EF4-FFF2-40B4-BE49-F238E27FC236}">
                <a16:creationId xmlns:a16="http://schemas.microsoft.com/office/drawing/2014/main" id="{CA52A39F-3CC3-B8DE-F677-5C5EEAA8B3C5}"/>
              </a:ext>
            </a:extLst>
          </p:cNvPr>
          <p:cNvSpPr/>
          <p:nvPr/>
        </p:nvSpPr>
        <p:spPr>
          <a:xfrm>
            <a:off x="4865074" y="3298667"/>
            <a:ext cx="943737"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1350" dirty="0">
                <a:solidFill>
                  <a:schemeClr val="tx1"/>
                </a:solidFill>
                <a:latin typeface="Calibri" panose="020F0502020204030204"/>
              </a:rPr>
              <a:t>start timer</a:t>
            </a:r>
          </a:p>
        </p:txBody>
      </p:sp>
      <p:sp>
        <p:nvSpPr>
          <p:cNvPr id="128" name="Rectangle 127">
            <a:extLst>
              <a:ext uri="{FF2B5EF4-FFF2-40B4-BE49-F238E27FC236}">
                <a16:creationId xmlns:a16="http://schemas.microsoft.com/office/drawing/2014/main" id="{FF2B1CF6-31F2-5447-3988-70432B8ECF10}"/>
              </a:ext>
            </a:extLst>
          </p:cNvPr>
          <p:cNvSpPr/>
          <p:nvPr/>
        </p:nvSpPr>
        <p:spPr>
          <a:xfrm>
            <a:off x="5707485" y="5830457"/>
            <a:ext cx="943737"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1350" dirty="0">
                <a:solidFill>
                  <a:schemeClr val="tx1"/>
                </a:solidFill>
                <a:latin typeface="Calibri" panose="020F0502020204030204"/>
              </a:rPr>
              <a:t>start timer</a:t>
            </a:r>
          </a:p>
        </p:txBody>
      </p:sp>
      <p:sp>
        <p:nvSpPr>
          <p:cNvPr id="129" name="Rectangle 128">
            <a:extLst>
              <a:ext uri="{FF2B5EF4-FFF2-40B4-BE49-F238E27FC236}">
                <a16:creationId xmlns:a16="http://schemas.microsoft.com/office/drawing/2014/main" id="{D83A6623-E072-F7F5-671B-E8463045B567}"/>
              </a:ext>
            </a:extLst>
          </p:cNvPr>
          <p:cNvSpPr/>
          <p:nvPr/>
        </p:nvSpPr>
        <p:spPr>
          <a:xfrm>
            <a:off x="3011701" y="5862430"/>
            <a:ext cx="943737"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1350" dirty="0">
                <a:solidFill>
                  <a:schemeClr val="tx1"/>
                </a:solidFill>
                <a:latin typeface="Calibri" panose="020F0502020204030204"/>
              </a:rPr>
              <a:t>start timer</a:t>
            </a:r>
          </a:p>
        </p:txBody>
      </p:sp>
      <p:sp>
        <p:nvSpPr>
          <p:cNvPr id="130" name="Rectangle 129">
            <a:extLst>
              <a:ext uri="{FF2B5EF4-FFF2-40B4-BE49-F238E27FC236}">
                <a16:creationId xmlns:a16="http://schemas.microsoft.com/office/drawing/2014/main" id="{08B5F0D8-028E-C858-3830-156574B43DEF}"/>
              </a:ext>
            </a:extLst>
          </p:cNvPr>
          <p:cNvSpPr/>
          <p:nvPr/>
        </p:nvSpPr>
        <p:spPr>
          <a:xfrm>
            <a:off x="7099786" y="3930019"/>
            <a:ext cx="943737"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1350" dirty="0">
                <a:solidFill>
                  <a:schemeClr val="tx1"/>
                </a:solidFill>
                <a:latin typeface="Calibri" panose="020F0502020204030204"/>
              </a:rPr>
              <a:t>start timer</a:t>
            </a:r>
          </a:p>
        </p:txBody>
      </p:sp>
      <p:sp>
        <p:nvSpPr>
          <p:cNvPr id="131" name="Rectangle 130">
            <a:extLst>
              <a:ext uri="{FF2B5EF4-FFF2-40B4-BE49-F238E27FC236}">
                <a16:creationId xmlns:a16="http://schemas.microsoft.com/office/drawing/2014/main" id="{C764888C-FDF5-08B0-6704-4FE6EB07758C}"/>
              </a:ext>
            </a:extLst>
          </p:cNvPr>
          <p:cNvSpPr/>
          <p:nvPr/>
        </p:nvSpPr>
        <p:spPr>
          <a:xfrm>
            <a:off x="6296752" y="4723665"/>
            <a:ext cx="943737"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1350" dirty="0">
                <a:solidFill>
                  <a:schemeClr val="tx1"/>
                </a:solidFill>
                <a:latin typeface="Calibri" panose="020F0502020204030204"/>
              </a:rPr>
              <a:t>stop timer</a:t>
            </a:r>
          </a:p>
        </p:txBody>
      </p:sp>
      <p:sp>
        <p:nvSpPr>
          <p:cNvPr id="132" name="Rectangle 131">
            <a:extLst>
              <a:ext uri="{FF2B5EF4-FFF2-40B4-BE49-F238E27FC236}">
                <a16:creationId xmlns:a16="http://schemas.microsoft.com/office/drawing/2014/main" id="{2AF91755-E249-1C25-D69A-E2D0943D66D9}"/>
              </a:ext>
            </a:extLst>
          </p:cNvPr>
          <p:cNvSpPr/>
          <p:nvPr/>
        </p:nvSpPr>
        <p:spPr>
          <a:xfrm>
            <a:off x="2938810" y="4794171"/>
            <a:ext cx="943737" cy="16787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sz="1350" dirty="0">
                <a:solidFill>
                  <a:schemeClr val="tx1"/>
                </a:solidFill>
                <a:latin typeface="Calibri" panose="020F0502020204030204"/>
              </a:rPr>
              <a:t>stop timer</a:t>
            </a:r>
          </a:p>
        </p:txBody>
      </p:sp>
      <p:sp>
        <p:nvSpPr>
          <p:cNvPr id="133" name="Rectangle 132">
            <a:extLst>
              <a:ext uri="{FF2B5EF4-FFF2-40B4-BE49-F238E27FC236}">
                <a16:creationId xmlns:a16="http://schemas.microsoft.com/office/drawing/2014/main" id="{78C6C18E-8454-EA8E-42C6-20409D305BB8}"/>
              </a:ext>
            </a:extLst>
          </p:cNvPr>
          <p:cNvSpPr/>
          <p:nvPr/>
        </p:nvSpPr>
        <p:spPr>
          <a:xfrm>
            <a:off x="7793318" y="3652873"/>
            <a:ext cx="943737" cy="167879"/>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altLang="en-US" sz="1400" dirty="0">
                <a:solidFill>
                  <a:srgbClr val="000000"/>
                </a:solidFill>
                <a:latin typeface="Arial" panose="020B0604020202020204" pitchFamily="34" charset="0"/>
              </a:rPr>
              <a:t>|| </a:t>
            </a:r>
            <a:r>
              <a:rPr lang="en-US" altLang="en-US" sz="1350" dirty="0">
                <a:solidFill>
                  <a:schemeClr val="tx1"/>
                </a:solidFill>
                <a:latin typeface="Calibri" panose="020F0502020204030204"/>
              </a:rPr>
              <a:t>timeout</a:t>
            </a:r>
            <a:endParaRPr lang="en-US" sz="1350" dirty="0">
              <a:solidFill>
                <a:schemeClr val="tx1"/>
              </a:solidFill>
              <a:latin typeface="Calibri" panose="020F0502020204030204"/>
            </a:endParaRPr>
          </a:p>
        </p:txBody>
      </p:sp>
      <p:sp>
        <p:nvSpPr>
          <p:cNvPr id="134" name="Rectangle 133">
            <a:extLst>
              <a:ext uri="{FF2B5EF4-FFF2-40B4-BE49-F238E27FC236}">
                <a16:creationId xmlns:a16="http://schemas.microsoft.com/office/drawing/2014/main" id="{4FFE92CF-E9D6-77AC-A60D-F9BBC2CFDB66}"/>
              </a:ext>
            </a:extLst>
          </p:cNvPr>
          <p:cNvSpPr/>
          <p:nvPr/>
        </p:nvSpPr>
        <p:spPr>
          <a:xfrm>
            <a:off x="3695126" y="5541613"/>
            <a:ext cx="943737" cy="167879"/>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defRPr/>
            </a:pPr>
            <a:r>
              <a:rPr lang="en-US" altLang="en-US" sz="1400" dirty="0">
                <a:solidFill>
                  <a:srgbClr val="000000"/>
                </a:solidFill>
                <a:latin typeface="Arial" panose="020B0604020202020204" pitchFamily="34" charset="0"/>
              </a:rPr>
              <a:t>|| </a:t>
            </a:r>
            <a:r>
              <a:rPr lang="en-US" altLang="en-US" sz="1350" dirty="0">
                <a:solidFill>
                  <a:schemeClr val="tx1"/>
                </a:solidFill>
                <a:latin typeface="Calibri" panose="020F0502020204030204"/>
              </a:rPr>
              <a:t>timeout</a:t>
            </a:r>
            <a:endParaRPr lang="en-US" sz="1350" dirty="0">
              <a:solidFill>
                <a:schemeClr val="tx1"/>
              </a:solidFill>
              <a:latin typeface="Calibri" panose="020F0502020204030204"/>
            </a:endParaRPr>
          </a:p>
        </p:txBody>
      </p:sp>
      <p:sp>
        <p:nvSpPr>
          <p:cNvPr id="136" name="Title 2">
            <a:extLst>
              <a:ext uri="{FF2B5EF4-FFF2-40B4-BE49-F238E27FC236}">
                <a16:creationId xmlns:a16="http://schemas.microsoft.com/office/drawing/2014/main" id="{DB56308F-42A1-4EDF-AD77-BEF3EFFAA44D}"/>
              </a:ext>
            </a:extLst>
          </p:cNvPr>
          <p:cNvSpPr>
            <a:spLocks noGrp="1"/>
          </p:cNvSpPr>
          <p:nvPr>
            <p:ph type="title"/>
          </p:nvPr>
        </p:nvSpPr>
        <p:spPr>
          <a:xfrm>
            <a:off x="1995024" y="1754660"/>
            <a:ext cx="2524890" cy="894622"/>
          </a:xfrm>
        </p:spPr>
        <p:txBody>
          <a:bodyPr/>
          <a:lstStyle/>
          <a:p>
            <a:r>
              <a:rPr lang="en-US" dirty="0"/>
              <a:t>RDT3.0 FSM</a:t>
            </a:r>
          </a:p>
        </p:txBody>
      </p:sp>
    </p:spTree>
    <p:extLst>
      <p:ext uri="{BB962C8B-B14F-4D97-AF65-F5344CB8AC3E}">
        <p14:creationId xmlns:p14="http://schemas.microsoft.com/office/powerpoint/2010/main" val="7387969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29876</TotalTime>
  <Words>5021</Words>
  <Application>Microsoft Office PowerPoint</Application>
  <PresentationFormat>On-screen Show (4:3)</PresentationFormat>
  <Paragraphs>975</Paragraphs>
  <Slides>43</Slides>
  <Notes>36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43</vt:i4>
      </vt:variant>
    </vt:vector>
  </HeadingPairs>
  <TitlesOfParts>
    <vt:vector size="55" baseType="lpstr">
      <vt:lpstr>Courier</vt:lpstr>
      <vt:lpstr>Arial</vt:lpstr>
      <vt:lpstr>Calibri</vt:lpstr>
      <vt:lpstr>Calibri Light</vt:lpstr>
      <vt:lpstr>Courier New</vt:lpstr>
      <vt:lpstr>Gill Sans MT</vt:lpstr>
      <vt:lpstr>Symbol</vt:lpstr>
      <vt:lpstr>Tahoma</vt:lpstr>
      <vt:lpstr>Times New Roman</vt:lpstr>
      <vt:lpstr>Wingdings</vt:lpstr>
      <vt:lpstr>Office Theme</vt:lpstr>
      <vt:lpstr>2_Office Theme</vt:lpstr>
      <vt:lpstr>EEL 4781 Computer Communication Networks Chapter 3-2: Transport Layer</vt:lpstr>
      <vt:lpstr>Agenda </vt:lpstr>
      <vt:lpstr>Principles of reliable data transfer </vt:lpstr>
      <vt:lpstr>Principles of reliable data transfer </vt:lpstr>
      <vt:lpstr>Principles of reliable data transfer </vt:lpstr>
      <vt:lpstr>Principles of reliable data transfer </vt:lpstr>
      <vt:lpstr>RDT: interfaces</vt:lpstr>
      <vt:lpstr>RDT: getting started</vt:lpstr>
      <vt:lpstr>RDT1.0</vt:lpstr>
      <vt:lpstr>RDT2.0</vt:lpstr>
      <vt:lpstr>RDT2.0</vt:lpstr>
      <vt:lpstr>RDT2.0: FSM specifications</vt:lpstr>
      <vt:lpstr>RDT2.0: FSM specifications</vt:lpstr>
      <vt:lpstr>RDT2.0: FSM specifications</vt:lpstr>
      <vt:lpstr>RDT2.0</vt:lpstr>
      <vt:lpstr>RDT2.0</vt:lpstr>
      <vt:lpstr>RDT2.0</vt:lpstr>
      <vt:lpstr>RDT2.1</vt:lpstr>
      <vt:lpstr>RDT2.1</vt:lpstr>
      <vt:lpstr>RDT2.1</vt:lpstr>
      <vt:lpstr>RDT2.2</vt:lpstr>
      <vt:lpstr>RDT2.2</vt:lpstr>
      <vt:lpstr>RDT3.0</vt:lpstr>
      <vt:lpstr>RDT3.0</vt:lpstr>
      <vt:lpstr>RDT3.0: sender</vt:lpstr>
      <vt:lpstr>RDT3.0: sender</vt:lpstr>
      <vt:lpstr>RDT3.0</vt:lpstr>
      <vt:lpstr>RDT3.0</vt:lpstr>
      <vt:lpstr>Go-Back-N</vt:lpstr>
      <vt:lpstr>Go-Back-N</vt:lpstr>
      <vt:lpstr>Go-Back-N in action</vt:lpstr>
      <vt:lpstr>Selective repeat</vt:lpstr>
      <vt:lpstr>Selective repeat</vt:lpstr>
      <vt:lpstr>Selective repeat</vt:lpstr>
      <vt:lpstr>Selective Repeat in action</vt:lpstr>
      <vt:lpstr>PowerPoint Presentation</vt:lpstr>
      <vt:lpstr>PowerPoint Presentation</vt:lpstr>
      <vt:lpstr>Recap Chapter 2-4, 3-1, and 3-2</vt:lpstr>
      <vt:lpstr>Recap Chapter 2-4, 3-1, and 3-2</vt:lpstr>
      <vt:lpstr>Recap</vt:lpstr>
      <vt:lpstr>Recap</vt:lpstr>
      <vt:lpstr>Recap</vt:lpstr>
      <vt:lpstr>RDT3.0 FSM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Prolonged Restore Challenge in Further Scaling DRAMs</dc:title>
  <dc:creator>xw zhang</dc:creator>
  <cp:lastModifiedBy>Xin Xin</cp:lastModifiedBy>
  <cp:revision>614</cp:revision>
  <dcterms:created xsi:type="dcterms:W3CDTF">2017-06-28T02:53:02Z</dcterms:created>
  <dcterms:modified xsi:type="dcterms:W3CDTF">2026-02-16T15:14:28Z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1791174</vt:lpwstr>
  </property>
  <property fmtid="{D5CDD505-2E9C-101B-9397-08002B2CF9AE}" pid="3" name="NXPowerLiteSettings">
    <vt:lpwstr>B74006B004C800</vt:lpwstr>
  </property>
  <property fmtid="{D5CDD505-2E9C-101B-9397-08002B2CF9AE}" pid="4" name="NXPowerLiteVersion">
    <vt:lpwstr>D7.1.1</vt:lpwstr>
  </property>
</Properties>
</file>