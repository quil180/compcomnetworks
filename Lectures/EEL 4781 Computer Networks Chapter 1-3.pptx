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3" r:id="rId2"/>
  </p:sldMasterIdLst>
  <p:notesMasterIdLst>
    <p:notesMasterId r:id="rId25"/>
  </p:notesMasterIdLst>
  <p:sldIdLst>
    <p:sldId id="256" r:id="rId3"/>
    <p:sldId id="561" r:id="rId4"/>
    <p:sldId id="1069" r:id="rId5"/>
    <p:sldId id="1067" r:id="rId6"/>
    <p:sldId id="1070" r:id="rId7"/>
    <p:sldId id="1071" r:id="rId8"/>
    <p:sldId id="1072" r:id="rId9"/>
    <p:sldId id="1073" r:id="rId10"/>
    <p:sldId id="1075" r:id="rId11"/>
    <p:sldId id="1074" r:id="rId12"/>
    <p:sldId id="1076" r:id="rId13"/>
    <p:sldId id="1077" r:id="rId14"/>
    <p:sldId id="1079" r:id="rId15"/>
    <p:sldId id="1078" r:id="rId16"/>
    <p:sldId id="1080" r:id="rId17"/>
    <p:sldId id="1081" r:id="rId18"/>
    <p:sldId id="1082" r:id="rId19"/>
    <p:sldId id="1083" r:id="rId20"/>
    <p:sldId id="1084" r:id="rId21"/>
    <p:sldId id="1085" r:id="rId22"/>
    <p:sldId id="1064" r:id="rId23"/>
    <p:sldId id="98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43BF7-8881-495C-8331-165B8B26C815}" v="2" dt="2025-01-15T16:31:47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82828" autoAdjust="0"/>
  </p:normalViewPr>
  <p:slideViewPr>
    <p:cSldViewPr snapToGrid="0" snapToObjects="1">
      <p:cViewPr varScale="1">
        <p:scale>
          <a:sx n="133" d="100"/>
          <a:sy n="133" d="100"/>
        </p:scale>
        <p:origin x="2676" y="88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  <pc:docChgLst>
    <pc:chgData name="Xin Xin" userId="9ff0c946-7f3c-4192-98c1-6be932ce2bce" providerId="ADAL" clId="{35743BF7-8881-495C-8331-165B8B26C815}"/>
    <pc:docChg chg="custSel modSld">
      <pc:chgData name="Xin Xin" userId="9ff0c946-7f3c-4192-98c1-6be932ce2bce" providerId="ADAL" clId="{35743BF7-8881-495C-8331-165B8B26C815}" dt="2025-01-15T16:31:47.730" v="2" actId="5793"/>
      <pc:docMkLst>
        <pc:docMk/>
      </pc:docMkLst>
      <pc:sldChg chg="modSp mod modAnim">
        <pc:chgData name="Xin Xin" userId="9ff0c946-7f3c-4192-98c1-6be932ce2bce" providerId="ADAL" clId="{35743BF7-8881-495C-8331-165B8B26C815}" dt="2025-01-15T16:31:47.730" v="2" actId="5793"/>
        <pc:sldMkLst>
          <pc:docMk/>
          <pc:sldMk cId="3229976173" sldId="1080"/>
        </pc:sldMkLst>
        <pc:spChg chg="mod">
          <ac:chgData name="Xin Xin" userId="9ff0c946-7f3c-4192-98c1-6be932ce2bce" providerId="ADAL" clId="{35743BF7-8881-495C-8331-165B8B26C815}" dt="2025-01-15T16:31:47.730" v="2" actId="5793"/>
          <ac:spMkLst>
            <pc:docMk/>
            <pc:sldMk cId="3229976173" sldId="1080"/>
            <ac:spMk id="3" creationId="{2839FC22-EE74-D7B4-71B1-ED2646C4BE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important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distributed</a:t>
            </a:r>
            <a:r>
              <a:rPr lang="en-US" dirty="0"/>
              <a:t> entities, exchanging messages (governed by protocols)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 going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 over definition of protocol (showing format, order of messages sent and received, and actions taken)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We’ll see these kinds of diagrams a lot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7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63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8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34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23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0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75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3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61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65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02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80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10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1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13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43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49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678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83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242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69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84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3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1-3: Introduction to Networking Concepts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Protocols and Protocol Layers</a:t>
            </a:r>
            <a:endParaRPr lang="en-US" dirty="0"/>
          </a:p>
          <a:p>
            <a:pPr lvl="1"/>
            <a:r>
              <a:rPr lang="en-US" dirty="0"/>
              <a:t>protocol </a:t>
            </a:r>
          </a:p>
          <a:p>
            <a:pPr lvl="1"/>
            <a:r>
              <a:rPr lang="en-US" dirty="0"/>
              <a:t>layers </a:t>
            </a:r>
          </a:p>
          <a:p>
            <a:pPr lvl="1"/>
            <a:r>
              <a:rPr lang="en-US" dirty="0"/>
              <a:t>encapsulation </a:t>
            </a:r>
          </a:p>
          <a:p>
            <a:r>
              <a:rPr lang="en-US" altLang="zh-CN" dirty="0"/>
              <a:t>Security</a:t>
            </a:r>
          </a:p>
          <a:p>
            <a:r>
              <a:rPr lang="en-US" altLang="zh-CN" dirty="0"/>
              <a:t>History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What’s a protocol?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1DC5197-6738-D90C-8D02-395F084FAD27}"/>
              </a:ext>
            </a:extLst>
          </p:cNvPr>
          <p:cNvSpPr txBox="1">
            <a:spLocks noChangeArrowheads="1"/>
          </p:cNvSpPr>
          <p:nvPr/>
        </p:nvSpPr>
        <p:spPr>
          <a:xfrm>
            <a:off x="663821" y="2039148"/>
            <a:ext cx="6115050" cy="5143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None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 human protocol and a computer network protocol:</a:t>
            </a:r>
          </a:p>
          <a:p>
            <a:pPr marL="171450" indent="-171450" defTabSz="685800">
              <a:spcBef>
                <a:spcPts val="750"/>
              </a:spcBef>
              <a:buNone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8F2EE64-027C-5948-9DD9-7DFF5B4A3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59" y="5407427"/>
            <a:ext cx="413391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spcBef>
                <a:spcPct val="20000"/>
              </a:spcBef>
              <a:buClr>
                <a:srgbClr val="ED7D31"/>
              </a:buClr>
              <a:buSzPct val="85000"/>
            </a:pPr>
            <a:r>
              <a:rPr lang="en-US" altLang="en-US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other human protocols? </a:t>
            </a:r>
          </a:p>
        </p:txBody>
      </p:sp>
      <p:pic>
        <p:nvPicPr>
          <p:cNvPr id="7" name="Picture 62" descr="Alice">
            <a:extLst>
              <a:ext uri="{FF2B5EF4-FFF2-40B4-BE49-F238E27FC236}">
                <a16:creationId xmlns:a16="http://schemas.microsoft.com/office/drawing/2014/main" id="{ABFAC0B8-5177-8A49-68C8-F236FA685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232" y="2746380"/>
            <a:ext cx="421481" cy="52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3" descr="Bob">
            <a:extLst>
              <a:ext uri="{FF2B5EF4-FFF2-40B4-BE49-F238E27FC236}">
                <a16:creationId xmlns:a16="http://schemas.microsoft.com/office/drawing/2014/main" id="{80CF18FF-1053-F3C1-F425-49D9AEF45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745" y="3042846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AF7E34D-641E-64A4-F13D-4E6DB6431542}"/>
              </a:ext>
            </a:extLst>
          </p:cNvPr>
          <p:cNvGrpSpPr/>
          <p:nvPr/>
        </p:nvGrpSpPr>
        <p:grpSpPr>
          <a:xfrm>
            <a:off x="2193997" y="2827342"/>
            <a:ext cx="1321594" cy="422672"/>
            <a:chOff x="2925329" y="2422526"/>
            <a:chExt cx="1762125" cy="563562"/>
          </a:xfrm>
        </p:grpSpPr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201981A3-F2D4-A41A-F27A-2284D2763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329" y="2709863"/>
              <a:ext cx="1762125" cy="2762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Box 64">
              <a:extLst>
                <a:ext uri="{FF2B5EF4-FFF2-40B4-BE49-F238E27FC236}">
                  <a16:creationId xmlns:a16="http://schemas.microsoft.com/office/drawing/2014/main" id="{9703CECC-874D-8E76-B7AD-8782063A9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654" y="2422526"/>
              <a:ext cx="509115" cy="49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9BCF0-C510-9761-19A5-3C7FFE609BC5}"/>
              </a:ext>
            </a:extLst>
          </p:cNvPr>
          <p:cNvGrpSpPr/>
          <p:nvPr/>
        </p:nvGrpSpPr>
        <p:grpSpPr>
          <a:xfrm>
            <a:off x="1963016" y="3295258"/>
            <a:ext cx="1564481" cy="438150"/>
            <a:chOff x="2617354" y="3046413"/>
            <a:chExt cx="2085975" cy="584200"/>
          </a:xfrm>
        </p:grpSpPr>
        <p:sp>
          <p:nvSpPr>
            <p:cNvPr id="18" name="Line 66">
              <a:extLst>
                <a:ext uri="{FF2B5EF4-FFF2-40B4-BE49-F238E27FC236}">
                  <a16:creationId xmlns:a16="http://schemas.microsoft.com/office/drawing/2014/main" id="{A3B4B1F8-5BB0-521C-714D-179B6F223E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354" y="3268663"/>
              <a:ext cx="2085975" cy="3619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 Box 67">
              <a:extLst>
                <a:ext uri="{FF2B5EF4-FFF2-40B4-BE49-F238E27FC236}">
                  <a16:creationId xmlns:a16="http://schemas.microsoft.com/office/drawing/2014/main" id="{550F63EF-5832-1A96-D1FA-883473E76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129" y="3046413"/>
              <a:ext cx="50911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966AF6-C8E9-0BF1-A676-76349403974D}"/>
              </a:ext>
            </a:extLst>
          </p:cNvPr>
          <p:cNvGrpSpPr/>
          <p:nvPr/>
        </p:nvGrpSpPr>
        <p:grpSpPr>
          <a:xfrm>
            <a:off x="1951110" y="3734600"/>
            <a:ext cx="1621631" cy="553641"/>
            <a:chOff x="2601479" y="3632204"/>
            <a:chExt cx="2162175" cy="738188"/>
          </a:xfrm>
        </p:grpSpPr>
        <p:sp>
          <p:nvSpPr>
            <p:cNvPr id="21" name="Line 70">
              <a:extLst>
                <a:ext uri="{FF2B5EF4-FFF2-40B4-BE49-F238E27FC236}">
                  <a16:creationId xmlns:a16="http://schemas.microsoft.com/office/drawing/2014/main" id="{3542B8CB-9A0D-B5D0-BD79-20C2C392D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479" y="3700463"/>
              <a:ext cx="2162175" cy="4381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oup 72">
              <a:extLst>
                <a:ext uri="{FF2B5EF4-FFF2-40B4-BE49-F238E27FC236}">
                  <a16:creationId xmlns:a16="http://schemas.microsoft.com/office/drawing/2014/main" id="{2CB0A9B4-3415-81D2-6E15-22F4F4BA9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119" y="3632204"/>
              <a:ext cx="1035050" cy="738188"/>
              <a:chOff x="755" y="2747"/>
              <a:chExt cx="652" cy="465"/>
            </a:xfrm>
          </p:grpSpPr>
          <p:sp>
            <p:nvSpPr>
              <p:cNvPr id="23" name="Rectangle 71">
                <a:extLst>
                  <a:ext uri="{FF2B5EF4-FFF2-40B4-BE49-F238E27FC236}">
                    <a16:creationId xmlns:a16="http://schemas.microsoft.com/office/drawing/2014/main" id="{4787FF95-7C84-7C76-9F94-B48AD220A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Text Box 69">
                <a:extLst>
                  <a:ext uri="{FF2B5EF4-FFF2-40B4-BE49-F238E27FC236}">
                    <a16:creationId xmlns:a16="http://schemas.microsoft.com/office/drawing/2014/main" id="{CFEC2DEF-DA9D-1BDF-7ED8-57E94F0B84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" y="2747"/>
                <a:ext cx="652" cy="4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r>
                  <a:rPr lang="en-US" altLang="en-US" sz="15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Got the</a:t>
                </a:r>
              </a:p>
              <a:p>
                <a:pPr algn="ctr" defTabSz="685800"/>
                <a:r>
                  <a:rPr lang="en-US" altLang="en-US" sz="15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time?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F1F186-7624-0EDC-FDA4-FE70F1D70458}"/>
              </a:ext>
            </a:extLst>
          </p:cNvPr>
          <p:cNvGrpSpPr/>
          <p:nvPr/>
        </p:nvGrpSpPr>
        <p:grpSpPr>
          <a:xfrm>
            <a:off x="2072553" y="4214424"/>
            <a:ext cx="1464469" cy="372674"/>
            <a:chOff x="2763404" y="4271963"/>
            <a:chExt cx="1952625" cy="496898"/>
          </a:xfrm>
        </p:grpSpPr>
        <p:sp>
          <p:nvSpPr>
            <p:cNvPr id="26" name="Line 73">
              <a:extLst>
                <a:ext uri="{FF2B5EF4-FFF2-40B4-BE49-F238E27FC236}">
                  <a16:creationId xmlns:a16="http://schemas.microsoft.com/office/drawing/2014/main" id="{81A711AF-7290-B153-F001-637CF2037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3404" y="4271963"/>
              <a:ext cx="1952625" cy="33337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D32A3308-6138-EA0C-187B-D97902DCD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3304" y="4276735"/>
              <a:ext cx="796925" cy="492126"/>
              <a:chOff x="1046" y="2771"/>
              <a:chExt cx="502" cy="310"/>
            </a:xfrm>
          </p:grpSpPr>
          <p:sp>
            <p:nvSpPr>
              <p:cNvPr id="28" name="Rectangle 75">
                <a:extLst>
                  <a:ext uri="{FF2B5EF4-FFF2-40B4-BE49-F238E27FC236}">
                    <a16:creationId xmlns:a16="http://schemas.microsoft.com/office/drawing/2014/main" id="{766A8327-E921-BCA2-8073-72E4B0144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Text Box 74">
                <a:extLst>
                  <a:ext uri="{FF2B5EF4-FFF2-40B4-BE49-F238E27FC236}">
                    <a16:creationId xmlns:a16="http://schemas.microsoft.com/office/drawing/2014/main" id="{B9864DA1-BE5A-2E88-077C-DDAC2D6FD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" y="2771"/>
                <a:ext cx="502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80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2:00</a:t>
                </a:r>
              </a:p>
            </p:txBody>
          </p:sp>
        </p:grpSp>
      </p:grpSp>
      <p:sp>
        <p:nvSpPr>
          <p:cNvPr id="30" name="Line 101">
            <a:extLst>
              <a:ext uri="{FF2B5EF4-FFF2-40B4-BE49-F238E27FC236}">
                <a16:creationId xmlns:a16="http://schemas.microsoft.com/office/drawing/2014/main" id="{04EFD45F-D0D1-F98A-2C09-66B6E30B1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609" y="2596957"/>
            <a:ext cx="0" cy="2680097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1" name="Group 105">
            <a:extLst>
              <a:ext uri="{FF2B5EF4-FFF2-40B4-BE49-F238E27FC236}">
                <a16:creationId xmlns:a16="http://schemas.microsoft.com/office/drawing/2014/main" id="{4570BC7E-3D72-3777-8FA8-85676497A832}"/>
              </a:ext>
            </a:extLst>
          </p:cNvPr>
          <p:cNvGrpSpPr>
            <a:grpSpLocks/>
          </p:cNvGrpSpPr>
          <p:nvPr/>
        </p:nvGrpSpPr>
        <p:grpSpPr bwMode="auto">
          <a:xfrm>
            <a:off x="4052564" y="4693055"/>
            <a:ext cx="544116" cy="322660"/>
            <a:chOff x="2198" y="3221"/>
            <a:chExt cx="457" cy="271"/>
          </a:xfrm>
        </p:grpSpPr>
        <p:sp>
          <p:nvSpPr>
            <p:cNvPr id="32" name="Rectangle 104">
              <a:extLst>
                <a:ext uri="{FF2B5EF4-FFF2-40B4-BE49-F238E27FC236}">
                  <a16:creationId xmlns:a16="http://schemas.microsoft.com/office/drawing/2014/main" id="{78934BFE-ADF1-3B50-F520-C5FF6CCC2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 Box 102">
              <a:extLst>
                <a:ext uri="{FF2B5EF4-FFF2-40B4-BE49-F238E27FC236}">
                  <a16:creationId xmlns:a16="http://schemas.microsoft.com/office/drawing/2014/main" id="{AF98E4D1-4C5C-3E06-1ADA-32AFA93FA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221"/>
              <a:ext cx="4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5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time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A3110B-3377-170B-5240-1E8303C692C9}"/>
              </a:ext>
            </a:extLst>
          </p:cNvPr>
          <p:cNvGrpSpPr/>
          <p:nvPr/>
        </p:nvGrpSpPr>
        <p:grpSpPr>
          <a:xfrm>
            <a:off x="5089597" y="3452423"/>
            <a:ext cx="1662113" cy="464970"/>
            <a:chOff x="6786129" y="3255963"/>
            <a:chExt cx="2216150" cy="619960"/>
          </a:xfrm>
        </p:grpSpPr>
        <p:sp>
          <p:nvSpPr>
            <p:cNvPr id="35" name="Line 90">
              <a:extLst>
                <a:ext uri="{FF2B5EF4-FFF2-40B4-BE49-F238E27FC236}">
                  <a16:creationId xmlns:a16="http://schemas.microsoft.com/office/drawing/2014/main" id="{AFBDEDA0-ADBC-D9D2-64A7-21D218AB1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6129" y="3255963"/>
              <a:ext cx="2216150" cy="398463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Rectangle 92">
              <a:extLst>
                <a:ext uri="{FF2B5EF4-FFF2-40B4-BE49-F238E27FC236}">
                  <a16:creationId xmlns:a16="http://schemas.microsoft.com/office/drawing/2014/main" id="{9A94BEBF-68DB-D753-61FF-142B76D81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 Box 91">
              <a:extLst>
                <a:ext uri="{FF2B5EF4-FFF2-40B4-BE49-F238E27FC236}">
                  <a16:creationId xmlns:a16="http://schemas.microsoft.com/office/drawing/2014/main" id="{045BE7E2-4C69-2BBE-3E00-4449B18FF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3697" y="3279776"/>
              <a:ext cx="1699439" cy="596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ct val="85000"/>
                </a:lnSpc>
              </a:pPr>
              <a:r>
                <a:rPr lang="en-US" altLang="en-US" sz="135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 defTabSz="685800">
                <a:lnSpc>
                  <a:spcPct val="85000"/>
                </a:lnSpc>
              </a:pPr>
              <a:r>
                <a:rPr lang="en-US" altLang="en-US" sz="135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response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BEBC5F-8591-A448-7054-0EF880D42E39}"/>
              </a:ext>
            </a:extLst>
          </p:cNvPr>
          <p:cNvGrpSpPr/>
          <p:nvPr/>
        </p:nvGrpSpPr>
        <p:grpSpPr>
          <a:xfrm>
            <a:off x="5125315" y="4346578"/>
            <a:ext cx="1757363" cy="369332"/>
            <a:chOff x="6833754" y="4448176"/>
            <a:chExt cx="2343150" cy="492443"/>
          </a:xfrm>
        </p:grpSpPr>
        <p:sp>
          <p:nvSpPr>
            <p:cNvPr id="39" name="Line 85">
              <a:extLst>
                <a:ext uri="{FF2B5EF4-FFF2-40B4-BE49-F238E27FC236}">
                  <a16:creationId xmlns:a16="http://schemas.microsoft.com/office/drawing/2014/main" id="{87AEF4B7-2EEB-C14A-6230-614184E4D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3754" y="4464051"/>
              <a:ext cx="2343150" cy="4286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ctangle 99">
              <a:extLst>
                <a:ext uri="{FF2B5EF4-FFF2-40B4-BE49-F238E27FC236}">
                  <a16:creationId xmlns:a16="http://schemas.microsoft.com/office/drawing/2014/main" id="{FC010AC4-8542-BDC7-989E-B9E7C2358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Text Box 100">
              <a:extLst>
                <a:ext uri="{FF2B5EF4-FFF2-40B4-BE49-F238E27FC236}">
                  <a16:creationId xmlns:a16="http://schemas.microsoft.com/office/drawing/2014/main" id="{C4B397E6-E9C9-B08E-CFA6-529DAE3B2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8767" y="4448176"/>
              <a:ext cx="942993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&lt;file&gt;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E4AB119-E5E0-5305-F4A3-8F39F278A9EE}"/>
              </a:ext>
            </a:extLst>
          </p:cNvPr>
          <p:cNvGrpSpPr/>
          <p:nvPr/>
        </p:nvGrpSpPr>
        <p:grpSpPr>
          <a:xfrm>
            <a:off x="5136031" y="2976169"/>
            <a:ext cx="1632347" cy="447110"/>
            <a:chOff x="6848042" y="2620963"/>
            <a:chExt cx="2176462" cy="596147"/>
          </a:xfrm>
        </p:grpSpPr>
        <p:sp>
          <p:nvSpPr>
            <p:cNvPr id="43" name="Line 89">
              <a:extLst>
                <a:ext uri="{FF2B5EF4-FFF2-40B4-BE49-F238E27FC236}">
                  <a16:creationId xmlns:a16="http://schemas.microsoft.com/office/drawing/2014/main" id="{3439B9D0-8B21-7031-310C-11FA8047E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042" y="2749551"/>
              <a:ext cx="2176462" cy="347662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52">
              <a:extLst>
                <a:ext uri="{FF2B5EF4-FFF2-40B4-BE49-F238E27FC236}">
                  <a16:creationId xmlns:a16="http://schemas.microsoft.com/office/drawing/2014/main" id="{9AE4BDD1-786D-984E-3B2E-5DEF37E9F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Text Box 91">
              <a:extLst>
                <a:ext uri="{FF2B5EF4-FFF2-40B4-BE49-F238E27FC236}">
                  <a16:creationId xmlns:a16="http://schemas.microsoft.com/office/drawing/2014/main" id="{A4BD0BE9-A405-0A32-3265-5ECF25EA5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8147" y="2620963"/>
              <a:ext cx="1699439" cy="596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ct val="85000"/>
                </a:lnSpc>
              </a:pPr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 defTabSz="685800">
                <a:lnSpc>
                  <a:spcPct val="85000"/>
                </a:lnSpc>
              </a:pPr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request</a:t>
              </a:r>
            </a:p>
          </p:txBody>
        </p:sp>
      </p:grpSp>
      <p:grpSp>
        <p:nvGrpSpPr>
          <p:cNvPr id="46" name="Group 57">
            <a:extLst>
              <a:ext uri="{FF2B5EF4-FFF2-40B4-BE49-F238E27FC236}">
                <a16:creationId xmlns:a16="http://schemas.microsoft.com/office/drawing/2014/main" id="{0162DD84-E1D3-C907-CD0F-C04FFCF15FF6}"/>
              </a:ext>
            </a:extLst>
          </p:cNvPr>
          <p:cNvGrpSpPr>
            <a:grpSpLocks/>
          </p:cNvGrpSpPr>
          <p:nvPr/>
        </p:nvGrpSpPr>
        <p:grpSpPr bwMode="auto">
          <a:xfrm>
            <a:off x="6810050" y="3051180"/>
            <a:ext cx="267890" cy="566738"/>
            <a:chOff x="4140" y="429"/>
            <a:chExt cx="1425" cy="2396"/>
          </a:xfrm>
        </p:grpSpPr>
        <p:sp>
          <p:nvSpPr>
            <p:cNvPr id="47" name="Freeform 58">
              <a:extLst>
                <a:ext uri="{FF2B5EF4-FFF2-40B4-BE49-F238E27FC236}">
                  <a16:creationId xmlns:a16="http://schemas.microsoft.com/office/drawing/2014/main" id="{8A6E538D-E194-817D-B1D7-0869BBEC2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59">
              <a:extLst>
                <a:ext uri="{FF2B5EF4-FFF2-40B4-BE49-F238E27FC236}">
                  <a16:creationId xmlns:a16="http://schemas.microsoft.com/office/drawing/2014/main" id="{3C120102-A29B-A35D-99CA-8CAF56F26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60">
              <a:extLst>
                <a:ext uri="{FF2B5EF4-FFF2-40B4-BE49-F238E27FC236}">
                  <a16:creationId xmlns:a16="http://schemas.microsoft.com/office/drawing/2014/main" id="{C1890367-92EA-C681-D80B-D9BE05B6B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Freeform 61">
              <a:extLst>
                <a:ext uri="{FF2B5EF4-FFF2-40B4-BE49-F238E27FC236}">
                  <a16:creationId xmlns:a16="http://schemas.microsoft.com/office/drawing/2014/main" id="{C7E1F951-4D32-0223-3A11-5D84F0B18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Rectangle 62">
              <a:extLst>
                <a:ext uri="{FF2B5EF4-FFF2-40B4-BE49-F238E27FC236}">
                  <a16:creationId xmlns:a16="http://schemas.microsoft.com/office/drawing/2014/main" id="{51AC74F3-C0F5-79B9-0171-2B3920B9E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2" name="Group 63">
              <a:extLst>
                <a:ext uri="{FF2B5EF4-FFF2-40B4-BE49-F238E27FC236}">
                  <a16:creationId xmlns:a16="http://schemas.microsoft.com/office/drawing/2014/main" id="{A0008BBD-4486-24AE-C7E7-434FD344B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7" name="AutoShape 64">
                <a:extLst>
                  <a:ext uri="{FF2B5EF4-FFF2-40B4-BE49-F238E27FC236}">
                    <a16:creationId xmlns:a16="http://schemas.microsoft.com/office/drawing/2014/main" id="{8A62F4D3-32FD-95FA-5EFF-1A93BA074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AutoShape 65">
                <a:extLst>
                  <a:ext uri="{FF2B5EF4-FFF2-40B4-BE49-F238E27FC236}">
                    <a16:creationId xmlns:a16="http://schemas.microsoft.com/office/drawing/2014/main" id="{991DCC5F-708D-F583-5A41-9A344F026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3" name="Rectangle 66">
              <a:extLst>
                <a:ext uri="{FF2B5EF4-FFF2-40B4-BE49-F238E27FC236}">
                  <a16:creationId xmlns:a16="http://schemas.microsoft.com/office/drawing/2014/main" id="{C62A730D-6995-B83D-EC9D-5C8D8F2D6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4" name="Group 67">
              <a:extLst>
                <a:ext uri="{FF2B5EF4-FFF2-40B4-BE49-F238E27FC236}">
                  <a16:creationId xmlns:a16="http://schemas.microsoft.com/office/drawing/2014/main" id="{35E1E9C3-B2B7-1E46-0015-061916219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" name="AutoShape 68">
                <a:extLst>
                  <a:ext uri="{FF2B5EF4-FFF2-40B4-BE49-F238E27FC236}">
                    <a16:creationId xmlns:a16="http://schemas.microsoft.com/office/drawing/2014/main" id="{A436EE71-A241-7639-8E9F-60A971531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AutoShape 69">
                <a:extLst>
                  <a:ext uri="{FF2B5EF4-FFF2-40B4-BE49-F238E27FC236}">
                    <a16:creationId xmlns:a16="http://schemas.microsoft.com/office/drawing/2014/main" id="{90392523-7AB4-DAE9-D004-C31EA40B5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5" name="Rectangle 70">
              <a:extLst>
                <a:ext uri="{FF2B5EF4-FFF2-40B4-BE49-F238E27FC236}">
                  <a16:creationId xmlns:a16="http://schemas.microsoft.com/office/drawing/2014/main" id="{4ED17462-3B79-0EBA-0FCA-5CC8AA6A2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71">
              <a:extLst>
                <a:ext uri="{FF2B5EF4-FFF2-40B4-BE49-F238E27FC236}">
                  <a16:creationId xmlns:a16="http://schemas.microsoft.com/office/drawing/2014/main" id="{C3BF47A4-9666-BEF2-2BDE-EBFC8695E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7" name="Group 72">
              <a:extLst>
                <a:ext uri="{FF2B5EF4-FFF2-40B4-BE49-F238E27FC236}">
                  <a16:creationId xmlns:a16="http://schemas.microsoft.com/office/drawing/2014/main" id="{56AD77D4-5E01-159C-78DF-DBC5E96F1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3" name="AutoShape 73">
                <a:extLst>
                  <a:ext uri="{FF2B5EF4-FFF2-40B4-BE49-F238E27FC236}">
                    <a16:creationId xmlns:a16="http://schemas.microsoft.com/office/drawing/2014/main" id="{32607DA5-A93E-9611-A68D-A22D3735C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AutoShape 74">
                <a:extLst>
                  <a:ext uri="{FF2B5EF4-FFF2-40B4-BE49-F238E27FC236}">
                    <a16:creationId xmlns:a16="http://schemas.microsoft.com/office/drawing/2014/main" id="{7FDF5936-01C5-4578-BCEB-2E88B7DC5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0AE99ED6-B4A7-4C41-6B39-CFC0FBFF9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9" name="Group 76">
              <a:extLst>
                <a:ext uri="{FF2B5EF4-FFF2-40B4-BE49-F238E27FC236}">
                  <a16:creationId xmlns:a16="http://schemas.microsoft.com/office/drawing/2014/main" id="{DB90EC83-DA1C-582F-9E51-6AA300370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" name="AutoShape 77">
                <a:extLst>
                  <a:ext uri="{FF2B5EF4-FFF2-40B4-BE49-F238E27FC236}">
                    <a16:creationId xmlns:a16="http://schemas.microsoft.com/office/drawing/2014/main" id="{94D04B57-88E5-666D-2A56-B65D46995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AutoShape 78">
                <a:extLst>
                  <a:ext uri="{FF2B5EF4-FFF2-40B4-BE49-F238E27FC236}">
                    <a16:creationId xmlns:a16="http://schemas.microsoft.com/office/drawing/2014/main" id="{5A2F7647-5E3D-83C6-6B90-D2A5D2ED0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0" name="Rectangle 79">
              <a:extLst>
                <a:ext uri="{FF2B5EF4-FFF2-40B4-BE49-F238E27FC236}">
                  <a16:creationId xmlns:a16="http://schemas.microsoft.com/office/drawing/2014/main" id="{29952A1D-0FCE-7532-8D31-5BBE17B4F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80">
              <a:extLst>
                <a:ext uri="{FF2B5EF4-FFF2-40B4-BE49-F238E27FC236}">
                  <a16:creationId xmlns:a16="http://schemas.microsoft.com/office/drawing/2014/main" id="{FD63037E-B450-EFBD-B862-9DE63DC37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81">
              <a:extLst>
                <a:ext uri="{FF2B5EF4-FFF2-40B4-BE49-F238E27FC236}">
                  <a16:creationId xmlns:a16="http://schemas.microsoft.com/office/drawing/2014/main" id="{4E337AF0-19A5-BAF9-8A54-BFBE9A9F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Oval 82">
              <a:extLst>
                <a:ext uri="{FF2B5EF4-FFF2-40B4-BE49-F238E27FC236}">
                  <a16:creationId xmlns:a16="http://schemas.microsoft.com/office/drawing/2014/main" id="{E158A809-702F-5E1F-4E7A-134C585D4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83">
              <a:extLst>
                <a:ext uri="{FF2B5EF4-FFF2-40B4-BE49-F238E27FC236}">
                  <a16:creationId xmlns:a16="http://schemas.microsoft.com/office/drawing/2014/main" id="{62C3553E-4C9F-6A46-4822-F43FDB022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AutoShape 84">
              <a:extLst>
                <a:ext uri="{FF2B5EF4-FFF2-40B4-BE49-F238E27FC236}">
                  <a16:creationId xmlns:a16="http://schemas.microsoft.com/office/drawing/2014/main" id="{9457C0BD-0EAB-7712-06CB-2FC772786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AutoShape 85">
              <a:extLst>
                <a:ext uri="{FF2B5EF4-FFF2-40B4-BE49-F238E27FC236}">
                  <a16:creationId xmlns:a16="http://schemas.microsoft.com/office/drawing/2014/main" id="{AA387C4D-0A85-765F-900E-3D8A3477D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Oval 86">
              <a:extLst>
                <a:ext uri="{FF2B5EF4-FFF2-40B4-BE49-F238E27FC236}">
                  <a16:creationId xmlns:a16="http://schemas.microsoft.com/office/drawing/2014/main" id="{D38EBBDE-0F95-7DD1-AC3B-7C0AC48C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Oval 87">
              <a:extLst>
                <a:ext uri="{FF2B5EF4-FFF2-40B4-BE49-F238E27FC236}">
                  <a16:creationId xmlns:a16="http://schemas.microsoft.com/office/drawing/2014/main" id="{76ABEA45-84AC-21DA-A9AC-575A919AC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Oval 88">
              <a:extLst>
                <a:ext uri="{FF2B5EF4-FFF2-40B4-BE49-F238E27FC236}">
                  <a16:creationId xmlns:a16="http://schemas.microsoft.com/office/drawing/2014/main" id="{68B401F7-3514-C4CA-3075-532382848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Rectangle 89">
              <a:extLst>
                <a:ext uri="{FF2B5EF4-FFF2-40B4-BE49-F238E27FC236}">
                  <a16:creationId xmlns:a16="http://schemas.microsoft.com/office/drawing/2014/main" id="{2E48789C-318E-7A5D-0432-86B76B365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9" name="Group 90">
            <a:extLst>
              <a:ext uri="{FF2B5EF4-FFF2-40B4-BE49-F238E27FC236}">
                <a16:creationId xmlns:a16="http://schemas.microsoft.com/office/drawing/2014/main" id="{85E330AD-EB08-2942-657E-F12D1E7C4603}"/>
              </a:ext>
            </a:extLst>
          </p:cNvPr>
          <p:cNvGrpSpPr>
            <a:grpSpLocks/>
          </p:cNvGrpSpPr>
          <p:nvPr/>
        </p:nvGrpSpPr>
        <p:grpSpPr bwMode="auto">
          <a:xfrm>
            <a:off x="4457375" y="2718996"/>
            <a:ext cx="670322" cy="621506"/>
            <a:chOff x="-44" y="1473"/>
            <a:chExt cx="981" cy="1105"/>
          </a:xfrm>
        </p:grpSpPr>
        <p:pic>
          <p:nvPicPr>
            <p:cNvPr id="80" name="Picture 91" descr="desktop_computer_stylized_medium">
              <a:extLst>
                <a:ext uri="{FF2B5EF4-FFF2-40B4-BE49-F238E27FC236}">
                  <a16:creationId xmlns:a16="http://schemas.microsoft.com/office/drawing/2014/main" id="{9985709D-7A6E-C355-29AA-0CC70BD014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92">
              <a:extLst>
                <a:ext uri="{FF2B5EF4-FFF2-40B4-BE49-F238E27FC236}">
                  <a16:creationId xmlns:a16="http://schemas.microsoft.com/office/drawing/2014/main" id="{C62177E2-832F-28E1-FBDA-CDE167B75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5BF4E95-8AD7-B4F2-E036-C57CF4A34F10}"/>
              </a:ext>
            </a:extLst>
          </p:cNvPr>
          <p:cNvGrpSpPr/>
          <p:nvPr/>
        </p:nvGrpSpPr>
        <p:grpSpPr>
          <a:xfrm>
            <a:off x="4999732" y="3937007"/>
            <a:ext cx="2194469" cy="482635"/>
            <a:chOff x="6666309" y="3902076"/>
            <a:chExt cx="2925958" cy="643513"/>
          </a:xfrm>
        </p:grpSpPr>
        <p:sp>
          <p:nvSpPr>
            <p:cNvPr id="83" name="Line 94">
              <a:extLst>
                <a:ext uri="{FF2B5EF4-FFF2-40B4-BE49-F238E27FC236}">
                  <a16:creationId xmlns:a16="http://schemas.microsoft.com/office/drawing/2014/main" id="{8BDF7AC1-A6BF-EC7F-FE2E-4BCE56B94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3754" y="3902076"/>
              <a:ext cx="2400300" cy="41910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B779105-323A-F066-1FA9-086C44F264BB}"/>
                </a:ext>
              </a:extLst>
            </p:cNvPr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5" name="Text Box 95">
              <a:extLst>
                <a:ext uri="{FF2B5EF4-FFF2-40B4-BE49-F238E27FC236}">
                  <a16:creationId xmlns:a16="http://schemas.microsoft.com/office/drawing/2014/main" id="{BC07BB87-88FD-B249-D2D7-378174462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09" y="3960813"/>
              <a:ext cx="2925958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GET</a:t>
              </a:r>
              <a:r>
                <a:rPr lang="en-US" altLang="en-US" sz="1050" dirty="0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900" dirty="0">
                  <a:solidFill>
                    <a:prstClr val="black"/>
                  </a:solidFill>
                  <a:latin typeface="Calibri" panose="020F0502020204030204"/>
                  <a:cs typeface="Calibri" panose="020F0502020204030204" pitchFamily="34" charset="0"/>
                </a:rPr>
                <a:t>http://</a:t>
              </a:r>
              <a:r>
                <a:rPr lang="en-US" altLang="en-US" sz="900" dirty="0" err="1">
                  <a:solidFill>
                    <a:prstClr val="black"/>
                  </a:solidFill>
                  <a:latin typeface="Calibri" panose="020F0502020204030204"/>
                  <a:cs typeface="Calibri" panose="020F0502020204030204" pitchFamily="34" charset="0"/>
                </a:rPr>
                <a:t>gaia.cs.umass.edu</a:t>
              </a:r>
              <a:r>
                <a:rPr lang="en-US" altLang="en-US" sz="900" dirty="0">
                  <a:solidFill>
                    <a:prstClr val="black"/>
                  </a:solidFill>
                  <a:latin typeface="Calibri" panose="020F0502020204030204"/>
                  <a:cs typeface="Calibri" panose="020F0502020204030204" pitchFamily="34" charset="0"/>
                </a:rPr>
                <a:t>/</a:t>
              </a:r>
              <a:r>
                <a:rPr lang="en-US" altLang="en-US" sz="900" dirty="0" err="1">
                  <a:solidFill>
                    <a:prstClr val="black"/>
                  </a:solidFill>
                  <a:latin typeface="Calibri" panose="020F0502020204030204"/>
                  <a:cs typeface="Calibri" panose="020F0502020204030204" pitchFamily="34" charset="0"/>
                </a:rPr>
                <a:t>kurose_ross</a:t>
              </a:r>
              <a:endParaRPr lang="en-US" altLang="en-US" sz="1800" dirty="0">
                <a:solidFill>
                  <a:prstClr val="black"/>
                </a:solidFill>
                <a:latin typeface="Calibri" panose="020F0502020204030204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299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Protocols and Protocol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What’s a protocol?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2DA44B1-AC31-37BC-D4A2-43B62D017A67}"/>
              </a:ext>
            </a:extLst>
          </p:cNvPr>
          <p:cNvSpPr txBox="1">
            <a:spLocks noChangeArrowheads="1"/>
          </p:cNvSpPr>
          <p:nvPr/>
        </p:nvSpPr>
        <p:spPr>
          <a:xfrm>
            <a:off x="633152" y="2347350"/>
            <a:ext cx="2686050" cy="34861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Human protocols:</a:t>
            </a:r>
          </a:p>
          <a:p>
            <a:pPr marL="261938" indent="-165497" defTabSz="685800">
              <a:spcBef>
                <a:spcPts val="750"/>
              </a:spcBef>
              <a:buSzPct val="75000"/>
            </a:pP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“what’s the time?”</a:t>
            </a:r>
          </a:p>
          <a:p>
            <a:pPr marL="261938" indent="-165497" defTabSz="685800">
              <a:spcBef>
                <a:spcPts val="750"/>
              </a:spcBef>
              <a:buSzPct val="75000"/>
            </a:pP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“I have a question”</a:t>
            </a:r>
          </a:p>
          <a:p>
            <a:pPr marL="261938" indent="-165497" defTabSz="685800">
              <a:spcBef>
                <a:spcPts val="750"/>
              </a:spcBef>
              <a:buSzPct val="75000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introductions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14350" lvl="1" indent="-171450" defTabSz="685800">
              <a:spcBef>
                <a:spcPts val="375"/>
              </a:spcBef>
            </a:pPr>
            <a:endParaRPr lang="en-US" altLang="en-US" sz="15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  <a:p>
            <a:pPr marL="171450" indent="-171450" defTabSz="685800">
              <a:spcBef>
                <a:spcPts val="750"/>
              </a:spcBef>
              <a:buNone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… specific messages sent</a:t>
            </a:r>
          </a:p>
          <a:p>
            <a:pPr marL="171450" indent="-171450" defTabSz="685800">
              <a:spcBef>
                <a:spcPts val="750"/>
              </a:spcBef>
              <a:buNone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… specific actions taken when message received, or other events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A37D4E4-D4BD-9753-7842-E303CE2063B3}"/>
              </a:ext>
            </a:extLst>
          </p:cNvPr>
          <p:cNvSpPr txBox="1">
            <a:spLocks noChangeArrowheads="1"/>
          </p:cNvSpPr>
          <p:nvPr/>
        </p:nvSpPr>
        <p:spPr>
          <a:xfrm>
            <a:off x="3886630" y="2354886"/>
            <a:ext cx="4335329" cy="19431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protocols:</a:t>
            </a:r>
          </a:p>
          <a:p>
            <a:pPr marL="261938" indent="-165497" defTabSz="685800">
              <a:spcBef>
                <a:spcPts val="750"/>
              </a:spcBef>
              <a:buSzPct val="75000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computers (devices) rather than humans</a:t>
            </a:r>
          </a:p>
          <a:p>
            <a:pPr marL="261938" indent="-165497" defTabSz="685800">
              <a:spcBef>
                <a:spcPts val="750"/>
              </a:spcBef>
              <a:buSzPct val="75000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 communication activity in Internet governed by protocols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C015D3-240F-B352-96FC-3FAF43567622}"/>
              </a:ext>
            </a:extLst>
          </p:cNvPr>
          <p:cNvGrpSpPr/>
          <p:nvPr/>
        </p:nvGrpSpPr>
        <p:grpSpPr>
          <a:xfrm>
            <a:off x="3894166" y="4011266"/>
            <a:ext cx="4395617" cy="1926440"/>
            <a:chOff x="5573361" y="3999310"/>
            <a:chExt cx="5860823" cy="2568587"/>
          </a:xfrm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20FF0918-3501-3A94-F5CA-C2EBEDB7C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algn="ctr" defTabSz="685800">
                <a:spcBef>
                  <a:spcPct val="20000"/>
                </a:spcBef>
                <a:buClr>
                  <a:srgbClr val="ED7D31"/>
                </a:buClr>
                <a:buSzPct val="85000"/>
              </a:pP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</a:rPr>
                <a:t>Protocols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</a:rPr>
                <a:t> define the </a:t>
              </a: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</a:rPr>
                <a:t>format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</a:rPr>
                <a:t>, </a:t>
              </a: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</a:rPr>
                <a:t>order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</a:rPr>
                <a:t> of </a:t>
              </a: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</a:rPr>
                <a:t>messages sent and received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</a:rPr>
                <a:t> among network entities, and </a:t>
              </a: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</a:rPr>
                <a:t>actions taken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</a:rPr>
                <a:t> on msg transmission, receipt</a:t>
              </a:r>
              <a:r>
                <a:rPr lang="en-US" altLang="en-US" sz="1800" i="1" dirty="0">
                  <a:solidFill>
                    <a:srgbClr val="FF0000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D0110CE8-2A92-79A0-6ED7-184E1FCD9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745" y="3999310"/>
              <a:ext cx="5780439" cy="2362200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Protocol “layers” and reference models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E2A97D1-50EB-ED87-8661-97DB83F3CF7C}"/>
              </a:ext>
            </a:extLst>
          </p:cNvPr>
          <p:cNvSpPr txBox="1">
            <a:spLocks noChangeArrowheads="1"/>
          </p:cNvSpPr>
          <p:nvPr/>
        </p:nvSpPr>
        <p:spPr>
          <a:xfrm>
            <a:off x="993917" y="2139617"/>
            <a:ext cx="3836861" cy="37874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Networks are complex,</a:t>
            </a:r>
          </a:p>
          <a:p>
            <a:pPr>
              <a:lnSpc>
                <a:spcPct val="75000"/>
              </a:lnSpc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with many “</a:t>
            </a:r>
            <a:r>
              <a:rPr lang="en-US" altLang="ja-JP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pieces”: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hosts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routers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links of various media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applications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protocols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hardware, software</a:t>
            </a:r>
          </a:p>
          <a:p>
            <a:pPr>
              <a:lnSpc>
                <a:spcPct val="75000"/>
              </a:lnSpc>
              <a:buNone/>
            </a:pPr>
            <a:endParaRPr lang="en-US" altLang="ja-JP" sz="2400" i="1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102B276-0CB0-975C-6C07-EAECBD3EB3B8}"/>
              </a:ext>
            </a:extLst>
          </p:cNvPr>
          <p:cNvSpPr txBox="1">
            <a:spLocks noChangeArrowheads="1"/>
          </p:cNvSpPr>
          <p:nvPr/>
        </p:nvSpPr>
        <p:spPr>
          <a:xfrm>
            <a:off x="5106846" y="2404683"/>
            <a:ext cx="3398804" cy="32572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Question:</a:t>
            </a:r>
            <a:r>
              <a:rPr lang="en-US" altLang="en-US" sz="1800" u="sng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is there any hope of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organizing</a:t>
            </a:r>
            <a:r>
              <a:rPr lang="en-US" altLang="en-US" sz="2400" dirty="0">
                <a:ea typeface="ＭＳ Ｐゴシック" panose="020B0600070205080204" pitchFamily="34" charset="-128"/>
              </a:rPr>
              <a:t> structure of network?</a:t>
            </a:r>
          </a:p>
          <a:p>
            <a:pPr algn="ctr">
              <a:buFont typeface="Wingdings" pitchFamily="2" charset="2"/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 algn="ctr"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…. or at least our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discussion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 of networks?</a:t>
            </a:r>
          </a:p>
        </p:txBody>
      </p:sp>
    </p:spTree>
    <p:extLst>
      <p:ext uri="{BB962C8B-B14F-4D97-AF65-F5344CB8AC3E}">
        <p14:creationId xmlns:p14="http://schemas.microsoft.com/office/powerpoint/2010/main" val="375287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Example: organization of air travel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5C1448E-69D6-75B8-D697-EC8AF0FA4A76}"/>
              </a:ext>
            </a:extLst>
          </p:cNvPr>
          <p:cNvSpPr txBox="1">
            <a:spLocks noChangeArrowheads="1"/>
          </p:cNvSpPr>
          <p:nvPr/>
        </p:nvSpPr>
        <p:spPr>
          <a:xfrm>
            <a:off x="1252904" y="5583964"/>
            <a:ext cx="7147238" cy="40719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airline travel: a series of steps, involving many services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6DB0EFC2-2956-BED6-5D0C-44A570FDE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90" y="2531037"/>
            <a:ext cx="2007601" cy="215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ticket (purchase)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baggage (check)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gates (load)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runway takeoff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  <a:endParaRPr lang="en-US" altLang="en-US" sz="1500" dirty="0">
              <a:solidFill>
                <a:srgbClr val="000099"/>
              </a:solidFill>
              <a:latin typeface="+mn-lt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8615DB6D-6B12-0EDF-C95F-0CDE7621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319" y="2535761"/>
            <a:ext cx="2015745" cy="215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ticket (complain)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baggage (claim)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gates (unload)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runway landing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BE30D597-8740-39A7-5DD0-19D75BA62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310" y="4702737"/>
            <a:ext cx="19323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B3C21181-1070-F137-177E-2A566B6C09FE}"/>
              </a:ext>
            </a:extLst>
          </p:cNvPr>
          <p:cNvSpPr>
            <a:spLocks/>
          </p:cNvSpPr>
          <p:nvPr/>
        </p:nvSpPr>
        <p:spPr bwMode="auto">
          <a:xfrm>
            <a:off x="659919" y="2639384"/>
            <a:ext cx="5870825" cy="2466976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9" h="10000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6" name="Freeform 2">
            <a:extLst>
              <a:ext uri="{FF2B5EF4-FFF2-40B4-BE49-F238E27FC236}">
                <a16:creationId xmlns:a16="http://schemas.microsoft.com/office/drawing/2014/main" id="{A2EE4AAA-BAE7-60B8-5729-28261B3DDB7F}"/>
              </a:ext>
            </a:extLst>
          </p:cNvPr>
          <p:cNvSpPr/>
          <p:nvPr/>
        </p:nvSpPr>
        <p:spPr>
          <a:xfrm flipH="1">
            <a:off x="6470594" y="2659087"/>
            <a:ext cx="1366903" cy="2447273"/>
          </a:xfrm>
          <a:custGeom>
            <a:avLst/>
            <a:gdLst>
              <a:gd name="connsiteX0" fmla="*/ 1822537 w 1822537"/>
              <a:gd name="connsiteY0" fmla="*/ 3263030 h 3263030"/>
              <a:gd name="connsiteX1" fmla="*/ 6263 w 1822537"/>
              <a:gd name="connsiteY1" fmla="*/ 2743200 h 3263030"/>
              <a:gd name="connsiteX2" fmla="*/ 0 w 1822537"/>
              <a:gd name="connsiteY2" fmla="*/ 0 h 326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537" h="3263030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w="44450">
            <a:solidFill>
              <a:srgbClr val="C00000"/>
            </a:solidFill>
            <a:tailEnd type="triangl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DE5A9E0-1DCA-E67F-D764-4EC73EE3CC39}"/>
              </a:ext>
            </a:extLst>
          </p:cNvPr>
          <p:cNvGrpSpPr/>
          <p:nvPr/>
        </p:nvGrpSpPr>
        <p:grpSpPr>
          <a:xfrm>
            <a:off x="3549316" y="2261360"/>
            <a:ext cx="1146572" cy="465535"/>
            <a:chOff x="-1042195" y="4302698"/>
            <a:chExt cx="1528763" cy="620713"/>
          </a:xfrm>
        </p:grpSpPr>
        <p:pic>
          <p:nvPicPr>
            <p:cNvPr id="88" name="Picture 11" descr="yylgaifm[1]">
              <a:extLst>
                <a:ext uri="{FF2B5EF4-FFF2-40B4-BE49-F238E27FC236}">
                  <a16:creationId xmlns:a16="http://schemas.microsoft.com/office/drawing/2014/main" id="{C2E8C42F-EAB9-683C-5987-74B567C563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Line 12">
              <a:extLst>
                <a:ext uri="{FF2B5EF4-FFF2-40B4-BE49-F238E27FC236}">
                  <a16:creationId xmlns:a16="http://schemas.microsoft.com/office/drawing/2014/main" id="{23B7486C-EC87-F56A-3536-C78207D63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61182" y="43026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0" name="Line 13">
              <a:extLst>
                <a:ext uri="{FF2B5EF4-FFF2-40B4-BE49-F238E27FC236}">
                  <a16:creationId xmlns:a16="http://schemas.microsoft.com/office/drawing/2014/main" id="{CFBBA62A-5C21-81D2-E1EC-78C0B5AFE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08782" y="44550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1" name="Line 14">
              <a:extLst>
                <a:ext uri="{FF2B5EF4-FFF2-40B4-BE49-F238E27FC236}">
                  <a16:creationId xmlns:a16="http://schemas.microsoft.com/office/drawing/2014/main" id="{7B2833FD-5ECE-45EC-1A68-18BF340CC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56382" y="46074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8954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Example: organization of air travel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2040E8B-F359-2AD6-2AAA-11BD1784CDE5}"/>
              </a:ext>
            </a:extLst>
          </p:cNvPr>
          <p:cNvGrpSpPr/>
          <p:nvPr/>
        </p:nvGrpSpPr>
        <p:grpSpPr>
          <a:xfrm>
            <a:off x="348736" y="2436650"/>
            <a:ext cx="7824005" cy="2031032"/>
            <a:chOff x="464981" y="1753061"/>
            <a:chExt cx="10432006" cy="2708042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CDB9E59-7F95-E71F-E220-182E251B5DC5}"/>
                </a:ext>
              </a:extLst>
            </p:cNvPr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4472C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E09FBA6-15FB-46A9-F045-04CB7E210339}"/>
                </a:ext>
              </a:extLst>
            </p:cNvPr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4472C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BB426A5-4201-B83A-4C20-3C1A38501B64}"/>
                </a:ext>
              </a:extLst>
            </p:cNvPr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4472C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27B4213-BC49-B9DD-E71E-04F949C80541}"/>
                </a:ext>
              </a:extLst>
            </p:cNvPr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4472C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D9D31A6-871F-8953-9B12-FDD994B716A7}"/>
                </a:ext>
              </a:extLst>
            </p:cNvPr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4472C4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F818B29-A5F1-D8C3-E9E7-2114999A7B33}"/>
              </a:ext>
            </a:extLst>
          </p:cNvPr>
          <p:cNvGrpSpPr/>
          <p:nvPr/>
        </p:nvGrpSpPr>
        <p:grpSpPr>
          <a:xfrm>
            <a:off x="5679727" y="2356279"/>
            <a:ext cx="2197100" cy="2171701"/>
            <a:chOff x="1574800" y="1788319"/>
            <a:chExt cx="2929467" cy="289560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E742B79-ED43-7F3E-5A38-02C1082B0109}"/>
                </a:ext>
              </a:extLst>
            </p:cNvPr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7ACBE9F-4225-28FC-6695-73D7295D0EA6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2421466"/>
              <a:ext cx="2929467" cy="0"/>
            </a:xfrm>
            <a:prstGeom prst="lin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A2371C7-263C-EFBD-996E-8E158251F860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009694"/>
              <a:ext cx="2929467" cy="0"/>
            </a:xfrm>
            <a:prstGeom prst="lin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FCBAB4-D783-36A9-0D92-55C82BF6F8C6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581400"/>
              <a:ext cx="2929467" cy="0"/>
            </a:xfrm>
            <a:prstGeom prst="lin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C88CB33-6070-91B2-FB98-CC1F645669C3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4115129"/>
              <a:ext cx="2929467" cy="0"/>
            </a:xfrm>
            <a:prstGeom prst="lin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E2CBE4F-5954-5EDB-CCD4-C0DCB72EB7AC}"/>
              </a:ext>
            </a:extLst>
          </p:cNvPr>
          <p:cNvSpPr/>
          <p:nvPr/>
        </p:nvSpPr>
        <p:spPr>
          <a:xfrm>
            <a:off x="723907" y="2348794"/>
            <a:ext cx="2095500" cy="217170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ext Box 5">
            <a:extLst>
              <a:ext uri="{FF2B5EF4-FFF2-40B4-BE49-F238E27FC236}">
                <a16:creationId xmlns:a16="http://schemas.microsoft.com/office/drawing/2014/main" id="{1B1313A3-7CE8-D34A-75EA-B7229497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90" y="2348794"/>
            <a:ext cx="2007601" cy="215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ticket (purchase)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baggage (check)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gates (load)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runway takeoff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airplane routing</a:t>
            </a:r>
            <a:endParaRPr lang="en-US" altLang="en-US" sz="15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6" name="Text Box 6">
            <a:extLst>
              <a:ext uri="{FF2B5EF4-FFF2-40B4-BE49-F238E27FC236}">
                <a16:creationId xmlns:a16="http://schemas.microsoft.com/office/drawing/2014/main" id="{EA80279E-28A1-5A2E-3F45-146328E32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319" y="2353518"/>
            <a:ext cx="2015745" cy="215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ticket (complain)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baggage (claim)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gates (unload)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runway landing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airplane routing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A70137D-F491-63D7-E942-D1B5D0609ADB}"/>
              </a:ext>
            </a:extLst>
          </p:cNvPr>
          <p:cNvCxnSpPr>
            <a:cxnSpLocks/>
          </p:cNvCxnSpPr>
          <p:nvPr/>
        </p:nvCxnSpPr>
        <p:spPr>
          <a:xfrm>
            <a:off x="711208" y="2823654"/>
            <a:ext cx="2197100" cy="0"/>
          </a:xfrm>
          <a:prstGeom prst="lin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E3940ED-835D-7B9A-B6C7-8F560D12FCF6}"/>
              </a:ext>
            </a:extLst>
          </p:cNvPr>
          <p:cNvCxnSpPr>
            <a:cxnSpLocks/>
          </p:cNvCxnSpPr>
          <p:nvPr/>
        </p:nvCxnSpPr>
        <p:spPr>
          <a:xfrm>
            <a:off x="711208" y="3264825"/>
            <a:ext cx="2197100" cy="0"/>
          </a:xfrm>
          <a:prstGeom prst="lin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AEC1880-613B-2A87-BF2D-2B176AC1A764}"/>
              </a:ext>
            </a:extLst>
          </p:cNvPr>
          <p:cNvCxnSpPr>
            <a:cxnSpLocks/>
          </p:cNvCxnSpPr>
          <p:nvPr/>
        </p:nvCxnSpPr>
        <p:spPr>
          <a:xfrm>
            <a:off x="711208" y="3693604"/>
            <a:ext cx="2197100" cy="0"/>
          </a:xfrm>
          <a:prstGeom prst="lin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FFB01BA-E192-E6A8-579F-C7E56156625A}"/>
              </a:ext>
            </a:extLst>
          </p:cNvPr>
          <p:cNvCxnSpPr>
            <a:cxnSpLocks/>
          </p:cNvCxnSpPr>
          <p:nvPr/>
        </p:nvCxnSpPr>
        <p:spPr>
          <a:xfrm>
            <a:off x="711208" y="4093901"/>
            <a:ext cx="2197100" cy="0"/>
          </a:xfrm>
          <a:prstGeom prst="lin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FFE612D-CF84-FA54-9810-0D2A05403705}"/>
              </a:ext>
            </a:extLst>
          </p:cNvPr>
          <p:cNvSpPr/>
          <p:nvPr/>
        </p:nvSpPr>
        <p:spPr>
          <a:xfrm>
            <a:off x="3195467" y="4101043"/>
            <a:ext cx="2095500" cy="42659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Text Box 7">
            <a:extLst>
              <a:ext uri="{FF2B5EF4-FFF2-40B4-BE49-F238E27FC236}">
                <a16:creationId xmlns:a16="http://schemas.microsoft.com/office/drawing/2014/main" id="{3733D0ED-B137-8F8E-B3E1-FE7680D24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15" y="4122647"/>
            <a:ext cx="19323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prstClr val="white"/>
                </a:solidFill>
                <a:latin typeface="Calibri" panose="020F0502020204030204"/>
              </a:rPr>
              <a:t>airplane routing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26AD653-F707-FA6B-ACB9-6E1EF2B34A2E}"/>
              </a:ext>
            </a:extLst>
          </p:cNvPr>
          <p:cNvGrpSpPr/>
          <p:nvPr/>
        </p:nvGrpSpPr>
        <p:grpSpPr>
          <a:xfrm>
            <a:off x="2961409" y="2396674"/>
            <a:ext cx="2642117" cy="2131780"/>
            <a:chOff x="3948545" y="1699760"/>
            <a:chExt cx="3522823" cy="284237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E1B7D19-AE21-7B56-BE13-41633CFCB5D7}"/>
                </a:ext>
              </a:extLst>
            </p:cNvPr>
            <p:cNvSpPr txBox="1"/>
            <p:nvPr/>
          </p:nvSpPr>
          <p:spPr>
            <a:xfrm>
              <a:off x="4400060" y="1699760"/>
              <a:ext cx="2569508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ticketing service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7697948-B9D7-71CD-018F-35ABBE16852B}"/>
                </a:ext>
              </a:extLst>
            </p:cNvPr>
            <p:cNvSpPr txBox="1"/>
            <p:nvPr/>
          </p:nvSpPr>
          <p:spPr>
            <a:xfrm>
              <a:off x="4384330" y="2292643"/>
              <a:ext cx="2600456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baggage service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88AB73D-5855-CC23-F56F-8D605054DA9B}"/>
                </a:ext>
              </a:extLst>
            </p:cNvPr>
            <p:cNvSpPr txBox="1"/>
            <p:nvPr/>
          </p:nvSpPr>
          <p:spPr>
            <a:xfrm>
              <a:off x="4686266" y="2872079"/>
              <a:ext cx="198105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gate service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6570B11-3F0D-C38D-B23A-A17EBFD2B915}"/>
                </a:ext>
              </a:extLst>
            </p:cNvPr>
            <p:cNvSpPr txBox="1"/>
            <p:nvPr/>
          </p:nvSpPr>
          <p:spPr>
            <a:xfrm>
              <a:off x="4485938" y="3451513"/>
              <a:ext cx="2415278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runway service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26E181C-AF20-70D6-4A15-BD90D6C418F1}"/>
                </a:ext>
              </a:extLst>
            </p:cNvPr>
            <p:cNvGrpSpPr/>
            <p:nvPr/>
          </p:nvGrpSpPr>
          <p:grpSpPr>
            <a:xfrm>
              <a:off x="3948545" y="3988136"/>
              <a:ext cx="3522823" cy="553997"/>
              <a:chOff x="3976681" y="3974068"/>
              <a:chExt cx="3522823" cy="553997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A1152B7-D3A2-76A1-C480-E0C6A5BAFC65}"/>
                  </a:ext>
                </a:extLst>
              </p:cNvPr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8CF3803-06B2-F7A6-B564-D9C16F2092C4}"/>
                  </a:ext>
                </a:extLst>
              </p:cNvPr>
              <p:cNvSpPr txBox="1"/>
              <p:nvPr/>
            </p:nvSpPr>
            <p:spPr>
              <a:xfrm>
                <a:off x="4506558" y="3974068"/>
                <a:ext cx="2388859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routing service</a:t>
                </a:r>
              </a:p>
            </p:txBody>
          </p:sp>
        </p:grpSp>
      </p:grpSp>
      <p:sp>
        <p:nvSpPr>
          <p:cNvPr id="141" name="Rectangle 40">
            <a:extLst>
              <a:ext uri="{FF2B5EF4-FFF2-40B4-BE49-F238E27FC236}">
                <a16:creationId xmlns:a16="http://schemas.microsoft.com/office/drawing/2014/main" id="{1BBBBBE4-08FD-661F-5D56-B2599D475F54}"/>
              </a:ext>
            </a:extLst>
          </p:cNvPr>
          <p:cNvSpPr txBox="1">
            <a:spLocks noChangeArrowheads="1"/>
          </p:cNvSpPr>
          <p:nvPr/>
        </p:nvSpPr>
        <p:spPr>
          <a:xfrm>
            <a:off x="659581" y="4813078"/>
            <a:ext cx="5710238" cy="132278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layers: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each layer implements a service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via its own internal-layer actions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relying on services provided by layer below</a:t>
            </a:r>
          </a:p>
          <a:p>
            <a:pPr>
              <a:buFont typeface="Wingdings" pitchFamily="2" charset="2"/>
              <a:buNone/>
            </a:pPr>
            <a:endParaRPr lang="en-US" altLang="en-US" sz="21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42" name="Rectangle 40">
            <a:extLst>
              <a:ext uri="{FF2B5EF4-FFF2-40B4-BE49-F238E27FC236}">
                <a16:creationId xmlns:a16="http://schemas.microsoft.com/office/drawing/2014/main" id="{2C80B561-7D6A-EABB-02C3-2CC9080E1C0D}"/>
              </a:ext>
            </a:extLst>
          </p:cNvPr>
          <p:cNvSpPr txBox="1">
            <a:spLocks noChangeArrowheads="1"/>
          </p:cNvSpPr>
          <p:nvPr/>
        </p:nvSpPr>
        <p:spPr>
          <a:xfrm>
            <a:off x="6404763" y="4925343"/>
            <a:ext cx="2272525" cy="99555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2406" indent="-25004">
              <a:buFont typeface="Wingdings" pitchFamily="2" charset="2"/>
              <a:buNone/>
            </a:pPr>
            <a:r>
              <a:rPr lang="en-US" altLang="en-US" sz="1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sz="1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i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describe in words the service provided in each layer above</a:t>
            </a:r>
            <a:endParaRPr lang="en-US" altLang="en-US" sz="1500" i="1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altLang="en-US" sz="21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632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Why layering?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3EEF203-F33C-E6B4-D38E-520B4CE9D2DB}"/>
              </a:ext>
            </a:extLst>
          </p:cNvPr>
          <p:cNvSpPr txBox="1">
            <a:spLocks noChangeArrowheads="1"/>
          </p:cNvSpPr>
          <p:nvPr/>
        </p:nvSpPr>
        <p:spPr>
          <a:xfrm>
            <a:off x="618951" y="2145241"/>
            <a:ext cx="8053861" cy="3692028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700" dirty="0">
                <a:ea typeface="ＭＳ Ｐゴシック" panose="020B0600070205080204" pitchFamily="34" charset="-128"/>
              </a:rPr>
              <a:t>dealing with complex systems: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explicit structure allows identification, relationship of complex system’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pieces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layered </a:t>
            </a:r>
            <a:r>
              <a:rPr lang="en-US" altLang="en-US" sz="2100" i="1" dirty="0">
                <a:solidFill>
                  <a:srgbClr val="CC0000"/>
                </a:solidFill>
                <a:ea typeface="Arial" panose="020B0604020202020204" pitchFamily="34" charset="0"/>
              </a:rPr>
              <a:t>reference model</a:t>
            </a:r>
            <a:r>
              <a:rPr lang="en-US" altLang="en-US" sz="2100" dirty="0">
                <a:ea typeface="Arial" panose="020B0604020202020204" pitchFamily="34" charset="0"/>
              </a:rPr>
              <a:t> for discussion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modularization eases maintenance, updating of system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change in layer</a:t>
            </a:r>
            <a:r>
              <a:rPr lang="en-US" altLang="en-US" sz="2100" dirty="0">
                <a:ea typeface="ＭＳ Ｐゴシック" panose="020B0600070205080204" pitchFamily="34" charset="-128"/>
              </a:rPr>
              <a:t>'</a:t>
            </a:r>
            <a:r>
              <a:rPr lang="en-US" altLang="ja-JP" sz="2100" dirty="0">
                <a:ea typeface="ＭＳ Ｐゴシック" panose="020B0600070205080204" pitchFamily="34" charset="-128"/>
              </a:rPr>
              <a:t>s service </a:t>
            </a:r>
            <a:r>
              <a:rPr lang="en-US" altLang="ja-JP" sz="2100" i="1" dirty="0">
                <a:ea typeface="ＭＳ Ｐゴシック" panose="020B0600070205080204" pitchFamily="34" charset="-128"/>
              </a:rPr>
              <a:t>implementation</a:t>
            </a:r>
            <a:r>
              <a:rPr lang="en-US" altLang="ja-JP" sz="2100" dirty="0">
                <a:ea typeface="ＭＳ Ｐゴシック" panose="020B0600070205080204" pitchFamily="34" charset="-128"/>
              </a:rPr>
              <a:t>: transparent to rest of system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e.g., change in gate procedure doesn</a:t>
            </a:r>
            <a:r>
              <a:rPr lang="en-US" altLang="en-US" sz="2100" dirty="0">
                <a:ea typeface="ＭＳ Ｐゴシック" panose="020B0600070205080204" pitchFamily="34" charset="-128"/>
              </a:rPr>
              <a:t>’</a:t>
            </a:r>
            <a:r>
              <a:rPr lang="en-US" altLang="ja-JP" sz="2100" dirty="0">
                <a:ea typeface="ＭＳ Ｐゴシック" panose="020B0600070205080204" pitchFamily="34" charset="-128"/>
              </a:rPr>
              <a:t>t affect rest of system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layering considered harmful?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layering in other complex systems?</a:t>
            </a:r>
          </a:p>
        </p:txBody>
      </p:sp>
    </p:spTree>
    <p:extLst>
      <p:ext uri="{BB962C8B-B14F-4D97-AF65-F5344CB8AC3E}">
        <p14:creationId xmlns:p14="http://schemas.microsoft.com/office/powerpoint/2010/main" val="335411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>
                <a:latin typeface="+mj-lt"/>
              </a:rPr>
              <a:pPr/>
              <a:t>9</a:t>
            </a:fld>
            <a:endParaRPr lang="en-US" dirty="0">
              <a:latin typeface="+mj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772" y="1498602"/>
            <a:ext cx="3278508" cy="833965"/>
          </a:xfrm>
        </p:spPr>
        <p:txBody>
          <a:bodyPr>
            <a:normAutofit/>
          </a:bodyPr>
          <a:lstStyle/>
          <a:p>
            <a:r>
              <a:rPr lang="en-US" dirty="0"/>
              <a:t>Encapsulation</a:t>
            </a:r>
          </a:p>
        </p:txBody>
      </p:sp>
      <p:sp>
        <p:nvSpPr>
          <p:cNvPr id="155" name="Freeform 3">
            <a:extLst>
              <a:ext uri="{FF2B5EF4-FFF2-40B4-BE49-F238E27FC236}">
                <a16:creationId xmlns:a16="http://schemas.microsoft.com/office/drawing/2014/main" id="{861299C5-FFF2-4784-4358-BE71EF0AC29B}"/>
              </a:ext>
            </a:extLst>
          </p:cNvPr>
          <p:cNvSpPr>
            <a:spLocks/>
          </p:cNvSpPr>
          <p:nvPr/>
        </p:nvSpPr>
        <p:spPr bwMode="auto">
          <a:xfrm>
            <a:off x="6261503" y="2961389"/>
            <a:ext cx="478631" cy="62269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ysClr val="window" lastClr="FFFF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80D0E2C-7B77-C876-B216-B26A486D8EBE}"/>
              </a:ext>
            </a:extLst>
          </p:cNvPr>
          <p:cNvGrpSpPr/>
          <p:nvPr/>
        </p:nvGrpSpPr>
        <p:grpSpPr>
          <a:xfrm>
            <a:off x="6552832" y="3276140"/>
            <a:ext cx="719511" cy="358547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1330F8A-DEAB-DD64-FF6B-77F2DF5449F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ysClr val="window" lastClr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8" name="Freeform 306">
              <a:extLst>
                <a:ext uri="{FF2B5EF4-FFF2-40B4-BE49-F238E27FC236}">
                  <a16:creationId xmlns:a16="http://schemas.microsoft.com/office/drawing/2014/main" id="{859F8D54-1CD4-5226-8386-0DEDA8F88F8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5319FEB-D4B5-24C2-B68E-2053F7991AEF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308">
                <a:extLst>
                  <a:ext uri="{FF2B5EF4-FFF2-40B4-BE49-F238E27FC236}">
                    <a16:creationId xmlns:a16="http://schemas.microsoft.com/office/drawing/2014/main" id="{B881AC91-051F-7726-6AD9-64723324A4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1" name="Freeform 309">
                <a:extLst>
                  <a:ext uri="{FF2B5EF4-FFF2-40B4-BE49-F238E27FC236}">
                    <a16:creationId xmlns:a16="http://schemas.microsoft.com/office/drawing/2014/main" id="{A4F2DDC4-FDD6-3BFD-3268-5D1233C3BD8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2" name="Freeform 310">
                <a:extLst>
                  <a:ext uri="{FF2B5EF4-FFF2-40B4-BE49-F238E27FC236}">
                    <a16:creationId xmlns:a16="http://schemas.microsoft.com/office/drawing/2014/main" id="{189E8B79-D299-002E-15E0-03404514F3FB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3" name="Freeform 311">
                <a:extLst>
                  <a:ext uri="{FF2B5EF4-FFF2-40B4-BE49-F238E27FC236}">
                    <a16:creationId xmlns:a16="http://schemas.microsoft.com/office/drawing/2014/main" id="{ABC409BA-6CA9-F364-DBE0-F08BBCC1680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4" name="Freeform 99">
            <a:extLst>
              <a:ext uri="{FF2B5EF4-FFF2-40B4-BE49-F238E27FC236}">
                <a16:creationId xmlns:a16="http://schemas.microsoft.com/office/drawing/2014/main" id="{C3B4A5A7-BDFE-0DC8-4BCA-45133F175A19}"/>
              </a:ext>
            </a:extLst>
          </p:cNvPr>
          <p:cNvSpPr>
            <a:spLocks/>
          </p:cNvSpPr>
          <p:nvPr/>
        </p:nvSpPr>
        <p:spPr bwMode="auto">
          <a:xfrm>
            <a:off x="6148392" y="4377043"/>
            <a:ext cx="491729" cy="851297"/>
          </a:xfrm>
          <a:custGeom>
            <a:avLst/>
            <a:gdLst>
              <a:gd name="T0" fmla="*/ 2147483646 w 413"/>
              <a:gd name="T1" fmla="*/ 2147483646 h 715"/>
              <a:gd name="T2" fmla="*/ 2147483646 w 413"/>
              <a:gd name="T3" fmla="*/ 0 h 715"/>
              <a:gd name="T4" fmla="*/ 0 w 413"/>
              <a:gd name="T5" fmla="*/ 2147483646 h 715"/>
              <a:gd name="T6" fmla="*/ 2147483646 w 413"/>
              <a:gd name="T7" fmla="*/ 2147483646 h 715"/>
              <a:gd name="T8" fmla="*/ 2147483646 w 413"/>
              <a:gd name="T9" fmla="*/ 2147483646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ysClr val="window" lastClr="FFFF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658F846-960A-2053-450A-B1EEA0C31F11}"/>
              </a:ext>
            </a:extLst>
          </p:cNvPr>
          <p:cNvGrpSpPr/>
          <p:nvPr/>
        </p:nvGrpSpPr>
        <p:grpSpPr>
          <a:xfrm>
            <a:off x="6522250" y="4909634"/>
            <a:ext cx="719138" cy="357188"/>
            <a:chOff x="7493876" y="2774731"/>
            <a:chExt cx="1481958" cy="894622"/>
          </a:xfrm>
        </p:grpSpPr>
        <p:sp>
          <p:nvSpPr>
            <p:cNvPr id="166" name="Freeform 297">
              <a:extLst>
                <a:ext uri="{FF2B5EF4-FFF2-40B4-BE49-F238E27FC236}">
                  <a16:creationId xmlns:a16="http://schemas.microsoft.com/office/drawing/2014/main" id="{0C4FCCBC-2C85-ACB0-7509-3918DB86D88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ysClr val="window" lastClr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CB792E4-651A-1323-F8EE-AC21F0C013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4E00980E-D5D7-2E2D-FB6A-6A845CC09A6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9" name="Freeform 300">
                <a:extLst>
                  <a:ext uri="{FF2B5EF4-FFF2-40B4-BE49-F238E27FC236}">
                    <a16:creationId xmlns:a16="http://schemas.microsoft.com/office/drawing/2014/main" id="{FBE45E43-10E4-6890-F7CE-20898AE751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0" name="Freeform 301">
                <a:extLst>
                  <a:ext uri="{FF2B5EF4-FFF2-40B4-BE49-F238E27FC236}">
                    <a16:creationId xmlns:a16="http://schemas.microsoft.com/office/drawing/2014/main" id="{6EE3D0D9-5098-2B17-6ADB-3B3CB22B325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1" name="Freeform 302">
                <a:extLst>
                  <a:ext uri="{FF2B5EF4-FFF2-40B4-BE49-F238E27FC236}">
                    <a16:creationId xmlns:a16="http://schemas.microsoft.com/office/drawing/2014/main" id="{34DD9C55-27CA-D94F-14D1-AAE211ABF3C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2" name="Freeform 303">
                <a:extLst>
                  <a:ext uri="{FF2B5EF4-FFF2-40B4-BE49-F238E27FC236}">
                    <a16:creationId xmlns:a16="http://schemas.microsoft.com/office/drawing/2014/main" id="{3FD6CF5F-0720-C95A-699A-7FAE0C2E872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4" name="Freeform 2">
            <a:extLst>
              <a:ext uri="{FF2B5EF4-FFF2-40B4-BE49-F238E27FC236}">
                <a16:creationId xmlns:a16="http://schemas.microsoft.com/office/drawing/2014/main" id="{044BDF66-0A6D-6BC1-03EA-52E602CE54A3}"/>
              </a:ext>
            </a:extLst>
          </p:cNvPr>
          <p:cNvSpPr>
            <a:spLocks/>
          </p:cNvSpPr>
          <p:nvPr/>
        </p:nvSpPr>
        <p:spPr bwMode="auto">
          <a:xfrm>
            <a:off x="3777859" y="2345836"/>
            <a:ext cx="3036094" cy="2875360"/>
          </a:xfrm>
          <a:custGeom>
            <a:avLst/>
            <a:gdLst>
              <a:gd name="T0" fmla="*/ 2147483646 w 2550"/>
              <a:gd name="T1" fmla="*/ 0 h 2415"/>
              <a:gd name="T2" fmla="*/ 2147483646 w 2550"/>
              <a:gd name="T3" fmla="*/ 0 h 2415"/>
              <a:gd name="T4" fmla="*/ 2147483646 w 2550"/>
              <a:gd name="T5" fmla="*/ 2147483646 h 2415"/>
              <a:gd name="T6" fmla="*/ 0 w 2550"/>
              <a:gd name="T7" fmla="*/ 2147483646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rgbClr val="E7E6E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75" name="Text Box 8">
            <a:extLst>
              <a:ext uri="{FF2B5EF4-FFF2-40B4-BE49-F238E27FC236}">
                <a16:creationId xmlns:a16="http://schemas.microsoft.com/office/drawing/2014/main" id="{A64C0894-E6ED-2E39-7F14-AF21ED596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566" y="1427864"/>
            <a:ext cx="791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99"/>
                </a:solidFill>
                <a:latin typeface="+mj-lt"/>
              </a:rPr>
              <a:t>source</a:t>
            </a:r>
          </a:p>
        </p:txBody>
      </p:sp>
      <p:sp>
        <p:nvSpPr>
          <p:cNvPr id="176" name="Freeform 10">
            <a:extLst>
              <a:ext uri="{FF2B5EF4-FFF2-40B4-BE49-F238E27FC236}">
                <a16:creationId xmlns:a16="http://schemas.microsoft.com/office/drawing/2014/main" id="{335A743A-4DA0-6816-681B-154F2134D6DE}"/>
              </a:ext>
            </a:extLst>
          </p:cNvPr>
          <p:cNvSpPr>
            <a:spLocks/>
          </p:cNvSpPr>
          <p:nvPr/>
        </p:nvSpPr>
        <p:spPr bwMode="auto">
          <a:xfrm>
            <a:off x="3815958" y="1748143"/>
            <a:ext cx="270272" cy="118348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ysClr val="window" lastClr="FFFF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77" name="Rectangle 23">
            <a:extLst>
              <a:ext uri="{FF2B5EF4-FFF2-40B4-BE49-F238E27FC236}">
                <a16:creationId xmlns:a16="http://schemas.microsoft.com/office/drawing/2014/main" id="{E7A27907-8B98-742F-5F7D-D792007B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86" y="1755286"/>
            <a:ext cx="972741" cy="115966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78" name="Rectangle 24">
            <a:extLst>
              <a:ext uri="{FF2B5EF4-FFF2-40B4-BE49-F238E27FC236}">
                <a16:creationId xmlns:a16="http://schemas.microsoft.com/office/drawing/2014/main" id="{A9DB73B7-79B4-612F-FD2A-E883F5E05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8" y="1808864"/>
            <a:ext cx="954881" cy="1152525"/>
          </a:xfrm>
          <a:prstGeom prst="rect">
            <a:avLst/>
          </a:prstGeom>
          <a:solidFill>
            <a:sysClr val="window" lastClr="FFFFFF"/>
          </a:solidFill>
          <a:ln w="2857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9" name="Line 25">
            <a:extLst>
              <a:ext uri="{FF2B5EF4-FFF2-40B4-BE49-F238E27FC236}">
                <a16:creationId xmlns:a16="http://schemas.microsoft.com/office/drawing/2014/main" id="{7EA22E6C-BAC1-728B-63E0-9D555EAD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7" y="2046990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2F06BE54-8204-85B4-9AF6-691E85D8F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122" y="1783861"/>
            <a:ext cx="988219" cy="1223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physical</a:t>
            </a:r>
          </a:p>
        </p:txBody>
      </p:sp>
      <p:sp>
        <p:nvSpPr>
          <p:cNvPr id="181" name="Line 27">
            <a:extLst>
              <a:ext uri="{FF2B5EF4-FFF2-40B4-BE49-F238E27FC236}">
                <a16:creationId xmlns:a16="http://schemas.microsoft.com/office/drawing/2014/main" id="{1E21E37F-AD32-FD82-DE57-6F8967CFE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8220" y="2287496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82" name="Line 28">
            <a:extLst>
              <a:ext uri="{FF2B5EF4-FFF2-40B4-BE49-F238E27FC236}">
                <a16:creationId xmlns:a16="http://schemas.microsoft.com/office/drawing/2014/main" id="{528D67F2-AD73-0E8B-504A-E6E556CC5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92" y="2498237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83" name="Line 29">
            <a:extLst>
              <a:ext uri="{FF2B5EF4-FFF2-40B4-BE49-F238E27FC236}">
                <a16:creationId xmlns:a16="http://schemas.microsoft.com/office/drawing/2014/main" id="{51C38ECC-6960-4960-6240-4DAE9924D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92" y="2705405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184" name="Group 39">
            <a:extLst>
              <a:ext uri="{FF2B5EF4-FFF2-40B4-BE49-F238E27FC236}">
                <a16:creationId xmlns:a16="http://schemas.microsoft.com/office/drawing/2014/main" id="{08DA7F04-CB49-9AED-5C2F-7570E19AF703}"/>
              </a:ext>
            </a:extLst>
          </p:cNvPr>
          <p:cNvGrpSpPr>
            <a:grpSpLocks/>
          </p:cNvGrpSpPr>
          <p:nvPr/>
        </p:nvGrpSpPr>
        <p:grpSpPr bwMode="auto">
          <a:xfrm>
            <a:off x="1828805" y="2286305"/>
            <a:ext cx="906066" cy="227410"/>
            <a:chOff x="501" y="1990"/>
            <a:chExt cx="761" cy="191"/>
          </a:xfrm>
        </p:grpSpPr>
        <p:sp>
          <p:nvSpPr>
            <p:cNvPr id="185" name="Rectangle 40">
              <a:extLst>
                <a:ext uri="{FF2B5EF4-FFF2-40B4-BE49-F238E27FC236}">
                  <a16:creationId xmlns:a16="http://schemas.microsoft.com/office/drawing/2014/main" id="{79E3F3D7-A75B-C73B-D76D-877F2A717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6" name="Rectangle 41">
              <a:extLst>
                <a:ext uri="{FF2B5EF4-FFF2-40B4-BE49-F238E27FC236}">
                  <a16:creationId xmlns:a16="http://schemas.microsoft.com/office/drawing/2014/main" id="{BB0287C8-A380-FB1D-ED64-D6EC0C056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87" name="Rectangle 42">
              <a:extLst>
                <a:ext uri="{FF2B5EF4-FFF2-40B4-BE49-F238E27FC236}">
                  <a16:creationId xmlns:a16="http://schemas.microsoft.com/office/drawing/2014/main" id="{0104C24F-1745-5927-3082-329163FDF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88" name="Rectangle 43">
              <a:extLst>
                <a:ext uri="{FF2B5EF4-FFF2-40B4-BE49-F238E27FC236}">
                  <a16:creationId xmlns:a16="http://schemas.microsoft.com/office/drawing/2014/main" id="{68638CF6-E347-F001-2229-31869A636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89" name="Line 44">
              <a:extLst>
                <a:ext uri="{FF2B5EF4-FFF2-40B4-BE49-F238E27FC236}">
                  <a16:creationId xmlns:a16="http://schemas.microsoft.com/office/drawing/2014/main" id="{006C0364-ED30-9063-5913-4FADFAD80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0" name="Line 45">
              <a:extLst>
                <a:ext uri="{FF2B5EF4-FFF2-40B4-BE49-F238E27FC236}">
                  <a16:creationId xmlns:a16="http://schemas.microsoft.com/office/drawing/2014/main" id="{2745143F-6E5E-EC7D-D6AB-2B975595F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191" name="Text Box 5">
            <a:extLst>
              <a:ext uri="{FF2B5EF4-FFF2-40B4-BE49-F238E27FC236}">
                <a16:creationId xmlns:a16="http://schemas.microsoft.com/office/drawing/2014/main" id="{93F104D3-3AC0-2F13-F6E8-CC11CEC07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871" y="2007698"/>
            <a:ext cx="7185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+mj-lt"/>
              </a:rPr>
              <a:t>segment</a:t>
            </a:r>
          </a:p>
        </p:txBody>
      </p:sp>
      <p:grpSp>
        <p:nvGrpSpPr>
          <p:cNvPr id="192" name="Group 178">
            <a:extLst>
              <a:ext uri="{FF2B5EF4-FFF2-40B4-BE49-F238E27FC236}">
                <a16:creationId xmlns:a16="http://schemas.microsoft.com/office/drawing/2014/main" id="{0C0AD026-D001-60B7-17EE-4F49BC09DD02}"/>
              </a:ext>
            </a:extLst>
          </p:cNvPr>
          <p:cNvGrpSpPr>
            <a:grpSpLocks/>
          </p:cNvGrpSpPr>
          <p:nvPr/>
        </p:nvGrpSpPr>
        <p:grpSpPr bwMode="auto">
          <a:xfrm>
            <a:off x="2064549" y="2035083"/>
            <a:ext cx="226219" cy="219075"/>
            <a:chOff x="1962" y="2058"/>
            <a:chExt cx="190" cy="184"/>
          </a:xfrm>
        </p:grpSpPr>
        <p:sp>
          <p:nvSpPr>
            <p:cNvPr id="193" name="Rectangle 47">
              <a:extLst>
                <a:ext uri="{FF2B5EF4-FFF2-40B4-BE49-F238E27FC236}">
                  <a16:creationId xmlns:a16="http://schemas.microsoft.com/office/drawing/2014/main" id="{0826D9A2-DC27-ACFD-EC85-E0A3A08A1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4" name="Rectangle 48">
              <a:extLst>
                <a:ext uri="{FF2B5EF4-FFF2-40B4-BE49-F238E27FC236}">
                  <a16:creationId xmlns:a16="http://schemas.microsoft.com/office/drawing/2014/main" id="{4B8163B4-D1D8-FCAB-2551-CA35BFF09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95" name="Text Box 4">
            <a:extLst>
              <a:ext uri="{FF2B5EF4-FFF2-40B4-BE49-F238E27FC236}">
                <a16:creationId xmlns:a16="http://schemas.microsoft.com/office/drawing/2014/main" id="{45C7172B-F467-CF47-36EF-3BA3FDEC4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853" y="2262492"/>
            <a:ext cx="7726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+mj-lt"/>
              </a:rPr>
              <a:t>datagram</a:t>
            </a:r>
          </a:p>
        </p:txBody>
      </p:sp>
      <p:sp>
        <p:nvSpPr>
          <p:cNvPr id="196" name="Text Box 54">
            <a:extLst>
              <a:ext uri="{FF2B5EF4-FFF2-40B4-BE49-F238E27FC236}">
                <a16:creationId xmlns:a16="http://schemas.microsoft.com/office/drawing/2014/main" id="{70EBD7AF-93B0-0655-5253-58D61B0C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265" y="4378234"/>
            <a:ext cx="10431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i="1">
                <a:solidFill>
                  <a:srgbClr val="000099"/>
                </a:solidFill>
                <a:latin typeface="+mj-lt"/>
              </a:rPr>
              <a:t>destination</a:t>
            </a:r>
          </a:p>
        </p:txBody>
      </p:sp>
      <p:sp>
        <p:nvSpPr>
          <p:cNvPr id="197" name="Freeform 56">
            <a:extLst>
              <a:ext uri="{FF2B5EF4-FFF2-40B4-BE49-F238E27FC236}">
                <a16:creationId xmlns:a16="http://schemas.microsoft.com/office/drawing/2014/main" id="{60AFD42B-1E50-7A8C-130D-DDBE4E1A4AD3}"/>
              </a:ext>
            </a:extLst>
          </p:cNvPr>
          <p:cNvSpPr>
            <a:spLocks/>
          </p:cNvSpPr>
          <p:nvPr/>
        </p:nvSpPr>
        <p:spPr bwMode="auto">
          <a:xfrm>
            <a:off x="3149208" y="4665174"/>
            <a:ext cx="270272" cy="118348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ED7D31"/>
              </a:gs>
              <a:gs pos="100000">
                <a:sysClr val="window" lastClr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98" name="Rectangle 57">
            <a:extLst>
              <a:ext uri="{FF2B5EF4-FFF2-40B4-BE49-F238E27FC236}">
                <a16:creationId xmlns:a16="http://schemas.microsoft.com/office/drawing/2014/main" id="{1F7B642B-A9C9-BB1D-DD57-BFB40876B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236" y="4669936"/>
            <a:ext cx="972741" cy="115966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99" name="Rectangle 58">
            <a:extLst>
              <a:ext uri="{FF2B5EF4-FFF2-40B4-BE49-F238E27FC236}">
                <a16:creationId xmlns:a16="http://schemas.microsoft.com/office/drawing/2014/main" id="{2D16736A-F767-04E2-52A5-C21701FD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8" y="4723514"/>
            <a:ext cx="954881" cy="1152525"/>
          </a:xfrm>
          <a:prstGeom prst="rect">
            <a:avLst/>
          </a:prstGeom>
          <a:solidFill>
            <a:sysClr val="window" lastClr="FFFFFF"/>
          </a:solidFill>
          <a:ln w="2857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00" name="Line 59">
            <a:extLst>
              <a:ext uri="{FF2B5EF4-FFF2-40B4-BE49-F238E27FC236}">
                <a16:creationId xmlns:a16="http://schemas.microsoft.com/office/drawing/2014/main" id="{4A2E974E-8195-5B2E-10D6-290C71F49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7" y="4961640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01" name="Text Box 60">
            <a:extLst>
              <a:ext uri="{FF2B5EF4-FFF2-40B4-BE49-F238E27FC236}">
                <a16:creationId xmlns:a16="http://schemas.microsoft.com/office/drawing/2014/main" id="{3BA4BB01-4F93-6A7C-0979-0E38039F6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3372" y="4698511"/>
            <a:ext cx="988219" cy="1223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>
                <a:solidFill>
                  <a:prstClr val="black"/>
                </a:solidFill>
                <a:latin typeface="+mj-lt"/>
              </a:rPr>
              <a:t>physical</a:t>
            </a:r>
          </a:p>
        </p:txBody>
      </p:sp>
      <p:sp>
        <p:nvSpPr>
          <p:cNvPr id="202" name="Line 61">
            <a:extLst>
              <a:ext uri="{FF2B5EF4-FFF2-40B4-BE49-F238E27FC236}">
                <a16:creationId xmlns:a16="http://schemas.microsoft.com/office/drawing/2014/main" id="{39EEF8F1-3E9F-A2F7-BD8F-29220C546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470" y="5202146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03" name="Line 62">
            <a:extLst>
              <a:ext uri="{FF2B5EF4-FFF2-40B4-BE49-F238E27FC236}">
                <a16:creationId xmlns:a16="http://schemas.microsoft.com/office/drawing/2014/main" id="{89E4DD82-2BE6-6CC5-2095-371DD7E32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42" y="5412887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04" name="Line 63">
            <a:extLst>
              <a:ext uri="{FF2B5EF4-FFF2-40B4-BE49-F238E27FC236}">
                <a16:creationId xmlns:a16="http://schemas.microsoft.com/office/drawing/2014/main" id="{DFA9DD5D-ED20-29BC-8A3B-C6278DC70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42" y="5620055"/>
            <a:ext cx="947738" cy="2381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205" name="Group 64">
            <a:extLst>
              <a:ext uri="{FF2B5EF4-FFF2-40B4-BE49-F238E27FC236}">
                <a16:creationId xmlns:a16="http://schemas.microsoft.com/office/drawing/2014/main" id="{8FFE31C6-9F0F-5012-11B2-0630B38D9049}"/>
              </a:ext>
            </a:extLst>
          </p:cNvPr>
          <p:cNvGrpSpPr>
            <a:grpSpLocks/>
          </p:cNvGrpSpPr>
          <p:nvPr/>
        </p:nvGrpSpPr>
        <p:grpSpPr bwMode="auto">
          <a:xfrm>
            <a:off x="1028704" y="5405743"/>
            <a:ext cx="1109663" cy="227410"/>
            <a:chOff x="332" y="2224"/>
            <a:chExt cx="932" cy="191"/>
          </a:xfrm>
        </p:grpSpPr>
        <p:sp>
          <p:nvSpPr>
            <p:cNvPr id="206" name="Rectangle 65">
              <a:extLst>
                <a:ext uri="{FF2B5EF4-FFF2-40B4-BE49-F238E27FC236}">
                  <a16:creationId xmlns:a16="http://schemas.microsoft.com/office/drawing/2014/main" id="{220E05C3-D3F0-8D26-8A7A-9D70E3C3E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7" name="Rectangle 66">
              <a:extLst>
                <a:ext uri="{FF2B5EF4-FFF2-40B4-BE49-F238E27FC236}">
                  <a16:creationId xmlns:a16="http://schemas.microsoft.com/office/drawing/2014/main" id="{CE0B62A9-5B2F-8869-59F9-C86242565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08" name="Rectangle 67">
              <a:extLst>
                <a:ext uri="{FF2B5EF4-FFF2-40B4-BE49-F238E27FC236}">
                  <a16:creationId xmlns:a16="http://schemas.microsoft.com/office/drawing/2014/main" id="{F2FB734E-A1EE-F38D-1F9E-5CD4311DD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09" name="Rectangle 68">
              <a:extLst>
                <a:ext uri="{FF2B5EF4-FFF2-40B4-BE49-F238E27FC236}">
                  <a16:creationId xmlns:a16="http://schemas.microsoft.com/office/drawing/2014/main" id="{7A6EA943-4D58-7C52-8B45-7E374300F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10" name="Rectangle 69">
              <a:extLst>
                <a:ext uri="{FF2B5EF4-FFF2-40B4-BE49-F238E27FC236}">
                  <a16:creationId xmlns:a16="http://schemas.microsoft.com/office/drawing/2014/main" id="{BFF0D990-EFAF-32CA-C213-0D768D23D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11" name="Line 70">
              <a:extLst>
                <a:ext uri="{FF2B5EF4-FFF2-40B4-BE49-F238E27FC236}">
                  <a16:creationId xmlns:a16="http://schemas.microsoft.com/office/drawing/2014/main" id="{9A260863-4349-CABD-2A4D-CE32AFF1F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2" name="Line 71">
              <a:extLst>
                <a:ext uri="{FF2B5EF4-FFF2-40B4-BE49-F238E27FC236}">
                  <a16:creationId xmlns:a16="http://schemas.microsoft.com/office/drawing/2014/main" id="{CC59860D-75A0-C2B0-AB5C-904B8E160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13" name="Line 72">
              <a:extLst>
                <a:ext uri="{FF2B5EF4-FFF2-40B4-BE49-F238E27FC236}">
                  <a16:creationId xmlns:a16="http://schemas.microsoft.com/office/drawing/2014/main" id="{0801A5CB-9E28-BF37-CD32-A2DED6975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14" name="Group 73">
            <a:extLst>
              <a:ext uri="{FF2B5EF4-FFF2-40B4-BE49-F238E27FC236}">
                <a16:creationId xmlns:a16="http://schemas.microsoft.com/office/drawing/2014/main" id="{556F1643-0D4F-2138-EBFA-18B1B59D26B6}"/>
              </a:ext>
            </a:extLst>
          </p:cNvPr>
          <p:cNvGrpSpPr>
            <a:grpSpLocks/>
          </p:cNvGrpSpPr>
          <p:nvPr/>
        </p:nvGrpSpPr>
        <p:grpSpPr bwMode="auto">
          <a:xfrm>
            <a:off x="1229922" y="5181905"/>
            <a:ext cx="906065" cy="227410"/>
            <a:chOff x="501" y="1990"/>
            <a:chExt cx="761" cy="191"/>
          </a:xfrm>
        </p:grpSpPr>
        <p:sp>
          <p:nvSpPr>
            <p:cNvPr id="215" name="Rectangle 74">
              <a:extLst>
                <a:ext uri="{FF2B5EF4-FFF2-40B4-BE49-F238E27FC236}">
                  <a16:creationId xmlns:a16="http://schemas.microsoft.com/office/drawing/2014/main" id="{3CE26EB2-CF58-E733-34FD-00EC53635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75">
              <a:extLst>
                <a:ext uri="{FF2B5EF4-FFF2-40B4-BE49-F238E27FC236}">
                  <a16:creationId xmlns:a16="http://schemas.microsoft.com/office/drawing/2014/main" id="{AA526F92-E55E-B7A2-FDBE-2E6A6B9DD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17" name="Rectangle 76">
              <a:extLst>
                <a:ext uri="{FF2B5EF4-FFF2-40B4-BE49-F238E27FC236}">
                  <a16:creationId xmlns:a16="http://schemas.microsoft.com/office/drawing/2014/main" id="{FCC1247E-B57D-46DE-01B4-633D3F76C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18" name="Rectangle 77">
              <a:extLst>
                <a:ext uri="{FF2B5EF4-FFF2-40B4-BE49-F238E27FC236}">
                  <a16:creationId xmlns:a16="http://schemas.microsoft.com/office/drawing/2014/main" id="{4F020329-EA9A-90F5-6A02-17DFF2B08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19" name="Line 78">
              <a:extLst>
                <a:ext uri="{FF2B5EF4-FFF2-40B4-BE49-F238E27FC236}">
                  <a16:creationId xmlns:a16="http://schemas.microsoft.com/office/drawing/2014/main" id="{77A83FF7-434B-4FC5-4783-D178EE0C7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0" name="Line 79">
              <a:extLst>
                <a:ext uri="{FF2B5EF4-FFF2-40B4-BE49-F238E27FC236}">
                  <a16:creationId xmlns:a16="http://schemas.microsoft.com/office/drawing/2014/main" id="{125CE632-C3BE-426E-3A29-EADC105E9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21" name="Group 80">
            <a:extLst>
              <a:ext uri="{FF2B5EF4-FFF2-40B4-BE49-F238E27FC236}">
                <a16:creationId xmlns:a16="http://schemas.microsoft.com/office/drawing/2014/main" id="{0F66DE0C-509F-94BB-B023-E0C2A8884C65}"/>
              </a:ext>
            </a:extLst>
          </p:cNvPr>
          <p:cNvGrpSpPr>
            <a:grpSpLocks/>
          </p:cNvGrpSpPr>
          <p:nvPr/>
        </p:nvGrpSpPr>
        <p:grpSpPr bwMode="auto">
          <a:xfrm>
            <a:off x="1457330" y="4950924"/>
            <a:ext cx="667941" cy="227410"/>
            <a:chOff x="645" y="1734"/>
            <a:chExt cx="561" cy="191"/>
          </a:xfrm>
        </p:grpSpPr>
        <p:sp>
          <p:nvSpPr>
            <p:cNvPr id="222" name="Rectangle 81">
              <a:extLst>
                <a:ext uri="{FF2B5EF4-FFF2-40B4-BE49-F238E27FC236}">
                  <a16:creationId xmlns:a16="http://schemas.microsoft.com/office/drawing/2014/main" id="{0628291E-2660-B258-0128-034875D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3" name="Rectangle 82">
              <a:extLst>
                <a:ext uri="{FF2B5EF4-FFF2-40B4-BE49-F238E27FC236}">
                  <a16:creationId xmlns:a16="http://schemas.microsoft.com/office/drawing/2014/main" id="{D7E2ECDF-AFA3-4CB9-4893-CD45F524C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24" name="Rectangle 83">
              <a:extLst>
                <a:ext uri="{FF2B5EF4-FFF2-40B4-BE49-F238E27FC236}">
                  <a16:creationId xmlns:a16="http://schemas.microsoft.com/office/drawing/2014/main" id="{3BBFFEBD-3E86-ABD2-8DC6-852E01241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25" name="Line 84">
              <a:extLst>
                <a:ext uri="{FF2B5EF4-FFF2-40B4-BE49-F238E27FC236}">
                  <a16:creationId xmlns:a16="http://schemas.microsoft.com/office/drawing/2014/main" id="{B820948D-A3D4-2C9E-100E-FD2CE5C9D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26" name="Group 85">
            <a:extLst>
              <a:ext uri="{FF2B5EF4-FFF2-40B4-BE49-F238E27FC236}">
                <a16:creationId xmlns:a16="http://schemas.microsoft.com/office/drawing/2014/main" id="{75B877EB-824B-702C-4682-7B7C4AC16BDF}"/>
              </a:ext>
            </a:extLst>
          </p:cNvPr>
          <p:cNvGrpSpPr>
            <a:grpSpLocks/>
          </p:cNvGrpSpPr>
          <p:nvPr/>
        </p:nvGrpSpPr>
        <p:grpSpPr bwMode="auto">
          <a:xfrm>
            <a:off x="1612111" y="4717561"/>
            <a:ext cx="509588" cy="226219"/>
            <a:chOff x="780" y="1553"/>
            <a:chExt cx="428" cy="190"/>
          </a:xfrm>
        </p:grpSpPr>
        <p:sp>
          <p:nvSpPr>
            <p:cNvPr id="227" name="Rectangle 86">
              <a:extLst>
                <a:ext uri="{FF2B5EF4-FFF2-40B4-BE49-F238E27FC236}">
                  <a16:creationId xmlns:a16="http://schemas.microsoft.com/office/drawing/2014/main" id="{AFD8DDF1-1779-CB89-9837-AD804935A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Rectangle 87">
              <a:extLst>
                <a:ext uri="{FF2B5EF4-FFF2-40B4-BE49-F238E27FC236}">
                  <a16:creationId xmlns:a16="http://schemas.microsoft.com/office/drawing/2014/main" id="{5BAD2F09-FFDB-90BF-9F47-7D48C57F7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229" name="Group 88">
            <a:extLst>
              <a:ext uri="{FF2B5EF4-FFF2-40B4-BE49-F238E27FC236}">
                <a16:creationId xmlns:a16="http://schemas.microsoft.com/office/drawing/2014/main" id="{8194651B-D168-3B6F-11D9-64707EBF956D}"/>
              </a:ext>
            </a:extLst>
          </p:cNvPr>
          <p:cNvGrpSpPr>
            <a:grpSpLocks/>
          </p:cNvGrpSpPr>
          <p:nvPr/>
        </p:nvGrpSpPr>
        <p:grpSpPr bwMode="auto">
          <a:xfrm>
            <a:off x="5155412" y="4382995"/>
            <a:ext cx="1040606" cy="788194"/>
            <a:chOff x="3601" y="168"/>
            <a:chExt cx="874" cy="662"/>
          </a:xfrm>
        </p:grpSpPr>
        <p:sp>
          <p:nvSpPr>
            <p:cNvPr id="230" name="Rectangle 89">
              <a:extLst>
                <a:ext uri="{FF2B5EF4-FFF2-40B4-BE49-F238E27FC236}">
                  <a16:creationId xmlns:a16="http://schemas.microsoft.com/office/drawing/2014/main" id="{E8E4AEB7-B152-46D4-926B-475B792B9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1" name="Rectangle 90">
              <a:extLst>
                <a:ext uri="{FF2B5EF4-FFF2-40B4-BE49-F238E27FC236}">
                  <a16:creationId xmlns:a16="http://schemas.microsoft.com/office/drawing/2014/main" id="{15460C40-CB1E-EF3C-373D-FA750123F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ysClr val="window" lastClr="FFFFFF"/>
            </a:solidFill>
            <a:ln w="2857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2" name="Line 91">
              <a:extLst>
                <a:ext uri="{FF2B5EF4-FFF2-40B4-BE49-F238E27FC236}">
                  <a16:creationId xmlns:a16="http://schemas.microsoft.com/office/drawing/2014/main" id="{A4FEEA0F-5EEE-D3AF-5B32-3573A6F28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33" name="Text Box 92">
              <a:extLst>
                <a:ext uri="{FF2B5EF4-FFF2-40B4-BE49-F238E27FC236}">
                  <a16:creationId xmlns:a16="http://schemas.microsoft.com/office/drawing/2014/main" id="{1A14195E-BAED-0170-D54F-20263D807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</a:p>
          </p:txBody>
        </p:sp>
        <p:sp>
          <p:nvSpPr>
            <p:cNvPr id="234" name="Line 93">
              <a:extLst>
                <a:ext uri="{FF2B5EF4-FFF2-40B4-BE49-F238E27FC236}">
                  <a16:creationId xmlns:a16="http://schemas.microsoft.com/office/drawing/2014/main" id="{40C73406-47D1-E40D-3A27-7CA5EF526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35" name="Group 94">
            <a:extLst>
              <a:ext uri="{FF2B5EF4-FFF2-40B4-BE49-F238E27FC236}">
                <a16:creationId xmlns:a16="http://schemas.microsoft.com/office/drawing/2014/main" id="{A9E9ADB8-F677-C66C-1EB3-3DF7A95699D2}"/>
              </a:ext>
            </a:extLst>
          </p:cNvPr>
          <p:cNvGrpSpPr>
            <a:grpSpLocks/>
          </p:cNvGrpSpPr>
          <p:nvPr/>
        </p:nvGrpSpPr>
        <p:grpSpPr bwMode="auto">
          <a:xfrm>
            <a:off x="5280428" y="2963771"/>
            <a:ext cx="1040606" cy="566737"/>
            <a:chOff x="4696" y="597"/>
            <a:chExt cx="874" cy="476"/>
          </a:xfrm>
        </p:grpSpPr>
        <p:sp>
          <p:nvSpPr>
            <p:cNvPr id="236" name="Rectangle 95">
              <a:extLst>
                <a:ext uri="{FF2B5EF4-FFF2-40B4-BE49-F238E27FC236}">
                  <a16:creationId xmlns:a16="http://schemas.microsoft.com/office/drawing/2014/main" id="{02A7410D-FA44-9469-7003-A4FCE1CF7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7" name="Rectangle 96">
              <a:extLst>
                <a:ext uri="{FF2B5EF4-FFF2-40B4-BE49-F238E27FC236}">
                  <a16:creationId xmlns:a16="http://schemas.microsoft.com/office/drawing/2014/main" id="{E7EB68B8-5705-DB3E-F471-3CF3833B6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ysClr val="window" lastClr="FFFFFF"/>
            </a:solidFill>
            <a:ln w="2857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8" name="Line 97">
              <a:extLst>
                <a:ext uri="{FF2B5EF4-FFF2-40B4-BE49-F238E27FC236}">
                  <a16:creationId xmlns:a16="http://schemas.microsoft.com/office/drawing/2014/main" id="{C3F099C1-F2D7-5CD3-6549-D6C27F7FA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39" name="Text Box 98">
              <a:extLst>
                <a:ext uri="{FF2B5EF4-FFF2-40B4-BE49-F238E27FC236}">
                  <a16:creationId xmlns:a16="http://schemas.microsoft.com/office/drawing/2014/main" id="{D5489AF1-0DD6-FF01-D043-F1FF336DF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</a:p>
          </p:txBody>
        </p:sp>
      </p:grpSp>
      <p:sp>
        <p:nvSpPr>
          <p:cNvPr id="240" name="Freeform 114">
            <a:extLst>
              <a:ext uri="{FF2B5EF4-FFF2-40B4-BE49-F238E27FC236}">
                <a16:creationId xmlns:a16="http://schemas.microsoft.com/office/drawing/2014/main" id="{D029B988-E23D-80B5-0DD8-A5DBC2923655}"/>
              </a:ext>
            </a:extLst>
          </p:cNvPr>
          <p:cNvSpPr>
            <a:spLocks/>
          </p:cNvSpPr>
          <p:nvPr/>
        </p:nvSpPr>
        <p:spPr bwMode="auto">
          <a:xfrm>
            <a:off x="2286004" y="1660035"/>
            <a:ext cx="3948113" cy="4120754"/>
          </a:xfrm>
          <a:custGeom>
            <a:avLst/>
            <a:gdLst>
              <a:gd name="T0" fmla="*/ 2147483646 w 3316"/>
              <a:gd name="T1" fmla="*/ 0 h 3461"/>
              <a:gd name="T2" fmla="*/ 2147483646 w 3316"/>
              <a:gd name="T3" fmla="*/ 2147483646 h 3461"/>
              <a:gd name="T4" fmla="*/ 2147483646 w 3316"/>
              <a:gd name="T5" fmla="*/ 2147483646 h 3461"/>
              <a:gd name="T6" fmla="*/ 2147483646 w 3316"/>
              <a:gd name="T7" fmla="*/ 2147483646 h 3461"/>
              <a:gd name="T8" fmla="*/ 2147483646 w 3316"/>
              <a:gd name="T9" fmla="*/ 2147483646 h 3461"/>
              <a:gd name="T10" fmla="*/ 2147483646 w 3316"/>
              <a:gd name="T11" fmla="*/ 2147483646 h 3461"/>
              <a:gd name="T12" fmla="*/ 2147483646 w 3316"/>
              <a:gd name="T13" fmla="*/ 2147483646 h 3461"/>
              <a:gd name="T14" fmla="*/ 2147483646 w 3316"/>
              <a:gd name="T15" fmla="*/ 2147483646 h 3461"/>
              <a:gd name="T16" fmla="*/ 2147483646 w 3316"/>
              <a:gd name="T17" fmla="*/ 2147483646 h 3461"/>
              <a:gd name="T18" fmla="*/ 2147483646 w 3316"/>
              <a:gd name="T19" fmla="*/ 2147483646 h 3461"/>
              <a:gd name="T20" fmla="*/ 2147483646 w 3316"/>
              <a:gd name="T21" fmla="*/ 2147483646 h 3461"/>
              <a:gd name="T22" fmla="*/ 0 w 3316"/>
              <a:gd name="T23" fmla="*/ 2147483646 h 3461"/>
              <a:gd name="T24" fmla="*/ 0 w 3316"/>
              <a:gd name="T25" fmla="*/ 2147483646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241" name="Group 115">
            <a:extLst>
              <a:ext uri="{FF2B5EF4-FFF2-40B4-BE49-F238E27FC236}">
                <a16:creationId xmlns:a16="http://schemas.microsoft.com/office/drawing/2014/main" id="{B83EAA88-390E-8980-BCBD-C36D83001EE8}"/>
              </a:ext>
            </a:extLst>
          </p:cNvPr>
          <p:cNvGrpSpPr>
            <a:grpSpLocks/>
          </p:cNvGrpSpPr>
          <p:nvPr/>
        </p:nvGrpSpPr>
        <p:grpSpPr bwMode="auto">
          <a:xfrm>
            <a:off x="4093373" y="4669936"/>
            <a:ext cx="1109663" cy="227410"/>
            <a:chOff x="332" y="2224"/>
            <a:chExt cx="932" cy="191"/>
          </a:xfrm>
        </p:grpSpPr>
        <p:sp>
          <p:nvSpPr>
            <p:cNvPr id="242" name="Rectangle 116">
              <a:extLst>
                <a:ext uri="{FF2B5EF4-FFF2-40B4-BE49-F238E27FC236}">
                  <a16:creationId xmlns:a16="http://schemas.microsoft.com/office/drawing/2014/main" id="{3F7BDB0D-FA17-0FD3-7948-E5AA7C0F7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43" name="Rectangle 117">
              <a:extLst>
                <a:ext uri="{FF2B5EF4-FFF2-40B4-BE49-F238E27FC236}">
                  <a16:creationId xmlns:a16="http://schemas.microsoft.com/office/drawing/2014/main" id="{7B5832E5-6A00-D77C-FC90-0D98C8290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44" name="Rectangle 118">
              <a:extLst>
                <a:ext uri="{FF2B5EF4-FFF2-40B4-BE49-F238E27FC236}">
                  <a16:creationId xmlns:a16="http://schemas.microsoft.com/office/drawing/2014/main" id="{323A2ECD-E16C-0FE6-8A11-76A00E5B7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45" name="Rectangle 119">
              <a:extLst>
                <a:ext uri="{FF2B5EF4-FFF2-40B4-BE49-F238E27FC236}">
                  <a16:creationId xmlns:a16="http://schemas.microsoft.com/office/drawing/2014/main" id="{75AFEF40-2D3B-3487-AC22-9E5804C35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6" name="Rectangle 120">
              <a:extLst>
                <a:ext uri="{FF2B5EF4-FFF2-40B4-BE49-F238E27FC236}">
                  <a16:creationId xmlns:a16="http://schemas.microsoft.com/office/drawing/2014/main" id="{B70EDCAF-8607-50BB-F5C6-05206F55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47" name="Line 121">
              <a:extLst>
                <a:ext uri="{FF2B5EF4-FFF2-40B4-BE49-F238E27FC236}">
                  <a16:creationId xmlns:a16="http://schemas.microsoft.com/office/drawing/2014/main" id="{2E4EA8B5-E364-6C82-8136-90AE7F003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48" name="Line 122">
              <a:extLst>
                <a:ext uri="{FF2B5EF4-FFF2-40B4-BE49-F238E27FC236}">
                  <a16:creationId xmlns:a16="http://schemas.microsoft.com/office/drawing/2014/main" id="{DCF23A27-2C6E-E39F-6D23-7542937AE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49" name="Line 123">
              <a:extLst>
                <a:ext uri="{FF2B5EF4-FFF2-40B4-BE49-F238E27FC236}">
                  <a16:creationId xmlns:a16="http://schemas.microsoft.com/office/drawing/2014/main" id="{E8D2253B-1798-0106-423D-AB00D7441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50" name="Group 124">
            <a:extLst>
              <a:ext uri="{FF2B5EF4-FFF2-40B4-BE49-F238E27FC236}">
                <a16:creationId xmlns:a16="http://schemas.microsoft.com/office/drawing/2014/main" id="{623BCD6D-94E6-50EB-B0ED-C124E6796762}"/>
              </a:ext>
            </a:extLst>
          </p:cNvPr>
          <p:cNvGrpSpPr>
            <a:grpSpLocks/>
          </p:cNvGrpSpPr>
          <p:nvPr/>
        </p:nvGrpSpPr>
        <p:grpSpPr bwMode="auto">
          <a:xfrm>
            <a:off x="4287447" y="4440145"/>
            <a:ext cx="906065" cy="227409"/>
            <a:chOff x="501" y="1990"/>
            <a:chExt cx="761" cy="191"/>
          </a:xfrm>
        </p:grpSpPr>
        <p:sp>
          <p:nvSpPr>
            <p:cNvPr id="251" name="Rectangle 125">
              <a:extLst>
                <a:ext uri="{FF2B5EF4-FFF2-40B4-BE49-F238E27FC236}">
                  <a16:creationId xmlns:a16="http://schemas.microsoft.com/office/drawing/2014/main" id="{984C9876-98A7-344E-4348-40F8AA2B3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2" name="Rectangle 126">
              <a:extLst>
                <a:ext uri="{FF2B5EF4-FFF2-40B4-BE49-F238E27FC236}">
                  <a16:creationId xmlns:a16="http://schemas.microsoft.com/office/drawing/2014/main" id="{87D298C1-FE5B-99FF-1E5E-38395B1E0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53" name="Rectangle 127">
              <a:extLst>
                <a:ext uri="{FF2B5EF4-FFF2-40B4-BE49-F238E27FC236}">
                  <a16:creationId xmlns:a16="http://schemas.microsoft.com/office/drawing/2014/main" id="{75CDB336-408C-FAA9-CDE3-31E1F2522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54" name="Rectangle 128">
              <a:extLst>
                <a:ext uri="{FF2B5EF4-FFF2-40B4-BE49-F238E27FC236}">
                  <a16:creationId xmlns:a16="http://schemas.microsoft.com/office/drawing/2014/main" id="{0A823139-1F5E-BDE8-6A8A-52398080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55" name="Line 129">
              <a:extLst>
                <a:ext uri="{FF2B5EF4-FFF2-40B4-BE49-F238E27FC236}">
                  <a16:creationId xmlns:a16="http://schemas.microsoft.com/office/drawing/2014/main" id="{2903B975-6DCC-6950-EAFA-2A23FA93A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56" name="Line 130">
              <a:extLst>
                <a:ext uri="{FF2B5EF4-FFF2-40B4-BE49-F238E27FC236}">
                  <a16:creationId xmlns:a16="http://schemas.microsoft.com/office/drawing/2014/main" id="{DBF34BCD-98E2-99D2-4422-32171A32F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57" name="Group 140">
            <a:extLst>
              <a:ext uri="{FF2B5EF4-FFF2-40B4-BE49-F238E27FC236}">
                <a16:creationId xmlns:a16="http://schemas.microsoft.com/office/drawing/2014/main" id="{7BD19E9E-7203-686A-5D31-061385B0219B}"/>
              </a:ext>
            </a:extLst>
          </p:cNvPr>
          <p:cNvGrpSpPr>
            <a:grpSpLocks/>
          </p:cNvGrpSpPr>
          <p:nvPr/>
        </p:nvGrpSpPr>
        <p:grpSpPr bwMode="auto">
          <a:xfrm>
            <a:off x="6366278" y="4715180"/>
            <a:ext cx="906065" cy="227410"/>
            <a:chOff x="501" y="1990"/>
            <a:chExt cx="761" cy="191"/>
          </a:xfrm>
        </p:grpSpPr>
        <p:sp>
          <p:nvSpPr>
            <p:cNvPr id="258" name="Rectangle 141">
              <a:extLst>
                <a:ext uri="{FF2B5EF4-FFF2-40B4-BE49-F238E27FC236}">
                  <a16:creationId xmlns:a16="http://schemas.microsoft.com/office/drawing/2014/main" id="{65DF7128-363C-E8DD-309F-EE8AC8337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9" name="Rectangle 142">
              <a:extLst>
                <a:ext uri="{FF2B5EF4-FFF2-40B4-BE49-F238E27FC236}">
                  <a16:creationId xmlns:a16="http://schemas.microsoft.com/office/drawing/2014/main" id="{105FA094-21D0-5B64-554C-E746ADD1B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60" name="Rectangle 143">
              <a:extLst>
                <a:ext uri="{FF2B5EF4-FFF2-40B4-BE49-F238E27FC236}">
                  <a16:creationId xmlns:a16="http://schemas.microsoft.com/office/drawing/2014/main" id="{D02F7CC2-278E-36C5-F132-0E147B02C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61" name="Rectangle 144">
              <a:extLst>
                <a:ext uri="{FF2B5EF4-FFF2-40B4-BE49-F238E27FC236}">
                  <a16:creationId xmlns:a16="http://schemas.microsoft.com/office/drawing/2014/main" id="{A389C309-3074-078B-23AF-612201E31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62" name="Line 145">
              <a:extLst>
                <a:ext uri="{FF2B5EF4-FFF2-40B4-BE49-F238E27FC236}">
                  <a16:creationId xmlns:a16="http://schemas.microsoft.com/office/drawing/2014/main" id="{9D9FF8CF-2E6A-0872-1CDB-3293018F5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63" name="Line 146">
              <a:extLst>
                <a:ext uri="{FF2B5EF4-FFF2-40B4-BE49-F238E27FC236}">
                  <a16:creationId xmlns:a16="http://schemas.microsoft.com/office/drawing/2014/main" id="{3099CBD2-187C-49ED-7769-4690BA594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4C47F9A6-B203-E5A3-A2A9-2DE4E15FD61A}"/>
              </a:ext>
            </a:extLst>
          </p:cNvPr>
          <p:cNvGrpSpPr>
            <a:grpSpLocks/>
          </p:cNvGrpSpPr>
          <p:nvPr/>
        </p:nvGrpSpPr>
        <p:grpSpPr bwMode="auto">
          <a:xfrm>
            <a:off x="1618064" y="2508951"/>
            <a:ext cx="1109663" cy="227409"/>
            <a:chOff x="332" y="2224"/>
            <a:chExt cx="932" cy="191"/>
          </a:xfrm>
        </p:grpSpPr>
        <p:sp>
          <p:nvSpPr>
            <p:cNvPr id="265" name="Rectangle 157">
              <a:extLst>
                <a:ext uri="{FF2B5EF4-FFF2-40B4-BE49-F238E27FC236}">
                  <a16:creationId xmlns:a16="http://schemas.microsoft.com/office/drawing/2014/main" id="{3D7D37D7-9817-042A-830A-F74E1243B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66" name="Rectangle 158">
              <a:extLst>
                <a:ext uri="{FF2B5EF4-FFF2-40B4-BE49-F238E27FC236}">
                  <a16:creationId xmlns:a16="http://schemas.microsoft.com/office/drawing/2014/main" id="{D197656B-106F-9912-3B35-2EA537E1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67" name="Rectangle 159">
              <a:extLst>
                <a:ext uri="{FF2B5EF4-FFF2-40B4-BE49-F238E27FC236}">
                  <a16:creationId xmlns:a16="http://schemas.microsoft.com/office/drawing/2014/main" id="{F048FB2A-6D93-E8C8-4911-EF1B41BC1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68" name="Rectangle 160">
              <a:extLst>
                <a:ext uri="{FF2B5EF4-FFF2-40B4-BE49-F238E27FC236}">
                  <a16:creationId xmlns:a16="http://schemas.microsoft.com/office/drawing/2014/main" id="{B14322DF-F621-589E-A70C-F36DF252C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9" name="Rectangle 161">
              <a:extLst>
                <a:ext uri="{FF2B5EF4-FFF2-40B4-BE49-F238E27FC236}">
                  <a16:creationId xmlns:a16="http://schemas.microsoft.com/office/drawing/2014/main" id="{5A453671-F96A-B0FB-3679-225A01623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70" name="Line 162">
              <a:extLst>
                <a:ext uri="{FF2B5EF4-FFF2-40B4-BE49-F238E27FC236}">
                  <a16:creationId xmlns:a16="http://schemas.microsoft.com/office/drawing/2014/main" id="{C74FB3CB-F60F-A3DD-3C99-F71D18069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71" name="Line 163">
              <a:extLst>
                <a:ext uri="{FF2B5EF4-FFF2-40B4-BE49-F238E27FC236}">
                  <a16:creationId xmlns:a16="http://schemas.microsoft.com/office/drawing/2014/main" id="{2BAFA83B-2F9F-172E-4103-20E307D61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72" name="Line 164">
              <a:extLst>
                <a:ext uri="{FF2B5EF4-FFF2-40B4-BE49-F238E27FC236}">
                  <a16:creationId xmlns:a16="http://schemas.microsoft.com/office/drawing/2014/main" id="{CA5CF2FB-7A76-C0F2-E2A8-C2DE47B91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273" name="Text Box 166">
            <a:extLst>
              <a:ext uri="{FF2B5EF4-FFF2-40B4-BE49-F238E27FC236}">
                <a16:creationId xmlns:a16="http://schemas.microsoft.com/office/drawing/2014/main" id="{8717B554-753E-7B52-751C-FF6783712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624" y="5318827"/>
            <a:ext cx="67646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dirty="0">
                <a:solidFill>
                  <a:prstClr val="black"/>
                </a:solidFill>
                <a:latin typeface="+mj-lt"/>
              </a:rPr>
              <a:t>router</a:t>
            </a:r>
            <a:endParaRPr lang="en-US" alt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74" name="Text Box 167">
            <a:extLst>
              <a:ext uri="{FF2B5EF4-FFF2-40B4-BE49-F238E27FC236}">
                <a16:creationId xmlns:a16="http://schemas.microsoft.com/office/drawing/2014/main" id="{2F27D817-6998-571B-A46D-BE86B608B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6339" y="3609486"/>
            <a:ext cx="68627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dirty="0">
                <a:solidFill>
                  <a:prstClr val="black"/>
                </a:solidFill>
                <a:latin typeface="+mj-lt"/>
              </a:rPr>
              <a:t>switch</a:t>
            </a:r>
            <a:endParaRPr lang="en-US" alt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75" name="Text Box 174">
            <a:extLst>
              <a:ext uri="{FF2B5EF4-FFF2-40B4-BE49-F238E27FC236}">
                <a16:creationId xmlns:a16="http://schemas.microsoft.com/office/drawing/2014/main" id="{9B2B8CB5-8B9F-DDC3-12EB-5D62AAD64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852" y="1779098"/>
            <a:ext cx="7189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+mj-lt"/>
              </a:rPr>
              <a:t>message</a:t>
            </a:r>
          </a:p>
        </p:txBody>
      </p:sp>
      <p:grpSp>
        <p:nvGrpSpPr>
          <p:cNvPr id="276" name="Group 175">
            <a:extLst>
              <a:ext uri="{FF2B5EF4-FFF2-40B4-BE49-F238E27FC236}">
                <a16:creationId xmlns:a16="http://schemas.microsoft.com/office/drawing/2014/main" id="{C5403AC7-D26B-8831-7E0E-87BF99A8B9D6}"/>
              </a:ext>
            </a:extLst>
          </p:cNvPr>
          <p:cNvGrpSpPr>
            <a:grpSpLocks/>
          </p:cNvGrpSpPr>
          <p:nvPr/>
        </p:nvGrpSpPr>
        <p:grpSpPr bwMode="auto">
          <a:xfrm>
            <a:off x="2237189" y="1799340"/>
            <a:ext cx="509588" cy="226219"/>
            <a:chOff x="780" y="1553"/>
            <a:chExt cx="428" cy="190"/>
          </a:xfrm>
        </p:grpSpPr>
        <p:sp>
          <p:nvSpPr>
            <p:cNvPr id="277" name="Rectangle 176">
              <a:extLst>
                <a:ext uri="{FF2B5EF4-FFF2-40B4-BE49-F238E27FC236}">
                  <a16:creationId xmlns:a16="http://schemas.microsoft.com/office/drawing/2014/main" id="{BDE1CE53-2871-C4DD-F53D-6D4D3BBD8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78" name="Rectangle 177">
              <a:extLst>
                <a:ext uri="{FF2B5EF4-FFF2-40B4-BE49-F238E27FC236}">
                  <a16:creationId xmlns:a16="http://schemas.microsoft.com/office/drawing/2014/main" id="{8AB8A7E5-B36E-7069-9CFD-1104CCFF3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279" name="Group 185">
            <a:extLst>
              <a:ext uri="{FF2B5EF4-FFF2-40B4-BE49-F238E27FC236}">
                <a16:creationId xmlns:a16="http://schemas.microsoft.com/office/drawing/2014/main" id="{4D438B8F-5EFC-72CA-1362-27C72E84A3F2}"/>
              </a:ext>
            </a:extLst>
          </p:cNvPr>
          <p:cNvGrpSpPr>
            <a:grpSpLocks/>
          </p:cNvGrpSpPr>
          <p:nvPr/>
        </p:nvGrpSpPr>
        <p:grpSpPr bwMode="auto">
          <a:xfrm>
            <a:off x="2060978" y="2039846"/>
            <a:ext cx="677465" cy="226219"/>
            <a:chOff x="1851" y="2046"/>
            <a:chExt cx="569" cy="190"/>
          </a:xfrm>
        </p:grpSpPr>
        <p:grpSp>
          <p:nvGrpSpPr>
            <p:cNvPr id="280" name="Group 179">
              <a:extLst>
                <a:ext uri="{FF2B5EF4-FFF2-40B4-BE49-F238E27FC236}">
                  <a16:creationId xmlns:a16="http://schemas.microsoft.com/office/drawing/2014/main" id="{9A65E25A-BB1A-EB0A-DD58-4D1176E2A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284" name="Rectangle 180">
                <a:extLst>
                  <a:ext uri="{FF2B5EF4-FFF2-40B4-BE49-F238E27FC236}">
                    <a16:creationId xmlns:a16="http://schemas.microsoft.com/office/drawing/2014/main" id="{BB5B464B-D8C4-ABC0-70F3-E6B2D8785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85" name="Rectangle 181">
                <a:extLst>
                  <a:ext uri="{FF2B5EF4-FFF2-40B4-BE49-F238E27FC236}">
                    <a16:creationId xmlns:a16="http://schemas.microsoft.com/office/drawing/2014/main" id="{EDE36D2B-9E3E-072D-E290-8F52A0292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350" b="0" i="0" u="none" strike="noStrike" kern="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281" name="Group 182">
              <a:extLst>
                <a:ext uri="{FF2B5EF4-FFF2-40B4-BE49-F238E27FC236}">
                  <a16:creationId xmlns:a16="http://schemas.microsoft.com/office/drawing/2014/main" id="{B0AAB3C9-7E34-0935-382B-21D9F5638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282" name="Rectangle 183">
                <a:extLst>
                  <a:ext uri="{FF2B5EF4-FFF2-40B4-BE49-F238E27FC236}">
                    <a16:creationId xmlns:a16="http://schemas.microsoft.com/office/drawing/2014/main" id="{9AA393E3-D87E-2064-B1D6-A20DCA470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83" name="Rectangle 184">
                <a:extLst>
                  <a:ext uri="{FF2B5EF4-FFF2-40B4-BE49-F238E27FC236}">
                    <a16:creationId xmlns:a16="http://schemas.microsoft.com/office/drawing/2014/main" id="{019302D4-4AF4-0B5C-82D2-D9BFB57BD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5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86" name="Group 187">
            <a:extLst>
              <a:ext uri="{FF2B5EF4-FFF2-40B4-BE49-F238E27FC236}">
                <a16:creationId xmlns:a16="http://schemas.microsoft.com/office/drawing/2014/main" id="{D60FAA6B-EBCE-6650-C52E-FD6EAA19175C}"/>
              </a:ext>
            </a:extLst>
          </p:cNvPr>
          <p:cNvGrpSpPr>
            <a:grpSpLocks/>
          </p:cNvGrpSpPr>
          <p:nvPr/>
        </p:nvGrpSpPr>
        <p:grpSpPr bwMode="auto">
          <a:xfrm>
            <a:off x="1840712" y="2282733"/>
            <a:ext cx="226219" cy="219075"/>
            <a:chOff x="1962" y="2058"/>
            <a:chExt cx="190" cy="184"/>
          </a:xfrm>
        </p:grpSpPr>
        <p:sp>
          <p:nvSpPr>
            <p:cNvPr id="287" name="Rectangle 188">
              <a:extLst>
                <a:ext uri="{FF2B5EF4-FFF2-40B4-BE49-F238E27FC236}">
                  <a16:creationId xmlns:a16="http://schemas.microsoft.com/office/drawing/2014/main" id="{7C6831A9-0FD5-9D7F-048D-C13D14575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8" name="Rectangle 189">
              <a:extLst>
                <a:ext uri="{FF2B5EF4-FFF2-40B4-BE49-F238E27FC236}">
                  <a16:creationId xmlns:a16="http://schemas.microsoft.com/office/drawing/2014/main" id="{B587FDF3-5ED4-7B05-CDDC-D1E484435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350" b="0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289" name="Text Box 7">
            <a:extLst>
              <a:ext uri="{FF2B5EF4-FFF2-40B4-BE49-F238E27FC236}">
                <a16:creationId xmlns:a16="http://schemas.microsoft.com/office/drawing/2014/main" id="{947278E8-E686-3DB9-CF5F-0BFF47748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77" y="2492283"/>
            <a:ext cx="5503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+mj-lt"/>
              </a:rPr>
              <a:t>frame</a:t>
            </a:r>
          </a:p>
        </p:txBody>
      </p:sp>
      <p:grpSp>
        <p:nvGrpSpPr>
          <p:cNvPr id="290" name="Group 187">
            <a:extLst>
              <a:ext uri="{FF2B5EF4-FFF2-40B4-BE49-F238E27FC236}">
                <a16:creationId xmlns:a16="http://schemas.microsoft.com/office/drawing/2014/main" id="{EA279DC0-4141-DFCB-56FD-92F448B2CCB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98037" y="4987834"/>
            <a:ext cx="602456" cy="578644"/>
            <a:chOff x="-44" y="1473"/>
            <a:chExt cx="981" cy="1105"/>
          </a:xfrm>
        </p:grpSpPr>
        <p:pic>
          <p:nvPicPr>
            <p:cNvPr id="291" name="Picture 188" descr="desktop_computer_stylized_medium">
              <a:extLst>
                <a:ext uri="{FF2B5EF4-FFF2-40B4-BE49-F238E27FC236}">
                  <a16:creationId xmlns:a16="http://schemas.microsoft.com/office/drawing/2014/main" id="{4C2E61FE-A29B-ADA3-CD30-372A2FF936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189">
              <a:extLst>
                <a:ext uri="{FF2B5EF4-FFF2-40B4-BE49-F238E27FC236}">
                  <a16:creationId xmlns:a16="http://schemas.microsoft.com/office/drawing/2014/main" id="{4F8F6C52-22F4-D344-C604-07452BE0DD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93" name="Group 190">
            <a:extLst>
              <a:ext uri="{FF2B5EF4-FFF2-40B4-BE49-F238E27FC236}">
                <a16:creationId xmlns:a16="http://schemas.microsoft.com/office/drawing/2014/main" id="{DCA1D31C-FC97-64FA-914F-99579F45E52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019556" y="2075565"/>
            <a:ext cx="602456" cy="578644"/>
            <a:chOff x="-44" y="1473"/>
            <a:chExt cx="981" cy="1105"/>
          </a:xfrm>
        </p:grpSpPr>
        <p:pic>
          <p:nvPicPr>
            <p:cNvPr id="294" name="Picture 191" descr="desktop_computer_stylized_medium">
              <a:extLst>
                <a:ext uri="{FF2B5EF4-FFF2-40B4-BE49-F238E27FC236}">
                  <a16:creationId xmlns:a16="http://schemas.microsoft.com/office/drawing/2014/main" id="{6B95B109-52BE-4BA1-A012-DAD3C6884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5" name="Freeform 192">
              <a:extLst>
                <a:ext uri="{FF2B5EF4-FFF2-40B4-BE49-F238E27FC236}">
                  <a16:creationId xmlns:a16="http://schemas.microsoft.com/office/drawing/2014/main" id="{F79B8698-480F-D324-4302-86943280CD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17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Protocols and Protocol Layers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Internet protocol stack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D05550D-2891-86BE-84A5-585AC5D1CD1D}"/>
              </a:ext>
            </a:extLst>
          </p:cNvPr>
          <p:cNvSpPr txBox="1">
            <a:spLocks noChangeArrowheads="1"/>
          </p:cNvSpPr>
          <p:nvPr/>
        </p:nvSpPr>
        <p:spPr>
          <a:xfrm>
            <a:off x="734538" y="2195840"/>
            <a:ext cx="5526562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application: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supporting network applications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IMAP, SMTP, HTTP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transport: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process-process data transfer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TCP, UDP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routing of datagrams from source to destination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IP, routing protocols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link: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data transfer between neighboring  network elements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Ethernet, 802.11 (</a:t>
            </a:r>
            <a:r>
              <a:rPr lang="en-US" altLang="en-US" sz="1800" dirty="0" err="1">
                <a:ea typeface="Arial" panose="020B0604020202020204" pitchFamily="34" charset="0"/>
              </a:rPr>
              <a:t>WiFi</a:t>
            </a:r>
            <a:r>
              <a:rPr lang="en-US" altLang="en-US" sz="1800" dirty="0">
                <a:ea typeface="Arial" panose="020B0604020202020204" pitchFamily="34" charset="0"/>
              </a:rPr>
              <a:t>), PPP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physical: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bits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on the wire”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474AF-E300-0D27-6C62-53079252DED1}"/>
              </a:ext>
            </a:extLst>
          </p:cNvPr>
          <p:cNvGrpSpPr/>
          <p:nvPr/>
        </p:nvGrpSpPr>
        <p:grpSpPr>
          <a:xfrm>
            <a:off x="6680201" y="2478366"/>
            <a:ext cx="1512094" cy="2720579"/>
            <a:chOff x="6451600" y="1727200"/>
            <a:chExt cx="2016125" cy="3627438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11914D4F-677E-DD5F-7AA7-E1C7D2C93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425" y="1727200"/>
              <a:ext cx="1892300" cy="35306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09B513CB-2B75-EEA6-2043-D72E433FF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0" y="1824038"/>
              <a:ext cx="1892300" cy="35306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7265415B-4070-504D-4994-D4F4B124C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6120" y="1920875"/>
              <a:ext cx="1857860" cy="33598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application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transport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network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link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physical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AC1613CE-4C6D-3A38-F87D-B0CD13049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251618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723F1E86-8DF0-F292-147A-15BDEFFB9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2210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4D59D46-0846-7E15-8ED1-07EF86E80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9322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B5FE21AA-4824-B5B3-98DF-E5F0F70AD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46434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80363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security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1F4FA68-A0B6-63BC-D78E-72E8F02B355B}"/>
              </a:ext>
            </a:extLst>
          </p:cNvPr>
          <p:cNvSpPr txBox="1">
            <a:spLocks noChangeArrowheads="1"/>
          </p:cNvSpPr>
          <p:nvPr/>
        </p:nvSpPr>
        <p:spPr>
          <a:xfrm>
            <a:off x="735135" y="1873066"/>
            <a:ext cx="7757123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field of network security:</a:t>
            </a:r>
          </a:p>
          <a:p>
            <a:pPr marL="511969" lvl="1" indent="-169069"/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how bad guys can attack computer networks</a:t>
            </a:r>
          </a:p>
          <a:p>
            <a:pPr marL="511969" lvl="1" indent="-169069"/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how we can defend networks against attacks</a:t>
            </a:r>
          </a:p>
          <a:p>
            <a:pPr marL="511969" lvl="1" indent="-169069"/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how to design architectures that are immune to attacks</a:t>
            </a:r>
          </a:p>
          <a:p>
            <a:pPr marL="215504" indent="-215504"/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Internet not originally designed with (much) security in mind</a:t>
            </a:r>
          </a:p>
          <a:p>
            <a:pPr marL="511969" lvl="1" indent="-169069"/>
            <a:r>
              <a:rPr lang="en-US" altLang="en-US" sz="2100" i="1" dirty="0">
                <a:solidFill>
                  <a:prstClr val="black"/>
                </a:solidFill>
                <a:ea typeface="Arial" panose="020B0604020202020204" pitchFamily="34" charset="0"/>
              </a:rPr>
              <a:t>original vision:</a:t>
            </a:r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a group of mutually trusting users attached to a transparent network” </a:t>
            </a:r>
            <a:r>
              <a:rPr lang="en-US" altLang="ja-JP" sz="2100" dirty="0">
                <a:solidFill>
                  <a:prstClr val="black"/>
                </a:solidFill>
                <a:ea typeface="ＭＳ Ｐゴシック" panose="020B0600070205080204" pitchFamily="34" charset="-128"/>
                <a:sym typeface="Wingdings" pitchFamily="2" charset="2"/>
              </a:rPr>
              <a:t></a:t>
            </a:r>
            <a:endParaRPr lang="en-US" altLang="ja-JP" sz="2100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  <a:p>
            <a:pPr marL="511969" lvl="1" indent="-169069"/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Internet protocol designers playing </a:t>
            </a:r>
            <a:r>
              <a:rPr lang="en-US" altLang="en-US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catch-up”</a:t>
            </a:r>
          </a:p>
          <a:p>
            <a:pPr marL="511969" lvl="1" indent="-169069"/>
            <a:r>
              <a:rPr lang="en-US" altLang="en-US" sz="2100" dirty="0">
                <a:solidFill>
                  <a:prstClr val="black"/>
                </a:solidFill>
                <a:ea typeface="Arial" panose="020B0604020202020204" pitchFamily="34" charset="0"/>
              </a:rPr>
              <a:t>security considerations in all layers!</a:t>
            </a:r>
          </a:p>
        </p:txBody>
      </p:sp>
    </p:spTree>
    <p:extLst>
      <p:ext uri="{BB962C8B-B14F-4D97-AF65-F5344CB8AC3E}">
        <p14:creationId xmlns:p14="http://schemas.microsoft.com/office/powerpoint/2010/main" val="2497383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security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0FF2FAB-E790-A4FB-069C-498DAB17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Bad guys: malware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547B47-B17B-FD20-BDC7-A8F7B75C9DA9}"/>
              </a:ext>
            </a:extLst>
          </p:cNvPr>
          <p:cNvSpPr txBox="1">
            <a:spLocks noChangeArrowheads="1"/>
          </p:cNvSpPr>
          <p:nvPr/>
        </p:nvSpPr>
        <p:spPr>
          <a:xfrm>
            <a:off x="683739" y="2184249"/>
            <a:ext cx="7757123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malware can get in host from:</a:t>
            </a:r>
            <a:endParaRPr lang="en-US" altLang="en-US" sz="210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 marL="511969" lvl="1" indent="-169069">
              <a:spcBef>
                <a:spcPts val="450"/>
              </a:spcBef>
            </a:pPr>
            <a:r>
              <a:rPr lang="en-US" altLang="en-US" sz="2100" i="1" dirty="0">
                <a:solidFill>
                  <a:srgbClr val="000099"/>
                </a:solidFill>
                <a:ea typeface="Arial" panose="020B0604020202020204" pitchFamily="34" charset="0"/>
              </a:rPr>
              <a:t>virus: </a:t>
            </a:r>
            <a:r>
              <a:rPr lang="en-US" altLang="en-US" sz="2100" dirty="0">
                <a:ea typeface="Arial" panose="020B0604020202020204" pitchFamily="34" charset="0"/>
              </a:rPr>
              <a:t>self-replicating infection by receiving/executing  object (e.g., e-mail attachment)</a:t>
            </a:r>
          </a:p>
          <a:p>
            <a:pPr marL="511969" lvl="1" indent="-169069">
              <a:spcBef>
                <a:spcPts val="450"/>
              </a:spcBef>
            </a:pPr>
            <a:r>
              <a:rPr lang="en-US" altLang="en-US" sz="2100" i="1" dirty="0">
                <a:solidFill>
                  <a:srgbClr val="000099"/>
                </a:solidFill>
                <a:ea typeface="Arial" panose="020B0604020202020204" pitchFamily="34" charset="0"/>
              </a:rPr>
              <a:t>worm: </a:t>
            </a:r>
            <a:r>
              <a:rPr lang="en-US" altLang="en-US" sz="2100" dirty="0">
                <a:ea typeface="Arial" panose="020B0604020202020204" pitchFamily="34" charset="0"/>
              </a:rPr>
              <a:t>self-replicating infection by passively receiving object that gets itself executed</a:t>
            </a:r>
          </a:p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spyware malware</a:t>
            </a:r>
            <a:r>
              <a:rPr lang="en-US" altLang="en-US" sz="2100" dirty="0">
                <a:ea typeface="ＭＳ Ｐゴシック" panose="020B0600070205080204" pitchFamily="34" charset="-128"/>
              </a:rPr>
              <a:t> can record keystrokes, web sites visited, upload info to collection site</a:t>
            </a:r>
          </a:p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infected host can be enrolled in </a:t>
            </a: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botnet,</a:t>
            </a:r>
            <a:r>
              <a:rPr lang="en-US" altLang="en-US" sz="2100" dirty="0">
                <a:ea typeface="ＭＳ Ｐゴシック" panose="020B0600070205080204" pitchFamily="34" charset="-128"/>
              </a:rPr>
              <a:t> used for spam or distributed denial of service  (DDoS) attacks</a:t>
            </a:r>
          </a:p>
        </p:txBody>
      </p:sp>
    </p:spTree>
    <p:extLst>
      <p:ext uri="{BB962C8B-B14F-4D97-AF65-F5344CB8AC3E}">
        <p14:creationId xmlns:p14="http://schemas.microsoft.com/office/powerpoint/2010/main" val="65487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security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0FF2FAB-E790-A4FB-069C-498DAB17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5243"/>
            <a:ext cx="7886700" cy="833965"/>
          </a:xfrm>
        </p:spPr>
        <p:txBody>
          <a:bodyPr/>
          <a:lstStyle/>
          <a:p>
            <a:r>
              <a:rPr lang="en-US" dirty="0"/>
              <a:t>Bad guys: packet interception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080407-1FE1-6632-4AE9-234C7CF30DA7}"/>
              </a:ext>
            </a:extLst>
          </p:cNvPr>
          <p:cNvSpPr txBox="1">
            <a:spLocks noChangeArrowheads="1"/>
          </p:cNvSpPr>
          <p:nvPr/>
        </p:nvSpPr>
        <p:spPr>
          <a:xfrm>
            <a:off x="630984" y="1765491"/>
            <a:ext cx="7757123" cy="15633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“</a:t>
            </a:r>
            <a:r>
              <a:rPr lang="en-US" altLang="ja-JP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sniffing”:</a:t>
            </a:r>
            <a:r>
              <a:rPr lang="en-US" altLang="ja-JP" sz="21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broadcast media (shared Ethernet, wireless)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promiscuous network interface reads/records all packets (e.g., including passwords!) passing by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97E60F-7387-3B41-1F1B-36C3F9FCB245}"/>
              </a:ext>
            </a:extLst>
          </p:cNvPr>
          <p:cNvSpPr txBox="1">
            <a:spLocks/>
          </p:cNvSpPr>
          <p:nvPr/>
        </p:nvSpPr>
        <p:spPr>
          <a:xfrm>
            <a:off x="626316" y="3267332"/>
            <a:ext cx="7886700" cy="833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Bad guys:  fake identity</a:t>
            </a: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7FB5D713-FBF6-ED19-F31B-C0A5D47E3BC6}"/>
              </a:ext>
            </a:extLst>
          </p:cNvPr>
          <p:cNvSpPr txBox="1">
            <a:spLocks noChangeArrowheads="1"/>
          </p:cNvSpPr>
          <p:nvPr/>
        </p:nvSpPr>
        <p:spPr>
          <a:xfrm>
            <a:off x="591418" y="3767504"/>
            <a:ext cx="7757123" cy="15633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IP spoofing:</a:t>
            </a:r>
            <a:r>
              <a:rPr lang="en-US" altLang="en-US" sz="2000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ea typeface="ＭＳ Ｐゴシック" panose="020B0600070205080204" pitchFamily="34" charset="-128"/>
              </a:rPr>
              <a:t>send packet with false source address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4BED5D-FFC3-DAC2-26BA-953B9AE54527}"/>
              </a:ext>
            </a:extLst>
          </p:cNvPr>
          <p:cNvSpPr txBox="1"/>
          <p:nvPr/>
        </p:nvSpPr>
        <p:spPr>
          <a:xfrm>
            <a:off x="7440621" y="4752725"/>
            <a:ext cx="1126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ea typeface="ＭＳ Ｐゴシック" panose="020B0600070205080204" pitchFamily="34" charset="-128"/>
              </a:rPr>
              <a:t>spoofing</a:t>
            </a:r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913F32-6286-252E-D62B-2B3AB3108DB8}"/>
              </a:ext>
            </a:extLst>
          </p:cNvPr>
          <p:cNvSpPr txBox="1"/>
          <p:nvPr/>
        </p:nvSpPr>
        <p:spPr>
          <a:xfrm>
            <a:off x="2836249" y="4752725"/>
            <a:ext cx="1126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ea typeface="ＭＳ Ｐゴシック" panose="020B0600070205080204" pitchFamily="34" charset="-128"/>
              </a:rPr>
              <a:t>sniffing</a:t>
            </a:r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58E6922-BF14-852B-73C0-2E7D2C16D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6" y="4752725"/>
            <a:ext cx="3776043" cy="132980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64D142C-8D64-9612-C659-149B27BB7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48" y="4752725"/>
            <a:ext cx="3776045" cy="13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security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0FF2FAB-E790-A4FB-069C-498DAB17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Bad guys: denial of service</a:t>
            </a:r>
          </a:p>
        </p:txBody>
      </p:sp>
      <p:grpSp>
        <p:nvGrpSpPr>
          <p:cNvPr id="5" name="Group 131">
            <a:extLst>
              <a:ext uri="{FF2B5EF4-FFF2-40B4-BE49-F238E27FC236}">
                <a16:creationId xmlns:a16="http://schemas.microsoft.com/office/drawing/2014/main" id="{F75224D5-BB65-EA58-96C5-C9137336D67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59508" y="3874029"/>
            <a:ext cx="551259" cy="510778"/>
            <a:chOff x="-44" y="1473"/>
            <a:chExt cx="981" cy="1105"/>
          </a:xfrm>
        </p:grpSpPr>
        <p:pic>
          <p:nvPicPr>
            <p:cNvPr id="6" name="Picture 132" descr="desktop_computer_stylized_medium">
              <a:extLst>
                <a:ext uri="{FF2B5EF4-FFF2-40B4-BE49-F238E27FC236}">
                  <a16:creationId xmlns:a16="http://schemas.microsoft.com/office/drawing/2014/main" id="{9CB4915D-0441-E464-1EAD-2A73B347B1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133">
              <a:extLst>
                <a:ext uri="{FF2B5EF4-FFF2-40B4-BE49-F238E27FC236}">
                  <a16:creationId xmlns:a16="http://schemas.microsoft.com/office/drawing/2014/main" id="{F478C24D-A36D-0B74-6C28-12EA57A90B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8" name="Group 186">
            <a:extLst>
              <a:ext uri="{FF2B5EF4-FFF2-40B4-BE49-F238E27FC236}">
                <a16:creationId xmlns:a16="http://schemas.microsoft.com/office/drawing/2014/main" id="{4D1982D2-8A03-BDBF-A212-76B34D2B8D03}"/>
              </a:ext>
            </a:extLst>
          </p:cNvPr>
          <p:cNvGrpSpPr>
            <a:grpSpLocks/>
          </p:cNvGrpSpPr>
          <p:nvPr/>
        </p:nvGrpSpPr>
        <p:grpSpPr bwMode="auto">
          <a:xfrm>
            <a:off x="6065515" y="4056194"/>
            <a:ext cx="676275" cy="970360"/>
            <a:chOff x="5069" y="1396"/>
            <a:chExt cx="568" cy="815"/>
          </a:xfrm>
        </p:grpSpPr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46095B0F-82CC-F026-C092-143DC9556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40"/>
              <a:ext cx="56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/>
                <a:t>target</a:t>
              </a:r>
            </a:p>
          </p:txBody>
        </p:sp>
        <p:grpSp>
          <p:nvGrpSpPr>
            <p:cNvPr id="10" name="Group 153">
              <a:extLst>
                <a:ext uri="{FF2B5EF4-FFF2-40B4-BE49-F238E27FC236}">
                  <a16:creationId xmlns:a16="http://schemas.microsoft.com/office/drawing/2014/main" id="{284A678F-4FC9-9065-D7F4-5741B620E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11" name="Freeform 154">
                <a:extLst>
                  <a:ext uri="{FF2B5EF4-FFF2-40B4-BE49-F238E27FC236}">
                    <a16:creationId xmlns:a16="http://schemas.microsoft.com/office/drawing/2014/main" id="{92A71A92-9A51-53A2-134A-77D187944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2" name="Rectangle 155">
                <a:extLst>
                  <a:ext uri="{FF2B5EF4-FFF2-40B4-BE49-F238E27FC236}">
                    <a16:creationId xmlns:a16="http://schemas.microsoft.com/office/drawing/2014/main" id="{244E775D-5663-7CEF-D057-E6E282224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9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3" name="Freeform 156">
                <a:extLst>
                  <a:ext uri="{FF2B5EF4-FFF2-40B4-BE49-F238E27FC236}">
                    <a16:creationId xmlns:a16="http://schemas.microsoft.com/office/drawing/2014/main" id="{B7340793-ED03-8582-A959-DD407FBEC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4" name="Freeform 157">
                <a:extLst>
                  <a:ext uri="{FF2B5EF4-FFF2-40B4-BE49-F238E27FC236}">
                    <a16:creationId xmlns:a16="http://schemas.microsoft.com/office/drawing/2014/main" id="{1074D878-EDB5-FE4E-DBCF-61914DA08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5" name="Rectangle 158">
                <a:extLst>
                  <a:ext uri="{FF2B5EF4-FFF2-40B4-BE49-F238E27FC236}">
                    <a16:creationId xmlns:a16="http://schemas.microsoft.com/office/drawing/2014/main" id="{CDD700F9-4AE1-E4C8-54CE-CD3FF346C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16" name="Group 159">
                <a:extLst>
                  <a:ext uri="{FF2B5EF4-FFF2-40B4-BE49-F238E27FC236}">
                    <a16:creationId xmlns:a16="http://schemas.microsoft.com/office/drawing/2014/main" id="{9BCA7334-B0BC-A843-284C-222E784121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2" name="AutoShape 160">
                  <a:extLst>
                    <a:ext uri="{FF2B5EF4-FFF2-40B4-BE49-F238E27FC236}">
                      <a16:creationId xmlns:a16="http://schemas.microsoft.com/office/drawing/2014/main" id="{C3262749-A319-5B19-8509-2A5139D85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3" name="AutoShape 161">
                  <a:extLst>
                    <a:ext uri="{FF2B5EF4-FFF2-40B4-BE49-F238E27FC236}">
                      <a16:creationId xmlns:a16="http://schemas.microsoft.com/office/drawing/2014/main" id="{D2DCB537-63EB-667F-4A51-FC1107857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89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18" name="Rectangle 162">
                <a:extLst>
                  <a:ext uri="{FF2B5EF4-FFF2-40B4-BE49-F238E27FC236}">
                    <a16:creationId xmlns:a16="http://schemas.microsoft.com/office/drawing/2014/main" id="{A6E8988F-62B1-3649-82B0-118985B81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19" name="Group 163">
                <a:extLst>
                  <a:ext uri="{FF2B5EF4-FFF2-40B4-BE49-F238E27FC236}">
                    <a16:creationId xmlns:a16="http://schemas.microsoft.com/office/drawing/2014/main" id="{5328E34B-12AE-614A-C060-4EBF963E4E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0" name="AutoShape 164">
                  <a:extLst>
                    <a:ext uri="{FF2B5EF4-FFF2-40B4-BE49-F238E27FC236}">
                      <a16:creationId xmlns:a16="http://schemas.microsoft.com/office/drawing/2014/main" id="{9BF162E0-8AED-A08E-D1F7-9BD053E15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6"/>
                  <a:ext cx="724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1" name="AutoShape 165">
                  <a:extLst>
                    <a:ext uri="{FF2B5EF4-FFF2-40B4-BE49-F238E27FC236}">
                      <a16:creationId xmlns:a16="http://schemas.microsoft.com/office/drawing/2014/main" id="{1CEC814D-CE66-F8BC-C547-3F4375AC5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4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0" name="Rectangle 166">
                <a:extLst>
                  <a:ext uri="{FF2B5EF4-FFF2-40B4-BE49-F238E27FC236}">
                    <a16:creationId xmlns:a16="http://schemas.microsoft.com/office/drawing/2014/main" id="{3900D732-F91B-2329-2C3F-8313BB176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21" name="Rectangle 167">
                <a:extLst>
                  <a:ext uri="{FF2B5EF4-FFF2-40B4-BE49-F238E27FC236}">
                    <a16:creationId xmlns:a16="http://schemas.microsoft.com/office/drawing/2014/main" id="{5B8AE145-8D6F-3510-BD8B-3B0F5950B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22" name="Group 168">
                <a:extLst>
                  <a:ext uri="{FF2B5EF4-FFF2-40B4-BE49-F238E27FC236}">
                    <a16:creationId xmlns:a16="http://schemas.microsoft.com/office/drawing/2014/main" id="{660BE61F-3F08-CE5E-45C8-FD3A9A0A4A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8" name="AutoShape 169">
                  <a:extLst>
                    <a:ext uri="{FF2B5EF4-FFF2-40B4-BE49-F238E27FC236}">
                      <a16:creationId xmlns:a16="http://schemas.microsoft.com/office/drawing/2014/main" id="{83EE17F2-0F0A-6D45-B2F8-65768F9AD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39" name="AutoShape 170">
                  <a:extLst>
                    <a:ext uri="{FF2B5EF4-FFF2-40B4-BE49-F238E27FC236}">
                      <a16:creationId xmlns:a16="http://schemas.microsoft.com/office/drawing/2014/main" id="{D39860C6-8422-74BD-6F2D-FF9CA7E23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3" name="Freeform 171">
                <a:extLst>
                  <a:ext uri="{FF2B5EF4-FFF2-40B4-BE49-F238E27FC236}">
                    <a16:creationId xmlns:a16="http://schemas.microsoft.com/office/drawing/2014/main" id="{AE1E0F32-493E-2998-3798-E4398A481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grpSp>
            <p:nvGrpSpPr>
              <p:cNvPr id="24" name="Group 172">
                <a:extLst>
                  <a:ext uri="{FF2B5EF4-FFF2-40B4-BE49-F238E27FC236}">
                    <a16:creationId xmlns:a16="http://schemas.microsoft.com/office/drawing/2014/main" id="{05ADD37C-C019-4F30-9080-CACAA02C36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" name="AutoShape 173">
                  <a:extLst>
                    <a:ext uri="{FF2B5EF4-FFF2-40B4-BE49-F238E27FC236}">
                      <a16:creationId xmlns:a16="http://schemas.microsoft.com/office/drawing/2014/main" id="{617A7726-76F3-0AC5-A46D-03948A04E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37" name="AutoShape 174">
                  <a:extLst>
                    <a:ext uri="{FF2B5EF4-FFF2-40B4-BE49-F238E27FC236}">
                      <a16:creationId xmlns:a16="http://schemas.microsoft.com/office/drawing/2014/main" id="{446AE3AF-ABC9-5EF3-51F0-A39336390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4"/>
                  <a:ext cx="695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5" name="Rectangle 175">
                <a:extLst>
                  <a:ext uri="{FF2B5EF4-FFF2-40B4-BE49-F238E27FC236}">
                    <a16:creationId xmlns:a16="http://schemas.microsoft.com/office/drawing/2014/main" id="{0010E0BC-5AFA-22EF-3F7B-9B3034ED8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6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26" name="Freeform 176">
                <a:extLst>
                  <a:ext uri="{FF2B5EF4-FFF2-40B4-BE49-F238E27FC236}">
                    <a16:creationId xmlns:a16="http://schemas.microsoft.com/office/drawing/2014/main" id="{D82C342E-2720-F0C6-E4B3-A200ED317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7" name="Freeform 177">
                <a:extLst>
                  <a:ext uri="{FF2B5EF4-FFF2-40B4-BE49-F238E27FC236}">
                    <a16:creationId xmlns:a16="http://schemas.microsoft.com/office/drawing/2014/main" id="{C9351A73-B108-A846-E03D-15B9DB3AA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Oval 178">
                <a:extLst>
                  <a:ext uri="{FF2B5EF4-FFF2-40B4-BE49-F238E27FC236}">
                    <a16:creationId xmlns:a16="http://schemas.microsoft.com/office/drawing/2014/main" id="{BEEEA0F4-BCB6-035B-2A4C-5B7172CE1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29" name="Freeform 179">
                <a:extLst>
                  <a:ext uri="{FF2B5EF4-FFF2-40B4-BE49-F238E27FC236}">
                    <a16:creationId xmlns:a16="http://schemas.microsoft.com/office/drawing/2014/main" id="{ABDBA91B-9097-191F-2743-BC55C8BC2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AutoShape 180">
                <a:extLst>
                  <a:ext uri="{FF2B5EF4-FFF2-40B4-BE49-F238E27FC236}">
                    <a16:creationId xmlns:a16="http://schemas.microsoft.com/office/drawing/2014/main" id="{24EF1B1D-884E-3CA7-5C54-19F0C1B4D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9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1" name="AutoShape 181">
                <a:extLst>
                  <a:ext uri="{FF2B5EF4-FFF2-40B4-BE49-F238E27FC236}">
                    <a16:creationId xmlns:a16="http://schemas.microsoft.com/office/drawing/2014/main" id="{B5A96634-C335-52A8-5704-BE4B238B7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2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2" name="Oval 182">
                <a:extLst>
                  <a:ext uri="{FF2B5EF4-FFF2-40B4-BE49-F238E27FC236}">
                    <a16:creationId xmlns:a16="http://schemas.microsoft.com/office/drawing/2014/main" id="{8D08FD90-AF6B-2F1F-021F-4D73B504E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3" name="Oval 183">
                <a:extLst>
                  <a:ext uri="{FF2B5EF4-FFF2-40B4-BE49-F238E27FC236}">
                    <a16:creationId xmlns:a16="http://schemas.microsoft.com/office/drawing/2014/main" id="{0325E3F3-75F7-CC9E-CE89-224E0144A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Oval 184">
                <a:extLst>
                  <a:ext uri="{FF2B5EF4-FFF2-40B4-BE49-F238E27FC236}">
                    <a16:creationId xmlns:a16="http://schemas.microsoft.com/office/drawing/2014/main" id="{9332C15C-3E11-5594-B0C3-C7023B08E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5" name="Rectangle 185">
                <a:extLst>
                  <a:ext uri="{FF2B5EF4-FFF2-40B4-BE49-F238E27FC236}">
                    <a16:creationId xmlns:a16="http://schemas.microsoft.com/office/drawing/2014/main" id="{E5858EDE-B742-AD3D-6F4F-5CC39253D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</p:grpSp>
      <p:sp>
        <p:nvSpPr>
          <p:cNvPr id="44" name="Rectangle 3">
            <a:extLst>
              <a:ext uri="{FF2B5EF4-FFF2-40B4-BE49-F238E27FC236}">
                <a16:creationId xmlns:a16="http://schemas.microsoft.com/office/drawing/2014/main" id="{C60147A1-D5B4-6127-ECB4-CAC6B1502146}"/>
              </a:ext>
            </a:extLst>
          </p:cNvPr>
          <p:cNvSpPr txBox="1">
            <a:spLocks noChangeArrowheads="1"/>
          </p:cNvSpPr>
          <p:nvPr/>
        </p:nvSpPr>
        <p:spPr>
          <a:xfrm>
            <a:off x="545509" y="2099103"/>
            <a:ext cx="7397903" cy="114333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Denial of Service (DoS):</a:t>
            </a:r>
            <a:r>
              <a:rPr lang="en-US" altLang="en-US" sz="2400" dirty="0">
                <a:ea typeface="ＭＳ Ｐゴシック" panose="020B0600070205080204" pitchFamily="34" charset="-128"/>
              </a:rPr>
              <a:t> attackers make resources (server, bandwidth) unavailable to legitimate traffic by overwhelming resource with bogus traffic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B9EFFA2E-333B-3829-5E83-C30C6E5D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244" y="3391833"/>
            <a:ext cx="308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altLang="en-US" sz="2100" dirty="0">
                <a:latin typeface="+mn-lt"/>
              </a:rPr>
              <a:t> select target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CC78F746-A029-BE80-CD99-013D4777E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84" y="3781167"/>
            <a:ext cx="284678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altLang="en-US" sz="2100" dirty="0">
                <a:latin typeface="+mn-lt"/>
              </a:rPr>
              <a:t> break into hosts around the network (see botnet)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AutoNum type="arabicPeriod" startAt="2"/>
            </a:pPr>
            <a:endParaRPr lang="en-US" altLang="en-US" sz="2100" dirty="0">
              <a:latin typeface="+mn-lt"/>
            </a:endParaRP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E0319558-3E81-B6BA-F347-4E14FF70E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70" y="4724836"/>
            <a:ext cx="30861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altLang="en-US" sz="2100" dirty="0">
                <a:latin typeface="+mn-lt"/>
              </a:rPr>
              <a:t> send packets to target from compromised hosts</a:t>
            </a:r>
          </a:p>
        </p:txBody>
      </p:sp>
      <p:grpSp>
        <p:nvGrpSpPr>
          <p:cNvPr id="48" name="Group 152">
            <a:extLst>
              <a:ext uri="{FF2B5EF4-FFF2-40B4-BE49-F238E27FC236}">
                <a16:creationId xmlns:a16="http://schemas.microsoft.com/office/drawing/2014/main" id="{216E19E2-FAF4-07FA-B987-A899DFC557C7}"/>
              </a:ext>
            </a:extLst>
          </p:cNvPr>
          <p:cNvGrpSpPr>
            <a:grpSpLocks/>
          </p:cNvGrpSpPr>
          <p:nvPr/>
        </p:nvGrpSpPr>
        <p:grpSpPr bwMode="auto">
          <a:xfrm>
            <a:off x="5157065" y="3527556"/>
            <a:ext cx="2040731" cy="2006204"/>
            <a:chOff x="-262" y="2555"/>
            <a:chExt cx="1714" cy="1685"/>
          </a:xfrm>
        </p:grpSpPr>
        <p:sp>
          <p:nvSpPr>
            <p:cNvPr id="49" name="Line 63">
              <a:extLst>
                <a:ext uri="{FF2B5EF4-FFF2-40B4-BE49-F238E27FC236}">
                  <a16:creationId xmlns:a16="http://schemas.microsoft.com/office/drawing/2014/main" id="{6C15E8D1-3ED4-1496-A365-DACBBDCED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" y="3261"/>
              <a:ext cx="436" cy="16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0" name="Line 64">
              <a:extLst>
                <a:ext uri="{FF2B5EF4-FFF2-40B4-BE49-F238E27FC236}">
                  <a16:creationId xmlns:a16="http://schemas.microsoft.com/office/drawing/2014/main" id="{662AE5A1-9148-B240-9B98-65114B8A2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" y="3470"/>
              <a:ext cx="226" cy="32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Line 65">
              <a:extLst>
                <a:ext uri="{FF2B5EF4-FFF2-40B4-BE49-F238E27FC236}">
                  <a16:creationId xmlns:a16="http://schemas.microsoft.com/office/drawing/2014/main" id="{9C5B96EB-BF39-AECE-80DC-FD2B30355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" y="3410"/>
              <a:ext cx="595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2" name="Line 66">
              <a:extLst>
                <a:ext uri="{FF2B5EF4-FFF2-40B4-BE49-F238E27FC236}">
                  <a16:creationId xmlns:a16="http://schemas.microsoft.com/office/drawing/2014/main" id="{AA8F0322-7378-0ADE-8879-96CD2B7A6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2555"/>
              <a:ext cx="16" cy="46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3" name="Line 67">
              <a:extLst>
                <a:ext uri="{FF2B5EF4-FFF2-40B4-BE49-F238E27FC236}">
                  <a16:creationId xmlns:a16="http://schemas.microsoft.com/office/drawing/2014/main" id="{264DB8C6-3759-C475-9BEA-2BF03FFE3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" y="3011"/>
              <a:ext cx="473" cy="1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E9CC4513-51C3-DD60-B0D6-1CB51AFFA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62" y="3083"/>
              <a:ext cx="879" cy="1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Line 69">
              <a:extLst>
                <a:ext uri="{FF2B5EF4-FFF2-40B4-BE49-F238E27FC236}">
                  <a16:creationId xmlns:a16="http://schemas.microsoft.com/office/drawing/2014/main" id="{E5336511-1D92-5E72-5536-C71CE0743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01" y="3362"/>
              <a:ext cx="800" cy="64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Line 70">
              <a:extLst>
                <a:ext uri="{FF2B5EF4-FFF2-40B4-BE49-F238E27FC236}">
                  <a16:creationId xmlns:a16="http://schemas.microsoft.com/office/drawing/2014/main" id="{18888562-D005-312F-7DBF-D8ADBF016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" y="2623"/>
              <a:ext cx="352" cy="39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Line 71">
              <a:extLst>
                <a:ext uri="{FF2B5EF4-FFF2-40B4-BE49-F238E27FC236}">
                  <a16:creationId xmlns:a16="http://schemas.microsoft.com/office/drawing/2014/main" id="{A092FB29-3DD4-A166-56A2-315C482B3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" y="3582"/>
              <a:ext cx="198" cy="6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Line 72">
              <a:extLst>
                <a:ext uri="{FF2B5EF4-FFF2-40B4-BE49-F238E27FC236}">
                  <a16:creationId xmlns:a16="http://schemas.microsoft.com/office/drawing/2014/main" id="{92FD3A85-733D-9185-473F-828715285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2738"/>
              <a:ext cx="416" cy="2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9" name="Group 113">
            <a:extLst>
              <a:ext uri="{FF2B5EF4-FFF2-40B4-BE49-F238E27FC236}">
                <a16:creationId xmlns:a16="http://schemas.microsoft.com/office/drawing/2014/main" id="{F7203DD1-CA49-102D-0DC9-18E7C1DEB44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81077" y="3257285"/>
            <a:ext cx="551259" cy="510778"/>
            <a:chOff x="-44" y="1473"/>
            <a:chExt cx="981" cy="1105"/>
          </a:xfrm>
        </p:grpSpPr>
        <p:pic>
          <p:nvPicPr>
            <p:cNvPr id="60" name="Picture 114" descr="desktop_computer_stylized_medium">
              <a:extLst>
                <a:ext uri="{FF2B5EF4-FFF2-40B4-BE49-F238E27FC236}">
                  <a16:creationId xmlns:a16="http://schemas.microsoft.com/office/drawing/2014/main" id="{1D0D4F35-CDE5-C897-7AC6-6C3CE9605F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Freeform 115">
              <a:extLst>
                <a:ext uri="{FF2B5EF4-FFF2-40B4-BE49-F238E27FC236}">
                  <a16:creationId xmlns:a16="http://schemas.microsoft.com/office/drawing/2014/main" id="{4DFC1F39-137A-9361-3C5C-9FF35BE5AC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62" name="Group 116">
            <a:extLst>
              <a:ext uri="{FF2B5EF4-FFF2-40B4-BE49-F238E27FC236}">
                <a16:creationId xmlns:a16="http://schemas.microsoft.com/office/drawing/2014/main" id="{F3C613AE-E764-8633-E59C-A06B7D31600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96580" y="3884744"/>
            <a:ext cx="551260" cy="510779"/>
            <a:chOff x="-44" y="1473"/>
            <a:chExt cx="981" cy="1105"/>
          </a:xfrm>
        </p:grpSpPr>
        <p:pic>
          <p:nvPicPr>
            <p:cNvPr id="63" name="Picture 117" descr="desktop_computer_stylized_medium">
              <a:extLst>
                <a:ext uri="{FF2B5EF4-FFF2-40B4-BE49-F238E27FC236}">
                  <a16:creationId xmlns:a16="http://schemas.microsoft.com/office/drawing/2014/main" id="{E2A54AEB-95C9-B6C4-FB9B-935788B15C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" name="Freeform 118">
              <a:extLst>
                <a:ext uri="{FF2B5EF4-FFF2-40B4-BE49-F238E27FC236}">
                  <a16:creationId xmlns:a16="http://schemas.microsoft.com/office/drawing/2014/main" id="{83A01F42-517D-E3AF-34B9-6F335E51866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65" name="Group 119">
            <a:extLst>
              <a:ext uri="{FF2B5EF4-FFF2-40B4-BE49-F238E27FC236}">
                <a16:creationId xmlns:a16="http://schemas.microsoft.com/office/drawing/2014/main" id="{64AFEF98-FB9A-6DF6-971F-82C6176ABF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40633" y="4411000"/>
            <a:ext cx="551259" cy="510779"/>
            <a:chOff x="-44" y="1473"/>
            <a:chExt cx="981" cy="1105"/>
          </a:xfrm>
        </p:grpSpPr>
        <p:pic>
          <p:nvPicPr>
            <p:cNvPr id="66" name="Picture 120" descr="desktop_computer_stylized_medium">
              <a:extLst>
                <a:ext uri="{FF2B5EF4-FFF2-40B4-BE49-F238E27FC236}">
                  <a16:creationId xmlns:a16="http://schemas.microsoft.com/office/drawing/2014/main" id="{7B120990-42D4-F2A9-2BF2-18EAC5B1C3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121">
              <a:extLst>
                <a:ext uri="{FF2B5EF4-FFF2-40B4-BE49-F238E27FC236}">
                  <a16:creationId xmlns:a16="http://schemas.microsoft.com/office/drawing/2014/main" id="{A850087A-20FB-994A-362B-AA1310F2E6C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68" name="Group 122">
            <a:extLst>
              <a:ext uri="{FF2B5EF4-FFF2-40B4-BE49-F238E27FC236}">
                <a16:creationId xmlns:a16="http://schemas.microsoft.com/office/drawing/2014/main" id="{CC46D4A8-2AF2-3969-F8E2-253D387F4AC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68018" y="4996788"/>
            <a:ext cx="551260" cy="510779"/>
            <a:chOff x="-44" y="1473"/>
            <a:chExt cx="981" cy="1105"/>
          </a:xfrm>
        </p:grpSpPr>
        <p:pic>
          <p:nvPicPr>
            <p:cNvPr id="69" name="Picture 123" descr="desktop_computer_stylized_medium">
              <a:extLst>
                <a:ext uri="{FF2B5EF4-FFF2-40B4-BE49-F238E27FC236}">
                  <a16:creationId xmlns:a16="http://schemas.microsoft.com/office/drawing/2014/main" id="{467911E7-1BA7-4E6A-0420-51E915BEA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Freeform 124">
              <a:extLst>
                <a:ext uri="{FF2B5EF4-FFF2-40B4-BE49-F238E27FC236}">
                  <a16:creationId xmlns:a16="http://schemas.microsoft.com/office/drawing/2014/main" id="{85299B92-B8C4-6429-53F4-69BFAC18F2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71" name="Group 125">
            <a:extLst>
              <a:ext uri="{FF2B5EF4-FFF2-40B4-BE49-F238E27FC236}">
                <a16:creationId xmlns:a16="http://schemas.microsoft.com/office/drawing/2014/main" id="{FA9547C2-7636-6638-69B9-583A92F382E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59558" y="3353725"/>
            <a:ext cx="551259" cy="510779"/>
            <a:chOff x="-44" y="1473"/>
            <a:chExt cx="981" cy="1105"/>
          </a:xfrm>
        </p:grpSpPr>
        <p:pic>
          <p:nvPicPr>
            <p:cNvPr id="72" name="Picture 126" descr="desktop_computer_stylized_medium">
              <a:extLst>
                <a:ext uri="{FF2B5EF4-FFF2-40B4-BE49-F238E27FC236}">
                  <a16:creationId xmlns:a16="http://schemas.microsoft.com/office/drawing/2014/main" id="{1D686C42-32D7-693F-B1D3-0EE0960FD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27">
              <a:extLst>
                <a:ext uri="{FF2B5EF4-FFF2-40B4-BE49-F238E27FC236}">
                  <a16:creationId xmlns:a16="http://schemas.microsoft.com/office/drawing/2014/main" id="{7693BA12-A489-20FF-FA42-A41E8A4255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74" name="Group 128">
            <a:extLst>
              <a:ext uri="{FF2B5EF4-FFF2-40B4-BE49-F238E27FC236}">
                <a16:creationId xmlns:a16="http://schemas.microsoft.com/office/drawing/2014/main" id="{96563022-AF3F-1B30-9978-2661E983C7E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305893" y="3400160"/>
            <a:ext cx="551260" cy="510778"/>
            <a:chOff x="-44" y="1473"/>
            <a:chExt cx="981" cy="1105"/>
          </a:xfrm>
        </p:grpSpPr>
        <p:pic>
          <p:nvPicPr>
            <p:cNvPr id="75" name="Picture 129" descr="desktop_computer_stylized_medium">
              <a:extLst>
                <a:ext uri="{FF2B5EF4-FFF2-40B4-BE49-F238E27FC236}">
                  <a16:creationId xmlns:a16="http://schemas.microsoft.com/office/drawing/2014/main" id="{0B0AA2AC-0FFA-D00E-27D3-1E84CF912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30">
              <a:extLst>
                <a:ext uri="{FF2B5EF4-FFF2-40B4-BE49-F238E27FC236}">
                  <a16:creationId xmlns:a16="http://schemas.microsoft.com/office/drawing/2014/main" id="{EB1798BE-F698-F929-3F30-B7B0C41866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77" name="Group 134">
            <a:extLst>
              <a:ext uri="{FF2B5EF4-FFF2-40B4-BE49-F238E27FC236}">
                <a16:creationId xmlns:a16="http://schemas.microsoft.com/office/drawing/2014/main" id="{BB5104C2-384C-924E-D2BD-30297F74BF7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68921" y="3928798"/>
            <a:ext cx="551259" cy="510778"/>
            <a:chOff x="-44" y="1473"/>
            <a:chExt cx="981" cy="1105"/>
          </a:xfrm>
        </p:grpSpPr>
        <p:pic>
          <p:nvPicPr>
            <p:cNvPr id="78" name="Picture 135" descr="desktop_computer_stylized_medium">
              <a:extLst>
                <a:ext uri="{FF2B5EF4-FFF2-40B4-BE49-F238E27FC236}">
                  <a16:creationId xmlns:a16="http://schemas.microsoft.com/office/drawing/2014/main" id="{EA293024-B0FD-AC60-B396-AFE2A97E3C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36">
              <a:extLst>
                <a:ext uri="{FF2B5EF4-FFF2-40B4-BE49-F238E27FC236}">
                  <a16:creationId xmlns:a16="http://schemas.microsoft.com/office/drawing/2014/main" id="{FC6FD495-E439-B550-59C9-CF316C9E0A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80" name="Group 137">
            <a:extLst>
              <a:ext uri="{FF2B5EF4-FFF2-40B4-BE49-F238E27FC236}">
                <a16:creationId xmlns:a16="http://schemas.microsoft.com/office/drawing/2014/main" id="{7C4031D6-5E7F-14D0-A499-777926C12E3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42790" y="4480056"/>
            <a:ext cx="551259" cy="510779"/>
            <a:chOff x="-44" y="1473"/>
            <a:chExt cx="981" cy="1105"/>
          </a:xfrm>
        </p:grpSpPr>
        <p:pic>
          <p:nvPicPr>
            <p:cNvPr id="81" name="Picture 138" descr="desktop_computer_stylized_medium">
              <a:extLst>
                <a:ext uri="{FF2B5EF4-FFF2-40B4-BE49-F238E27FC236}">
                  <a16:creationId xmlns:a16="http://schemas.microsoft.com/office/drawing/2014/main" id="{83584F0E-3192-B81B-388B-BB250079A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39">
              <a:extLst>
                <a:ext uri="{FF2B5EF4-FFF2-40B4-BE49-F238E27FC236}">
                  <a16:creationId xmlns:a16="http://schemas.microsoft.com/office/drawing/2014/main" id="{564F41DB-3F78-55A8-BB13-92F846F768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83" name="Group 140">
            <a:extLst>
              <a:ext uri="{FF2B5EF4-FFF2-40B4-BE49-F238E27FC236}">
                <a16:creationId xmlns:a16="http://schemas.microsoft.com/office/drawing/2014/main" id="{C4715841-8F83-1530-5DE9-C60CA28D930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40458" y="4937256"/>
            <a:ext cx="551259" cy="510779"/>
            <a:chOff x="-44" y="1473"/>
            <a:chExt cx="981" cy="1105"/>
          </a:xfrm>
        </p:grpSpPr>
        <p:pic>
          <p:nvPicPr>
            <p:cNvPr id="84" name="Picture 141" descr="desktop_computer_stylized_medium">
              <a:extLst>
                <a:ext uri="{FF2B5EF4-FFF2-40B4-BE49-F238E27FC236}">
                  <a16:creationId xmlns:a16="http://schemas.microsoft.com/office/drawing/2014/main" id="{9687B1DC-126C-8A33-EA89-C33EB100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Freeform 142">
              <a:extLst>
                <a:ext uri="{FF2B5EF4-FFF2-40B4-BE49-F238E27FC236}">
                  <a16:creationId xmlns:a16="http://schemas.microsoft.com/office/drawing/2014/main" id="{FD6D2723-2678-69DA-36D9-0ECFE5DF898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86" name="Group 143">
            <a:extLst>
              <a:ext uri="{FF2B5EF4-FFF2-40B4-BE49-F238E27FC236}">
                <a16:creationId xmlns:a16="http://schemas.microsoft.com/office/drawing/2014/main" id="{4CF26392-CE57-229E-2F0B-5C9B0E08C2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948705" y="5155142"/>
            <a:ext cx="551260" cy="510778"/>
            <a:chOff x="-44" y="1473"/>
            <a:chExt cx="981" cy="1105"/>
          </a:xfrm>
        </p:grpSpPr>
        <p:pic>
          <p:nvPicPr>
            <p:cNvPr id="87" name="Picture 144" descr="desktop_computer_stylized_medium">
              <a:extLst>
                <a:ext uri="{FF2B5EF4-FFF2-40B4-BE49-F238E27FC236}">
                  <a16:creationId xmlns:a16="http://schemas.microsoft.com/office/drawing/2014/main" id="{361A47B0-EF8F-8339-D40E-BD76CA619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45">
              <a:extLst>
                <a:ext uri="{FF2B5EF4-FFF2-40B4-BE49-F238E27FC236}">
                  <a16:creationId xmlns:a16="http://schemas.microsoft.com/office/drawing/2014/main" id="{3877E030-2459-E2E1-FCE3-504E9C2F7D9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89" name="Group 146">
            <a:extLst>
              <a:ext uri="{FF2B5EF4-FFF2-40B4-BE49-F238E27FC236}">
                <a16:creationId xmlns:a16="http://schemas.microsoft.com/office/drawing/2014/main" id="{2182CF90-2BA6-608C-E359-2B4995B7217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42865" y="5534950"/>
            <a:ext cx="551259" cy="510779"/>
            <a:chOff x="-44" y="1473"/>
            <a:chExt cx="981" cy="1105"/>
          </a:xfrm>
        </p:grpSpPr>
        <p:pic>
          <p:nvPicPr>
            <p:cNvPr id="90" name="Picture 147" descr="desktop_computer_stylized_medium">
              <a:extLst>
                <a:ext uri="{FF2B5EF4-FFF2-40B4-BE49-F238E27FC236}">
                  <a16:creationId xmlns:a16="http://schemas.microsoft.com/office/drawing/2014/main" id="{A1A53A92-4FF3-6C6A-14C3-DB605A29C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48">
              <a:extLst>
                <a:ext uri="{FF2B5EF4-FFF2-40B4-BE49-F238E27FC236}">
                  <a16:creationId xmlns:a16="http://schemas.microsoft.com/office/drawing/2014/main" id="{EE7C3A34-97CE-EC3C-BDAA-EBCDDDC6548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92" name="Group 149">
            <a:extLst>
              <a:ext uri="{FF2B5EF4-FFF2-40B4-BE49-F238E27FC236}">
                <a16:creationId xmlns:a16="http://schemas.microsoft.com/office/drawing/2014/main" id="{5A58FBB3-FDC3-43D2-0275-D8965013FE3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01268" y="5243248"/>
            <a:ext cx="551260" cy="510778"/>
            <a:chOff x="-44" y="1473"/>
            <a:chExt cx="981" cy="1105"/>
          </a:xfrm>
        </p:grpSpPr>
        <p:pic>
          <p:nvPicPr>
            <p:cNvPr id="93" name="Picture 150" descr="desktop_computer_stylized_medium">
              <a:extLst>
                <a:ext uri="{FF2B5EF4-FFF2-40B4-BE49-F238E27FC236}">
                  <a16:creationId xmlns:a16="http://schemas.microsoft.com/office/drawing/2014/main" id="{93427D83-F4D0-8186-1650-718D554DAB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151">
              <a:extLst>
                <a:ext uri="{FF2B5EF4-FFF2-40B4-BE49-F238E27FC236}">
                  <a16:creationId xmlns:a16="http://schemas.microsoft.com/office/drawing/2014/main" id="{C10CB2A4-3ED2-A77E-5179-B3618A066A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grpSp>
        <p:nvGrpSpPr>
          <p:cNvPr id="95" name="Group 89">
            <a:extLst>
              <a:ext uri="{FF2B5EF4-FFF2-40B4-BE49-F238E27FC236}">
                <a16:creationId xmlns:a16="http://schemas.microsoft.com/office/drawing/2014/main" id="{EF50A5B0-C600-FE17-6BB4-14F216DEF1E3}"/>
              </a:ext>
            </a:extLst>
          </p:cNvPr>
          <p:cNvGrpSpPr>
            <a:grpSpLocks/>
          </p:cNvGrpSpPr>
          <p:nvPr/>
        </p:nvGrpSpPr>
        <p:grpSpPr bwMode="auto">
          <a:xfrm>
            <a:off x="4787971" y="3308482"/>
            <a:ext cx="2644378" cy="2556272"/>
            <a:chOff x="2920" y="1824"/>
            <a:chExt cx="2221" cy="2147"/>
          </a:xfrm>
        </p:grpSpPr>
        <p:pic>
          <p:nvPicPr>
            <p:cNvPr id="96" name="Picture 7">
              <a:extLst>
                <a:ext uri="{FF2B5EF4-FFF2-40B4-BE49-F238E27FC236}">
                  <a16:creationId xmlns:a16="http://schemas.microsoft.com/office/drawing/2014/main" id="{A9AC1C9E-2397-9932-C144-B22FC35EB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54">
              <a:extLst>
                <a:ext uri="{FF2B5EF4-FFF2-40B4-BE49-F238E27FC236}">
                  <a16:creationId xmlns:a16="http://schemas.microsoft.com/office/drawing/2014/main" id="{341FFB7A-33BC-2520-5BD9-09462AAAD9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55">
              <a:extLst>
                <a:ext uri="{FF2B5EF4-FFF2-40B4-BE49-F238E27FC236}">
                  <a16:creationId xmlns:a16="http://schemas.microsoft.com/office/drawing/2014/main" id="{6B3AD7EC-E936-0238-49B4-5BC050565D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56">
              <a:extLst>
                <a:ext uri="{FF2B5EF4-FFF2-40B4-BE49-F238E27FC236}">
                  <a16:creationId xmlns:a16="http://schemas.microsoft.com/office/drawing/2014/main" id="{061EFA0C-6FE4-83C1-A140-D4944DEAD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57">
              <a:extLst>
                <a:ext uri="{FF2B5EF4-FFF2-40B4-BE49-F238E27FC236}">
                  <a16:creationId xmlns:a16="http://schemas.microsoft.com/office/drawing/2014/main" id="{63BBED13-084E-1871-DBC9-ED41ECC610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58">
              <a:extLst>
                <a:ext uri="{FF2B5EF4-FFF2-40B4-BE49-F238E27FC236}">
                  <a16:creationId xmlns:a16="http://schemas.microsoft.com/office/drawing/2014/main" id="{C9CD5415-7E7A-BEDB-7860-10E22FBDD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59">
              <a:extLst>
                <a:ext uri="{FF2B5EF4-FFF2-40B4-BE49-F238E27FC236}">
                  <a16:creationId xmlns:a16="http://schemas.microsoft.com/office/drawing/2014/main" id="{224C1744-E254-B59B-B47B-EC382D510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" name="Picture 60">
              <a:extLst>
                <a:ext uri="{FF2B5EF4-FFF2-40B4-BE49-F238E27FC236}">
                  <a16:creationId xmlns:a16="http://schemas.microsoft.com/office/drawing/2014/main" id="{AF11542F-3D33-78E0-3AF6-7EE7F91F3B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1">
              <a:extLst>
                <a:ext uri="{FF2B5EF4-FFF2-40B4-BE49-F238E27FC236}">
                  <a16:creationId xmlns:a16="http://schemas.microsoft.com/office/drawing/2014/main" id="{948C6AC2-3B14-F962-ED6A-D66588F5D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2">
              <a:extLst>
                <a:ext uri="{FF2B5EF4-FFF2-40B4-BE49-F238E27FC236}">
                  <a16:creationId xmlns:a16="http://schemas.microsoft.com/office/drawing/2014/main" id="{2603FB9A-890E-0B5C-4003-BE3CC0ADA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572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6" grpId="0" autoUpdateAnimBg="0"/>
      <p:bldP spid="4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security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0FF2FAB-E790-A4FB-069C-498DAB17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833965"/>
          </a:xfrm>
        </p:spPr>
        <p:txBody>
          <a:bodyPr/>
          <a:lstStyle/>
          <a:p>
            <a:r>
              <a:rPr lang="en-US" dirty="0"/>
              <a:t>Lines of defense: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39FC22-EE74-D7B4-71B1-ED2646C4BEE3}"/>
              </a:ext>
            </a:extLst>
          </p:cNvPr>
          <p:cNvSpPr txBox="1">
            <a:spLocks noChangeArrowheads="1"/>
          </p:cNvSpPr>
          <p:nvPr/>
        </p:nvSpPr>
        <p:spPr>
          <a:xfrm>
            <a:off x="630984" y="2190771"/>
            <a:ext cx="7757123" cy="366936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authentication: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proving you are who you say you are</a:t>
            </a:r>
          </a:p>
          <a:p>
            <a:pPr marL="560785" lvl="1" indent="-205979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cellular networks provides hardware identity via SIM card; no such hardware assist in traditional Internet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confidentiality: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via encryption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integrity checks: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digital signatures prevent/detect tampering</a:t>
            </a:r>
          </a:p>
          <a:p>
            <a:pPr marL="97631" indent="0" defTabSz="685800">
              <a:spcBef>
                <a:spcPts val="750"/>
              </a:spcBef>
              <a:buNone/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access restrictions: 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password-protected VPNs</a:t>
            </a:r>
          </a:p>
          <a:p>
            <a:pPr marL="303610" indent="-205979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Arial" panose="020B0604020202020204" pitchFamily="34" charset="0"/>
              </a:rPr>
              <a:t>firewalls: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specialized “middleboxes” in access and core networks:</a:t>
            </a:r>
          </a:p>
          <a:p>
            <a:pPr marL="857250" lvl="2" indent="-171450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off-by-default: filter incoming packets to restrict senders, receivers, applications </a:t>
            </a:r>
          </a:p>
          <a:p>
            <a:pPr marL="857250" lvl="2" indent="-171450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detecting/reacting to DOS attacks</a:t>
            </a:r>
          </a:p>
          <a:p>
            <a:pPr marL="521494" lvl="1" indent="-173831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7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1" name="Picture 70" descr="arpanet2">
            <a:extLst>
              <a:ext uri="{FF2B5EF4-FFF2-40B4-BE49-F238E27FC236}">
                <a16:creationId xmlns:a16="http://schemas.microsoft.com/office/drawing/2014/main" id="{404BAB68-5FC3-4CEE-54E7-56F9153DA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8"/>
          <a:stretch>
            <a:fillRect/>
          </a:stretch>
        </p:blipFill>
        <p:spPr bwMode="auto">
          <a:xfrm>
            <a:off x="6933083" y="4285509"/>
            <a:ext cx="1832270" cy="1777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Rectangle 5">
            <a:extLst>
              <a:ext uri="{FF2B5EF4-FFF2-40B4-BE49-F238E27FC236}">
                <a16:creationId xmlns:a16="http://schemas.microsoft.com/office/drawing/2014/main" id="{944A7F28-3613-7CEB-5574-32848684D0FC}"/>
              </a:ext>
            </a:extLst>
          </p:cNvPr>
          <p:cNvSpPr txBox="1">
            <a:spLocks noChangeArrowheads="1"/>
          </p:cNvSpPr>
          <p:nvPr/>
        </p:nvSpPr>
        <p:spPr>
          <a:xfrm>
            <a:off x="581025" y="2138595"/>
            <a:ext cx="3733800" cy="3260692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1961:</a:t>
            </a:r>
            <a:r>
              <a:rPr lang="en-US" sz="2100" dirty="0"/>
              <a:t> Kleinrock - queueing theory shows effectiveness of packet-switching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1964:</a:t>
            </a:r>
            <a:r>
              <a:rPr lang="en-US" sz="2100" dirty="0"/>
              <a:t> Baran - packet-switching in military nets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1967:</a:t>
            </a:r>
            <a:r>
              <a:rPr lang="en-US" sz="2100" dirty="0"/>
              <a:t> </a:t>
            </a:r>
            <a:r>
              <a:rPr lang="en-US" sz="2100" b="1" dirty="0"/>
              <a:t>ARPAnet</a:t>
            </a:r>
            <a:r>
              <a:rPr lang="en-US" sz="2100" dirty="0"/>
              <a:t> conceived by Advanced Research Projects Agency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1969:</a:t>
            </a:r>
            <a:r>
              <a:rPr lang="en-US" sz="2100" dirty="0"/>
              <a:t> first ARPAnet node operational</a:t>
            </a: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5B6B42A3-4405-D2DD-2934-BA43F63F16ED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213264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1972: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ARPAnet public demo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NCP (Network Control Protocol) first host-host protocol 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first e-mail program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ARPAnet has 15 nodes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04203B6-F4B1-2FA1-21B8-586B04F4FAE9}"/>
              </a:ext>
            </a:extLst>
          </p:cNvPr>
          <p:cNvSpPr/>
          <p:nvPr/>
        </p:nvSpPr>
        <p:spPr>
          <a:xfrm>
            <a:off x="599901" y="1475947"/>
            <a:ext cx="5719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1961-1972: Early packet-switching principles</a:t>
            </a:r>
            <a:endParaRPr lang="en-US" altLang="en-US" sz="2400" u="sng" dirty="0">
              <a:solidFill>
                <a:srgbClr val="C00000"/>
              </a:solidFill>
            </a:endParaRPr>
          </a:p>
        </p:txBody>
      </p:sp>
      <p:pic>
        <p:nvPicPr>
          <p:cNvPr id="2050" name="Picture 2" descr="Larry Roberts Calls Himself the Founder of the Internet. Who Are You to  Argue? | WIRED">
            <a:extLst>
              <a:ext uri="{FF2B5EF4-FFF2-40B4-BE49-F238E27FC236}">
                <a16:creationId xmlns:a16="http://schemas.microsoft.com/office/drawing/2014/main" id="{D40354DB-C5E8-CED4-6C09-01AF47FCC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750" y="4337673"/>
            <a:ext cx="1414112" cy="155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19E72C-3F3D-0EC2-70CD-8E659F39D633}"/>
              </a:ext>
            </a:extLst>
          </p:cNvPr>
          <p:cNvSpPr txBox="1"/>
          <p:nvPr/>
        </p:nvSpPr>
        <p:spPr>
          <a:xfrm>
            <a:off x="5076355" y="5985814"/>
            <a:ext cx="156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Larry Robert</a:t>
            </a:r>
          </a:p>
        </p:txBody>
      </p:sp>
    </p:spTree>
    <p:extLst>
      <p:ext uri="{BB962C8B-B14F-4D97-AF65-F5344CB8AC3E}">
        <p14:creationId xmlns:p14="http://schemas.microsoft.com/office/powerpoint/2010/main" val="907660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BFB5CB-2D7D-9536-031D-A8126265CFE9}"/>
              </a:ext>
            </a:extLst>
          </p:cNvPr>
          <p:cNvSpPr txBox="1">
            <a:spLocks noChangeArrowheads="1"/>
          </p:cNvSpPr>
          <p:nvPr/>
        </p:nvSpPr>
        <p:spPr>
          <a:xfrm>
            <a:off x="495300" y="2138595"/>
            <a:ext cx="3962400" cy="3260692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1970: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ALOHAnet</a:t>
            </a:r>
            <a:r>
              <a:rPr lang="en-US" altLang="en-US" sz="2100" dirty="0">
                <a:ea typeface="ＭＳ Ｐゴシック" panose="020B0600070205080204" pitchFamily="34" charset="-128"/>
              </a:rPr>
              <a:t> satellite network in Hawaii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1974:</a:t>
            </a:r>
            <a:r>
              <a:rPr lang="en-US" altLang="en-US" sz="2100" dirty="0">
                <a:ea typeface="ＭＳ Ｐゴシック" panose="020B0600070205080204" pitchFamily="34" charset="-128"/>
              </a:rPr>
              <a:t> Cerf and Kahn - architecture for interconnecting networks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1976:</a:t>
            </a:r>
            <a:r>
              <a:rPr lang="en-US" altLang="en-US" sz="2100" dirty="0">
                <a:ea typeface="ＭＳ Ｐゴシック" panose="020B0600070205080204" pitchFamily="34" charset="-128"/>
              </a:rPr>
              <a:t> Ethernet at Xerox PARC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late70’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ea typeface="ＭＳ Ｐゴシック" panose="020B0600070205080204" pitchFamily="34" charset="-128"/>
              </a:rPr>
              <a:t> proprietary architectures: </a:t>
            </a:r>
            <a:r>
              <a:rPr lang="en-US" altLang="ja-JP" sz="2100" dirty="0" err="1">
                <a:ea typeface="ＭＳ Ｐゴシック" panose="020B0600070205080204" pitchFamily="34" charset="-128"/>
              </a:rPr>
              <a:t>DECnet</a:t>
            </a:r>
            <a:r>
              <a:rPr lang="en-US" altLang="ja-JP" sz="2100" dirty="0">
                <a:ea typeface="ＭＳ Ｐゴシック" panose="020B0600070205080204" pitchFamily="34" charset="-128"/>
              </a:rPr>
              <a:t>, SNA, XNA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 70’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ea typeface="ＭＳ Ｐゴシック" panose="020B0600070205080204" pitchFamily="34" charset="-128"/>
              </a:rPr>
              <a:t> switching fixed length packets (ATM precursor)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1979:</a:t>
            </a:r>
            <a:r>
              <a:rPr lang="en-US" altLang="en-US" sz="2100" dirty="0">
                <a:ea typeface="ＭＳ Ｐゴシック" panose="020B0600070205080204" pitchFamily="34" charset="-128"/>
              </a:rPr>
              <a:t> ARPAnet has 200 nodes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D2D2C-9737-3642-5216-F71FCDDCFF55}"/>
              </a:ext>
            </a:extLst>
          </p:cNvPr>
          <p:cNvSpPr/>
          <p:nvPr/>
        </p:nvSpPr>
        <p:spPr>
          <a:xfrm>
            <a:off x="593089" y="1468925"/>
            <a:ext cx="6964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1972-1980: Internetworking, new and proprietary nets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721A5D4-EC14-F598-D234-C2E4AB941D71}"/>
              </a:ext>
            </a:extLst>
          </p:cNvPr>
          <p:cNvSpPr txBox="1">
            <a:spLocks noChangeArrowheads="1"/>
          </p:cNvSpPr>
          <p:nvPr/>
        </p:nvSpPr>
        <p:spPr>
          <a:xfrm>
            <a:off x="5159947" y="2307220"/>
            <a:ext cx="3551853" cy="29271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106" indent="9525">
              <a:buNone/>
            </a:pPr>
            <a:r>
              <a:rPr lang="en-US" altLang="en-US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Cerf and Kahn’</a:t>
            </a:r>
            <a:r>
              <a:rPr lang="en-US" altLang="ja-JP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s internetworking principles: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minimalism, autonomy - no internal changes required to interconnect networks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best-effort service model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stateless routing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decentralized control</a:t>
            </a:r>
          </a:p>
          <a:p>
            <a:pPr marL="88106" indent="0">
              <a:buNone/>
            </a:pPr>
            <a:r>
              <a:rPr lang="en-US" altLang="en-US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define today’</a:t>
            </a:r>
            <a:r>
              <a:rPr lang="en-US" altLang="ja-JP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s Internet architecture</a:t>
            </a:r>
            <a:endParaRPr lang="en-US" altLang="en-US" sz="1800" dirty="0">
              <a:solidFill>
                <a:srgbClr val="00009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FEA80-0575-9505-4C54-D72107DEB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515" y="2177442"/>
            <a:ext cx="3733799" cy="303772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62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C2583F-B5B3-905B-7AF7-E4BEC3899523}"/>
              </a:ext>
            </a:extLst>
          </p:cNvPr>
          <p:cNvSpPr txBox="1">
            <a:spLocks noChangeArrowheads="1"/>
          </p:cNvSpPr>
          <p:nvPr/>
        </p:nvSpPr>
        <p:spPr>
          <a:xfrm>
            <a:off x="571499" y="2138595"/>
            <a:ext cx="3962401" cy="245808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1983: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b="1" dirty="0">
                <a:ea typeface="ＭＳ Ｐゴシック" panose="020B0600070205080204" pitchFamily="34" charset="-128"/>
              </a:rPr>
              <a:t>deployment of TCP/IP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1982 </a:t>
            </a:r>
            <a:r>
              <a:rPr lang="en-US" altLang="zh-CN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-</a:t>
            </a: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 1988:</a:t>
            </a:r>
            <a:r>
              <a:rPr lang="en-US" altLang="en-US" sz="2100" dirty="0">
                <a:ea typeface="ＭＳ Ｐゴシック" panose="020B0600070205080204" pitchFamily="34" charset="-128"/>
              </a:rPr>
              <a:t> smtp e-mail protocol defined</a:t>
            </a:r>
            <a:r>
              <a:rPr lang="zh-CN" altLang="en-US" sz="2100" dirty="0">
                <a:ea typeface="ＭＳ Ｐゴシック" panose="020B0600070205080204" pitchFamily="34" charset="-128"/>
              </a:rPr>
              <a:t>；</a:t>
            </a:r>
            <a:r>
              <a:rPr lang="en-US" altLang="en-US" sz="2100" dirty="0">
                <a:ea typeface="ＭＳ Ｐゴシック" panose="020B0600070205080204" pitchFamily="34" charset="-128"/>
              </a:rPr>
              <a:t> DNS defined for name-to-IP-address translation</a:t>
            </a:r>
            <a:r>
              <a:rPr lang="zh-CN" altLang="en-US" sz="2100" dirty="0">
                <a:ea typeface="ＭＳ Ｐゴシック" panose="020B0600070205080204" pitchFamily="34" charset="-128"/>
              </a:rPr>
              <a:t>；</a:t>
            </a:r>
            <a:r>
              <a:rPr lang="en-US" altLang="zh-CN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ftp protocol defined</a:t>
            </a:r>
            <a:r>
              <a:rPr lang="zh-CN" altLang="en-US" sz="2100" dirty="0">
                <a:ea typeface="ＭＳ Ｐゴシック" panose="020B0600070205080204" pitchFamily="34" charset="-128"/>
              </a:rPr>
              <a:t>； </a:t>
            </a:r>
            <a:r>
              <a:rPr lang="en-US" altLang="en-US" sz="2100" dirty="0">
                <a:ea typeface="ＭＳ Ｐゴシック" panose="020B0600070205080204" pitchFamily="34" charset="-128"/>
              </a:rPr>
              <a:t>TCP congestion control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D40431C-A7BD-F91E-C706-BEA6DE627413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213264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new national networks: </a:t>
            </a:r>
            <a:r>
              <a:rPr lang="en-US" sz="2100" dirty="0" err="1"/>
              <a:t>CSnet</a:t>
            </a:r>
            <a:r>
              <a:rPr lang="en-US" sz="2100" dirty="0"/>
              <a:t>, </a:t>
            </a:r>
            <a:r>
              <a:rPr lang="en-US" sz="2100" dirty="0" err="1"/>
              <a:t>BITnet</a:t>
            </a:r>
            <a:r>
              <a:rPr lang="en-US" sz="2100" dirty="0"/>
              <a:t>, </a:t>
            </a:r>
            <a:r>
              <a:rPr lang="en-US" sz="2100" b="1" dirty="0" err="1"/>
              <a:t>NSFnet</a:t>
            </a:r>
            <a:r>
              <a:rPr lang="en-US" sz="2100" dirty="0"/>
              <a:t>, Minitel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100,000 hosts connected to confederation of networks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EAE7E-F7CC-F384-B829-0A379765BF67}"/>
              </a:ext>
            </a:extLst>
          </p:cNvPr>
          <p:cNvSpPr/>
          <p:nvPr/>
        </p:nvSpPr>
        <p:spPr>
          <a:xfrm>
            <a:off x="571500" y="1476360"/>
            <a:ext cx="6891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1980-1990: new protocols, a proliferation of networks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5D31A28-D62B-5C9A-9534-3A173BBB2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749" y="3477370"/>
            <a:ext cx="2929748" cy="215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int Cerf - Wikipedia">
            <a:extLst>
              <a:ext uri="{FF2B5EF4-FFF2-40B4-BE49-F238E27FC236}">
                <a16:creationId xmlns:a16="http://schemas.microsoft.com/office/drawing/2014/main" id="{7C7C7C0C-D6BE-FC5E-3DCB-9C9808D5F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15" y="4286231"/>
            <a:ext cx="1121143" cy="149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ob Kahn - Wikipedia">
            <a:extLst>
              <a:ext uri="{FF2B5EF4-FFF2-40B4-BE49-F238E27FC236}">
                <a16:creationId xmlns:a16="http://schemas.microsoft.com/office/drawing/2014/main" id="{566DDA40-44DB-8F7D-DDC9-CF49DD0C3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021" y="4304054"/>
            <a:ext cx="1271174" cy="147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B1721-7DB2-E2B9-E92C-E9783F9B8182}"/>
              </a:ext>
            </a:extLst>
          </p:cNvPr>
          <p:cNvSpPr txBox="1"/>
          <p:nvPr/>
        </p:nvSpPr>
        <p:spPr>
          <a:xfrm>
            <a:off x="2783791" y="5891899"/>
            <a:ext cx="1430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Robert Kahn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1B9E9-0FFB-1D69-BC88-B15380888247}"/>
              </a:ext>
            </a:extLst>
          </p:cNvPr>
          <p:cNvSpPr txBox="1"/>
          <p:nvPr/>
        </p:nvSpPr>
        <p:spPr>
          <a:xfrm>
            <a:off x="967215" y="5891899"/>
            <a:ext cx="1607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Vinton Cerf</a:t>
            </a:r>
          </a:p>
        </p:txBody>
      </p:sp>
    </p:spTree>
    <p:extLst>
      <p:ext uri="{BB962C8B-B14F-4D97-AF65-F5344CB8AC3E}">
        <p14:creationId xmlns:p14="http://schemas.microsoft.com/office/powerpoint/2010/main" val="1780584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4A44AFA-A6CB-48E7-4670-E15DFC3E1F55}"/>
              </a:ext>
            </a:extLst>
          </p:cNvPr>
          <p:cNvSpPr txBox="1">
            <a:spLocks noChangeArrowheads="1"/>
          </p:cNvSpPr>
          <p:nvPr/>
        </p:nvSpPr>
        <p:spPr>
          <a:xfrm>
            <a:off x="590376" y="2126695"/>
            <a:ext cx="4183711" cy="401430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2100" dirty="0">
                <a:ea typeface="ＭＳ Ｐゴシック" panose="020B0600070205080204" pitchFamily="34" charset="-128"/>
              </a:rPr>
              <a:t>ARPAnet decommissioned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1991:</a:t>
            </a:r>
            <a:r>
              <a:rPr lang="en-US" altLang="en-US" sz="2100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NSF lifts restrictions on commercial use of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NSFnet</a:t>
            </a:r>
            <a:r>
              <a:rPr lang="en-US" altLang="en-US" sz="2100" dirty="0">
                <a:ea typeface="ＭＳ Ｐゴシック" panose="020B0600070205080204" pitchFamily="34" charset="-128"/>
              </a:rPr>
              <a:t> (decommissioned, 1995)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1990s: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b="1" dirty="0">
                <a:ea typeface="ＭＳ Ｐゴシック" panose="020B0600070205080204" pitchFamily="34" charset="-128"/>
              </a:rPr>
              <a:t>Web (World Wide Web application)</a:t>
            </a:r>
          </a:p>
          <a:p>
            <a:pPr marL="427435" lvl="1" indent="-169069"/>
            <a:r>
              <a:rPr lang="en-US" altLang="en-US" sz="1800" dirty="0">
                <a:ea typeface="Arial" panose="020B0604020202020204" pitchFamily="34" charset="0"/>
              </a:rPr>
              <a:t>hypertext </a:t>
            </a:r>
            <a:r>
              <a:rPr lang="en-US" altLang="en-US" sz="1350" dirty="0">
                <a:ea typeface="Arial" panose="020B0604020202020204" pitchFamily="34" charset="0"/>
              </a:rPr>
              <a:t>[Bush 1945, Nelson 1960</a:t>
            </a:r>
            <a:r>
              <a:rPr lang="en-US" altLang="en-US" sz="1350" dirty="0">
                <a:ea typeface="ＭＳ Ｐゴシック" panose="020B0600070205080204" pitchFamily="34" charset="-128"/>
              </a:rPr>
              <a:t>’</a:t>
            </a:r>
            <a:r>
              <a:rPr lang="en-US" altLang="ja-JP" sz="1350" dirty="0">
                <a:ea typeface="ＭＳ Ｐゴシック" panose="020B0600070205080204" pitchFamily="34" charset="-128"/>
              </a:rPr>
              <a:t>s]</a:t>
            </a:r>
          </a:p>
          <a:p>
            <a:pPr marL="427435" lvl="1" indent="-169069"/>
            <a:r>
              <a:rPr lang="en-US" altLang="en-US" sz="1800" dirty="0">
                <a:ea typeface="Arial" panose="020B0604020202020204" pitchFamily="34" charset="0"/>
              </a:rPr>
              <a:t>HTML, HTTP: Berners-Lee</a:t>
            </a:r>
          </a:p>
          <a:p>
            <a:pPr marL="427435" lvl="1" indent="-169069"/>
            <a:r>
              <a:rPr lang="en-US" altLang="en-US" sz="1800" dirty="0">
                <a:solidFill>
                  <a:srgbClr val="0000A8"/>
                </a:solidFill>
                <a:ea typeface="Arial" panose="020B0604020202020204" pitchFamily="34" charset="0"/>
              </a:rPr>
              <a:t>1994: </a:t>
            </a:r>
            <a:r>
              <a:rPr lang="en-US" altLang="en-US" sz="1800" dirty="0">
                <a:ea typeface="Arial" panose="020B0604020202020204" pitchFamily="34" charset="0"/>
              </a:rPr>
              <a:t>Mosaic, later Netscape</a:t>
            </a:r>
          </a:p>
          <a:p>
            <a:pPr marL="427435" lvl="1" indent="-169069"/>
            <a:r>
              <a:rPr lang="en-US" altLang="en-US" sz="1800" dirty="0">
                <a:solidFill>
                  <a:srgbClr val="0000A8"/>
                </a:solidFill>
                <a:ea typeface="Arial" panose="020B0604020202020204" pitchFamily="34" charset="0"/>
              </a:rPr>
              <a:t>late 1990</a:t>
            </a:r>
            <a:r>
              <a:rPr lang="en-US" altLang="ja-JP" sz="1800" dirty="0">
                <a:solidFill>
                  <a:srgbClr val="0000A8"/>
                </a:solidFill>
                <a:ea typeface="ＭＳ Ｐゴシック" panose="020B0600070205080204" pitchFamily="34" charset="-128"/>
              </a:rPr>
              <a:t>s: </a:t>
            </a:r>
            <a:r>
              <a:rPr lang="en-US" altLang="ja-JP" sz="1800" dirty="0">
                <a:ea typeface="ＭＳ Ｐゴシック" panose="020B0600070205080204" pitchFamily="34" charset="-128"/>
              </a:rPr>
              <a:t>commercialization</a:t>
            </a:r>
            <a:r>
              <a:rPr lang="en-US" altLang="ja-JP" sz="1500" dirty="0">
                <a:ea typeface="ＭＳ Ｐゴシック" panose="020B0600070205080204" pitchFamily="34" charset="-128"/>
              </a:rPr>
              <a:t> of the Web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983914-C258-9B5B-C7A8-F94D096B9CF7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213264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 1990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 – 2000s: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more killer apps: instant messaging, P2P file sharing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network security to forefront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est. 50 million host, 100 million+ users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backbone links running at Gbps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AD525-C993-1A60-A736-E7C12FD80B76}"/>
              </a:ext>
            </a:extLst>
          </p:cNvPr>
          <p:cNvSpPr/>
          <p:nvPr/>
        </p:nvSpPr>
        <p:spPr>
          <a:xfrm>
            <a:off x="555435" y="1478322"/>
            <a:ext cx="75775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1990, 2000s: commercialization, the Web, new applications</a:t>
            </a:r>
          </a:p>
        </p:txBody>
      </p:sp>
      <p:pic>
        <p:nvPicPr>
          <p:cNvPr id="3074" name="Picture 2" descr="The birth of the Web | CERN">
            <a:extLst>
              <a:ext uri="{FF2B5EF4-FFF2-40B4-BE49-F238E27FC236}">
                <a16:creationId xmlns:a16="http://schemas.microsoft.com/office/drawing/2014/main" id="{C9D45792-1132-E486-8377-7E42D9B3F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020" y="4973347"/>
            <a:ext cx="1897380" cy="121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11C963-0F6C-6ADF-F126-35CCD226BA6B}"/>
              </a:ext>
            </a:extLst>
          </p:cNvPr>
          <p:cNvSpPr txBox="1"/>
          <p:nvPr/>
        </p:nvSpPr>
        <p:spPr>
          <a:xfrm>
            <a:off x="6930390" y="5758107"/>
            <a:ext cx="189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</a:t>
            </a:r>
            <a:r>
              <a:rPr lang="en-US" dirty="0"/>
              <a:t>im Berners Lee</a:t>
            </a:r>
          </a:p>
        </p:txBody>
      </p:sp>
    </p:spTree>
    <p:extLst>
      <p:ext uri="{BB962C8B-B14F-4D97-AF65-F5344CB8AC3E}">
        <p14:creationId xmlns:p14="http://schemas.microsoft.com/office/powerpoint/2010/main" val="3727385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D304E96-81ED-7ABC-62E9-560D0002FE5F}"/>
              </a:ext>
            </a:extLst>
          </p:cNvPr>
          <p:cNvSpPr txBox="1">
            <a:spLocks noChangeArrowheads="1"/>
          </p:cNvSpPr>
          <p:nvPr/>
        </p:nvSpPr>
        <p:spPr>
          <a:xfrm>
            <a:off x="615511" y="2186651"/>
            <a:ext cx="8356601" cy="3848100"/>
          </a:xfrm>
          <a:prstGeom prst="rect">
            <a:avLst/>
          </a:prstGeom>
        </p:spPr>
        <p:txBody>
          <a:bodyPr vert="horz" lIns="68580" tIns="34290" rIns="68580" bIns="34290" rtlCol="0">
            <a:normAutofit fontScale="77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9113" marR="0" lvl="1" indent="-3889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aggressive deployment of broadband home access (10-100’s Mbps)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2008: software-defined networking (SDN)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increasing ubiquity of high-speed wireless access: 4G/5G,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WiFi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sz="2800" dirty="0">
                <a:ea typeface="ＭＳ Ｐゴシック" panose="020B0600070205080204" pitchFamily="34" charset="-128"/>
              </a:rPr>
              <a:t>content/service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providers (Google, FB, Microsoft) create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their own networks</a:t>
            </a:r>
          </a:p>
          <a:p>
            <a:pPr marL="812800" marR="0" lvl="2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bypass commercial Internet to connect “close” to end user, providing </a:t>
            </a:r>
            <a:r>
              <a:rPr kumimoji="0" lang="ja-JP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instantaneous</a:t>
            </a:r>
            <a:r>
              <a:rPr kumimoji="0" lang="ja-JP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access to social media, search, video content, …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enterprises run their services in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cloud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” (e.g., Amazon Web Services, Microsoft Azure)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rise of smartphones: more mobile than fixed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devices on Internet 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rise of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IoTs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~15B devices attached to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Internet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839AAC-58E4-154F-B516-013ED0464E8E}"/>
              </a:ext>
            </a:extLst>
          </p:cNvPr>
          <p:cNvSpPr/>
          <p:nvPr/>
        </p:nvSpPr>
        <p:spPr>
          <a:xfrm>
            <a:off x="600250" y="1475947"/>
            <a:ext cx="7989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2005-present: more new applications, Internet is “everywhere”</a:t>
            </a:r>
          </a:p>
        </p:txBody>
      </p:sp>
    </p:spTree>
    <p:extLst>
      <p:ext uri="{BB962C8B-B14F-4D97-AF65-F5344CB8AC3E}">
        <p14:creationId xmlns:p14="http://schemas.microsoft.com/office/powerpoint/2010/main" val="4209196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1076210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Chapter 1: summary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07999" y="1851389"/>
            <a:ext cx="4642207" cy="3914775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We’ve covered a “</a:t>
            </a:r>
            <a:r>
              <a:rPr lang="en-US" altLang="ja-JP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ton” of material!</a:t>
            </a:r>
          </a:p>
          <a:p>
            <a:pPr marL="354806" indent="-2667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Internet overview</a:t>
            </a:r>
          </a:p>
          <a:p>
            <a:pPr marL="354806" indent="-2667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network edge, access network, core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2100" dirty="0">
                <a:ea typeface="Arial" panose="020B0604020202020204" pitchFamily="34" charset="0"/>
              </a:rPr>
              <a:t>packet-switching versus circuit-switching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2100" dirty="0">
                <a:ea typeface="Arial" panose="020B0604020202020204" pitchFamily="34" charset="0"/>
              </a:rPr>
              <a:t>Internet structure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performance: loss, delay, throughput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ja-JP" sz="2100" dirty="0">
                <a:ea typeface="ＭＳ Ｐゴシック" panose="020B0600070205080204" pitchFamily="34" charset="-128"/>
              </a:rPr>
              <a:t>protocol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layering, service models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security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history</a:t>
            </a:r>
            <a:endParaRPr lang="en-US" sz="21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515DDB-81B8-9745-A3D6-9EFD3E80B128}"/>
              </a:ext>
            </a:extLst>
          </p:cNvPr>
          <p:cNvSpPr txBox="1">
            <a:spLocks noChangeArrowheads="1"/>
          </p:cNvSpPr>
          <p:nvPr/>
        </p:nvSpPr>
        <p:spPr>
          <a:xfrm>
            <a:off x="5712445" y="2608626"/>
            <a:ext cx="2793206" cy="271902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You now have:</a:t>
            </a:r>
            <a:r>
              <a:rPr lang="en-US" altLang="en-US" sz="21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context, overview, vocabulary,  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feel” of networking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more depth, detail,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and fun </a:t>
            </a:r>
            <a:r>
              <a:rPr lang="en-US" altLang="en-US" sz="2400" dirty="0">
                <a:ea typeface="ＭＳ Ｐゴシック" panose="020B0600070205080204" pitchFamily="34" charset="-128"/>
              </a:rPr>
              <a:t>to follow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!</a:t>
            </a: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2081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251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26177</TotalTime>
  <Words>1576</Words>
  <Application>Microsoft Office PowerPoint</Application>
  <PresentationFormat>On-screen Show (4:3)</PresentationFormat>
  <Paragraphs>349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ＭＳ Ｐゴシック</vt:lpstr>
      <vt:lpstr>ZapfDingbats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EEL 4781 Computer Communication Networks Chapter 1-3: Introduction to Networking Concepts</vt:lpstr>
      <vt:lpstr>Agenda </vt:lpstr>
      <vt:lpstr>Protocols and Protocol Layers</vt:lpstr>
      <vt:lpstr>Protocols and Protocol Layers</vt:lpstr>
      <vt:lpstr>Protocols and Protocol Layers</vt:lpstr>
      <vt:lpstr>Protocols and Protocol Layers</vt:lpstr>
      <vt:lpstr>Protocols and Protocol Layers</vt:lpstr>
      <vt:lpstr>Protocols and Protocol Layers</vt:lpstr>
      <vt:lpstr>Protocols and Protocol Layers</vt:lpstr>
      <vt:lpstr>Protocols and Protocol Layers</vt:lpstr>
      <vt:lpstr>Network security</vt:lpstr>
      <vt:lpstr>Network security</vt:lpstr>
      <vt:lpstr>Network security</vt:lpstr>
      <vt:lpstr>Network security</vt:lpstr>
      <vt:lpstr>Network security</vt:lpstr>
      <vt:lpstr>History</vt:lpstr>
      <vt:lpstr>History</vt:lpstr>
      <vt:lpstr>History</vt:lpstr>
      <vt:lpstr>History</vt:lpstr>
      <vt:lpstr>History</vt:lpstr>
      <vt:lpstr>Chapter 1: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560</cp:revision>
  <dcterms:created xsi:type="dcterms:W3CDTF">2017-06-28T02:53:02Z</dcterms:created>
  <dcterms:modified xsi:type="dcterms:W3CDTF">2025-01-15T16:31:57Z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